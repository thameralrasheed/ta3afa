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Arimo Bold" charset="1" panose="020B0704020202020204"/>
      <p:regular r:id="rId40"/>
    </p:embeddedFont>
    <p:embeddedFont>
      <p:font typeface="Inter" charset="1" panose="02000503000000020004"/>
      <p:regular r:id="rId41"/>
    </p:embeddedFont>
    <p:embeddedFont>
      <p:font typeface="Inter Bold" charset="1" panose="02000503000000020004"/>
      <p:regular r:id="rId43"/>
    </p:embeddedFont>
    <p:embeddedFont>
      <p:font typeface="Inter Italics" charset="1" panose="02000503000000020004"/>
      <p:regular r:id="rId47"/>
    </p:embeddedFont>
    <p:embeddedFont>
      <p:font typeface="Arimo" charset="1" panose="020B060402020202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notesMasters/notesMaster1.xml" Type="http://schemas.openxmlformats.org/officeDocument/2006/relationships/notesMaster"/><Relationship Id="rId38" Target="theme/theme2.xml" Type="http://schemas.openxmlformats.org/officeDocument/2006/relationships/theme"/><Relationship Id="rId39" Target="notesSlides/notesSlide1.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2.xml" Type="http://schemas.openxmlformats.org/officeDocument/2006/relationships/notesSlide"/><Relationship Id="rId43" Target="fonts/font43.fntdata" Type="http://schemas.openxmlformats.org/officeDocument/2006/relationships/font"/><Relationship Id="rId44" Target="notesSlides/notesSlide3.xml" Type="http://schemas.openxmlformats.org/officeDocument/2006/relationships/notesSlide"/><Relationship Id="rId45" Target="notesSlides/notesSlide4.xml" Type="http://schemas.openxmlformats.org/officeDocument/2006/relationships/notesSlide"/><Relationship Id="rId46" Target="notesSlides/notesSlide5.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notesSlides/notesSlide6.xml" Type="http://schemas.openxmlformats.org/officeDocument/2006/relationships/notesSlide"/><Relationship Id="rId5" Target="tableStyles.xml" Type="http://schemas.openxmlformats.org/officeDocument/2006/relationships/tableStyles"/><Relationship Id="rId50" Target="notesSlides/notesSlide7.xml" Type="http://schemas.openxmlformats.org/officeDocument/2006/relationships/notesSlide"/><Relationship Id="rId51" Target="notesSlides/notesSlide8.xml" Type="http://schemas.openxmlformats.org/officeDocument/2006/relationships/notesSlide"/><Relationship Id="rId52" Target="notesSlides/notesSlide9.xml" Type="http://schemas.openxmlformats.org/officeDocument/2006/relationships/notesSlide"/><Relationship Id="rId53" Target="notesSlides/notesSlide10.xml" Type="http://schemas.openxmlformats.org/officeDocument/2006/relationships/notesSlide"/><Relationship Id="rId54" Target="notesSlides/notesSlide11.xml" Type="http://schemas.openxmlformats.org/officeDocument/2006/relationships/notesSlide"/><Relationship Id="rId55" Target="notesSlides/notesSlide12.xml" Type="http://schemas.openxmlformats.org/officeDocument/2006/relationships/notesSlide"/><Relationship Id="rId56" Target="notesSlides/notesSlide13.xml" Type="http://schemas.openxmlformats.org/officeDocument/2006/relationships/notesSlide"/><Relationship Id="rId57" Target="notesSlides/notesSlide14.xml" Type="http://schemas.openxmlformats.org/officeDocument/2006/relationships/notesSlide"/><Relationship Id="rId58" Target="notesSlides/notesSlide15.xml" Type="http://schemas.openxmlformats.org/officeDocument/2006/relationships/notesSlide"/><Relationship Id="rId59" Target="notesSlides/notesSlide16.xml" Type="http://schemas.openxmlformats.org/officeDocument/2006/relationships/notesSlide"/><Relationship Id="rId6" Target="slides/slide1.xml" Type="http://schemas.openxmlformats.org/officeDocument/2006/relationships/slide"/><Relationship Id="rId60" Target="notesSlides/notesSlide17.xml" Type="http://schemas.openxmlformats.org/officeDocument/2006/relationships/notesSlide"/><Relationship Id="rId61" Target="notesSlides/notesSlide18.xml" Type="http://schemas.openxmlformats.org/officeDocument/2006/relationships/notesSlide"/><Relationship Id="rId62" Target="notesSlides/notesSlide19.xml" Type="http://schemas.openxmlformats.org/officeDocument/2006/relationships/notesSlide"/><Relationship Id="rId63" Target="notesSlides/notesSlide20.xml" Type="http://schemas.openxmlformats.org/officeDocument/2006/relationships/notesSlide"/><Relationship Id="rId64" Target="notesSlides/notesSlide21.xml" Type="http://schemas.openxmlformats.org/officeDocument/2006/relationships/notesSlide"/><Relationship Id="rId65" Target="notesSlides/notesSlide22.xml" Type="http://schemas.openxmlformats.org/officeDocument/2006/relationships/notesSlide"/><Relationship Id="rId66" Target="notesSlides/notesSlide23.xml" Type="http://schemas.openxmlformats.org/officeDocument/2006/relationships/notesSlide"/><Relationship Id="rId67" Target="notesSlides/notesSlide24.xml" Type="http://schemas.openxmlformats.org/officeDocument/2006/relationships/notesSlide"/><Relationship Id="rId68" Target="notesSlides/notesSlide25.xml" Type="http://schemas.openxmlformats.org/officeDocument/2006/relationships/notesSlide"/><Relationship Id="rId69" Target="notesSlides/notesSlide26.xml" Type="http://schemas.openxmlformats.org/officeDocument/2006/relationships/notesSlide"/><Relationship Id="rId7" Target="slides/slide2.xml" Type="http://schemas.openxmlformats.org/officeDocument/2006/relationships/slide"/><Relationship Id="rId70" Target="notesSlides/notesSlide27.xml" Type="http://schemas.openxmlformats.org/officeDocument/2006/relationships/notesSlide"/><Relationship Id="rId71" Target="notesSlides/notesSlide28.xml" Type="http://schemas.openxmlformats.org/officeDocument/2006/relationships/notesSlide"/><Relationship Id="rId72" Target="notesSlides/notesSlide29.xml" Type="http://schemas.openxmlformats.org/officeDocument/2006/relationships/notesSlide"/><Relationship Id="rId73" Target="notesSlides/notesSlide30.xml" Type="http://schemas.openxmlformats.org/officeDocument/2006/relationships/notesSlide"/><Relationship Id="rId74" Target="notesSlides/notesSlide31.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notesSlides/notesSlide5.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https://www.frontiersin.org/journals/pharmacology/articles/10.3389/fphar.2020.01296/full" TargetMode="External" Type="http://schemas.openxmlformats.org/officeDocument/2006/relationships/hyperlink"/><Relationship Id="rId9"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https://www.frontiersin.org/journals/medicine/articles/10.3389/fmed.2021.784315/full" TargetMode="External" Type="http://schemas.openxmlformats.org/officeDocument/2006/relationships/hyperlink"/><Relationship Id="rId5" Target="../media/image13.png" Type="http://schemas.openxmlformats.org/officeDocument/2006/relationships/image"/><Relationship Id="rId6" Target="https://diabetesatlas.org/data-by-location/country/kuwait/?utm_source=chatgpt.com" TargetMode="External" Type="http://schemas.openxmlformats.org/officeDocument/2006/relationships/hyperlink"/><Relationship Id="rId7" Target="https://www.frontiersin.org/journals/pharmacology/articles/10.3389/fphar.2020.01296/full" TargetMode="External" Type="http://schemas.openxmlformats.org/officeDocument/2006/relationships/hyperlink"/><Relationship Id="rId8" Target="../media/image14.png" Type="http://schemas.openxmlformats.org/officeDocument/2006/relationships/image"/><Relationship Id="rId9"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6.png" Type="http://schemas.openxmlformats.org/officeDocument/2006/relationships/image"/><Relationship Id="rId4"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2" Target="../notesSlides/notesSlide10.xml" Type="http://schemas.openxmlformats.org/officeDocument/2006/relationships/notesSlid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https://www.grandviewresearch.com/horizon/outlook/mhealth-apps-market/kuwait" TargetMode="External" Type="http://schemas.openxmlformats.org/officeDocument/2006/relationships/hyperlink"/><Relationship Id="rId5" Target="https://oxfordbusinessgroup.com/reports/kuwait/2025-report/education-health/digitally-driven-public-investment-and-private-innovation-are-accelerating-the-adoption-of-digital-platforms-and-remote-services-analysis/" TargetMode="External" Type="http://schemas.openxmlformats.org/officeDocument/2006/relationships/hyperlink"/><Relationship Id="rId6" Target="../media/image3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2" Target="../notesSlides/notesSlide12.xml" Type="http://schemas.openxmlformats.org/officeDocument/2006/relationships/notesSlide"/><Relationship Id="rId3" Target="../media/image1.jpe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0.png" Type="http://schemas.openxmlformats.org/officeDocument/2006/relationships/image"/><Relationship Id="rId4"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4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4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49.png" Type="http://schemas.openxmlformats.org/officeDocument/2006/relationships/image"/><Relationship Id="rId4" Target="../media/image1.jpeg" Type="http://schemas.openxmlformats.org/officeDocument/2006/relationships/image"/><Relationship Id="rId5" Target="../media/image50.png" Type="http://schemas.openxmlformats.org/officeDocument/2006/relationships/image"/><Relationship Id="rId6" Target="../media/image5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https://diabetesatlas.org/data-by-location/country/kuwait/?utm_source=chatgpt.com" TargetMode="External" Type="http://schemas.openxmlformats.org/officeDocument/2006/relationships/hyperlink"/><Relationship Id="rId4" Target="https://www.who.int/publications/m/item/noncommunicable-diseases-kwt-country-profile-2018?utm_source=chatgpt.com" TargetMode="External" Type="http://schemas.openxmlformats.org/officeDocument/2006/relationships/hyperlink"/><Relationship Id="rId5" Target="https://pmc.ncbi.nlm.nih.gov/articles/PMC9801364/?utm_source=chatgpt.com" TargetMode="External" Type="http://schemas.openxmlformats.org/officeDocument/2006/relationships/hyperlink"/><Relationship Id="rId6"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59.png" Type="http://schemas.openxmlformats.org/officeDocument/2006/relationships/image"/><Relationship Id="rId4"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A192F"/>
            </a:solidFill>
          </p:spPr>
        </p:sp>
      </p:grpSp>
      <p:grpSp>
        <p:nvGrpSpPr>
          <p:cNvPr name="Group 4" id="4"/>
          <p:cNvGrpSpPr/>
          <p:nvPr/>
        </p:nvGrpSpPr>
        <p:grpSpPr>
          <a:xfrm rot="0">
            <a:off x="0" y="-229"/>
            <a:ext cx="18288000" cy="123825"/>
            <a:chOff x="0" y="0"/>
            <a:chExt cx="24384000" cy="165100"/>
          </a:xfrm>
        </p:grpSpPr>
        <p:sp>
          <p:nvSpPr>
            <p:cNvPr name="Freeform 5" id="5"/>
            <p:cNvSpPr/>
            <p:nvPr/>
          </p:nvSpPr>
          <p:spPr>
            <a:xfrm flipH="false" flipV="false" rot="0">
              <a:off x="0" y="0"/>
              <a:ext cx="24384000" cy="165100"/>
            </a:xfrm>
            <a:custGeom>
              <a:avLst/>
              <a:gdLst/>
              <a:ahLst/>
              <a:cxnLst/>
              <a:rect r="r" b="b" t="t" l="l"/>
              <a:pathLst>
                <a:path h="165100" w="24384000">
                  <a:moveTo>
                    <a:pt x="0" y="0"/>
                  </a:moveTo>
                  <a:lnTo>
                    <a:pt x="24384000" y="0"/>
                  </a:lnTo>
                  <a:lnTo>
                    <a:pt x="24384000" y="165100"/>
                  </a:lnTo>
                  <a:lnTo>
                    <a:pt x="0" y="165100"/>
                  </a:lnTo>
                  <a:close/>
                </a:path>
              </a:pathLst>
            </a:custGeom>
            <a:solidFill>
              <a:srgbClr val="2ECC71"/>
            </a:solidFill>
          </p:spPr>
        </p:sp>
      </p:grpSp>
      <p:grpSp>
        <p:nvGrpSpPr>
          <p:cNvPr name="Group 6" id="6"/>
          <p:cNvGrpSpPr/>
          <p:nvPr/>
        </p:nvGrpSpPr>
        <p:grpSpPr>
          <a:xfrm rot="0">
            <a:off x="10972800" y="-2057400"/>
            <a:ext cx="10058400" cy="10058400"/>
            <a:chOff x="0" y="0"/>
            <a:chExt cx="13411200" cy="13411200"/>
          </a:xfrm>
        </p:grpSpPr>
        <p:sp>
          <p:nvSpPr>
            <p:cNvPr name="Freeform 7" id="7"/>
            <p:cNvSpPr/>
            <p:nvPr/>
          </p:nvSpPr>
          <p:spPr>
            <a:xfrm flipH="false" flipV="false" rot="0">
              <a:off x="0" y="0"/>
              <a:ext cx="13411200" cy="13411200"/>
            </a:xfrm>
            <a:custGeom>
              <a:avLst/>
              <a:gdLst/>
              <a:ahLst/>
              <a:cxnLst/>
              <a:rect r="r" b="b" t="t" l="l"/>
              <a:pathLst>
                <a:path h="13411200" w="13411200">
                  <a:moveTo>
                    <a:pt x="0" y="6705600"/>
                  </a:moveTo>
                  <a:cubicBezTo>
                    <a:pt x="0" y="3002153"/>
                    <a:pt x="3002153" y="0"/>
                    <a:pt x="6705600" y="0"/>
                  </a:cubicBezTo>
                  <a:cubicBezTo>
                    <a:pt x="10409047" y="0"/>
                    <a:pt x="13411200" y="3002153"/>
                    <a:pt x="13411200" y="6705600"/>
                  </a:cubicBezTo>
                  <a:cubicBezTo>
                    <a:pt x="13411200" y="10409047"/>
                    <a:pt x="10409047" y="13411200"/>
                    <a:pt x="6705600" y="13411200"/>
                  </a:cubicBezTo>
                  <a:cubicBezTo>
                    <a:pt x="3002153" y="13411200"/>
                    <a:pt x="0" y="10409047"/>
                    <a:pt x="0" y="6705600"/>
                  </a:cubicBezTo>
                  <a:close/>
                </a:path>
              </a:pathLst>
            </a:custGeom>
            <a:solidFill>
              <a:srgbClr val="33CC77">
                <a:alpha val="0"/>
              </a:srgbClr>
            </a:solidFill>
          </p:spPr>
        </p:sp>
      </p:grpSp>
      <p:grpSp>
        <p:nvGrpSpPr>
          <p:cNvPr name="Group 8" id="8"/>
          <p:cNvGrpSpPr/>
          <p:nvPr/>
        </p:nvGrpSpPr>
        <p:grpSpPr>
          <a:xfrm rot="0">
            <a:off x="-1828800" y="5543550"/>
            <a:ext cx="7315200" cy="7315200"/>
            <a:chOff x="0" y="0"/>
            <a:chExt cx="9753600" cy="9753600"/>
          </a:xfrm>
        </p:grpSpPr>
        <p:sp>
          <p:nvSpPr>
            <p:cNvPr name="Freeform 9" id="9"/>
            <p:cNvSpPr/>
            <p:nvPr/>
          </p:nvSpPr>
          <p:spPr>
            <a:xfrm flipH="false" flipV="false" rot="0">
              <a:off x="0" y="0"/>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33CC66">
                <a:alpha val="0"/>
              </a:srgbClr>
            </a:solidFill>
          </p:spPr>
        </p:sp>
      </p:grpSp>
      <p:grpSp>
        <p:nvGrpSpPr>
          <p:cNvPr name="Group 10" id="10"/>
          <p:cNvGrpSpPr/>
          <p:nvPr/>
        </p:nvGrpSpPr>
        <p:grpSpPr>
          <a:xfrm rot="0">
            <a:off x="915295" y="615848"/>
            <a:ext cx="180975" cy="180975"/>
            <a:chOff x="0" y="0"/>
            <a:chExt cx="241300" cy="241300"/>
          </a:xfrm>
        </p:grpSpPr>
        <p:sp>
          <p:nvSpPr>
            <p:cNvPr name="Freeform 11" id="11"/>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12" id="12"/>
          <p:cNvSpPr txBox="true"/>
          <p:nvPr/>
        </p:nvSpPr>
        <p:spPr>
          <a:xfrm rot="0">
            <a:off x="1241079" y="449161"/>
            <a:ext cx="984658" cy="371475"/>
          </a:xfrm>
          <a:prstGeom prst="rect">
            <a:avLst/>
          </a:prstGeom>
        </p:spPr>
        <p:txBody>
          <a:bodyPr anchor="t" rtlCol="false" tIns="0" lIns="0" bIns="0" rIns="0">
            <a:spAutoFit/>
          </a:bodyPr>
          <a:lstStyle/>
          <a:p>
            <a:pPr algn="l">
              <a:lnSpc>
                <a:spcPts val="3024"/>
              </a:lnSpc>
            </a:pPr>
            <a:r>
              <a:rPr lang="en-US" b="true" sz="2019" spc="-49">
                <a:solidFill>
                  <a:srgbClr val="FFFFFF"/>
                </a:solidFill>
                <a:latin typeface="Arimo Bold"/>
                <a:ea typeface="Arimo Bold"/>
                <a:cs typeface="Arimo Bold"/>
                <a:sym typeface="Arimo Bold"/>
              </a:rPr>
              <a:t>ISTSEH</a:t>
            </a:r>
          </a:p>
        </p:txBody>
      </p:sp>
      <p:sp>
        <p:nvSpPr>
          <p:cNvPr name="TextBox 13" id="13"/>
          <p:cNvSpPr txBox="true"/>
          <p:nvPr/>
        </p:nvSpPr>
        <p:spPr>
          <a:xfrm rot="0">
            <a:off x="15653344" y="568223"/>
            <a:ext cx="1952625" cy="352425"/>
          </a:xfrm>
          <a:prstGeom prst="rect">
            <a:avLst/>
          </a:prstGeom>
        </p:spPr>
        <p:txBody>
          <a:bodyPr anchor="t" rtlCol="false" tIns="0" lIns="0" bIns="0" rIns="0">
            <a:spAutoFit/>
          </a:bodyPr>
          <a:lstStyle/>
          <a:p>
            <a:pPr algn="l">
              <a:lnSpc>
                <a:spcPts val="2376"/>
              </a:lnSpc>
            </a:pPr>
            <a:r>
              <a:rPr lang="en-US" sz="1580" spc="40">
                <a:solidFill>
                  <a:srgbClr val="FFFFFF"/>
                </a:solidFill>
                <a:latin typeface="Inter"/>
                <a:ea typeface="Inter"/>
                <a:cs typeface="Inter"/>
                <a:sym typeface="Inter"/>
              </a:rPr>
              <a:t>COMPANY REPORT</a:t>
            </a:r>
          </a:p>
        </p:txBody>
      </p:sp>
      <p:grpSp>
        <p:nvGrpSpPr>
          <p:cNvPr name="Group 14" id="14"/>
          <p:cNvGrpSpPr/>
          <p:nvPr/>
        </p:nvGrpSpPr>
        <p:grpSpPr>
          <a:xfrm rot="0">
            <a:off x="909266" y="2669534"/>
            <a:ext cx="3771900" cy="538902"/>
            <a:chOff x="0" y="0"/>
            <a:chExt cx="5029200" cy="718537"/>
          </a:xfrm>
        </p:grpSpPr>
        <p:sp>
          <p:nvSpPr>
            <p:cNvPr name="Freeform 15" id="15"/>
            <p:cNvSpPr/>
            <p:nvPr/>
          </p:nvSpPr>
          <p:spPr>
            <a:xfrm flipH="false" flipV="false" rot="0">
              <a:off x="0" y="0"/>
              <a:ext cx="5029200" cy="718537"/>
            </a:xfrm>
            <a:custGeom>
              <a:avLst/>
              <a:gdLst/>
              <a:ahLst/>
              <a:cxnLst/>
              <a:rect r="r" b="b" t="t" l="l"/>
              <a:pathLst>
                <a:path h="718537" w="5029200">
                  <a:moveTo>
                    <a:pt x="0" y="359268"/>
                  </a:moveTo>
                  <a:cubicBezTo>
                    <a:pt x="0" y="160842"/>
                    <a:pt x="147828" y="0"/>
                    <a:pt x="330200" y="0"/>
                  </a:cubicBezTo>
                  <a:lnTo>
                    <a:pt x="4699000" y="0"/>
                  </a:lnTo>
                  <a:cubicBezTo>
                    <a:pt x="4881372" y="0"/>
                    <a:pt x="5029200" y="160842"/>
                    <a:pt x="5029200" y="359268"/>
                  </a:cubicBezTo>
                  <a:cubicBezTo>
                    <a:pt x="5029200" y="557695"/>
                    <a:pt x="4881372" y="718537"/>
                    <a:pt x="4699000" y="718537"/>
                  </a:cubicBezTo>
                  <a:lnTo>
                    <a:pt x="330200" y="718537"/>
                  </a:lnTo>
                  <a:cubicBezTo>
                    <a:pt x="147828" y="718537"/>
                    <a:pt x="0" y="557695"/>
                    <a:pt x="0" y="359268"/>
                  </a:cubicBezTo>
                  <a:close/>
                </a:path>
              </a:pathLst>
            </a:custGeom>
            <a:blipFill>
              <a:blip r:embed="rId3">
                <a:alphaModFix amt="0"/>
              </a:blip>
              <a:stretch>
                <a:fillRect l="0" t="-90425" r="0" b="-82334"/>
              </a:stretch>
            </a:blipFill>
            <a:ln w="9526" cap="sq">
              <a:solidFill>
                <a:srgbClr val="2DCD70"/>
              </a:solidFill>
              <a:prstDash val="solid"/>
              <a:miter/>
            </a:ln>
          </p:spPr>
        </p:sp>
        <p:sp>
          <p:nvSpPr>
            <p:cNvPr name="TextBox 16" id="16"/>
            <p:cNvSpPr txBox="true"/>
            <p:nvPr/>
          </p:nvSpPr>
          <p:spPr>
            <a:xfrm>
              <a:off x="0" y="-38100"/>
              <a:ext cx="5029200" cy="756637"/>
            </a:xfrm>
            <a:prstGeom prst="rect">
              <a:avLst/>
            </a:prstGeom>
          </p:spPr>
          <p:txBody>
            <a:bodyPr anchor="t" rtlCol="false" tIns="127000" lIns="127000" bIns="127000" rIns="127000"/>
            <a:lstStyle/>
            <a:p>
              <a:pPr algn="ctr">
                <a:lnSpc>
                  <a:spcPts val="2291"/>
                </a:lnSpc>
              </a:pPr>
              <a:r>
                <a:rPr lang="en-US" sz="1580" spc="40">
                  <a:solidFill>
                    <a:srgbClr val="2ECC71"/>
                  </a:solidFill>
                  <a:latin typeface="Inter"/>
                  <a:ea typeface="Inter"/>
                  <a:cs typeface="Inter"/>
                  <a:sym typeface="Inter"/>
                </a:rPr>
                <a:t>INJAZ / JA COMPANY PROGRAM</a:t>
              </a:r>
            </a:p>
          </p:txBody>
        </p:sp>
      </p:grpSp>
      <p:sp>
        <p:nvSpPr>
          <p:cNvPr name="TextBox 17" id="17"/>
          <p:cNvSpPr txBox="true"/>
          <p:nvPr/>
        </p:nvSpPr>
        <p:spPr>
          <a:xfrm rot="0">
            <a:off x="913505" y="3583038"/>
            <a:ext cx="6430948" cy="2519020"/>
          </a:xfrm>
          <a:prstGeom prst="rect">
            <a:avLst/>
          </a:prstGeom>
        </p:spPr>
        <p:txBody>
          <a:bodyPr anchor="t" rtlCol="false" tIns="0" lIns="0" bIns="0" rIns="0">
            <a:spAutoFit/>
          </a:bodyPr>
          <a:lstStyle/>
          <a:p>
            <a:pPr algn="l">
              <a:lnSpc>
                <a:spcPts val="9547"/>
              </a:lnSpc>
            </a:pPr>
            <a:r>
              <a:rPr lang="en-US" b="true" sz="9360" spc="168">
                <a:solidFill>
                  <a:srgbClr val="FFFFFF"/>
                </a:solidFill>
                <a:latin typeface="Arimo Bold"/>
                <a:ea typeface="Arimo Bold"/>
                <a:cs typeface="Arimo Bold"/>
                <a:sym typeface="Arimo Bold"/>
              </a:rPr>
              <a:t>Company</a:t>
            </a:r>
          </a:p>
          <a:p>
            <a:pPr algn="l">
              <a:lnSpc>
                <a:spcPts val="9547"/>
              </a:lnSpc>
            </a:pPr>
            <a:r>
              <a:rPr lang="en-US" b="true" sz="9360" spc="168">
                <a:solidFill>
                  <a:srgbClr val="2ECC71"/>
                </a:solidFill>
                <a:latin typeface="Arimo Bold"/>
                <a:ea typeface="Arimo Bold"/>
                <a:cs typeface="Arimo Bold"/>
                <a:sym typeface="Arimo Bold"/>
              </a:rPr>
              <a:t>Report</a:t>
            </a:r>
          </a:p>
        </p:txBody>
      </p:sp>
      <p:sp>
        <p:nvSpPr>
          <p:cNvPr name="TextBox 18" id="18"/>
          <p:cNvSpPr txBox="true"/>
          <p:nvPr/>
        </p:nvSpPr>
        <p:spPr>
          <a:xfrm rot="0">
            <a:off x="1005783" y="6206833"/>
            <a:ext cx="7710187" cy="1186434"/>
          </a:xfrm>
          <a:prstGeom prst="rect">
            <a:avLst/>
          </a:prstGeom>
        </p:spPr>
        <p:txBody>
          <a:bodyPr anchor="t" rtlCol="false" tIns="0" lIns="0" bIns="0" rIns="0">
            <a:spAutoFit/>
          </a:bodyPr>
          <a:lstStyle/>
          <a:p>
            <a:pPr algn="l">
              <a:lnSpc>
                <a:spcPts val="3168"/>
              </a:lnSpc>
            </a:pPr>
            <a:r>
              <a:rPr lang="en-US" sz="2300">
                <a:solidFill>
                  <a:srgbClr val="FFFFFF"/>
                </a:solidFill>
                <a:latin typeface="Inter"/>
                <a:ea typeface="Inter"/>
                <a:cs typeface="Inter"/>
                <a:sym typeface="Inter"/>
              </a:rPr>
              <a:t>A personalized medication-care platform that combines smart scheduling, safety insights, and family support to help patients manage daily treatment with confidence.</a:t>
            </a:r>
          </a:p>
        </p:txBody>
      </p:sp>
      <p:grpSp>
        <p:nvGrpSpPr>
          <p:cNvPr name="Group 19" id="19"/>
          <p:cNvGrpSpPr/>
          <p:nvPr/>
        </p:nvGrpSpPr>
        <p:grpSpPr>
          <a:xfrm rot="0">
            <a:off x="13105362" y="2441288"/>
            <a:ext cx="4733925" cy="4733925"/>
            <a:chOff x="0" y="0"/>
            <a:chExt cx="6311900" cy="6311900"/>
          </a:xfrm>
        </p:grpSpPr>
        <p:sp>
          <p:nvSpPr>
            <p:cNvPr name="Freeform 20" id="20" descr="preencoded.png"/>
            <p:cNvSpPr/>
            <p:nvPr/>
          </p:nvSpPr>
          <p:spPr>
            <a:xfrm flipH="false" flipV="false" rot="0">
              <a:off x="0" y="0"/>
              <a:ext cx="6311900" cy="6311900"/>
            </a:xfrm>
            <a:custGeom>
              <a:avLst/>
              <a:gdLst/>
              <a:ahLst/>
              <a:cxnLst/>
              <a:rect r="r" b="b" t="t" l="l"/>
              <a:pathLst>
                <a:path h="6311900" w="6311900">
                  <a:moveTo>
                    <a:pt x="0" y="0"/>
                  </a:moveTo>
                  <a:lnTo>
                    <a:pt x="6311900" y="0"/>
                  </a:lnTo>
                  <a:lnTo>
                    <a:pt x="6311900" y="6311900"/>
                  </a:lnTo>
                  <a:lnTo>
                    <a:pt x="0" y="6311900"/>
                  </a:lnTo>
                  <a:lnTo>
                    <a:pt x="0" y="0"/>
                  </a:lnTo>
                  <a:close/>
                </a:path>
              </a:pathLst>
            </a:custGeom>
            <a:blipFill>
              <a:blip r:embed="rId4"/>
              <a:stretch>
                <a:fillRect l="0" t="0" r="0" b="0"/>
              </a:stretch>
            </a:blipFill>
          </p:spPr>
        </p:sp>
      </p:grpSp>
      <p:sp>
        <p:nvSpPr>
          <p:cNvPr name="TextBox 21" id="21"/>
          <p:cNvSpPr txBox="true"/>
          <p:nvPr/>
        </p:nvSpPr>
        <p:spPr>
          <a:xfrm rot="0">
            <a:off x="915372" y="8906770"/>
            <a:ext cx="3838575" cy="295275"/>
          </a:xfrm>
          <a:prstGeom prst="rect">
            <a:avLst/>
          </a:prstGeom>
        </p:spPr>
        <p:txBody>
          <a:bodyPr anchor="t" rtlCol="false" tIns="0" lIns="0" bIns="0" rIns="0">
            <a:spAutoFit/>
          </a:bodyPr>
          <a:lstStyle/>
          <a:p>
            <a:pPr algn="l">
              <a:lnSpc>
                <a:spcPts val="2052"/>
              </a:lnSpc>
            </a:pPr>
            <a:r>
              <a:rPr lang="en-US" sz="1360" spc="68">
                <a:solidFill>
                  <a:srgbClr val="FFFFFF"/>
                </a:solidFill>
                <a:latin typeface="Inter"/>
                <a:ea typeface="Inter"/>
                <a:cs typeface="Inter"/>
                <a:sym typeface="Inter"/>
              </a:rPr>
              <a:t>TEAM</a:t>
            </a:r>
          </a:p>
        </p:txBody>
      </p:sp>
      <p:sp>
        <p:nvSpPr>
          <p:cNvPr name="TextBox 22" id="22"/>
          <p:cNvSpPr txBox="true"/>
          <p:nvPr/>
        </p:nvSpPr>
        <p:spPr>
          <a:xfrm rot="0">
            <a:off x="915372" y="9220648"/>
            <a:ext cx="3838575" cy="371475"/>
          </a:xfrm>
          <a:prstGeom prst="rect">
            <a:avLst/>
          </a:prstGeom>
        </p:spPr>
        <p:txBody>
          <a:bodyPr anchor="t" rtlCol="false" tIns="0" lIns="0" bIns="0" rIns="0">
            <a:spAutoFit/>
          </a:bodyPr>
          <a:lstStyle/>
          <a:p>
            <a:pPr algn="l">
              <a:lnSpc>
                <a:spcPts val="3024"/>
              </a:lnSpc>
            </a:pPr>
            <a:r>
              <a:rPr lang="en-US" sz="2019">
                <a:solidFill>
                  <a:srgbClr val="FFFFFF"/>
                </a:solidFill>
                <a:latin typeface="Inter"/>
                <a:ea typeface="Inter"/>
                <a:cs typeface="Inter"/>
                <a:sym typeface="Inter"/>
              </a:rPr>
              <a:t>ISTSEH</a:t>
            </a:r>
          </a:p>
        </p:txBody>
      </p:sp>
      <p:sp>
        <p:nvSpPr>
          <p:cNvPr name="TextBox 23" id="23"/>
          <p:cNvSpPr txBox="true"/>
          <p:nvPr/>
        </p:nvSpPr>
        <p:spPr>
          <a:xfrm rot="0">
            <a:off x="5121545" y="8906770"/>
            <a:ext cx="3838575" cy="295275"/>
          </a:xfrm>
          <a:prstGeom prst="rect">
            <a:avLst/>
          </a:prstGeom>
        </p:spPr>
        <p:txBody>
          <a:bodyPr anchor="t" rtlCol="false" tIns="0" lIns="0" bIns="0" rIns="0">
            <a:spAutoFit/>
          </a:bodyPr>
          <a:lstStyle/>
          <a:p>
            <a:pPr algn="l">
              <a:lnSpc>
                <a:spcPts val="2052"/>
              </a:lnSpc>
            </a:pPr>
            <a:r>
              <a:rPr lang="en-US" sz="1360" spc="68">
                <a:solidFill>
                  <a:srgbClr val="FFFFFF"/>
                </a:solidFill>
                <a:latin typeface="Inter"/>
                <a:ea typeface="Inter"/>
                <a:cs typeface="Inter"/>
                <a:sym typeface="Inter"/>
              </a:rPr>
              <a:t>UNIVERSITY</a:t>
            </a:r>
          </a:p>
        </p:txBody>
      </p:sp>
      <p:sp>
        <p:nvSpPr>
          <p:cNvPr name="TextBox 24" id="24"/>
          <p:cNvSpPr txBox="true"/>
          <p:nvPr/>
        </p:nvSpPr>
        <p:spPr>
          <a:xfrm rot="0">
            <a:off x="5121545" y="9220648"/>
            <a:ext cx="3838575" cy="371475"/>
          </a:xfrm>
          <a:prstGeom prst="rect">
            <a:avLst/>
          </a:prstGeom>
        </p:spPr>
        <p:txBody>
          <a:bodyPr anchor="t" rtlCol="false" tIns="0" lIns="0" bIns="0" rIns="0">
            <a:spAutoFit/>
          </a:bodyPr>
          <a:lstStyle/>
          <a:p>
            <a:pPr algn="l">
              <a:lnSpc>
                <a:spcPts val="3024"/>
              </a:lnSpc>
            </a:pPr>
            <a:r>
              <a:rPr lang="en-US" sz="2019">
                <a:solidFill>
                  <a:srgbClr val="FFFFFF"/>
                </a:solidFill>
                <a:latin typeface="Inter"/>
                <a:ea typeface="Inter"/>
                <a:cs typeface="Inter"/>
                <a:sym typeface="Inter"/>
              </a:rPr>
              <a:t>Kuwait University</a:t>
            </a:r>
          </a:p>
        </p:txBody>
      </p:sp>
      <p:sp>
        <p:nvSpPr>
          <p:cNvPr name="TextBox 25" id="25"/>
          <p:cNvSpPr txBox="true"/>
          <p:nvPr/>
        </p:nvSpPr>
        <p:spPr>
          <a:xfrm rot="0">
            <a:off x="9327728" y="8906770"/>
            <a:ext cx="3838575" cy="295275"/>
          </a:xfrm>
          <a:prstGeom prst="rect">
            <a:avLst/>
          </a:prstGeom>
        </p:spPr>
        <p:txBody>
          <a:bodyPr anchor="t" rtlCol="false" tIns="0" lIns="0" bIns="0" rIns="0">
            <a:spAutoFit/>
          </a:bodyPr>
          <a:lstStyle/>
          <a:p>
            <a:pPr algn="l">
              <a:lnSpc>
                <a:spcPts val="2052"/>
              </a:lnSpc>
            </a:pPr>
            <a:r>
              <a:rPr lang="en-US" sz="1360" spc="68">
                <a:solidFill>
                  <a:srgbClr val="FFFFFF"/>
                </a:solidFill>
                <a:latin typeface="Inter"/>
                <a:ea typeface="Inter"/>
                <a:cs typeface="Inter"/>
                <a:sym typeface="Inter"/>
              </a:rPr>
              <a:t>DATE</a:t>
            </a:r>
          </a:p>
        </p:txBody>
      </p:sp>
      <p:sp>
        <p:nvSpPr>
          <p:cNvPr name="TextBox 26" id="26"/>
          <p:cNvSpPr txBox="true"/>
          <p:nvPr/>
        </p:nvSpPr>
        <p:spPr>
          <a:xfrm rot="0">
            <a:off x="9327728" y="9220648"/>
            <a:ext cx="3838575" cy="371475"/>
          </a:xfrm>
          <a:prstGeom prst="rect">
            <a:avLst/>
          </a:prstGeom>
        </p:spPr>
        <p:txBody>
          <a:bodyPr anchor="t" rtlCol="false" tIns="0" lIns="0" bIns="0" rIns="0">
            <a:spAutoFit/>
          </a:bodyPr>
          <a:lstStyle/>
          <a:p>
            <a:pPr algn="l">
              <a:lnSpc>
                <a:spcPts val="3024"/>
              </a:lnSpc>
            </a:pPr>
            <a:r>
              <a:rPr lang="en-US" sz="2019">
                <a:solidFill>
                  <a:srgbClr val="FFFFFF"/>
                </a:solidFill>
                <a:latin typeface="Inter"/>
                <a:ea typeface="Inter"/>
                <a:cs typeface="Inter"/>
                <a:sym typeface="Inter"/>
              </a:rPr>
              <a:t>June 2026</a:t>
            </a:r>
          </a:p>
        </p:txBody>
      </p:sp>
      <p:sp>
        <p:nvSpPr>
          <p:cNvPr name="TextBox 27" id="27"/>
          <p:cNvSpPr txBox="true"/>
          <p:nvPr/>
        </p:nvSpPr>
        <p:spPr>
          <a:xfrm rot="0">
            <a:off x="13533987" y="8906770"/>
            <a:ext cx="3838575" cy="295275"/>
          </a:xfrm>
          <a:prstGeom prst="rect">
            <a:avLst/>
          </a:prstGeom>
        </p:spPr>
        <p:txBody>
          <a:bodyPr anchor="t" rtlCol="false" tIns="0" lIns="0" bIns="0" rIns="0">
            <a:spAutoFit/>
          </a:bodyPr>
          <a:lstStyle/>
          <a:p>
            <a:pPr algn="l">
              <a:lnSpc>
                <a:spcPts val="2052"/>
              </a:lnSpc>
            </a:pPr>
            <a:r>
              <a:rPr lang="en-US" sz="1360" spc="68">
                <a:solidFill>
                  <a:srgbClr val="FFFFFF"/>
                </a:solidFill>
                <a:latin typeface="Inter"/>
                <a:ea typeface="Inter"/>
                <a:cs typeface="Inter"/>
                <a:sym typeface="Inter"/>
              </a:rPr>
              <a:t>VERSION</a:t>
            </a:r>
          </a:p>
        </p:txBody>
      </p:sp>
      <p:sp>
        <p:nvSpPr>
          <p:cNvPr name="TextBox 28" id="28"/>
          <p:cNvSpPr txBox="true"/>
          <p:nvPr/>
        </p:nvSpPr>
        <p:spPr>
          <a:xfrm rot="0">
            <a:off x="13533987" y="9220648"/>
            <a:ext cx="3838575" cy="371475"/>
          </a:xfrm>
          <a:prstGeom prst="rect">
            <a:avLst/>
          </a:prstGeom>
        </p:spPr>
        <p:txBody>
          <a:bodyPr anchor="t" rtlCol="false" tIns="0" lIns="0" bIns="0" rIns="0">
            <a:spAutoFit/>
          </a:bodyPr>
          <a:lstStyle/>
          <a:p>
            <a:pPr algn="l">
              <a:lnSpc>
                <a:spcPts val="3024"/>
              </a:lnSpc>
            </a:pPr>
            <a:r>
              <a:rPr lang="en-US" sz="2019">
                <a:solidFill>
                  <a:srgbClr val="FFFFFF"/>
                </a:solidFill>
                <a:latin typeface="Inter"/>
                <a:ea typeface="Inter"/>
                <a:cs typeface="Inter"/>
                <a:sym typeface="Inter"/>
              </a:rPr>
              <a:t>1.0</a:t>
            </a:r>
          </a:p>
        </p:txBody>
      </p:sp>
      <p:sp>
        <p:nvSpPr>
          <p:cNvPr name="Freeform 29" id="29" descr="preencoded.png"/>
          <p:cNvSpPr/>
          <p:nvPr/>
        </p:nvSpPr>
        <p:spPr>
          <a:xfrm flipH="false" flipV="false" rot="0">
            <a:off x="509287" y="8677275"/>
            <a:ext cx="16459200" cy="1047750"/>
          </a:xfrm>
          <a:custGeom>
            <a:avLst/>
            <a:gdLst/>
            <a:ahLst/>
            <a:cxnLst/>
            <a:rect r="r" b="b" t="t" l="l"/>
            <a:pathLst>
              <a:path h="1047750" w="16459200">
                <a:moveTo>
                  <a:pt x="0" y="0"/>
                </a:moveTo>
                <a:lnTo>
                  <a:pt x="16459200" y="0"/>
                </a:lnTo>
                <a:lnTo>
                  <a:pt x="16459200" y="1047750"/>
                </a:lnTo>
                <a:lnTo>
                  <a:pt x="0" y="1047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900866"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7514" y="352501"/>
            <a:ext cx="10858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CONTENTS</a:t>
            </a:r>
          </a:p>
        </p:txBody>
      </p:sp>
      <p:sp>
        <p:nvSpPr>
          <p:cNvPr name="TextBox 8" id="8"/>
          <p:cNvSpPr txBox="true"/>
          <p:nvPr/>
        </p:nvSpPr>
        <p:spPr>
          <a:xfrm rot="0">
            <a:off x="16785279"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02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Table of Contents</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TextBox 12" id="12"/>
          <p:cNvSpPr txBox="true"/>
          <p:nvPr/>
        </p:nvSpPr>
        <p:spPr>
          <a:xfrm rot="0">
            <a:off x="4320119" y="2187997"/>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01 </a:t>
            </a:r>
            <a:r>
              <a:rPr lang="en-US" sz="2019">
                <a:solidFill>
                  <a:srgbClr val="1A1A2E"/>
                </a:solidFill>
                <a:latin typeface="Inter"/>
                <a:ea typeface="Inter"/>
                <a:cs typeface="Inter"/>
                <a:sym typeface="Inter"/>
              </a:rPr>
              <a:t>Executive Summary </a:t>
            </a:r>
            <a:r>
              <a:rPr lang="en-US" sz="2019">
                <a:solidFill>
                  <a:srgbClr val="6B7280"/>
                </a:solidFill>
                <a:latin typeface="Inter"/>
                <a:ea typeface="Inter"/>
                <a:cs typeface="Inter"/>
                <a:sym typeface="Inter"/>
              </a:rPr>
              <a:t>03</a:t>
            </a:r>
          </a:p>
        </p:txBody>
      </p:sp>
      <p:sp>
        <p:nvSpPr>
          <p:cNvPr name="TextBox 13" id="13"/>
          <p:cNvSpPr txBox="true"/>
          <p:nvPr/>
        </p:nvSpPr>
        <p:spPr>
          <a:xfrm rot="0">
            <a:off x="10068537" y="2187997"/>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17 </a:t>
            </a:r>
            <a:r>
              <a:rPr lang="en-US" sz="2019">
                <a:solidFill>
                  <a:srgbClr val="1A1A2E"/>
                </a:solidFill>
                <a:latin typeface="Inter"/>
                <a:ea typeface="Inter"/>
                <a:cs typeface="Inter"/>
                <a:sym typeface="Inter"/>
              </a:rPr>
              <a:t>Development Report </a:t>
            </a:r>
            <a:r>
              <a:rPr lang="en-US" sz="2019">
                <a:solidFill>
                  <a:srgbClr val="6B7280"/>
                </a:solidFill>
                <a:latin typeface="Inter"/>
                <a:ea typeface="Inter"/>
                <a:cs typeface="Inter"/>
                <a:sym typeface="Inter"/>
              </a:rPr>
              <a:t>19</a:t>
            </a:r>
          </a:p>
        </p:txBody>
      </p:sp>
      <p:sp>
        <p:nvSpPr>
          <p:cNvPr name="TextBox 14" id="14"/>
          <p:cNvSpPr txBox="true"/>
          <p:nvPr/>
        </p:nvSpPr>
        <p:spPr>
          <a:xfrm rot="0">
            <a:off x="4320119" y="2715139"/>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02 </a:t>
            </a:r>
            <a:r>
              <a:rPr lang="en-US" sz="2019">
                <a:solidFill>
                  <a:srgbClr val="1A1A2E"/>
                </a:solidFill>
                <a:latin typeface="Inter"/>
                <a:ea typeface="Inter"/>
                <a:cs typeface="Inter"/>
                <a:sym typeface="Inter"/>
              </a:rPr>
              <a:t>Aim of the Report </a:t>
            </a:r>
            <a:r>
              <a:rPr lang="en-US" sz="2019">
                <a:solidFill>
                  <a:srgbClr val="6B7280"/>
                </a:solidFill>
                <a:latin typeface="Inter"/>
                <a:ea typeface="Inter"/>
                <a:cs typeface="Inter"/>
                <a:sym typeface="Inter"/>
              </a:rPr>
              <a:t>04</a:t>
            </a:r>
          </a:p>
        </p:txBody>
      </p:sp>
      <p:sp>
        <p:nvSpPr>
          <p:cNvPr name="TextBox 15" id="15"/>
          <p:cNvSpPr txBox="true"/>
          <p:nvPr/>
        </p:nvSpPr>
        <p:spPr>
          <a:xfrm rot="0">
            <a:off x="10068537" y="2715139"/>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18 </a:t>
            </a:r>
            <a:r>
              <a:rPr lang="en-US" sz="2019">
                <a:solidFill>
                  <a:srgbClr val="1A1A2E"/>
                </a:solidFill>
                <a:latin typeface="Inter"/>
                <a:ea typeface="Inter"/>
                <a:cs typeface="Inter"/>
                <a:sym typeface="Inter"/>
              </a:rPr>
              <a:t>Product Screens </a:t>
            </a:r>
            <a:r>
              <a:rPr lang="en-US" sz="2019">
                <a:solidFill>
                  <a:srgbClr val="6B7280"/>
                </a:solidFill>
                <a:latin typeface="Inter"/>
                <a:ea typeface="Inter"/>
                <a:cs typeface="Inter"/>
                <a:sym typeface="Inter"/>
              </a:rPr>
              <a:t>20</a:t>
            </a:r>
          </a:p>
        </p:txBody>
      </p:sp>
      <p:sp>
        <p:nvSpPr>
          <p:cNvPr name="TextBox 16" id="16"/>
          <p:cNvSpPr txBox="true"/>
          <p:nvPr/>
        </p:nvSpPr>
        <p:spPr>
          <a:xfrm rot="0">
            <a:off x="4320119" y="3242291"/>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03 </a:t>
            </a:r>
            <a:r>
              <a:rPr lang="en-US" sz="2019">
                <a:solidFill>
                  <a:srgbClr val="1A1A2E"/>
                </a:solidFill>
                <a:latin typeface="Inter"/>
                <a:ea typeface="Inter"/>
                <a:cs typeface="Inter"/>
                <a:sym typeface="Inter"/>
              </a:rPr>
              <a:t>Company Overview </a:t>
            </a:r>
            <a:r>
              <a:rPr lang="en-US" sz="2019">
                <a:solidFill>
                  <a:srgbClr val="6B7280"/>
                </a:solidFill>
                <a:latin typeface="Inter"/>
                <a:ea typeface="Inter"/>
                <a:cs typeface="Inter"/>
                <a:sym typeface="Inter"/>
              </a:rPr>
              <a:t>05</a:t>
            </a:r>
          </a:p>
        </p:txBody>
      </p:sp>
      <p:sp>
        <p:nvSpPr>
          <p:cNvPr name="TextBox 17" id="17"/>
          <p:cNvSpPr txBox="true"/>
          <p:nvPr/>
        </p:nvSpPr>
        <p:spPr>
          <a:xfrm rot="0">
            <a:off x="10068537" y="3242291"/>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19 </a:t>
            </a:r>
            <a:r>
              <a:rPr lang="en-US" sz="2019">
                <a:solidFill>
                  <a:srgbClr val="1A1A2E"/>
                </a:solidFill>
                <a:latin typeface="Inter"/>
                <a:ea typeface="Inter"/>
                <a:cs typeface="Inter"/>
                <a:sym typeface="Inter"/>
              </a:rPr>
              <a:t>Marketing Report </a:t>
            </a:r>
            <a:r>
              <a:rPr lang="en-US" sz="2019">
                <a:solidFill>
                  <a:srgbClr val="6B7280"/>
                </a:solidFill>
                <a:latin typeface="Inter"/>
                <a:ea typeface="Inter"/>
                <a:cs typeface="Inter"/>
                <a:sym typeface="Inter"/>
              </a:rPr>
              <a:t>21</a:t>
            </a:r>
          </a:p>
        </p:txBody>
      </p:sp>
      <p:sp>
        <p:nvSpPr>
          <p:cNvPr name="TextBox 18" id="18"/>
          <p:cNvSpPr txBox="true"/>
          <p:nvPr/>
        </p:nvSpPr>
        <p:spPr>
          <a:xfrm rot="0">
            <a:off x="4320119" y="3769443"/>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04 </a:t>
            </a:r>
            <a:r>
              <a:rPr lang="en-US" sz="2019">
                <a:solidFill>
                  <a:srgbClr val="1A1A2E"/>
                </a:solidFill>
                <a:latin typeface="Inter"/>
                <a:ea typeface="Inter"/>
                <a:cs typeface="Inter"/>
                <a:sym typeface="Inter"/>
              </a:rPr>
              <a:t>Problem / Need </a:t>
            </a:r>
            <a:r>
              <a:rPr lang="en-US" sz="2019">
                <a:solidFill>
                  <a:srgbClr val="6B7280"/>
                </a:solidFill>
                <a:latin typeface="Inter"/>
                <a:ea typeface="Inter"/>
                <a:cs typeface="Inter"/>
                <a:sym typeface="Inter"/>
              </a:rPr>
              <a:t>06</a:t>
            </a:r>
          </a:p>
        </p:txBody>
      </p:sp>
      <p:sp>
        <p:nvSpPr>
          <p:cNvPr name="TextBox 19" id="19"/>
          <p:cNvSpPr txBox="true"/>
          <p:nvPr/>
        </p:nvSpPr>
        <p:spPr>
          <a:xfrm rot="0">
            <a:off x="10068537" y="3769443"/>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20 </a:t>
            </a:r>
            <a:r>
              <a:rPr lang="en-US" sz="2019">
                <a:solidFill>
                  <a:srgbClr val="1A1A2E"/>
                </a:solidFill>
                <a:latin typeface="Inter"/>
                <a:ea typeface="Inter"/>
                <a:cs typeface="Inter"/>
                <a:sym typeface="Inter"/>
              </a:rPr>
              <a:t>Digital Marketing </a:t>
            </a:r>
            <a:r>
              <a:rPr lang="en-US" sz="2019">
                <a:solidFill>
                  <a:srgbClr val="6B7280"/>
                </a:solidFill>
                <a:latin typeface="Inter"/>
                <a:ea typeface="Inter"/>
                <a:cs typeface="Inter"/>
                <a:sym typeface="Inter"/>
              </a:rPr>
              <a:t>22</a:t>
            </a:r>
          </a:p>
        </p:txBody>
      </p:sp>
      <p:sp>
        <p:nvSpPr>
          <p:cNvPr name="TextBox 20" id="20"/>
          <p:cNvSpPr txBox="true"/>
          <p:nvPr/>
        </p:nvSpPr>
        <p:spPr>
          <a:xfrm rot="0">
            <a:off x="4320119" y="4296594"/>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05 </a:t>
            </a:r>
            <a:r>
              <a:rPr lang="en-US" sz="2019">
                <a:solidFill>
                  <a:srgbClr val="1A1A2E"/>
                </a:solidFill>
                <a:latin typeface="Inter"/>
                <a:ea typeface="Inter"/>
                <a:cs typeface="Inter"/>
                <a:sym typeface="Inter"/>
              </a:rPr>
              <a:t>Target Users </a:t>
            </a:r>
            <a:r>
              <a:rPr lang="en-US" sz="2019">
                <a:solidFill>
                  <a:srgbClr val="6B7280"/>
                </a:solidFill>
                <a:latin typeface="Inter"/>
                <a:ea typeface="Inter"/>
                <a:cs typeface="Inter"/>
                <a:sym typeface="Inter"/>
              </a:rPr>
              <a:t>07</a:t>
            </a:r>
          </a:p>
        </p:txBody>
      </p:sp>
      <p:sp>
        <p:nvSpPr>
          <p:cNvPr name="TextBox 21" id="21"/>
          <p:cNvSpPr txBox="true"/>
          <p:nvPr/>
        </p:nvSpPr>
        <p:spPr>
          <a:xfrm rot="0">
            <a:off x="10068537" y="4296594"/>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21 </a:t>
            </a:r>
            <a:r>
              <a:rPr lang="en-US" sz="2019">
                <a:solidFill>
                  <a:srgbClr val="1A1A2E"/>
                </a:solidFill>
                <a:latin typeface="Inter"/>
                <a:ea typeface="Inter"/>
                <a:cs typeface="Inter"/>
                <a:sym typeface="Inter"/>
              </a:rPr>
              <a:t>Sales Strategy </a:t>
            </a:r>
            <a:r>
              <a:rPr lang="en-US" sz="2019">
                <a:solidFill>
                  <a:srgbClr val="6B7280"/>
                </a:solidFill>
                <a:latin typeface="Inter"/>
                <a:ea typeface="Inter"/>
                <a:cs typeface="Inter"/>
                <a:sym typeface="Inter"/>
              </a:rPr>
              <a:t>23</a:t>
            </a:r>
          </a:p>
        </p:txBody>
      </p:sp>
      <p:sp>
        <p:nvSpPr>
          <p:cNvPr name="TextBox 22" id="22"/>
          <p:cNvSpPr txBox="true"/>
          <p:nvPr/>
        </p:nvSpPr>
        <p:spPr>
          <a:xfrm rot="0">
            <a:off x="4320119" y="4823746"/>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06 </a:t>
            </a:r>
            <a:r>
              <a:rPr lang="en-US" sz="2019">
                <a:solidFill>
                  <a:srgbClr val="1A1A2E"/>
                </a:solidFill>
                <a:latin typeface="Inter"/>
                <a:ea typeface="Inter"/>
                <a:cs typeface="Inter"/>
                <a:sym typeface="Inter"/>
              </a:rPr>
              <a:t>Product / Service Idea </a:t>
            </a:r>
            <a:r>
              <a:rPr lang="en-US" sz="2019">
                <a:solidFill>
                  <a:srgbClr val="6B7280"/>
                </a:solidFill>
                <a:latin typeface="Inter"/>
                <a:ea typeface="Inter"/>
                <a:cs typeface="Inter"/>
                <a:sym typeface="Inter"/>
              </a:rPr>
              <a:t>08</a:t>
            </a:r>
          </a:p>
        </p:txBody>
      </p:sp>
      <p:sp>
        <p:nvSpPr>
          <p:cNvPr name="TextBox 23" id="23"/>
          <p:cNvSpPr txBox="true"/>
          <p:nvPr/>
        </p:nvSpPr>
        <p:spPr>
          <a:xfrm rot="0">
            <a:off x="10068537" y="4823746"/>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22 </a:t>
            </a:r>
            <a:r>
              <a:rPr lang="en-US" sz="2019">
                <a:solidFill>
                  <a:srgbClr val="1A1A2E"/>
                </a:solidFill>
                <a:latin typeface="Inter"/>
                <a:ea typeface="Inter"/>
                <a:cs typeface="Inter"/>
                <a:sym typeface="Inter"/>
              </a:rPr>
              <a:t>Networking Strategy </a:t>
            </a:r>
            <a:r>
              <a:rPr lang="en-US" sz="2019">
                <a:solidFill>
                  <a:srgbClr val="6B7280"/>
                </a:solidFill>
                <a:latin typeface="Inter"/>
                <a:ea typeface="Inter"/>
                <a:cs typeface="Inter"/>
                <a:sym typeface="Inter"/>
              </a:rPr>
              <a:t>24</a:t>
            </a:r>
          </a:p>
        </p:txBody>
      </p:sp>
      <p:sp>
        <p:nvSpPr>
          <p:cNvPr name="TextBox 24" id="24"/>
          <p:cNvSpPr txBox="true"/>
          <p:nvPr/>
        </p:nvSpPr>
        <p:spPr>
          <a:xfrm rot="0">
            <a:off x="4320119" y="5350888"/>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07 </a:t>
            </a:r>
            <a:r>
              <a:rPr lang="en-US" sz="2019">
                <a:solidFill>
                  <a:srgbClr val="1A1A2E"/>
                </a:solidFill>
                <a:latin typeface="Inter"/>
                <a:ea typeface="Inter"/>
                <a:cs typeface="Inter"/>
                <a:sym typeface="Inter"/>
              </a:rPr>
              <a:t>Key Features </a:t>
            </a:r>
            <a:r>
              <a:rPr lang="en-US" sz="2019">
                <a:solidFill>
                  <a:srgbClr val="6B7280"/>
                </a:solidFill>
                <a:latin typeface="Inter"/>
                <a:ea typeface="Inter"/>
                <a:cs typeface="Inter"/>
                <a:sym typeface="Inter"/>
              </a:rPr>
              <a:t>09</a:t>
            </a:r>
          </a:p>
        </p:txBody>
      </p:sp>
      <p:sp>
        <p:nvSpPr>
          <p:cNvPr name="TextBox 25" id="25"/>
          <p:cNvSpPr txBox="true"/>
          <p:nvPr/>
        </p:nvSpPr>
        <p:spPr>
          <a:xfrm rot="0">
            <a:off x="10068537" y="5350888"/>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23 </a:t>
            </a:r>
            <a:r>
              <a:rPr lang="en-US" sz="2019">
                <a:solidFill>
                  <a:srgbClr val="1A1A2E"/>
                </a:solidFill>
                <a:latin typeface="Inter"/>
                <a:ea typeface="Inter"/>
                <a:cs typeface="Inter"/>
                <a:sym typeface="Inter"/>
              </a:rPr>
              <a:t>Financials </a:t>
            </a:r>
            <a:r>
              <a:rPr lang="en-US" sz="2019">
                <a:solidFill>
                  <a:srgbClr val="6B7280"/>
                </a:solidFill>
                <a:latin typeface="Inter"/>
                <a:ea typeface="Inter"/>
                <a:cs typeface="Inter"/>
                <a:sym typeface="Inter"/>
              </a:rPr>
              <a:t>25</a:t>
            </a:r>
          </a:p>
        </p:txBody>
      </p:sp>
      <p:sp>
        <p:nvSpPr>
          <p:cNvPr name="TextBox 26" id="26"/>
          <p:cNvSpPr txBox="true"/>
          <p:nvPr/>
        </p:nvSpPr>
        <p:spPr>
          <a:xfrm rot="0">
            <a:off x="4320119" y="5878039"/>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08 </a:t>
            </a:r>
            <a:r>
              <a:rPr lang="en-US" sz="2019">
                <a:solidFill>
                  <a:srgbClr val="1A1A2E"/>
                </a:solidFill>
                <a:latin typeface="Inter"/>
                <a:ea typeface="Inter"/>
                <a:cs typeface="Inter"/>
                <a:sym typeface="Inter"/>
              </a:rPr>
              <a:t>Market Research </a:t>
            </a:r>
            <a:r>
              <a:rPr lang="en-US" sz="2019">
                <a:solidFill>
                  <a:srgbClr val="6B7280"/>
                </a:solidFill>
                <a:latin typeface="Inter"/>
                <a:ea typeface="Inter"/>
                <a:cs typeface="Inter"/>
                <a:sym typeface="Inter"/>
              </a:rPr>
              <a:t>10</a:t>
            </a:r>
          </a:p>
        </p:txBody>
      </p:sp>
      <p:sp>
        <p:nvSpPr>
          <p:cNvPr name="TextBox 27" id="27"/>
          <p:cNvSpPr txBox="true"/>
          <p:nvPr/>
        </p:nvSpPr>
        <p:spPr>
          <a:xfrm rot="0">
            <a:off x="10068537" y="5878039"/>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24 </a:t>
            </a:r>
            <a:r>
              <a:rPr lang="en-US" sz="2019">
                <a:solidFill>
                  <a:srgbClr val="1A1A2E"/>
                </a:solidFill>
                <a:latin typeface="Inter"/>
                <a:ea typeface="Inter"/>
                <a:cs typeface="Inter"/>
                <a:sym typeface="Inter"/>
              </a:rPr>
              <a:t>Legal and Ethical Plan </a:t>
            </a:r>
            <a:r>
              <a:rPr lang="en-US" sz="2019">
                <a:solidFill>
                  <a:srgbClr val="6B7280"/>
                </a:solidFill>
                <a:latin typeface="Inter"/>
                <a:ea typeface="Inter"/>
                <a:cs typeface="Inter"/>
                <a:sym typeface="Inter"/>
              </a:rPr>
              <a:t>26</a:t>
            </a:r>
          </a:p>
        </p:txBody>
      </p:sp>
      <p:sp>
        <p:nvSpPr>
          <p:cNvPr name="TextBox 28" id="28"/>
          <p:cNvSpPr txBox="true"/>
          <p:nvPr/>
        </p:nvSpPr>
        <p:spPr>
          <a:xfrm rot="0">
            <a:off x="4320119" y="6405191"/>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09 </a:t>
            </a:r>
            <a:r>
              <a:rPr lang="en-US" sz="2019">
                <a:solidFill>
                  <a:srgbClr val="1A1A2E"/>
                </a:solidFill>
                <a:latin typeface="Inter"/>
                <a:ea typeface="Inter"/>
                <a:cs typeface="Inter"/>
                <a:sym typeface="Inter"/>
              </a:rPr>
              <a:t>User Research / Survey </a:t>
            </a:r>
            <a:r>
              <a:rPr lang="en-US" sz="2019">
                <a:solidFill>
                  <a:srgbClr val="6B7280"/>
                </a:solidFill>
                <a:latin typeface="Inter"/>
                <a:ea typeface="Inter"/>
                <a:cs typeface="Inter"/>
                <a:sym typeface="Inter"/>
              </a:rPr>
              <a:t>11</a:t>
            </a:r>
          </a:p>
        </p:txBody>
      </p:sp>
      <p:sp>
        <p:nvSpPr>
          <p:cNvPr name="TextBox 29" id="29"/>
          <p:cNvSpPr txBox="true"/>
          <p:nvPr/>
        </p:nvSpPr>
        <p:spPr>
          <a:xfrm rot="0">
            <a:off x="10068537" y="6405191"/>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25 </a:t>
            </a:r>
            <a:r>
              <a:rPr lang="en-US" sz="2019">
                <a:solidFill>
                  <a:srgbClr val="1A1A2E"/>
                </a:solidFill>
                <a:latin typeface="Inter"/>
                <a:ea typeface="Inter"/>
                <a:cs typeface="Inter"/>
                <a:sym typeface="Inter"/>
              </a:rPr>
              <a:t>Risk Analysis </a:t>
            </a:r>
            <a:r>
              <a:rPr lang="en-US" sz="2019">
                <a:solidFill>
                  <a:srgbClr val="6B7280"/>
                </a:solidFill>
                <a:latin typeface="Inter"/>
                <a:ea typeface="Inter"/>
                <a:cs typeface="Inter"/>
                <a:sym typeface="Inter"/>
              </a:rPr>
              <a:t>27</a:t>
            </a:r>
          </a:p>
        </p:txBody>
      </p:sp>
      <p:sp>
        <p:nvSpPr>
          <p:cNvPr name="TextBox 30" id="30"/>
          <p:cNvSpPr txBox="true"/>
          <p:nvPr/>
        </p:nvSpPr>
        <p:spPr>
          <a:xfrm rot="0">
            <a:off x="4320119" y="6932333"/>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10 </a:t>
            </a:r>
            <a:r>
              <a:rPr lang="en-US" sz="2019">
                <a:solidFill>
                  <a:srgbClr val="1A1A2E"/>
                </a:solidFill>
                <a:latin typeface="Inter"/>
                <a:ea typeface="Inter"/>
                <a:cs typeface="Inter"/>
                <a:sym typeface="Inter"/>
              </a:rPr>
              <a:t>Competitor Analysis </a:t>
            </a:r>
            <a:r>
              <a:rPr lang="en-US" sz="2019">
                <a:solidFill>
                  <a:srgbClr val="6B7280"/>
                </a:solidFill>
                <a:latin typeface="Inter"/>
                <a:ea typeface="Inter"/>
                <a:cs typeface="Inter"/>
                <a:sym typeface="Inter"/>
              </a:rPr>
              <a:t>12</a:t>
            </a:r>
          </a:p>
        </p:txBody>
      </p:sp>
      <p:sp>
        <p:nvSpPr>
          <p:cNvPr name="TextBox 31" id="31"/>
          <p:cNvSpPr txBox="true"/>
          <p:nvPr/>
        </p:nvSpPr>
        <p:spPr>
          <a:xfrm rot="0">
            <a:off x="10068537" y="6932333"/>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26 </a:t>
            </a:r>
            <a:r>
              <a:rPr lang="en-US" sz="2019">
                <a:solidFill>
                  <a:srgbClr val="1A1A2E"/>
                </a:solidFill>
                <a:latin typeface="Inter"/>
                <a:ea typeface="Inter"/>
                <a:cs typeface="Inter"/>
                <a:sym typeface="Inter"/>
              </a:rPr>
              <a:t>SDG and Track Connection </a:t>
            </a:r>
            <a:r>
              <a:rPr lang="en-US" sz="2019">
                <a:solidFill>
                  <a:srgbClr val="6B7280"/>
                </a:solidFill>
                <a:latin typeface="Inter"/>
                <a:ea typeface="Inter"/>
                <a:cs typeface="Inter"/>
                <a:sym typeface="Inter"/>
              </a:rPr>
              <a:t>28</a:t>
            </a:r>
          </a:p>
        </p:txBody>
      </p:sp>
      <p:sp>
        <p:nvSpPr>
          <p:cNvPr name="TextBox 32" id="32"/>
          <p:cNvSpPr txBox="true"/>
          <p:nvPr/>
        </p:nvSpPr>
        <p:spPr>
          <a:xfrm rot="0">
            <a:off x="4320119" y="7459485"/>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11  </a:t>
            </a:r>
            <a:r>
              <a:rPr lang="en-US" sz="2019">
                <a:solidFill>
                  <a:srgbClr val="1A1A2E"/>
                </a:solidFill>
                <a:latin typeface="Inter"/>
                <a:ea typeface="Inter"/>
                <a:cs typeface="Inter"/>
                <a:sym typeface="Inter"/>
              </a:rPr>
              <a:t>Unique Value Proposition </a:t>
            </a:r>
            <a:r>
              <a:rPr lang="en-US" sz="2019">
                <a:solidFill>
                  <a:srgbClr val="6B7280"/>
                </a:solidFill>
                <a:latin typeface="Inter"/>
                <a:ea typeface="Inter"/>
                <a:cs typeface="Inter"/>
                <a:sym typeface="Inter"/>
              </a:rPr>
              <a:t>13</a:t>
            </a:r>
          </a:p>
        </p:txBody>
      </p:sp>
      <p:sp>
        <p:nvSpPr>
          <p:cNvPr name="TextBox 33" id="33"/>
          <p:cNvSpPr txBox="true"/>
          <p:nvPr/>
        </p:nvSpPr>
        <p:spPr>
          <a:xfrm rot="0">
            <a:off x="10068537" y="7459485"/>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27 </a:t>
            </a:r>
            <a:r>
              <a:rPr lang="en-US" sz="2019">
                <a:solidFill>
                  <a:srgbClr val="1A1A2E"/>
                </a:solidFill>
                <a:latin typeface="Inter"/>
                <a:ea typeface="Inter"/>
                <a:cs typeface="Inter"/>
                <a:sym typeface="Inter"/>
              </a:rPr>
              <a:t>Roadmap </a:t>
            </a:r>
            <a:r>
              <a:rPr lang="en-US" sz="2019">
                <a:solidFill>
                  <a:srgbClr val="6B7280"/>
                </a:solidFill>
                <a:latin typeface="Inter"/>
                <a:ea typeface="Inter"/>
                <a:cs typeface="Inter"/>
                <a:sym typeface="Inter"/>
              </a:rPr>
              <a:t>29</a:t>
            </a:r>
          </a:p>
        </p:txBody>
      </p:sp>
      <p:sp>
        <p:nvSpPr>
          <p:cNvPr name="TextBox 34" id="34"/>
          <p:cNvSpPr txBox="true"/>
          <p:nvPr/>
        </p:nvSpPr>
        <p:spPr>
          <a:xfrm rot="0">
            <a:off x="4320119" y="7986636"/>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12 </a:t>
            </a:r>
            <a:r>
              <a:rPr lang="en-US" sz="2019">
                <a:solidFill>
                  <a:srgbClr val="1A1A2E"/>
                </a:solidFill>
                <a:latin typeface="Inter"/>
                <a:ea typeface="Inter"/>
                <a:cs typeface="Inter"/>
                <a:sym typeface="Inter"/>
              </a:rPr>
              <a:t>Business Model </a:t>
            </a:r>
            <a:r>
              <a:rPr lang="en-US" sz="2019">
                <a:solidFill>
                  <a:srgbClr val="6B7280"/>
                </a:solidFill>
                <a:latin typeface="Inter"/>
                <a:ea typeface="Inter"/>
                <a:cs typeface="Inter"/>
                <a:sym typeface="Inter"/>
              </a:rPr>
              <a:t>14</a:t>
            </a:r>
          </a:p>
        </p:txBody>
      </p:sp>
      <p:sp>
        <p:nvSpPr>
          <p:cNvPr name="TextBox 35" id="35"/>
          <p:cNvSpPr txBox="true"/>
          <p:nvPr/>
        </p:nvSpPr>
        <p:spPr>
          <a:xfrm rot="0">
            <a:off x="10068537" y="7986636"/>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28 </a:t>
            </a:r>
            <a:r>
              <a:rPr lang="en-US" sz="2019">
                <a:solidFill>
                  <a:srgbClr val="1A1A2E"/>
                </a:solidFill>
                <a:latin typeface="Inter"/>
                <a:ea typeface="Inter"/>
                <a:cs typeface="Inter"/>
                <a:sym typeface="Inter"/>
              </a:rPr>
              <a:t>Reflection and Lessons </a:t>
            </a:r>
            <a:r>
              <a:rPr lang="en-US" sz="2019">
                <a:solidFill>
                  <a:srgbClr val="6B7280"/>
                </a:solidFill>
                <a:latin typeface="Inter"/>
                <a:ea typeface="Inter"/>
                <a:cs typeface="Inter"/>
                <a:sym typeface="Inter"/>
              </a:rPr>
              <a:t>30</a:t>
            </a:r>
          </a:p>
        </p:txBody>
      </p:sp>
      <p:sp>
        <p:nvSpPr>
          <p:cNvPr name="TextBox 36" id="36"/>
          <p:cNvSpPr txBox="true"/>
          <p:nvPr/>
        </p:nvSpPr>
        <p:spPr>
          <a:xfrm rot="0">
            <a:off x="4320119" y="8513788"/>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13 </a:t>
            </a:r>
            <a:r>
              <a:rPr lang="en-US" sz="2019">
                <a:solidFill>
                  <a:srgbClr val="1A1A2E"/>
                </a:solidFill>
                <a:latin typeface="Inter"/>
                <a:ea typeface="Inter"/>
                <a:cs typeface="Inter"/>
                <a:sym typeface="Inter"/>
              </a:rPr>
              <a:t>Company Structure </a:t>
            </a:r>
            <a:r>
              <a:rPr lang="en-US" sz="2019">
                <a:solidFill>
                  <a:srgbClr val="6B7280"/>
                </a:solidFill>
                <a:latin typeface="Inter"/>
                <a:ea typeface="Inter"/>
                <a:cs typeface="Inter"/>
                <a:sym typeface="Inter"/>
              </a:rPr>
              <a:t>15</a:t>
            </a:r>
          </a:p>
        </p:txBody>
      </p:sp>
      <p:sp>
        <p:nvSpPr>
          <p:cNvPr name="TextBox 37" id="37"/>
          <p:cNvSpPr txBox="true"/>
          <p:nvPr/>
        </p:nvSpPr>
        <p:spPr>
          <a:xfrm rot="0">
            <a:off x="10068537" y="8513788"/>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29 </a:t>
            </a:r>
            <a:r>
              <a:rPr lang="en-US" sz="2019">
                <a:solidFill>
                  <a:srgbClr val="1A1A2E"/>
                </a:solidFill>
                <a:latin typeface="Inter"/>
                <a:ea typeface="Inter"/>
                <a:cs typeface="Inter"/>
                <a:sym typeface="Inter"/>
              </a:rPr>
              <a:t>Appendices / Evidence </a:t>
            </a:r>
            <a:r>
              <a:rPr lang="en-US" sz="2019">
                <a:solidFill>
                  <a:srgbClr val="6B7280"/>
                </a:solidFill>
                <a:latin typeface="Inter"/>
                <a:ea typeface="Inter"/>
                <a:cs typeface="Inter"/>
                <a:sym typeface="Inter"/>
              </a:rPr>
              <a:t>31</a:t>
            </a:r>
          </a:p>
        </p:txBody>
      </p:sp>
      <p:sp>
        <p:nvSpPr>
          <p:cNvPr name="TextBox 38" id="38"/>
          <p:cNvSpPr txBox="true"/>
          <p:nvPr/>
        </p:nvSpPr>
        <p:spPr>
          <a:xfrm rot="0">
            <a:off x="4320119" y="9040939"/>
            <a:ext cx="4082871"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14 </a:t>
            </a:r>
            <a:r>
              <a:rPr lang="en-US" sz="2019">
                <a:solidFill>
                  <a:srgbClr val="1A1A2E"/>
                </a:solidFill>
                <a:latin typeface="Inter"/>
                <a:ea typeface="Inter"/>
                <a:cs typeface="Inter"/>
                <a:sym typeface="Inter"/>
              </a:rPr>
              <a:t>Project Management </a:t>
            </a:r>
            <a:r>
              <a:rPr lang="en-US" sz="2019">
                <a:solidFill>
                  <a:srgbClr val="6B7280"/>
                </a:solidFill>
                <a:latin typeface="Inter"/>
                <a:ea typeface="Inter"/>
                <a:cs typeface="Inter"/>
                <a:sym typeface="Inter"/>
              </a:rPr>
              <a:t>16</a:t>
            </a:r>
          </a:p>
        </p:txBody>
      </p:sp>
      <p:sp>
        <p:nvSpPr>
          <p:cNvPr name="TextBox 39" id="39"/>
          <p:cNvSpPr txBox="true"/>
          <p:nvPr/>
        </p:nvSpPr>
        <p:spPr>
          <a:xfrm rot="0">
            <a:off x="10068537" y="9040939"/>
            <a:ext cx="4257524" cy="371475"/>
          </a:xfrm>
          <a:prstGeom prst="rect">
            <a:avLst/>
          </a:prstGeom>
        </p:spPr>
        <p:txBody>
          <a:bodyPr anchor="t" rtlCol="false" tIns="0" lIns="0" bIns="0" rIns="0">
            <a:spAutoFit/>
          </a:bodyPr>
          <a:lstStyle/>
          <a:p>
            <a:pPr algn="l">
              <a:lnSpc>
                <a:spcPts val="3024"/>
              </a:lnSpc>
            </a:pPr>
            <a:r>
              <a:rPr lang="en-US" sz="2019" b="true">
                <a:solidFill>
                  <a:srgbClr val="2ECC71"/>
                </a:solidFill>
                <a:latin typeface="Inter Bold"/>
                <a:ea typeface="Inter Bold"/>
                <a:cs typeface="Inter Bold"/>
                <a:sym typeface="Inter Bold"/>
              </a:rPr>
              <a:t>30 </a:t>
            </a:r>
            <a:r>
              <a:rPr lang="en-US" sz="2019">
                <a:solidFill>
                  <a:srgbClr val="1A1A2E"/>
                </a:solidFill>
                <a:latin typeface="Inter"/>
                <a:ea typeface="Inter"/>
                <a:cs typeface="Inter"/>
                <a:sym typeface="Inter"/>
              </a:rPr>
              <a:t>Sources / References </a:t>
            </a:r>
            <a:r>
              <a:rPr lang="en-US" sz="2019">
                <a:solidFill>
                  <a:srgbClr val="6B7280"/>
                </a:solidFill>
                <a:latin typeface="Inter"/>
                <a:ea typeface="Inter"/>
                <a:cs typeface="Inter"/>
                <a:sym typeface="Inter"/>
              </a:rPr>
              <a:t>32</a:t>
            </a:r>
          </a:p>
        </p:txBody>
      </p:sp>
      <p:grpSp>
        <p:nvGrpSpPr>
          <p:cNvPr name="Group 40" id="40"/>
          <p:cNvGrpSpPr/>
          <p:nvPr/>
        </p:nvGrpSpPr>
        <p:grpSpPr>
          <a:xfrm rot="0">
            <a:off x="0" y="10247414"/>
            <a:ext cx="18288000" cy="38100"/>
            <a:chOff x="0" y="0"/>
            <a:chExt cx="24384000" cy="50800"/>
          </a:xfrm>
        </p:grpSpPr>
        <p:sp>
          <p:nvSpPr>
            <p:cNvPr name="Freeform 41" id="41"/>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917983"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085" y="352501"/>
            <a:ext cx="351472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01 · EXECUTIVE SUMMARY</a:t>
            </a:r>
          </a:p>
        </p:txBody>
      </p:sp>
      <p:sp>
        <p:nvSpPr>
          <p:cNvPr name="TextBox 8" id="8"/>
          <p:cNvSpPr txBox="true"/>
          <p:nvPr/>
        </p:nvSpPr>
        <p:spPr>
          <a:xfrm rot="0">
            <a:off x="16784317"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03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Executive Summary</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TextBox 12" id="12"/>
          <p:cNvSpPr txBox="true"/>
          <p:nvPr/>
        </p:nvSpPr>
        <p:spPr>
          <a:xfrm rot="0">
            <a:off x="914400" y="2304050"/>
            <a:ext cx="1005840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OVERVIEW</a:t>
            </a:r>
          </a:p>
        </p:txBody>
      </p:sp>
      <p:grpSp>
        <p:nvGrpSpPr>
          <p:cNvPr name="Group 13" id="13"/>
          <p:cNvGrpSpPr/>
          <p:nvPr/>
        </p:nvGrpSpPr>
        <p:grpSpPr>
          <a:xfrm rot="0">
            <a:off x="909638" y="2748524"/>
            <a:ext cx="10067925" cy="6509776"/>
            <a:chOff x="0" y="0"/>
            <a:chExt cx="13423900" cy="8679701"/>
          </a:xfrm>
        </p:grpSpPr>
        <p:sp>
          <p:nvSpPr>
            <p:cNvPr name="Freeform 14" id="14"/>
            <p:cNvSpPr/>
            <p:nvPr/>
          </p:nvSpPr>
          <p:spPr>
            <a:xfrm flipH="false" flipV="false" rot="0">
              <a:off x="0" y="0"/>
              <a:ext cx="13423900" cy="8679700"/>
            </a:xfrm>
            <a:custGeom>
              <a:avLst/>
              <a:gdLst/>
              <a:ahLst/>
              <a:cxnLst/>
              <a:rect r="r" b="b" t="t" l="l"/>
              <a:pathLst>
                <a:path h="8679700" w="13423900">
                  <a:moveTo>
                    <a:pt x="0" y="248749"/>
                  </a:moveTo>
                  <a:cubicBezTo>
                    <a:pt x="0" y="111374"/>
                    <a:pt x="109347" y="0"/>
                    <a:pt x="244221" y="0"/>
                  </a:cubicBezTo>
                  <a:lnTo>
                    <a:pt x="13179679" y="0"/>
                  </a:lnTo>
                  <a:cubicBezTo>
                    <a:pt x="13314553" y="0"/>
                    <a:pt x="13423900" y="111374"/>
                    <a:pt x="13423900" y="248749"/>
                  </a:cubicBezTo>
                  <a:lnTo>
                    <a:pt x="13423900" y="8430952"/>
                  </a:lnTo>
                  <a:cubicBezTo>
                    <a:pt x="13423900" y="8568327"/>
                    <a:pt x="13314553" y="8679700"/>
                    <a:pt x="13179679" y="8679700"/>
                  </a:cubicBezTo>
                  <a:lnTo>
                    <a:pt x="244221" y="8679700"/>
                  </a:lnTo>
                  <a:cubicBezTo>
                    <a:pt x="109347" y="8679700"/>
                    <a:pt x="0" y="8568327"/>
                    <a:pt x="0" y="8430952"/>
                  </a:cubicBezTo>
                  <a:close/>
                </a:path>
              </a:pathLst>
            </a:custGeom>
            <a:solidFill>
              <a:srgbClr val="FFFFFF"/>
            </a:solidFill>
            <a:ln w="9526" cap="sq">
              <a:solidFill>
                <a:srgbClr val="E5E7EB"/>
              </a:solidFill>
              <a:prstDash val="solid"/>
              <a:miter/>
            </a:ln>
          </p:spPr>
        </p:sp>
      </p:grpSp>
      <p:sp>
        <p:nvSpPr>
          <p:cNvPr name="TextBox 15" id="15"/>
          <p:cNvSpPr txBox="true"/>
          <p:nvPr/>
        </p:nvSpPr>
        <p:spPr>
          <a:xfrm rot="0">
            <a:off x="1096270" y="2934029"/>
            <a:ext cx="9739313" cy="5236464"/>
          </a:xfrm>
          <a:prstGeom prst="rect">
            <a:avLst/>
          </a:prstGeom>
        </p:spPr>
        <p:txBody>
          <a:bodyPr anchor="t" rtlCol="false" tIns="0" lIns="0" bIns="0" rIns="0">
            <a:spAutoFit/>
          </a:bodyPr>
          <a:lstStyle/>
          <a:p>
            <a:pPr algn="l">
              <a:lnSpc>
                <a:spcPts val="3510"/>
              </a:lnSpc>
            </a:pPr>
            <a:r>
              <a:rPr lang="en-US" sz="2160" b="true">
                <a:solidFill>
                  <a:srgbClr val="595959"/>
                </a:solidFill>
                <a:latin typeface="Inter Bold"/>
                <a:ea typeface="Inter Bold"/>
                <a:cs typeface="Inter Bold"/>
                <a:sym typeface="Inter Bold"/>
              </a:rPr>
              <a:t>ISTSEH is a pe</a:t>
            </a:r>
            <a:r>
              <a:rPr lang="en-US" sz="2160" b="true">
                <a:solidFill>
                  <a:srgbClr val="595959"/>
                </a:solidFill>
                <a:latin typeface="Inter Bold"/>
                <a:ea typeface="Inter Bold"/>
                <a:cs typeface="Inter Bold"/>
                <a:sym typeface="Inter Bold"/>
              </a:rPr>
              <a:t>rsonalized medication-care platform designed to make daily treatment safer, smarter, and easier to follow. The idea addresses key gaps in medication care in Kuwait, where important patient details such as allergies, chronic diseases, and medication interactions may not always be easily available in one clear view. ISTSEH schedules medications around each user’s lifestyle, uses key health details to highlight safety risks, supports Arabic and English users, and supports family follow-up for elderly relatives. By combining smart scheduling, safety insights, reminders, bilingual accessibility, and family-assisted care, ISTSEH aims to transform medication management into a more organized, connected, and reliable experience, with the long-term vision of growing beyond Kuwait into regional and global healthcare markets.</a:t>
            </a:r>
          </a:p>
        </p:txBody>
      </p:sp>
      <p:grpSp>
        <p:nvGrpSpPr>
          <p:cNvPr name="Group 16" id="16"/>
          <p:cNvGrpSpPr/>
          <p:nvPr/>
        </p:nvGrpSpPr>
        <p:grpSpPr>
          <a:xfrm rot="0">
            <a:off x="11325225" y="2757047"/>
            <a:ext cx="6048375" cy="2091641"/>
            <a:chOff x="0" y="0"/>
            <a:chExt cx="8064500" cy="2788854"/>
          </a:xfrm>
        </p:grpSpPr>
        <p:sp>
          <p:nvSpPr>
            <p:cNvPr name="Freeform 17" id="17"/>
            <p:cNvSpPr/>
            <p:nvPr/>
          </p:nvSpPr>
          <p:spPr>
            <a:xfrm flipH="false" flipV="false" rot="0">
              <a:off x="0" y="0"/>
              <a:ext cx="8064500" cy="2788854"/>
            </a:xfrm>
            <a:custGeom>
              <a:avLst/>
              <a:gdLst/>
              <a:ahLst/>
              <a:cxnLst/>
              <a:rect r="r" b="b" t="t" l="l"/>
              <a:pathLst>
                <a:path h="2788854" w="8064500">
                  <a:moveTo>
                    <a:pt x="0" y="328541"/>
                  </a:moveTo>
                  <a:cubicBezTo>
                    <a:pt x="0" y="147095"/>
                    <a:pt x="109855" y="0"/>
                    <a:pt x="245364" y="0"/>
                  </a:cubicBezTo>
                  <a:lnTo>
                    <a:pt x="7819136" y="0"/>
                  </a:lnTo>
                  <a:cubicBezTo>
                    <a:pt x="7954645" y="0"/>
                    <a:pt x="8064500" y="147095"/>
                    <a:pt x="8064500" y="328541"/>
                  </a:cubicBezTo>
                  <a:lnTo>
                    <a:pt x="8064500" y="2460313"/>
                  </a:lnTo>
                  <a:cubicBezTo>
                    <a:pt x="8064500" y="2641759"/>
                    <a:pt x="7954645" y="2788854"/>
                    <a:pt x="7819136" y="2788854"/>
                  </a:cubicBezTo>
                  <a:lnTo>
                    <a:pt x="245364" y="2788854"/>
                  </a:lnTo>
                  <a:cubicBezTo>
                    <a:pt x="109855" y="2788854"/>
                    <a:pt x="0" y="2641759"/>
                    <a:pt x="0" y="2460313"/>
                  </a:cubicBezTo>
                  <a:close/>
                </a:path>
              </a:pathLst>
            </a:custGeom>
            <a:solidFill>
              <a:srgbClr val="FFFFFF"/>
            </a:solidFill>
            <a:ln w="9526" cap="sq">
              <a:solidFill>
                <a:srgbClr val="E5E7EB"/>
              </a:solidFill>
              <a:prstDash val="solid"/>
              <a:miter/>
            </a:ln>
          </p:spPr>
        </p:sp>
      </p:grpSp>
      <p:grpSp>
        <p:nvGrpSpPr>
          <p:cNvPr name="Group 18" id="18"/>
          <p:cNvGrpSpPr/>
          <p:nvPr/>
        </p:nvGrpSpPr>
        <p:grpSpPr>
          <a:xfrm rot="0">
            <a:off x="11596688" y="2935448"/>
            <a:ext cx="361950" cy="361950"/>
            <a:chOff x="0" y="0"/>
            <a:chExt cx="482600" cy="482600"/>
          </a:xfrm>
        </p:grpSpPr>
        <p:sp>
          <p:nvSpPr>
            <p:cNvPr name="Freeform 19" id="19"/>
            <p:cNvSpPr/>
            <p:nvPr/>
          </p:nvSpPr>
          <p:spPr>
            <a:xfrm flipH="false" flipV="false" rot="0">
              <a:off x="0" y="0"/>
              <a:ext cx="482600" cy="482600"/>
            </a:xfrm>
            <a:custGeom>
              <a:avLst/>
              <a:gdLst/>
              <a:ahLst/>
              <a:cxnLst/>
              <a:rect r="r" b="b" t="t" l="l"/>
              <a:pathLst>
                <a:path h="482600" w="482600">
                  <a:moveTo>
                    <a:pt x="0" y="97536"/>
                  </a:moveTo>
                  <a:cubicBezTo>
                    <a:pt x="0" y="43688"/>
                    <a:pt x="43688" y="0"/>
                    <a:pt x="97536" y="0"/>
                  </a:cubicBezTo>
                  <a:lnTo>
                    <a:pt x="385064" y="0"/>
                  </a:lnTo>
                  <a:cubicBezTo>
                    <a:pt x="438912" y="0"/>
                    <a:pt x="482600" y="43688"/>
                    <a:pt x="482600" y="97536"/>
                  </a:cubicBezTo>
                  <a:lnTo>
                    <a:pt x="482600" y="385064"/>
                  </a:lnTo>
                  <a:cubicBezTo>
                    <a:pt x="482600" y="438912"/>
                    <a:pt x="438912" y="482600"/>
                    <a:pt x="385064" y="482600"/>
                  </a:cubicBezTo>
                  <a:lnTo>
                    <a:pt x="97536" y="482600"/>
                  </a:lnTo>
                  <a:cubicBezTo>
                    <a:pt x="43688" y="482600"/>
                    <a:pt x="0" y="438912"/>
                    <a:pt x="0" y="385064"/>
                  </a:cubicBezTo>
                  <a:close/>
                </a:path>
              </a:pathLst>
            </a:custGeom>
            <a:solidFill>
              <a:srgbClr val="ECFAF2"/>
            </a:solidFill>
          </p:spPr>
        </p:sp>
        <p:sp>
          <p:nvSpPr>
            <p:cNvPr name="TextBox 20" id="20"/>
            <p:cNvSpPr txBox="true"/>
            <p:nvPr/>
          </p:nvSpPr>
          <p:spPr>
            <a:xfrm>
              <a:off x="0" y="-57150"/>
              <a:ext cx="482600" cy="539750"/>
            </a:xfrm>
            <a:prstGeom prst="rect">
              <a:avLst/>
            </a:prstGeom>
          </p:spPr>
          <p:txBody>
            <a:bodyPr anchor="ctr" rtlCol="false" tIns="50800" lIns="50800" bIns="50800" rIns="50800"/>
            <a:lstStyle/>
            <a:p>
              <a:pPr algn="ctr">
                <a:lnSpc>
                  <a:spcPts val="2376"/>
                </a:lnSpc>
              </a:pPr>
              <a:r>
                <a:rPr lang="en-US" sz="1580" b="true">
                  <a:solidFill>
                    <a:srgbClr val="2ECC71"/>
                  </a:solidFill>
                  <a:latin typeface="Arimo Bold"/>
                  <a:ea typeface="Arimo Bold"/>
                  <a:cs typeface="Arimo Bold"/>
                  <a:sym typeface="Arimo Bold"/>
                </a:rPr>
                <a:t>01</a:t>
              </a:r>
            </a:p>
          </p:txBody>
        </p:sp>
      </p:grpSp>
      <p:sp>
        <p:nvSpPr>
          <p:cNvPr name="TextBox 21" id="21"/>
          <p:cNvSpPr txBox="true"/>
          <p:nvPr/>
        </p:nvSpPr>
        <p:spPr>
          <a:xfrm rot="0">
            <a:off x="12112447" y="2991179"/>
            <a:ext cx="885825" cy="295275"/>
          </a:xfrm>
          <a:prstGeom prst="rect">
            <a:avLst/>
          </a:prstGeom>
        </p:spPr>
        <p:txBody>
          <a:bodyPr anchor="t" rtlCol="false" tIns="0" lIns="0" bIns="0" rIns="0">
            <a:spAutoFit/>
          </a:bodyPr>
          <a:lstStyle/>
          <a:p>
            <a:pPr algn="l">
              <a:lnSpc>
                <a:spcPts val="2052"/>
              </a:lnSpc>
            </a:pPr>
            <a:r>
              <a:rPr lang="en-US" sz="1360" spc="68">
                <a:solidFill>
                  <a:srgbClr val="595959"/>
                </a:solidFill>
                <a:latin typeface="Inter"/>
                <a:ea typeface="Inter"/>
                <a:cs typeface="Inter"/>
                <a:sym typeface="Inter"/>
              </a:rPr>
              <a:t>PROBLEM</a:t>
            </a:r>
          </a:p>
        </p:txBody>
      </p:sp>
      <p:grpSp>
        <p:nvGrpSpPr>
          <p:cNvPr name="Group 22" id="22"/>
          <p:cNvGrpSpPr/>
          <p:nvPr/>
        </p:nvGrpSpPr>
        <p:grpSpPr>
          <a:xfrm rot="0">
            <a:off x="11325225" y="5096338"/>
            <a:ext cx="6048375" cy="1972605"/>
            <a:chOff x="0" y="0"/>
            <a:chExt cx="8064500" cy="2630140"/>
          </a:xfrm>
        </p:grpSpPr>
        <p:sp>
          <p:nvSpPr>
            <p:cNvPr name="Freeform 23" id="23"/>
            <p:cNvSpPr/>
            <p:nvPr/>
          </p:nvSpPr>
          <p:spPr>
            <a:xfrm flipH="false" flipV="false" rot="0">
              <a:off x="0" y="0"/>
              <a:ext cx="8064500" cy="2630140"/>
            </a:xfrm>
            <a:custGeom>
              <a:avLst/>
              <a:gdLst/>
              <a:ahLst/>
              <a:cxnLst/>
              <a:rect r="r" b="b" t="t" l="l"/>
              <a:pathLst>
                <a:path h="2630140" w="8064500">
                  <a:moveTo>
                    <a:pt x="0" y="309843"/>
                  </a:moveTo>
                  <a:cubicBezTo>
                    <a:pt x="0" y="138724"/>
                    <a:pt x="109855" y="0"/>
                    <a:pt x="245364" y="0"/>
                  </a:cubicBezTo>
                  <a:lnTo>
                    <a:pt x="7819136" y="0"/>
                  </a:lnTo>
                  <a:cubicBezTo>
                    <a:pt x="7954645" y="0"/>
                    <a:pt x="8064500" y="138724"/>
                    <a:pt x="8064500" y="309843"/>
                  </a:cubicBezTo>
                  <a:lnTo>
                    <a:pt x="8064500" y="2320297"/>
                  </a:lnTo>
                  <a:cubicBezTo>
                    <a:pt x="8064500" y="2491416"/>
                    <a:pt x="7954645" y="2630140"/>
                    <a:pt x="7819136" y="2630140"/>
                  </a:cubicBezTo>
                  <a:lnTo>
                    <a:pt x="245364" y="2630140"/>
                  </a:lnTo>
                  <a:cubicBezTo>
                    <a:pt x="109855" y="2630140"/>
                    <a:pt x="0" y="2491416"/>
                    <a:pt x="0" y="2320297"/>
                  </a:cubicBezTo>
                  <a:close/>
                </a:path>
              </a:pathLst>
            </a:custGeom>
            <a:solidFill>
              <a:srgbClr val="FFFFFF"/>
            </a:solidFill>
            <a:ln w="9526" cap="sq">
              <a:solidFill>
                <a:srgbClr val="E5E7EB"/>
              </a:solidFill>
              <a:prstDash val="solid"/>
              <a:miter/>
            </a:ln>
          </p:spPr>
        </p:sp>
      </p:grpSp>
      <p:sp>
        <p:nvSpPr>
          <p:cNvPr name="TextBox 24" id="24"/>
          <p:cNvSpPr txBox="true"/>
          <p:nvPr/>
        </p:nvSpPr>
        <p:spPr>
          <a:xfrm rot="0">
            <a:off x="11619233" y="3368585"/>
            <a:ext cx="5640067" cy="1337013"/>
          </a:xfrm>
          <a:prstGeom prst="rect">
            <a:avLst/>
          </a:prstGeom>
        </p:spPr>
        <p:txBody>
          <a:bodyPr anchor="t" rtlCol="false" tIns="0" lIns="0" bIns="0" rIns="0">
            <a:spAutoFit/>
          </a:bodyPr>
          <a:lstStyle/>
          <a:p>
            <a:pPr algn="l">
              <a:lnSpc>
                <a:spcPts val="2108"/>
              </a:lnSpc>
            </a:pPr>
            <a:r>
              <a:rPr lang="en-US" sz="1530">
                <a:solidFill>
                  <a:srgbClr val="595959"/>
                </a:solidFill>
                <a:latin typeface="Inter"/>
                <a:ea typeface="Inter"/>
                <a:cs typeface="Inter"/>
                <a:sym typeface="Inter"/>
              </a:rPr>
              <a:t>Healthcare</a:t>
            </a:r>
            <a:r>
              <a:rPr lang="en-US" sz="1530">
                <a:solidFill>
                  <a:srgbClr val="595959"/>
                </a:solidFill>
                <a:latin typeface="Inter"/>
                <a:ea typeface="Inter"/>
                <a:cs typeface="Inter"/>
                <a:sym typeface="Inter"/>
              </a:rPr>
              <a:t> in Kuwait can feel fragmented when key patient details like allergies, chronic diseases, and medication interactions are not easily available. Regular reminder apps often do not adapt to daily routines, support Arabic-speaking users clearly, or help families follow up with elderly relatives.</a:t>
            </a:r>
          </a:p>
        </p:txBody>
      </p:sp>
      <p:grpSp>
        <p:nvGrpSpPr>
          <p:cNvPr name="Group 25" id="25"/>
          <p:cNvGrpSpPr/>
          <p:nvPr/>
        </p:nvGrpSpPr>
        <p:grpSpPr>
          <a:xfrm rot="0">
            <a:off x="11600488" y="5351093"/>
            <a:ext cx="361950" cy="361950"/>
            <a:chOff x="0" y="0"/>
            <a:chExt cx="482600" cy="482600"/>
          </a:xfrm>
        </p:grpSpPr>
        <p:sp>
          <p:nvSpPr>
            <p:cNvPr name="Freeform 26" id="26"/>
            <p:cNvSpPr/>
            <p:nvPr/>
          </p:nvSpPr>
          <p:spPr>
            <a:xfrm flipH="false" flipV="false" rot="0">
              <a:off x="0" y="0"/>
              <a:ext cx="482600" cy="482600"/>
            </a:xfrm>
            <a:custGeom>
              <a:avLst/>
              <a:gdLst/>
              <a:ahLst/>
              <a:cxnLst/>
              <a:rect r="r" b="b" t="t" l="l"/>
              <a:pathLst>
                <a:path h="482600" w="482600">
                  <a:moveTo>
                    <a:pt x="0" y="97536"/>
                  </a:moveTo>
                  <a:cubicBezTo>
                    <a:pt x="0" y="43688"/>
                    <a:pt x="43688" y="0"/>
                    <a:pt x="97536" y="0"/>
                  </a:cubicBezTo>
                  <a:lnTo>
                    <a:pt x="385064" y="0"/>
                  </a:lnTo>
                  <a:cubicBezTo>
                    <a:pt x="438912" y="0"/>
                    <a:pt x="482600" y="43688"/>
                    <a:pt x="482600" y="97536"/>
                  </a:cubicBezTo>
                  <a:lnTo>
                    <a:pt x="482600" y="385064"/>
                  </a:lnTo>
                  <a:cubicBezTo>
                    <a:pt x="482600" y="438912"/>
                    <a:pt x="438912" y="482600"/>
                    <a:pt x="385064" y="482600"/>
                  </a:cubicBezTo>
                  <a:lnTo>
                    <a:pt x="97536" y="482600"/>
                  </a:lnTo>
                  <a:cubicBezTo>
                    <a:pt x="43688" y="482600"/>
                    <a:pt x="0" y="438912"/>
                    <a:pt x="0" y="385064"/>
                  </a:cubicBezTo>
                  <a:close/>
                </a:path>
              </a:pathLst>
            </a:custGeom>
            <a:solidFill>
              <a:srgbClr val="ECFAF2"/>
            </a:solidFill>
          </p:spPr>
        </p:sp>
        <p:sp>
          <p:nvSpPr>
            <p:cNvPr name="TextBox 27" id="27"/>
            <p:cNvSpPr txBox="true"/>
            <p:nvPr/>
          </p:nvSpPr>
          <p:spPr>
            <a:xfrm>
              <a:off x="0" y="-57150"/>
              <a:ext cx="482600" cy="539750"/>
            </a:xfrm>
            <a:prstGeom prst="rect">
              <a:avLst/>
            </a:prstGeom>
          </p:spPr>
          <p:txBody>
            <a:bodyPr anchor="ctr" rtlCol="false" tIns="50800" lIns="50800" bIns="50800" rIns="50800"/>
            <a:lstStyle/>
            <a:p>
              <a:pPr algn="ctr">
                <a:lnSpc>
                  <a:spcPts val="2376"/>
                </a:lnSpc>
              </a:pPr>
              <a:r>
                <a:rPr lang="en-US" sz="1580" b="true">
                  <a:solidFill>
                    <a:srgbClr val="2ECC71"/>
                  </a:solidFill>
                  <a:latin typeface="Arimo Bold"/>
                  <a:ea typeface="Arimo Bold"/>
                  <a:cs typeface="Arimo Bold"/>
                  <a:sym typeface="Arimo Bold"/>
                </a:rPr>
                <a:t>02</a:t>
              </a:r>
            </a:p>
          </p:txBody>
        </p:sp>
      </p:grpSp>
      <p:sp>
        <p:nvSpPr>
          <p:cNvPr name="TextBox 28" id="28"/>
          <p:cNvSpPr txBox="true"/>
          <p:nvPr/>
        </p:nvSpPr>
        <p:spPr>
          <a:xfrm rot="0">
            <a:off x="12112447" y="5365381"/>
            <a:ext cx="962025" cy="295275"/>
          </a:xfrm>
          <a:prstGeom prst="rect">
            <a:avLst/>
          </a:prstGeom>
        </p:spPr>
        <p:txBody>
          <a:bodyPr anchor="t" rtlCol="false" tIns="0" lIns="0" bIns="0" rIns="0">
            <a:spAutoFit/>
          </a:bodyPr>
          <a:lstStyle/>
          <a:p>
            <a:pPr algn="l">
              <a:lnSpc>
                <a:spcPts val="2052"/>
              </a:lnSpc>
            </a:pPr>
            <a:r>
              <a:rPr lang="en-US" sz="1360" spc="68">
                <a:solidFill>
                  <a:srgbClr val="595959"/>
                </a:solidFill>
                <a:latin typeface="Inter"/>
                <a:ea typeface="Inter"/>
                <a:cs typeface="Inter"/>
                <a:sym typeface="Inter"/>
              </a:rPr>
              <a:t>SOLUTION</a:t>
            </a:r>
          </a:p>
        </p:txBody>
      </p:sp>
      <p:sp>
        <p:nvSpPr>
          <p:cNvPr name="TextBox 29" id="29"/>
          <p:cNvSpPr txBox="true"/>
          <p:nvPr/>
        </p:nvSpPr>
        <p:spPr>
          <a:xfrm rot="0">
            <a:off x="11596688" y="5817818"/>
            <a:ext cx="5505450" cy="1097661"/>
          </a:xfrm>
          <a:prstGeom prst="rect">
            <a:avLst/>
          </a:prstGeom>
        </p:spPr>
        <p:txBody>
          <a:bodyPr anchor="t" rtlCol="false" tIns="0" lIns="0" bIns="0" rIns="0">
            <a:spAutoFit/>
          </a:bodyPr>
          <a:lstStyle/>
          <a:p>
            <a:pPr algn="l">
              <a:lnSpc>
                <a:spcPts val="2178"/>
              </a:lnSpc>
            </a:pPr>
            <a:r>
              <a:rPr lang="en-US" sz="1580">
                <a:solidFill>
                  <a:srgbClr val="595959"/>
                </a:solidFill>
                <a:latin typeface="Inter"/>
                <a:ea typeface="Inter"/>
                <a:cs typeface="Inter"/>
                <a:sym typeface="Inter"/>
              </a:rPr>
              <a:t>ISTSEH schedules medications a</a:t>
            </a:r>
            <a:r>
              <a:rPr lang="en-US" sz="1580">
                <a:solidFill>
                  <a:srgbClr val="595959"/>
                </a:solidFill>
                <a:latin typeface="Inter"/>
                <a:ea typeface="Inter"/>
                <a:cs typeface="Inter"/>
                <a:sym typeface="Inter"/>
              </a:rPr>
              <a:t>round each user’s lifestyle, uses key health details to highlight safety risks, supports Arabic and English users, and helps families follow up with elderly relatives.</a:t>
            </a:r>
          </a:p>
        </p:txBody>
      </p:sp>
      <p:grpSp>
        <p:nvGrpSpPr>
          <p:cNvPr name="Group 30" id="30"/>
          <p:cNvGrpSpPr/>
          <p:nvPr/>
        </p:nvGrpSpPr>
        <p:grpSpPr>
          <a:xfrm rot="0">
            <a:off x="11325225" y="7195188"/>
            <a:ext cx="6048375" cy="2063112"/>
            <a:chOff x="0" y="0"/>
            <a:chExt cx="8064500" cy="2750816"/>
          </a:xfrm>
        </p:grpSpPr>
        <p:sp>
          <p:nvSpPr>
            <p:cNvPr name="Freeform 31" id="31"/>
            <p:cNvSpPr/>
            <p:nvPr/>
          </p:nvSpPr>
          <p:spPr>
            <a:xfrm flipH="false" flipV="false" rot="0">
              <a:off x="0" y="0"/>
              <a:ext cx="8064500" cy="2750816"/>
            </a:xfrm>
            <a:custGeom>
              <a:avLst/>
              <a:gdLst/>
              <a:ahLst/>
              <a:cxnLst/>
              <a:rect r="r" b="b" t="t" l="l"/>
              <a:pathLst>
                <a:path h="2750816" w="8064500">
                  <a:moveTo>
                    <a:pt x="0" y="324060"/>
                  </a:moveTo>
                  <a:cubicBezTo>
                    <a:pt x="0" y="145089"/>
                    <a:pt x="109855" y="0"/>
                    <a:pt x="245364" y="0"/>
                  </a:cubicBezTo>
                  <a:lnTo>
                    <a:pt x="7819136" y="0"/>
                  </a:lnTo>
                  <a:cubicBezTo>
                    <a:pt x="7954645" y="0"/>
                    <a:pt x="8064500" y="145089"/>
                    <a:pt x="8064500" y="324060"/>
                  </a:cubicBezTo>
                  <a:lnTo>
                    <a:pt x="8064500" y="2426756"/>
                  </a:lnTo>
                  <a:cubicBezTo>
                    <a:pt x="8064500" y="2605727"/>
                    <a:pt x="7954645" y="2750816"/>
                    <a:pt x="7819136" y="2750816"/>
                  </a:cubicBezTo>
                  <a:lnTo>
                    <a:pt x="245364" y="2750816"/>
                  </a:lnTo>
                  <a:cubicBezTo>
                    <a:pt x="109855" y="2750816"/>
                    <a:pt x="0" y="2605727"/>
                    <a:pt x="0" y="2426756"/>
                  </a:cubicBezTo>
                  <a:close/>
                </a:path>
              </a:pathLst>
            </a:custGeom>
            <a:solidFill>
              <a:srgbClr val="FFFFFF"/>
            </a:solidFill>
            <a:ln w="9526" cap="sq">
              <a:solidFill>
                <a:srgbClr val="E5E7EB"/>
              </a:solidFill>
              <a:prstDash val="solid"/>
              <a:miter/>
            </a:ln>
          </p:spPr>
        </p:sp>
      </p:grpSp>
      <p:grpSp>
        <p:nvGrpSpPr>
          <p:cNvPr name="Group 32" id="32"/>
          <p:cNvGrpSpPr/>
          <p:nvPr/>
        </p:nvGrpSpPr>
        <p:grpSpPr>
          <a:xfrm rot="0">
            <a:off x="11596688" y="7495030"/>
            <a:ext cx="361950" cy="361950"/>
            <a:chOff x="0" y="0"/>
            <a:chExt cx="482600" cy="482600"/>
          </a:xfrm>
        </p:grpSpPr>
        <p:sp>
          <p:nvSpPr>
            <p:cNvPr name="Freeform 33" id="33"/>
            <p:cNvSpPr/>
            <p:nvPr/>
          </p:nvSpPr>
          <p:spPr>
            <a:xfrm flipH="false" flipV="false" rot="0">
              <a:off x="0" y="0"/>
              <a:ext cx="482600" cy="482600"/>
            </a:xfrm>
            <a:custGeom>
              <a:avLst/>
              <a:gdLst/>
              <a:ahLst/>
              <a:cxnLst/>
              <a:rect r="r" b="b" t="t" l="l"/>
              <a:pathLst>
                <a:path h="482600" w="482600">
                  <a:moveTo>
                    <a:pt x="0" y="97536"/>
                  </a:moveTo>
                  <a:cubicBezTo>
                    <a:pt x="0" y="43688"/>
                    <a:pt x="43688" y="0"/>
                    <a:pt x="97536" y="0"/>
                  </a:cubicBezTo>
                  <a:lnTo>
                    <a:pt x="385064" y="0"/>
                  </a:lnTo>
                  <a:cubicBezTo>
                    <a:pt x="438912" y="0"/>
                    <a:pt x="482600" y="43688"/>
                    <a:pt x="482600" y="97536"/>
                  </a:cubicBezTo>
                  <a:lnTo>
                    <a:pt x="482600" y="385064"/>
                  </a:lnTo>
                  <a:cubicBezTo>
                    <a:pt x="482600" y="438912"/>
                    <a:pt x="438912" y="482600"/>
                    <a:pt x="385064" y="482600"/>
                  </a:cubicBezTo>
                  <a:lnTo>
                    <a:pt x="97536" y="482600"/>
                  </a:lnTo>
                  <a:cubicBezTo>
                    <a:pt x="43688" y="482600"/>
                    <a:pt x="0" y="438912"/>
                    <a:pt x="0" y="385064"/>
                  </a:cubicBezTo>
                  <a:close/>
                </a:path>
              </a:pathLst>
            </a:custGeom>
            <a:solidFill>
              <a:srgbClr val="ECFAF2"/>
            </a:solidFill>
          </p:spPr>
        </p:sp>
        <p:sp>
          <p:nvSpPr>
            <p:cNvPr name="TextBox 34" id="34"/>
            <p:cNvSpPr txBox="true"/>
            <p:nvPr/>
          </p:nvSpPr>
          <p:spPr>
            <a:xfrm>
              <a:off x="0" y="-57150"/>
              <a:ext cx="482600" cy="539750"/>
            </a:xfrm>
            <a:prstGeom prst="rect">
              <a:avLst/>
            </a:prstGeom>
          </p:spPr>
          <p:txBody>
            <a:bodyPr anchor="ctr" rtlCol="false" tIns="50800" lIns="50800" bIns="50800" rIns="50800"/>
            <a:lstStyle/>
            <a:p>
              <a:pPr algn="ctr">
                <a:lnSpc>
                  <a:spcPts val="2376"/>
                </a:lnSpc>
              </a:pPr>
              <a:r>
                <a:rPr lang="en-US" sz="1580" b="true">
                  <a:solidFill>
                    <a:srgbClr val="2ECC71"/>
                  </a:solidFill>
                  <a:latin typeface="Arimo Bold"/>
                  <a:ea typeface="Arimo Bold"/>
                  <a:cs typeface="Arimo Bold"/>
                  <a:sym typeface="Arimo Bold"/>
                </a:rPr>
                <a:t>03</a:t>
              </a:r>
            </a:p>
          </p:txBody>
        </p:sp>
      </p:grpSp>
      <p:sp>
        <p:nvSpPr>
          <p:cNvPr name="TextBox 35" id="35"/>
          <p:cNvSpPr txBox="true"/>
          <p:nvPr/>
        </p:nvSpPr>
        <p:spPr>
          <a:xfrm rot="0">
            <a:off x="12112447" y="7535988"/>
            <a:ext cx="769951" cy="241935"/>
          </a:xfrm>
          <a:prstGeom prst="rect">
            <a:avLst/>
          </a:prstGeom>
        </p:spPr>
        <p:txBody>
          <a:bodyPr anchor="t" rtlCol="false" tIns="0" lIns="0" bIns="0" rIns="0">
            <a:spAutoFit/>
          </a:bodyPr>
          <a:lstStyle/>
          <a:p>
            <a:pPr algn="l">
              <a:lnSpc>
                <a:spcPts val="2052"/>
              </a:lnSpc>
            </a:pPr>
            <a:r>
              <a:rPr lang="en-US" sz="1360" spc="68">
                <a:solidFill>
                  <a:srgbClr val="595959"/>
                </a:solidFill>
                <a:latin typeface="Inter"/>
                <a:ea typeface="Inter"/>
                <a:cs typeface="Inter"/>
                <a:sym typeface="Inter"/>
              </a:rPr>
              <a:t>IMPACT</a:t>
            </a:r>
          </a:p>
        </p:txBody>
      </p:sp>
      <p:sp>
        <p:nvSpPr>
          <p:cNvPr name="TextBox 36" id="36"/>
          <p:cNvSpPr txBox="true"/>
          <p:nvPr/>
        </p:nvSpPr>
        <p:spPr>
          <a:xfrm rot="0">
            <a:off x="11596688" y="7952230"/>
            <a:ext cx="5609483" cy="1097661"/>
          </a:xfrm>
          <a:prstGeom prst="rect">
            <a:avLst/>
          </a:prstGeom>
        </p:spPr>
        <p:txBody>
          <a:bodyPr anchor="t" rtlCol="false" tIns="0" lIns="0" bIns="0" rIns="0">
            <a:spAutoFit/>
          </a:bodyPr>
          <a:lstStyle/>
          <a:p>
            <a:pPr algn="l">
              <a:lnSpc>
                <a:spcPts val="2178"/>
              </a:lnSpc>
            </a:pPr>
            <a:r>
              <a:rPr lang="en-US" sz="1580">
                <a:solidFill>
                  <a:srgbClr val="595959"/>
                </a:solidFill>
                <a:latin typeface="Inter"/>
                <a:ea typeface="Inter"/>
                <a:cs typeface="Inter"/>
                <a:sym typeface="Inter"/>
              </a:rPr>
              <a:t>ISTSEH a</a:t>
            </a:r>
            <a:r>
              <a:rPr lang="en-US" sz="1580">
                <a:solidFill>
                  <a:srgbClr val="595959"/>
                </a:solidFill>
                <a:latin typeface="Inter"/>
                <a:ea typeface="Inter"/>
                <a:cs typeface="Inter"/>
                <a:sym typeface="Inter"/>
              </a:rPr>
              <a:t>ims to transform daily medication care into a safer, smarter, and more accessible experience by reducing missed doses, highlighting safety risks, and supporting families in both Arabic and English.</a:t>
            </a:r>
          </a:p>
        </p:txBody>
      </p:sp>
      <p:grpSp>
        <p:nvGrpSpPr>
          <p:cNvPr name="Group 37" id="37"/>
          <p:cNvGrpSpPr/>
          <p:nvPr/>
        </p:nvGrpSpPr>
        <p:grpSpPr>
          <a:xfrm rot="0">
            <a:off x="914400" y="9703222"/>
            <a:ext cx="16459200" cy="297293"/>
            <a:chOff x="0" y="0"/>
            <a:chExt cx="21945600" cy="396391"/>
          </a:xfrm>
        </p:grpSpPr>
        <p:sp>
          <p:nvSpPr>
            <p:cNvPr name="Freeform 38" id="38"/>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39" id="39"/>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40" id="40"/>
          <p:cNvGrpSpPr/>
          <p:nvPr/>
        </p:nvGrpSpPr>
        <p:grpSpPr>
          <a:xfrm rot="0">
            <a:off x="0" y="10247414"/>
            <a:ext cx="18288000" cy="38100"/>
            <a:chOff x="0" y="0"/>
            <a:chExt cx="24384000" cy="50800"/>
          </a:xfrm>
        </p:grpSpPr>
        <p:sp>
          <p:nvSpPr>
            <p:cNvPr name="Freeform 41" id="41"/>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6" id="6"/>
          <p:cNvGrpSpPr/>
          <p:nvPr/>
        </p:nvGrpSpPr>
        <p:grpSpPr>
          <a:xfrm rot="0">
            <a:off x="915295" y="1997497"/>
            <a:ext cx="1095375" cy="47625"/>
            <a:chOff x="0" y="0"/>
            <a:chExt cx="1460500" cy="63500"/>
          </a:xfrm>
        </p:grpSpPr>
        <p:sp>
          <p:nvSpPr>
            <p:cNvPr name="Freeform 7" id="7"/>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8" id="8"/>
          <p:cNvGrpSpPr/>
          <p:nvPr/>
        </p:nvGrpSpPr>
        <p:grpSpPr>
          <a:xfrm rot="0">
            <a:off x="911571" y="3086471"/>
            <a:ext cx="10429875" cy="1800225"/>
            <a:chOff x="0" y="0"/>
            <a:chExt cx="13906500" cy="2400300"/>
          </a:xfrm>
        </p:grpSpPr>
        <p:sp>
          <p:nvSpPr>
            <p:cNvPr name="Freeform 9" id="9"/>
            <p:cNvSpPr/>
            <p:nvPr/>
          </p:nvSpPr>
          <p:spPr>
            <a:xfrm flipH="false" flipV="false" rot="0">
              <a:off x="0" y="0"/>
              <a:ext cx="13906500" cy="2400300"/>
            </a:xfrm>
            <a:custGeom>
              <a:avLst/>
              <a:gdLst/>
              <a:ahLst/>
              <a:cxnLst/>
              <a:rect r="r" b="b" t="t" l="l"/>
              <a:pathLst>
                <a:path h="2400300" w="13906500">
                  <a:moveTo>
                    <a:pt x="0" y="245110"/>
                  </a:moveTo>
                  <a:cubicBezTo>
                    <a:pt x="0" y="109728"/>
                    <a:pt x="109728" y="0"/>
                    <a:pt x="245110" y="0"/>
                  </a:cubicBezTo>
                  <a:lnTo>
                    <a:pt x="13661389" y="0"/>
                  </a:lnTo>
                  <a:cubicBezTo>
                    <a:pt x="13796772" y="0"/>
                    <a:pt x="13906500" y="109728"/>
                    <a:pt x="13906500" y="245110"/>
                  </a:cubicBezTo>
                  <a:lnTo>
                    <a:pt x="13906500" y="2155190"/>
                  </a:lnTo>
                  <a:cubicBezTo>
                    <a:pt x="13906500" y="2290572"/>
                    <a:pt x="13796772" y="2400300"/>
                    <a:pt x="13661389" y="2400300"/>
                  </a:cubicBezTo>
                  <a:lnTo>
                    <a:pt x="245110" y="2400300"/>
                  </a:lnTo>
                  <a:cubicBezTo>
                    <a:pt x="109728" y="2400300"/>
                    <a:pt x="0" y="2290572"/>
                    <a:pt x="0" y="2155190"/>
                  </a:cubicBezTo>
                  <a:close/>
                </a:path>
              </a:pathLst>
            </a:custGeom>
            <a:solidFill>
              <a:srgbClr val="FFFFFF"/>
            </a:solidFill>
            <a:ln w="9526" cap="sq">
              <a:solidFill>
                <a:srgbClr val="E5E7EB"/>
              </a:solidFill>
              <a:prstDash val="solid"/>
              <a:miter/>
            </a:ln>
          </p:spPr>
        </p:sp>
      </p:grpSp>
      <p:grpSp>
        <p:nvGrpSpPr>
          <p:cNvPr name="Group 10" id="10"/>
          <p:cNvGrpSpPr/>
          <p:nvPr/>
        </p:nvGrpSpPr>
        <p:grpSpPr>
          <a:xfrm rot="0">
            <a:off x="907704" y="5085455"/>
            <a:ext cx="3305175" cy="1765707"/>
            <a:chOff x="0" y="0"/>
            <a:chExt cx="4406900" cy="2354275"/>
          </a:xfrm>
        </p:grpSpPr>
        <p:sp>
          <p:nvSpPr>
            <p:cNvPr name="Freeform 11" id="11"/>
            <p:cNvSpPr/>
            <p:nvPr/>
          </p:nvSpPr>
          <p:spPr>
            <a:xfrm flipH="false" flipV="false" rot="0">
              <a:off x="0" y="0"/>
              <a:ext cx="4406900" cy="2354275"/>
            </a:xfrm>
            <a:custGeom>
              <a:avLst/>
              <a:gdLst/>
              <a:ahLst/>
              <a:cxnLst/>
              <a:rect r="r" b="b" t="t" l="l"/>
              <a:pathLst>
                <a:path h="2354275" w="4406900">
                  <a:moveTo>
                    <a:pt x="0" y="341260"/>
                  </a:moveTo>
                  <a:cubicBezTo>
                    <a:pt x="0" y="152698"/>
                    <a:pt x="88138" y="0"/>
                    <a:pt x="196977" y="0"/>
                  </a:cubicBezTo>
                  <a:lnTo>
                    <a:pt x="4209923" y="0"/>
                  </a:lnTo>
                  <a:cubicBezTo>
                    <a:pt x="4318762" y="0"/>
                    <a:pt x="4406900" y="152698"/>
                    <a:pt x="4406900" y="341260"/>
                  </a:cubicBezTo>
                  <a:lnTo>
                    <a:pt x="4406900" y="2013015"/>
                  </a:lnTo>
                  <a:cubicBezTo>
                    <a:pt x="4406900" y="2201357"/>
                    <a:pt x="4318762" y="2354275"/>
                    <a:pt x="4209923" y="2354275"/>
                  </a:cubicBezTo>
                  <a:lnTo>
                    <a:pt x="196977" y="2354275"/>
                  </a:lnTo>
                  <a:cubicBezTo>
                    <a:pt x="88138" y="2354275"/>
                    <a:pt x="0" y="2201577"/>
                    <a:pt x="0" y="2013015"/>
                  </a:cubicBezTo>
                  <a:close/>
                </a:path>
              </a:pathLst>
            </a:custGeom>
            <a:solidFill>
              <a:srgbClr val="FFFFFF"/>
            </a:solidFill>
            <a:ln w="9526" cap="sq">
              <a:solidFill>
                <a:srgbClr val="E5E7EB"/>
              </a:solidFill>
              <a:prstDash val="solid"/>
              <a:miter/>
            </a:ln>
          </p:spPr>
        </p:sp>
      </p:grpSp>
      <p:grpSp>
        <p:nvGrpSpPr>
          <p:cNvPr name="Group 12" id="12"/>
          <p:cNvGrpSpPr/>
          <p:nvPr/>
        </p:nvGrpSpPr>
        <p:grpSpPr>
          <a:xfrm rot="0">
            <a:off x="4473845" y="5085455"/>
            <a:ext cx="3305175" cy="1765707"/>
            <a:chOff x="0" y="0"/>
            <a:chExt cx="4406900" cy="2354275"/>
          </a:xfrm>
        </p:grpSpPr>
        <p:sp>
          <p:nvSpPr>
            <p:cNvPr name="Freeform 13" id="13"/>
            <p:cNvSpPr/>
            <p:nvPr/>
          </p:nvSpPr>
          <p:spPr>
            <a:xfrm flipH="false" flipV="false" rot="0">
              <a:off x="0" y="0"/>
              <a:ext cx="4406900" cy="2354275"/>
            </a:xfrm>
            <a:custGeom>
              <a:avLst/>
              <a:gdLst/>
              <a:ahLst/>
              <a:cxnLst/>
              <a:rect r="r" b="b" t="t" l="l"/>
              <a:pathLst>
                <a:path h="2354275" w="4406900">
                  <a:moveTo>
                    <a:pt x="0" y="341260"/>
                  </a:moveTo>
                  <a:cubicBezTo>
                    <a:pt x="0" y="152698"/>
                    <a:pt x="88138" y="0"/>
                    <a:pt x="196977" y="0"/>
                  </a:cubicBezTo>
                  <a:lnTo>
                    <a:pt x="4209923" y="0"/>
                  </a:lnTo>
                  <a:cubicBezTo>
                    <a:pt x="4318762" y="0"/>
                    <a:pt x="4406900" y="152698"/>
                    <a:pt x="4406900" y="341260"/>
                  </a:cubicBezTo>
                  <a:lnTo>
                    <a:pt x="4406900" y="2013015"/>
                  </a:lnTo>
                  <a:cubicBezTo>
                    <a:pt x="4406900" y="2201357"/>
                    <a:pt x="4318762" y="2354275"/>
                    <a:pt x="4209923" y="2354275"/>
                  </a:cubicBezTo>
                  <a:lnTo>
                    <a:pt x="196977" y="2354275"/>
                  </a:lnTo>
                  <a:cubicBezTo>
                    <a:pt x="88138" y="2354275"/>
                    <a:pt x="0" y="2201577"/>
                    <a:pt x="0" y="2013015"/>
                  </a:cubicBezTo>
                  <a:close/>
                </a:path>
              </a:pathLst>
            </a:custGeom>
            <a:solidFill>
              <a:srgbClr val="FFFFFF"/>
            </a:solidFill>
            <a:ln w="9526" cap="sq">
              <a:solidFill>
                <a:srgbClr val="E5E7EB"/>
              </a:solidFill>
              <a:prstDash val="solid"/>
              <a:miter/>
            </a:ln>
          </p:spPr>
        </p:sp>
      </p:grpSp>
      <p:grpSp>
        <p:nvGrpSpPr>
          <p:cNvPr name="Group 14" id="14"/>
          <p:cNvGrpSpPr/>
          <p:nvPr/>
        </p:nvGrpSpPr>
        <p:grpSpPr>
          <a:xfrm rot="0">
            <a:off x="8039995" y="5085455"/>
            <a:ext cx="3305175" cy="1765707"/>
            <a:chOff x="0" y="0"/>
            <a:chExt cx="4406900" cy="2354275"/>
          </a:xfrm>
        </p:grpSpPr>
        <p:sp>
          <p:nvSpPr>
            <p:cNvPr name="Freeform 15" id="15"/>
            <p:cNvSpPr/>
            <p:nvPr/>
          </p:nvSpPr>
          <p:spPr>
            <a:xfrm flipH="false" flipV="false" rot="0">
              <a:off x="0" y="0"/>
              <a:ext cx="4406900" cy="2354275"/>
            </a:xfrm>
            <a:custGeom>
              <a:avLst/>
              <a:gdLst/>
              <a:ahLst/>
              <a:cxnLst/>
              <a:rect r="r" b="b" t="t" l="l"/>
              <a:pathLst>
                <a:path h="2354275" w="4406900">
                  <a:moveTo>
                    <a:pt x="0" y="341260"/>
                  </a:moveTo>
                  <a:cubicBezTo>
                    <a:pt x="0" y="152698"/>
                    <a:pt x="88138" y="0"/>
                    <a:pt x="196977" y="0"/>
                  </a:cubicBezTo>
                  <a:lnTo>
                    <a:pt x="4209923" y="0"/>
                  </a:lnTo>
                  <a:cubicBezTo>
                    <a:pt x="4318762" y="0"/>
                    <a:pt x="4406900" y="152698"/>
                    <a:pt x="4406900" y="341260"/>
                  </a:cubicBezTo>
                  <a:lnTo>
                    <a:pt x="4406900" y="2013015"/>
                  </a:lnTo>
                  <a:cubicBezTo>
                    <a:pt x="4406900" y="2201357"/>
                    <a:pt x="4318762" y="2354275"/>
                    <a:pt x="4209923" y="2354275"/>
                  </a:cubicBezTo>
                  <a:lnTo>
                    <a:pt x="196977" y="2354275"/>
                  </a:lnTo>
                  <a:cubicBezTo>
                    <a:pt x="88138" y="2354275"/>
                    <a:pt x="0" y="2201577"/>
                    <a:pt x="0" y="2013015"/>
                  </a:cubicBezTo>
                  <a:close/>
                </a:path>
              </a:pathLst>
            </a:custGeom>
            <a:solidFill>
              <a:srgbClr val="FFFFFF"/>
            </a:solidFill>
            <a:ln w="9526" cap="sq">
              <a:solidFill>
                <a:srgbClr val="E5E7EB"/>
              </a:solidFill>
              <a:prstDash val="solid"/>
              <a:miter/>
            </a:ln>
          </p:spPr>
        </p:sp>
      </p:grpSp>
      <p:grpSp>
        <p:nvGrpSpPr>
          <p:cNvPr name="Group 16" id="16"/>
          <p:cNvGrpSpPr/>
          <p:nvPr/>
        </p:nvGrpSpPr>
        <p:grpSpPr>
          <a:xfrm rot="0">
            <a:off x="11705330" y="3086471"/>
            <a:ext cx="6454297" cy="6791325"/>
            <a:chOff x="0" y="0"/>
            <a:chExt cx="8605730" cy="9055100"/>
          </a:xfrm>
        </p:grpSpPr>
        <p:sp>
          <p:nvSpPr>
            <p:cNvPr name="Freeform 17" id="17"/>
            <p:cNvSpPr/>
            <p:nvPr/>
          </p:nvSpPr>
          <p:spPr>
            <a:xfrm flipH="false" flipV="false" rot="0">
              <a:off x="0" y="0"/>
              <a:ext cx="8605730" cy="9055100"/>
            </a:xfrm>
            <a:custGeom>
              <a:avLst/>
              <a:gdLst/>
              <a:ahLst/>
              <a:cxnLst/>
              <a:rect r="r" b="b" t="t" l="l"/>
              <a:pathLst>
                <a:path h="9055100" w="8605730">
                  <a:moveTo>
                    <a:pt x="0" y="243840"/>
                  </a:moveTo>
                  <a:cubicBezTo>
                    <a:pt x="0" y="109220"/>
                    <a:pt x="124385" y="0"/>
                    <a:pt x="277698" y="0"/>
                  </a:cubicBezTo>
                  <a:lnTo>
                    <a:pt x="8328032" y="0"/>
                  </a:lnTo>
                  <a:cubicBezTo>
                    <a:pt x="8481344" y="0"/>
                    <a:pt x="8605730" y="109220"/>
                    <a:pt x="8605730" y="243840"/>
                  </a:cubicBezTo>
                  <a:lnTo>
                    <a:pt x="8605730" y="8811260"/>
                  </a:lnTo>
                  <a:cubicBezTo>
                    <a:pt x="8605730" y="8945880"/>
                    <a:pt x="8481344" y="9055100"/>
                    <a:pt x="8328032" y="9055100"/>
                  </a:cubicBezTo>
                  <a:lnTo>
                    <a:pt x="277698" y="9055100"/>
                  </a:lnTo>
                  <a:cubicBezTo>
                    <a:pt x="124385" y="9055100"/>
                    <a:pt x="0" y="8945880"/>
                    <a:pt x="0" y="8811260"/>
                  </a:cubicBezTo>
                  <a:close/>
                </a:path>
              </a:pathLst>
            </a:custGeom>
            <a:blipFill>
              <a:blip r:embed="rId3"/>
              <a:stretch>
                <a:fillRect l="-2610" t="0" r="-2610" b="0"/>
              </a:stretch>
            </a:blipFill>
          </p:spPr>
        </p:sp>
      </p:grpSp>
      <p:grpSp>
        <p:nvGrpSpPr>
          <p:cNvPr name="Group 18" id="18"/>
          <p:cNvGrpSpPr/>
          <p:nvPr/>
        </p:nvGrpSpPr>
        <p:grpSpPr>
          <a:xfrm rot="0">
            <a:off x="12192042" y="8916307"/>
            <a:ext cx="5480872" cy="665321"/>
            <a:chOff x="0" y="0"/>
            <a:chExt cx="1443482" cy="175260"/>
          </a:xfrm>
        </p:grpSpPr>
        <p:sp>
          <p:nvSpPr>
            <p:cNvPr name="Freeform 19" id="19"/>
            <p:cNvSpPr/>
            <p:nvPr/>
          </p:nvSpPr>
          <p:spPr>
            <a:xfrm flipH="false" flipV="false" rot="0">
              <a:off x="0" y="0"/>
              <a:ext cx="1443482" cy="175260"/>
            </a:xfrm>
            <a:custGeom>
              <a:avLst/>
              <a:gdLst/>
              <a:ahLst/>
              <a:cxnLst/>
              <a:rect r="r" b="b" t="t" l="l"/>
              <a:pathLst>
                <a:path h="175260" w="1443482">
                  <a:moveTo>
                    <a:pt x="1443482" y="25426"/>
                  </a:moveTo>
                  <a:lnTo>
                    <a:pt x="1443482" y="149834"/>
                  </a:lnTo>
                  <a:cubicBezTo>
                    <a:pt x="1443482" y="156578"/>
                    <a:pt x="1440803" y="163045"/>
                    <a:pt x="1436035" y="167813"/>
                  </a:cubicBezTo>
                  <a:cubicBezTo>
                    <a:pt x="1431267" y="172581"/>
                    <a:pt x="1424800" y="175260"/>
                    <a:pt x="1418056" y="175260"/>
                  </a:cubicBezTo>
                  <a:lnTo>
                    <a:pt x="25426" y="175260"/>
                  </a:lnTo>
                  <a:cubicBezTo>
                    <a:pt x="18682" y="175260"/>
                    <a:pt x="12215" y="172581"/>
                    <a:pt x="7447" y="167813"/>
                  </a:cubicBezTo>
                  <a:cubicBezTo>
                    <a:pt x="2679" y="163045"/>
                    <a:pt x="0" y="156578"/>
                    <a:pt x="0" y="149834"/>
                  </a:cubicBezTo>
                  <a:lnTo>
                    <a:pt x="0" y="25426"/>
                  </a:lnTo>
                  <a:cubicBezTo>
                    <a:pt x="0" y="18682"/>
                    <a:pt x="2679" y="12215"/>
                    <a:pt x="7447" y="7447"/>
                  </a:cubicBezTo>
                  <a:cubicBezTo>
                    <a:pt x="12215" y="2679"/>
                    <a:pt x="18682" y="0"/>
                    <a:pt x="25426" y="0"/>
                  </a:cubicBezTo>
                  <a:lnTo>
                    <a:pt x="1418056" y="0"/>
                  </a:lnTo>
                  <a:cubicBezTo>
                    <a:pt x="1424800" y="0"/>
                    <a:pt x="1431267" y="2679"/>
                    <a:pt x="1436035" y="7447"/>
                  </a:cubicBezTo>
                  <a:cubicBezTo>
                    <a:pt x="1440803" y="12215"/>
                    <a:pt x="1443482" y="18682"/>
                    <a:pt x="1443482" y="25426"/>
                  </a:cubicBezTo>
                  <a:close/>
                </a:path>
              </a:pathLst>
            </a:custGeom>
            <a:solidFill>
              <a:srgbClr val="1C6B3D"/>
            </a:solidFill>
            <a:ln cap="sq">
              <a:noFill/>
              <a:prstDash val="solid"/>
              <a:miter/>
            </a:ln>
          </p:spPr>
        </p:sp>
        <p:sp>
          <p:nvSpPr>
            <p:cNvPr name="TextBox 20" id="20"/>
            <p:cNvSpPr txBox="true"/>
            <p:nvPr/>
          </p:nvSpPr>
          <p:spPr>
            <a:xfrm>
              <a:off x="0" y="-47625"/>
              <a:ext cx="1443482" cy="222885"/>
            </a:xfrm>
            <a:prstGeom prst="rect">
              <a:avLst/>
            </a:prstGeom>
          </p:spPr>
          <p:txBody>
            <a:bodyPr anchor="ctr" rtlCol="false" tIns="50800" lIns="50800" bIns="50800" rIns="50800"/>
            <a:lstStyle/>
            <a:p>
              <a:pPr algn="ctr">
                <a:lnSpc>
                  <a:spcPts val="2160"/>
                </a:lnSpc>
              </a:pPr>
            </a:p>
          </p:txBody>
        </p:sp>
      </p:grpSp>
      <p:grpSp>
        <p:nvGrpSpPr>
          <p:cNvPr name="Group 21" id="21"/>
          <p:cNvGrpSpPr/>
          <p:nvPr/>
        </p:nvGrpSpPr>
        <p:grpSpPr>
          <a:xfrm rot="0">
            <a:off x="12308827" y="9092876"/>
            <a:ext cx="1609725" cy="304800"/>
            <a:chOff x="0" y="0"/>
            <a:chExt cx="2146300" cy="406400"/>
          </a:xfrm>
        </p:grpSpPr>
        <p:sp>
          <p:nvSpPr>
            <p:cNvPr name="Freeform 22" id="22"/>
            <p:cNvSpPr/>
            <p:nvPr/>
          </p:nvSpPr>
          <p:spPr>
            <a:xfrm flipH="false" flipV="false" rot="0">
              <a:off x="0" y="0"/>
              <a:ext cx="2146300" cy="406400"/>
            </a:xfrm>
            <a:custGeom>
              <a:avLst/>
              <a:gdLst/>
              <a:ahLst/>
              <a:cxnLst/>
              <a:rect r="r" b="b" t="t" l="l"/>
              <a:pathLst>
                <a:path h="406400" w="2146300">
                  <a:moveTo>
                    <a:pt x="0" y="73152"/>
                  </a:moveTo>
                  <a:cubicBezTo>
                    <a:pt x="0" y="32766"/>
                    <a:pt x="32766" y="0"/>
                    <a:pt x="73152" y="0"/>
                  </a:cubicBezTo>
                  <a:lnTo>
                    <a:pt x="2073148" y="0"/>
                  </a:lnTo>
                  <a:cubicBezTo>
                    <a:pt x="2113534" y="0"/>
                    <a:pt x="2146300" y="32766"/>
                    <a:pt x="2146300" y="73152"/>
                  </a:cubicBezTo>
                  <a:lnTo>
                    <a:pt x="2146300" y="333248"/>
                  </a:lnTo>
                  <a:cubicBezTo>
                    <a:pt x="2146300" y="373634"/>
                    <a:pt x="2113534" y="406400"/>
                    <a:pt x="2073148" y="406400"/>
                  </a:cubicBezTo>
                  <a:lnTo>
                    <a:pt x="73152" y="406400"/>
                  </a:lnTo>
                  <a:cubicBezTo>
                    <a:pt x="32766" y="406400"/>
                    <a:pt x="0" y="373634"/>
                    <a:pt x="0" y="333248"/>
                  </a:cubicBezTo>
                  <a:close/>
                </a:path>
              </a:pathLst>
            </a:custGeom>
            <a:solidFill>
              <a:srgbClr val="2CA861"/>
            </a:solidFill>
          </p:spPr>
        </p:sp>
      </p:grpSp>
      <p:grpSp>
        <p:nvGrpSpPr>
          <p:cNvPr name="Group 23" id="23"/>
          <p:cNvGrpSpPr/>
          <p:nvPr/>
        </p:nvGrpSpPr>
        <p:grpSpPr>
          <a:xfrm rot="0">
            <a:off x="914400" y="9703222"/>
            <a:ext cx="16459200" cy="369816"/>
            <a:chOff x="0" y="0"/>
            <a:chExt cx="21945600" cy="493088"/>
          </a:xfrm>
        </p:grpSpPr>
        <p:sp>
          <p:nvSpPr>
            <p:cNvPr name="Freeform 24" id="24"/>
            <p:cNvSpPr/>
            <p:nvPr/>
          </p:nvSpPr>
          <p:spPr>
            <a:xfrm flipH="false" flipV="false" rot="0">
              <a:off x="0" y="0"/>
              <a:ext cx="21945600" cy="493090"/>
            </a:xfrm>
            <a:custGeom>
              <a:avLst/>
              <a:gdLst/>
              <a:ahLst/>
              <a:cxnLst/>
              <a:rect r="r" b="b" t="t" l="l"/>
              <a:pathLst>
                <a:path h="493090" w="21945600">
                  <a:moveTo>
                    <a:pt x="0" y="0"/>
                  </a:moveTo>
                  <a:lnTo>
                    <a:pt x="21945600" y="0"/>
                  </a:lnTo>
                  <a:lnTo>
                    <a:pt x="21945600" y="493090"/>
                  </a:lnTo>
                  <a:lnTo>
                    <a:pt x="0" y="493090"/>
                  </a:lnTo>
                  <a:close/>
                </a:path>
              </a:pathLst>
            </a:custGeom>
            <a:blipFill>
              <a:blip r:embed="rId4">
                <a:alphaModFix amt="0"/>
              </a:blip>
              <a:stretch>
                <a:fillRect l="0" t="-829861" r="0" b="-804553"/>
              </a:stretch>
            </a:blipFill>
          </p:spPr>
        </p:sp>
        <p:sp>
          <p:nvSpPr>
            <p:cNvPr name="TextBox 25" id="25"/>
            <p:cNvSpPr txBox="true"/>
            <p:nvPr/>
          </p:nvSpPr>
          <p:spPr>
            <a:xfrm>
              <a:off x="0" y="-47625"/>
              <a:ext cx="21945600" cy="540713"/>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26" id="26"/>
          <p:cNvGrpSpPr/>
          <p:nvPr/>
        </p:nvGrpSpPr>
        <p:grpSpPr>
          <a:xfrm rot="0">
            <a:off x="0" y="10247414"/>
            <a:ext cx="18288000" cy="38100"/>
            <a:chOff x="0" y="0"/>
            <a:chExt cx="24384000" cy="50800"/>
          </a:xfrm>
        </p:grpSpPr>
        <p:sp>
          <p:nvSpPr>
            <p:cNvPr name="Freeform 27" id="27"/>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28" id="28"/>
          <p:cNvGrpSpPr/>
          <p:nvPr/>
        </p:nvGrpSpPr>
        <p:grpSpPr>
          <a:xfrm rot="0">
            <a:off x="14026380" y="9092876"/>
            <a:ext cx="1609725" cy="304800"/>
            <a:chOff x="0" y="0"/>
            <a:chExt cx="2146300" cy="406400"/>
          </a:xfrm>
        </p:grpSpPr>
        <p:sp>
          <p:nvSpPr>
            <p:cNvPr name="Freeform 29" id="29"/>
            <p:cNvSpPr/>
            <p:nvPr/>
          </p:nvSpPr>
          <p:spPr>
            <a:xfrm flipH="false" flipV="false" rot="0">
              <a:off x="0" y="0"/>
              <a:ext cx="2146300" cy="406400"/>
            </a:xfrm>
            <a:custGeom>
              <a:avLst/>
              <a:gdLst/>
              <a:ahLst/>
              <a:cxnLst/>
              <a:rect r="r" b="b" t="t" l="l"/>
              <a:pathLst>
                <a:path h="406400" w="2146300">
                  <a:moveTo>
                    <a:pt x="0" y="73152"/>
                  </a:moveTo>
                  <a:cubicBezTo>
                    <a:pt x="0" y="32766"/>
                    <a:pt x="32766" y="0"/>
                    <a:pt x="73152" y="0"/>
                  </a:cubicBezTo>
                  <a:lnTo>
                    <a:pt x="2073148" y="0"/>
                  </a:lnTo>
                  <a:cubicBezTo>
                    <a:pt x="2113534" y="0"/>
                    <a:pt x="2146300" y="32766"/>
                    <a:pt x="2146300" y="73152"/>
                  </a:cubicBezTo>
                  <a:lnTo>
                    <a:pt x="2146300" y="333248"/>
                  </a:lnTo>
                  <a:cubicBezTo>
                    <a:pt x="2146300" y="373634"/>
                    <a:pt x="2113534" y="406400"/>
                    <a:pt x="2073148" y="406400"/>
                  </a:cubicBezTo>
                  <a:lnTo>
                    <a:pt x="73152" y="406400"/>
                  </a:lnTo>
                  <a:cubicBezTo>
                    <a:pt x="32766" y="406400"/>
                    <a:pt x="0" y="373634"/>
                    <a:pt x="0" y="333248"/>
                  </a:cubicBezTo>
                  <a:close/>
                </a:path>
              </a:pathLst>
            </a:custGeom>
            <a:solidFill>
              <a:srgbClr val="2ECC71"/>
            </a:solidFill>
          </p:spPr>
        </p:sp>
      </p:grpSp>
      <p:grpSp>
        <p:nvGrpSpPr>
          <p:cNvPr name="Group 30" id="30"/>
          <p:cNvGrpSpPr/>
          <p:nvPr/>
        </p:nvGrpSpPr>
        <p:grpSpPr>
          <a:xfrm rot="0">
            <a:off x="15826725" y="9092876"/>
            <a:ext cx="1609725" cy="304800"/>
            <a:chOff x="0" y="0"/>
            <a:chExt cx="2146300" cy="406400"/>
          </a:xfrm>
        </p:grpSpPr>
        <p:sp>
          <p:nvSpPr>
            <p:cNvPr name="Freeform 31" id="31"/>
            <p:cNvSpPr/>
            <p:nvPr/>
          </p:nvSpPr>
          <p:spPr>
            <a:xfrm flipH="false" flipV="false" rot="0">
              <a:off x="0" y="0"/>
              <a:ext cx="2146300" cy="406400"/>
            </a:xfrm>
            <a:custGeom>
              <a:avLst/>
              <a:gdLst/>
              <a:ahLst/>
              <a:cxnLst/>
              <a:rect r="r" b="b" t="t" l="l"/>
              <a:pathLst>
                <a:path h="406400" w="2146300">
                  <a:moveTo>
                    <a:pt x="0" y="73152"/>
                  </a:moveTo>
                  <a:cubicBezTo>
                    <a:pt x="0" y="32766"/>
                    <a:pt x="32766" y="0"/>
                    <a:pt x="73152" y="0"/>
                  </a:cubicBezTo>
                  <a:lnTo>
                    <a:pt x="2073148" y="0"/>
                  </a:lnTo>
                  <a:cubicBezTo>
                    <a:pt x="2113534" y="0"/>
                    <a:pt x="2146300" y="32766"/>
                    <a:pt x="2146300" y="73152"/>
                  </a:cubicBezTo>
                  <a:lnTo>
                    <a:pt x="2146300" y="333248"/>
                  </a:lnTo>
                  <a:cubicBezTo>
                    <a:pt x="2146300" y="373634"/>
                    <a:pt x="2113534" y="406400"/>
                    <a:pt x="2073148" y="406400"/>
                  </a:cubicBezTo>
                  <a:lnTo>
                    <a:pt x="73152" y="406400"/>
                  </a:lnTo>
                  <a:cubicBezTo>
                    <a:pt x="32766" y="406400"/>
                    <a:pt x="0" y="373634"/>
                    <a:pt x="0" y="333248"/>
                  </a:cubicBezTo>
                  <a:close/>
                </a:path>
              </a:pathLst>
            </a:custGeom>
            <a:solidFill>
              <a:srgbClr val="1A192F"/>
            </a:solidFill>
          </p:spPr>
        </p:sp>
      </p:grpSp>
      <p:sp>
        <p:nvSpPr>
          <p:cNvPr name="TextBox 32" id="32"/>
          <p:cNvSpPr txBox="true"/>
          <p:nvPr/>
        </p:nvSpPr>
        <p:spPr>
          <a:xfrm rot="0">
            <a:off x="1244279" y="285826"/>
            <a:ext cx="912078"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33" id="33"/>
          <p:cNvSpPr txBox="true"/>
          <p:nvPr/>
        </p:nvSpPr>
        <p:spPr>
          <a:xfrm rot="0">
            <a:off x="2355656" y="352501"/>
            <a:ext cx="345757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03 · COMPANY OVERVIEW</a:t>
            </a:r>
          </a:p>
        </p:txBody>
      </p:sp>
      <p:sp>
        <p:nvSpPr>
          <p:cNvPr name="TextBox 34" id="34"/>
          <p:cNvSpPr txBox="true"/>
          <p:nvPr/>
        </p:nvSpPr>
        <p:spPr>
          <a:xfrm rot="0">
            <a:off x="16791232"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05 / 31</a:t>
            </a:r>
          </a:p>
        </p:txBody>
      </p:sp>
      <p:sp>
        <p:nvSpPr>
          <p:cNvPr name="TextBox 35" id="35"/>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Company Overview</a:t>
            </a:r>
          </a:p>
        </p:txBody>
      </p:sp>
      <p:sp>
        <p:nvSpPr>
          <p:cNvPr name="TextBox 36" id="36"/>
          <p:cNvSpPr txBox="true"/>
          <p:nvPr/>
        </p:nvSpPr>
        <p:spPr>
          <a:xfrm rot="0">
            <a:off x="916334" y="2638130"/>
            <a:ext cx="1042035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ABOUT</a:t>
            </a:r>
          </a:p>
        </p:txBody>
      </p:sp>
      <p:sp>
        <p:nvSpPr>
          <p:cNvPr name="TextBox 37" id="37"/>
          <p:cNvSpPr txBox="true"/>
          <p:nvPr/>
        </p:nvSpPr>
        <p:spPr>
          <a:xfrm rot="0">
            <a:off x="1135773" y="3221141"/>
            <a:ext cx="9981472" cy="1500378"/>
          </a:xfrm>
          <a:prstGeom prst="rect">
            <a:avLst/>
          </a:prstGeom>
        </p:spPr>
        <p:txBody>
          <a:bodyPr anchor="t" rtlCol="false" tIns="0" lIns="0" bIns="0" rIns="0">
            <a:spAutoFit/>
          </a:bodyPr>
          <a:lstStyle/>
          <a:p>
            <a:pPr algn="l">
              <a:lnSpc>
                <a:spcPts val="3042"/>
              </a:lnSpc>
            </a:pPr>
            <a:r>
              <a:rPr lang="en-US" sz="1880" b="true">
                <a:solidFill>
                  <a:srgbClr val="595959"/>
                </a:solidFill>
                <a:latin typeface="Inter Bold"/>
                <a:ea typeface="Inter Bold"/>
                <a:cs typeface="Inter Bold"/>
                <a:sym typeface="Inter Bold"/>
              </a:rPr>
              <a:t>ISTSEH </a:t>
            </a:r>
            <a:r>
              <a:rPr lang="en-US" b="true" sz="1880">
                <a:solidFill>
                  <a:srgbClr val="595959"/>
                </a:solidFill>
                <a:latin typeface="Inter Bold"/>
                <a:ea typeface="Inter Bold"/>
                <a:cs typeface="Inter Bold"/>
                <a:sym typeface="Inter Bold"/>
              </a:rPr>
              <a:t>is a lean healthcare technology startup building a personalized medication care platform for patients and families. Starting in Kuwait, the company focuses on lifestyle-based scheduling, safety awareness, Arabic/English accessibility, and family follow-up, with a long-term goal of expanding across the GCC and beyond.</a:t>
            </a:r>
          </a:p>
        </p:txBody>
      </p:sp>
      <p:sp>
        <p:nvSpPr>
          <p:cNvPr name="TextBox 38" id="38"/>
          <p:cNvSpPr txBox="true"/>
          <p:nvPr/>
        </p:nvSpPr>
        <p:spPr>
          <a:xfrm rot="0">
            <a:off x="1131541" y="5266353"/>
            <a:ext cx="2857500" cy="285750"/>
          </a:xfrm>
          <a:prstGeom prst="rect">
            <a:avLst/>
          </a:prstGeom>
        </p:spPr>
        <p:txBody>
          <a:bodyPr anchor="t" rtlCol="false" tIns="0" lIns="0" bIns="0" rIns="0">
            <a:spAutoFit/>
          </a:bodyPr>
          <a:lstStyle/>
          <a:p>
            <a:pPr algn="l">
              <a:lnSpc>
                <a:spcPts val="1944"/>
              </a:lnSpc>
            </a:pPr>
            <a:r>
              <a:rPr lang="en-US" b="true" sz="1300" spc="64">
                <a:solidFill>
                  <a:srgbClr val="2ECC71"/>
                </a:solidFill>
                <a:latin typeface="Inter Bold"/>
                <a:ea typeface="Inter Bold"/>
                <a:cs typeface="Inter Bold"/>
                <a:sym typeface="Inter Bold"/>
              </a:rPr>
              <a:t>VISION</a:t>
            </a:r>
          </a:p>
        </p:txBody>
      </p:sp>
      <p:sp>
        <p:nvSpPr>
          <p:cNvPr name="TextBox 39" id="39"/>
          <p:cNvSpPr txBox="true"/>
          <p:nvPr/>
        </p:nvSpPr>
        <p:spPr>
          <a:xfrm rot="0">
            <a:off x="1131541" y="5607177"/>
            <a:ext cx="2857500" cy="9871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To becom</a:t>
            </a:r>
            <a:r>
              <a:rPr lang="en-US" sz="1439">
                <a:solidFill>
                  <a:srgbClr val="595959"/>
                </a:solidFill>
                <a:latin typeface="Inter"/>
                <a:ea typeface="Inter"/>
                <a:cs typeface="Inter"/>
                <a:sym typeface="Inter"/>
              </a:rPr>
              <a:t>e a trusted medication care platform across Kuwait, the GCC, and future global healthcare markets.</a:t>
            </a:r>
          </a:p>
        </p:txBody>
      </p:sp>
      <p:sp>
        <p:nvSpPr>
          <p:cNvPr name="TextBox 40" id="40"/>
          <p:cNvSpPr txBox="true"/>
          <p:nvPr/>
        </p:nvSpPr>
        <p:spPr>
          <a:xfrm rot="0">
            <a:off x="4697682" y="5266353"/>
            <a:ext cx="2857500" cy="285750"/>
          </a:xfrm>
          <a:prstGeom prst="rect">
            <a:avLst/>
          </a:prstGeom>
        </p:spPr>
        <p:txBody>
          <a:bodyPr anchor="t" rtlCol="false" tIns="0" lIns="0" bIns="0" rIns="0">
            <a:spAutoFit/>
          </a:bodyPr>
          <a:lstStyle/>
          <a:p>
            <a:pPr algn="l">
              <a:lnSpc>
                <a:spcPts val="1944"/>
              </a:lnSpc>
            </a:pPr>
            <a:r>
              <a:rPr lang="en-US" b="true" sz="1300" spc="64">
                <a:solidFill>
                  <a:srgbClr val="2ECC71"/>
                </a:solidFill>
                <a:latin typeface="Inter Bold"/>
                <a:ea typeface="Inter Bold"/>
                <a:cs typeface="Inter Bold"/>
                <a:sym typeface="Inter Bold"/>
              </a:rPr>
              <a:t>MISSION</a:t>
            </a:r>
          </a:p>
        </p:txBody>
      </p:sp>
      <p:sp>
        <p:nvSpPr>
          <p:cNvPr name="TextBox 41" id="41"/>
          <p:cNvSpPr txBox="true"/>
          <p:nvPr/>
        </p:nvSpPr>
        <p:spPr>
          <a:xfrm rot="0">
            <a:off x="8263833" y="5266353"/>
            <a:ext cx="2857500" cy="285750"/>
          </a:xfrm>
          <a:prstGeom prst="rect">
            <a:avLst/>
          </a:prstGeom>
        </p:spPr>
        <p:txBody>
          <a:bodyPr anchor="t" rtlCol="false" tIns="0" lIns="0" bIns="0" rIns="0">
            <a:spAutoFit/>
          </a:bodyPr>
          <a:lstStyle/>
          <a:p>
            <a:pPr algn="l">
              <a:lnSpc>
                <a:spcPts val="1944"/>
              </a:lnSpc>
            </a:pPr>
            <a:r>
              <a:rPr lang="en-US" b="true" sz="1300" spc="64">
                <a:solidFill>
                  <a:srgbClr val="2ECC71"/>
                </a:solidFill>
                <a:latin typeface="Inter Bold"/>
                <a:ea typeface="Inter Bold"/>
                <a:cs typeface="Inter Bold"/>
                <a:sym typeface="Inter Bold"/>
              </a:rPr>
              <a:t>VALUES</a:t>
            </a:r>
          </a:p>
        </p:txBody>
      </p:sp>
      <p:sp>
        <p:nvSpPr>
          <p:cNvPr name="TextBox 42" id="42"/>
          <p:cNvSpPr txBox="true"/>
          <p:nvPr/>
        </p:nvSpPr>
        <p:spPr>
          <a:xfrm rot="0">
            <a:off x="8263833" y="5607177"/>
            <a:ext cx="2857500" cy="73952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Saf</a:t>
            </a:r>
            <a:r>
              <a:rPr lang="en-US" sz="1439">
                <a:solidFill>
                  <a:srgbClr val="595959"/>
                </a:solidFill>
                <a:latin typeface="Inter"/>
                <a:ea typeface="Inter"/>
                <a:cs typeface="Inter"/>
                <a:sym typeface="Inter"/>
              </a:rPr>
              <a:t>ety, trust, simplicity, accessibility, and responsible innovation.</a:t>
            </a:r>
          </a:p>
        </p:txBody>
      </p:sp>
      <p:sp>
        <p:nvSpPr>
          <p:cNvPr name="TextBox 43" id="43"/>
          <p:cNvSpPr txBox="true"/>
          <p:nvPr/>
        </p:nvSpPr>
        <p:spPr>
          <a:xfrm rot="0">
            <a:off x="12014892" y="3357410"/>
            <a:ext cx="5048250" cy="285750"/>
          </a:xfrm>
          <a:prstGeom prst="rect">
            <a:avLst/>
          </a:prstGeom>
        </p:spPr>
        <p:txBody>
          <a:bodyPr anchor="t" rtlCol="false" tIns="0" lIns="0" bIns="0" rIns="0">
            <a:spAutoFit/>
          </a:bodyPr>
          <a:lstStyle/>
          <a:p>
            <a:pPr algn="l">
              <a:lnSpc>
                <a:spcPts val="1944"/>
              </a:lnSpc>
            </a:pPr>
            <a:r>
              <a:rPr lang="en-US" b="true" sz="1300" spc="64">
                <a:solidFill>
                  <a:srgbClr val="2ECC71"/>
                </a:solidFill>
                <a:latin typeface="Inter Bold"/>
                <a:ea typeface="Inter Bold"/>
                <a:cs typeface="Inter Bold"/>
                <a:sym typeface="Inter Bold"/>
              </a:rPr>
              <a:t>BRAND IDENTITY</a:t>
            </a:r>
          </a:p>
        </p:txBody>
      </p:sp>
      <p:sp>
        <p:nvSpPr>
          <p:cNvPr name="TextBox 44" id="44"/>
          <p:cNvSpPr txBox="true"/>
          <p:nvPr/>
        </p:nvSpPr>
        <p:spPr>
          <a:xfrm rot="0">
            <a:off x="4697682" y="5607177"/>
            <a:ext cx="3026412" cy="9871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To m</a:t>
            </a:r>
            <a:r>
              <a:rPr lang="en-US" sz="1439">
                <a:solidFill>
                  <a:srgbClr val="595959"/>
                </a:solidFill>
                <a:latin typeface="Inter"/>
                <a:ea typeface="Inter"/>
                <a:cs typeface="Inter"/>
                <a:sym typeface="Inter"/>
              </a:rPr>
              <a:t>ake medication care safer and easier through smart scheduling, safety insights, bilingual accessibility, and family support.</a:t>
            </a:r>
          </a:p>
        </p:txBody>
      </p:sp>
      <p:sp>
        <p:nvSpPr>
          <p:cNvPr name="TextBox 45" id="45"/>
          <p:cNvSpPr txBox="true"/>
          <p:nvPr/>
        </p:nvSpPr>
        <p:spPr>
          <a:xfrm rot="0">
            <a:off x="14285074" y="8467752"/>
            <a:ext cx="1294808" cy="267579"/>
          </a:xfrm>
          <a:prstGeom prst="rect">
            <a:avLst/>
          </a:prstGeom>
        </p:spPr>
        <p:txBody>
          <a:bodyPr anchor="t" rtlCol="false" tIns="0" lIns="0" bIns="0" rIns="0">
            <a:spAutoFit/>
          </a:bodyPr>
          <a:lstStyle/>
          <a:p>
            <a:pPr algn="l">
              <a:lnSpc>
                <a:spcPts val="2243"/>
              </a:lnSpc>
            </a:pPr>
            <a:r>
              <a:rPr lang="en-US" b="true" sz="1500" spc="73">
                <a:solidFill>
                  <a:srgbClr val="2ECC71"/>
                </a:solidFill>
                <a:latin typeface="Inter Bold"/>
                <a:ea typeface="Inter Bold"/>
                <a:cs typeface="Inter Bold"/>
                <a:sym typeface="Inter Bold"/>
              </a:rPr>
              <a:t>Color Pallete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9586"/>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86859"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685" y="352501"/>
            <a:ext cx="30289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04 · PROBLEM / NEED</a:t>
            </a:r>
          </a:p>
        </p:txBody>
      </p:sp>
      <p:sp>
        <p:nvSpPr>
          <p:cNvPr name="TextBox 8" id="8"/>
          <p:cNvSpPr txBox="true"/>
          <p:nvPr/>
        </p:nvSpPr>
        <p:spPr>
          <a:xfrm rot="0">
            <a:off x="16784022"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06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The Problem We Solve</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4400" y="2672363"/>
            <a:ext cx="16459200" cy="1476375"/>
            <a:chOff x="0" y="0"/>
            <a:chExt cx="21945600" cy="1968500"/>
          </a:xfrm>
        </p:grpSpPr>
        <p:sp>
          <p:nvSpPr>
            <p:cNvPr name="Freeform 13" id="13"/>
            <p:cNvSpPr/>
            <p:nvPr/>
          </p:nvSpPr>
          <p:spPr>
            <a:xfrm flipH="false" flipV="false" rot="0">
              <a:off x="0" y="0"/>
              <a:ext cx="21945600" cy="1968500"/>
            </a:xfrm>
            <a:custGeom>
              <a:avLst/>
              <a:gdLst/>
              <a:ahLst/>
              <a:cxnLst/>
              <a:rect r="r" b="b" t="t" l="l"/>
              <a:pathLst>
                <a:path h="1968500" w="21945600">
                  <a:moveTo>
                    <a:pt x="0" y="243840"/>
                  </a:moveTo>
                  <a:cubicBezTo>
                    <a:pt x="0" y="109220"/>
                    <a:pt x="109220" y="0"/>
                    <a:pt x="243840" y="0"/>
                  </a:cubicBezTo>
                  <a:lnTo>
                    <a:pt x="21701761" y="0"/>
                  </a:lnTo>
                  <a:cubicBezTo>
                    <a:pt x="21836380" y="0"/>
                    <a:pt x="21945600" y="109220"/>
                    <a:pt x="21945600" y="243840"/>
                  </a:cubicBezTo>
                  <a:lnTo>
                    <a:pt x="21945600" y="1724660"/>
                  </a:lnTo>
                  <a:cubicBezTo>
                    <a:pt x="21945600" y="1859280"/>
                    <a:pt x="21836380" y="1968500"/>
                    <a:pt x="21701761" y="1968500"/>
                  </a:cubicBezTo>
                  <a:lnTo>
                    <a:pt x="243840" y="1968500"/>
                  </a:lnTo>
                  <a:cubicBezTo>
                    <a:pt x="109220" y="1968500"/>
                    <a:pt x="0" y="1859280"/>
                    <a:pt x="0" y="1724660"/>
                  </a:cubicBezTo>
                  <a:close/>
                </a:path>
              </a:pathLst>
            </a:custGeom>
            <a:solidFill>
              <a:srgbClr val="ECFAF2"/>
            </a:solidFill>
          </p:spPr>
        </p:sp>
      </p:grpSp>
      <p:grpSp>
        <p:nvGrpSpPr>
          <p:cNvPr name="Group 14" id="14"/>
          <p:cNvGrpSpPr/>
          <p:nvPr/>
        </p:nvGrpSpPr>
        <p:grpSpPr>
          <a:xfrm rot="0">
            <a:off x="1221953" y="2982144"/>
            <a:ext cx="733425" cy="733425"/>
            <a:chOff x="0" y="0"/>
            <a:chExt cx="977900" cy="977900"/>
          </a:xfrm>
        </p:grpSpPr>
        <p:sp>
          <p:nvSpPr>
            <p:cNvPr name="Freeform 15" id="15"/>
            <p:cNvSpPr/>
            <p:nvPr/>
          </p:nvSpPr>
          <p:spPr>
            <a:xfrm flipH="false" flipV="false" rot="0">
              <a:off x="0" y="0"/>
              <a:ext cx="977900" cy="977900"/>
            </a:xfrm>
            <a:custGeom>
              <a:avLst/>
              <a:gdLst/>
              <a:ahLst/>
              <a:cxnLst/>
              <a:rect r="r" b="b" t="t" l="l"/>
              <a:pathLst>
                <a:path h="977900" w="977900">
                  <a:moveTo>
                    <a:pt x="0" y="195072"/>
                  </a:moveTo>
                  <a:cubicBezTo>
                    <a:pt x="0" y="87376"/>
                    <a:pt x="87376" y="0"/>
                    <a:pt x="195072" y="0"/>
                  </a:cubicBezTo>
                  <a:lnTo>
                    <a:pt x="782828" y="0"/>
                  </a:lnTo>
                  <a:cubicBezTo>
                    <a:pt x="890524" y="0"/>
                    <a:pt x="977900" y="87376"/>
                    <a:pt x="977900" y="195072"/>
                  </a:cubicBezTo>
                  <a:lnTo>
                    <a:pt x="977900" y="782828"/>
                  </a:lnTo>
                  <a:cubicBezTo>
                    <a:pt x="977900" y="890524"/>
                    <a:pt x="890524" y="977900"/>
                    <a:pt x="782828" y="977900"/>
                  </a:cubicBezTo>
                  <a:lnTo>
                    <a:pt x="195072" y="977900"/>
                  </a:lnTo>
                  <a:cubicBezTo>
                    <a:pt x="87376" y="977900"/>
                    <a:pt x="0" y="890524"/>
                    <a:pt x="0" y="782828"/>
                  </a:cubicBezTo>
                  <a:close/>
                </a:path>
              </a:pathLst>
            </a:custGeom>
            <a:solidFill>
              <a:srgbClr val="2FC972">
                <a:alpha val="1961"/>
              </a:srgbClr>
            </a:solidFill>
          </p:spPr>
        </p:sp>
      </p:grpSp>
      <p:grpSp>
        <p:nvGrpSpPr>
          <p:cNvPr name="Group 16" id="16"/>
          <p:cNvGrpSpPr/>
          <p:nvPr/>
        </p:nvGrpSpPr>
        <p:grpSpPr>
          <a:xfrm rot="0">
            <a:off x="1359989" y="3120180"/>
            <a:ext cx="457200" cy="457200"/>
            <a:chOff x="0" y="0"/>
            <a:chExt cx="609600" cy="609600"/>
          </a:xfrm>
        </p:grpSpPr>
        <p:sp>
          <p:nvSpPr>
            <p:cNvPr name="Freeform 17" id="17" descr="preencoded.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3"/>
              <a:stretch>
                <a:fillRect l="0" t="0" r="0" b="0"/>
              </a:stretch>
            </a:blipFill>
          </p:spPr>
        </p:sp>
      </p:grpSp>
      <p:sp>
        <p:nvSpPr>
          <p:cNvPr name="TextBox 18" id="18"/>
          <p:cNvSpPr txBox="true"/>
          <p:nvPr/>
        </p:nvSpPr>
        <p:spPr>
          <a:xfrm rot="0">
            <a:off x="2334597" y="2752563"/>
            <a:ext cx="14744700" cy="1232529"/>
          </a:xfrm>
          <a:prstGeom prst="rect">
            <a:avLst/>
          </a:prstGeom>
        </p:spPr>
        <p:txBody>
          <a:bodyPr anchor="t" rtlCol="false" tIns="0" lIns="0" bIns="0" rIns="0">
            <a:spAutoFit/>
          </a:bodyPr>
          <a:lstStyle/>
          <a:p>
            <a:pPr algn="l">
              <a:lnSpc>
                <a:spcPts val="3228"/>
              </a:lnSpc>
            </a:pPr>
            <a:r>
              <a:rPr lang="en-US" b="true" sz="2340">
                <a:solidFill>
                  <a:srgbClr val="1A192F"/>
                </a:solidFill>
                <a:latin typeface="Arimo Bold"/>
                <a:ea typeface="Arimo Bold"/>
                <a:cs typeface="Arimo Bold"/>
                <a:sym typeface="Arimo Bold"/>
              </a:rPr>
              <a:t>Healthca</a:t>
            </a:r>
            <a:r>
              <a:rPr lang="en-US" b="true" sz="2340">
                <a:solidFill>
                  <a:srgbClr val="1A192F"/>
                </a:solidFill>
                <a:latin typeface="Arimo Bold"/>
                <a:ea typeface="Arimo Bold"/>
                <a:cs typeface="Arimo Bold"/>
                <a:sym typeface="Arimo Bold"/>
              </a:rPr>
              <a:t>re in Kuwait can feel fragmented when key patient details like allergies, chronic diseases, and medication interactions are not easily available, while regular reminder apps fail to adapt to daily routines or support family follow-up for elderly relatives.</a:t>
            </a:r>
          </a:p>
        </p:txBody>
      </p:sp>
      <p:sp>
        <p:nvSpPr>
          <p:cNvPr name="TextBox 19" id="19"/>
          <p:cNvSpPr txBox="true"/>
          <p:nvPr/>
        </p:nvSpPr>
        <p:spPr>
          <a:xfrm rot="0">
            <a:off x="913505" y="5209880"/>
            <a:ext cx="10791825"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PAIN POINTS</a:t>
            </a:r>
          </a:p>
        </p:txBody>
      </p:sp>
      <p:grpSp>
        <p:nvGrpSpPr>
          <p:cNvPr name="Group 20" id="20"/>
          <p:cNvGrpSpPr/>
          <p:nvPr/>
        </p:nvGrpSpPr>
        <p:grpSpPr>
          <a:xfrm rot="0">
            <a:off x="909638" y="5654202"/>
            <a:ext cx="5267325" cy="1228201"/>
            <a:chOff x="0" y="0"/>
            <a:chExt cx="7023100" cy="1637602"/>
          </a:xfrm>
        </p:grpSpPr>
        <p:sp>
          <p:nvSpPr>
            <p:cNvPr name="Freeform 21" id="21"/>
            <p:cNvSpPr/>
            <p:nvPr/>
          </p:nvSpPr>
          <p:spPr>
            <a:xfrm flipH="false" flipV="false" rot="0">
              <a:off x="0" y="0"/>
              <a:ext cx="7023100" cy="1637729"/>
            </a:xfrm>
            <a:custGeom>
              <a:avLst/>
              <a:gdLst/>
              <a:ahLst/>
              <a:cxnLst/>
              <a:rect r="r" b="b" t="t" l="l"/>
              <a:pathLst>
                <a:path h="1637729" w="7023100">
                  <a:moveTo>
                    <a:pt x="0" y="206231"/>
                  </a:moveTo>
                  <a:cubicBezTo>
                    <a:pt x="0" y="92265"/>
                    <a:pt x="88011" y="0"/>
                    <a:pt x="196723" y="0"/>
                  </a:cubicBezTo>
                  <a:lnTo>
                    <a:pt x="6826377" y="0"/>
                  </a:lnTo>
                  <a:cubicBezTo>
                    <a:pt x="6935089" y="0"/>
                    <a:pt x="7023100" y="92265"/>
                    <a:pt x="7023100" y="206231"/>
                  </a:cubicBezTo>
                  <a:lnTo>
                    <a:pt x="7023100" y="1431503"/>
                  </a:lnTo>
                  <a:cubicBezTo>
                    <a:pt x="7023100" y="1545337"/>
                    <a:pt x="6935089" y="1637729"/>
                    <a:pt x="6826377" y="1637729"/>
                  </a:cubicBezTo>
                  <a:lnTo>
                    <a:pt x="196723" y="1637729"/>
                  </a:lnTo>
                  <a:cubicBezTo>
                    <a:pt x="88011" y="1637602"/>
                    <a:pt x="0" y="1545337"/>
                    <a:pt x="0" y="1431370"/>
                  </a:cubicBezTo>
                  <a:close/>
                </a:path>
              </a:pathLst>
            </a:custGeom>
            <a:solidFill>
              <a:srgbClr val="FFFFFF"/>
            </a:solidFill>
            <a:ln w="9526" cap="sq">
              <a:solidFill>
                <a:srgbClr val="E5E7EB"/>
              </a:solidFill>
              <a:prstDash val="solid"/>
              <a:miter/>
            </a:ln>
          </p:spPr>
        </p:sp>
      </p:grpSp>
      <p:grpSp>
        <p:nvGrpSpPr>
          <p:cNvPr name="Group 22" id="22"/>
          <p:cNvGrpSpPr/>
          <p:nvPr/>
        </p:nvGrpSpPr>
        <p:grpSpPr>
          <a:xfrm rot="0">
            <a:off x="1087936" y="5793210"/>
            <a:ext cx="476250" cy="476250"/>
            <a:chOff x="0" y="0"/>
            <a:chExt cx="635000" cy="635000"/>
          </a:xfrm>
        </p:grpSpPr>
        <p:sp>
          <p:nvSpPr>
            <p:cNvPr name="Freeform 23" id="23"/>
            <p:cNvSpPr/>
            <p:nvPr/>
          </p:nvSpPr>
          <p:spPr>
            <a:xfrm flipH="false" flipV="false" rot="0">
              <a:off x="0" y="0"/>
              <a:ext cx="635000" cy="635000"/>
            </a:xfrm>
            <a:custGeom>
              <a:avLst/>
              <a:gdLst/>
              <a:ahLst/>
              <a:cxnLst/>
              <a:rect r="r" b="b" t="t" l="l"/>
              <a:pathLst>
                <a:path h="635000" w="635000">
                  <a:moveTo>
                    <a:pt x="0" y="121920"/>
                  </a:moveTo>
                  <a:cubicBezTo>
                    <a:pt x="0" y="54610"/>
                    <a:pt x="54610" y="0"/>
                    <a:pt x="121920" y="0"/>
                  </a:cubicBezTo>
                  <a:lnTo>
                    <a:pt x="513080" y="0"/>
                  </a:lnTo>
                  <a:cubicBezTo>
                    <a:pt x="580390" y="0"/>
                    <a:pt x="635000" y="54610"/>
                    <a:pt x="635000" y="121920"/>
                  </a:cubicBezTo>
                  <a:lnTo>
                    <a:pt x="635000" y="513080"/>
                  </a:lnTo>
                  <a:cubicBezTo>
                    <a:pt x="635000" y="580390"/>
                    <a:pt x="580390" y="635000"/>
                    <a:pt x="513080" y="635000"/>
                  </a:cubicBezTo>
                  <a:lnTo>
                    <a:pt x="121920" y="635000"/>
                  </a:lnTo>
                  <a:cubicBezTo>
                    <a:pt x="54610" y="635000"/>
                    <a:pt x="0" y="580390"/>
                    <a:pt x="0" y="513080"/>
                  </a:cubicBezTo>
                  <a:close/>
                </a:path>
              </a:pathLst>
            </a:custGeom>
            <a:solidFill>
              <a:srgbClr val="31CE76">
                <a:alpha val="784"/>
              </a:srgbClr>
            </a:solidFill>
          </p:spPr>
        </p:sp>
      </p:grpSp>
      <p:grpSp>
        <p:nvGrpSpPr>
          <p:cNvPr name="Group 24" id="24"/>
          <p:cNvGrpSpPr/>
          <p:nvPr/>
        </p:nvGrpSpPr>
        <p:grpSpPr>
          <a:xfrm rot="0">
            <a:off x="1198064" y="5903338"/>
            <a:ext cx="255984" cy="255984"/>
            <a:chOff x="0" y="0"/>
            <a:chExt cx="341312" cy="341312"/>
          </a:xfrm>
        </p:grpSpPr>
        <p:sp>
          <p:nvSpPr>
            <p:cNvPr name="Freeform 25" id="25" descr="preencoded.png"/>
            <p:cNvSpPr/>
            <p:nvPr/>
          </p:nvSpPr>
          <p:spPr>
            <a:xfrm flipH="false" flipV="false" rot="0">
              <a:off x="0" y="0"/>
              <a:ext cx="341249" cy="341249"/>
            </a:xfrm>
            <a:custGeom>
              <a:avLst/>
              <a:gdLst/>
              <a:ahLst/>
              <a:cxnLst/>
              <a:rect r="r" b="b" t="t" l="l"/>
              <a:pathLst>
                <a:path h="341249" w="341249">
                  <a:moveTo>
                    <a:pt x="0" y="0"/>
                  </a:moveTo>
                  <a:lnTo>
                    <a:pt x="341249" y="0"/>
                  </a:lnTo>
                  <a:lnTo>
                    <a:pt x="341249" y="341249"/>
                  </a:lnTo>
                  <a:lnTo>
                    <a:pt x="0" y="341249"/>
                  </a:lnTo>
                  <a:lnTo>
                    <a:pt x="0" y="0"/>
                  </a:lnTo>
                  <a:close/>
                </a:path>
              </a:pathLst>
            </a:custGeom>
            <a:blipFill>
              <a:blip r:embed="rId4"/>
              <a:stretch>
                <a:fillRect l="0" t="0" r="-18" b="-18"/>
              </a:stretch>
            </a:blipFill>
          </p:spPr>
        </p:sp>
      </p:grpSp>
      <p:sp>
        <p:nvSpPr>
          <p:cNvPr name="TextBox 26" id="26"/>
          <p:cNvSpPr txBox="true"/>
          <p:nvPr/>
        </p:nvSpPr>
        <p:spPr>
          <a:xfrm rot="0">
            <a:off x="1748285" y="5735022"/>
            <a:ext cx="4248150" cy="361950"/>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Missed doses</a:t>
            </a:r>
          </a:p>
        </p:txBody>
      </p:sp>
      <p:sp>
        <p:nvSpPr>
          <p:cNvPr name="TextBox 27" id="27"/>
          <p:cNvSpPr txBox="true"/>
          <p:nvPr/>
        </p:nvSpPr>
        <p:spPr>
          <a:xfrm rot="0">
            <a:off x="1748285" y="6058872"/>
            <a:ext cx="4428677" cy="701929"/>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Patients may forget doses or take them late, especially when medication schedules are not connected to their real daily routine.</a:t>
            </a:r>
          </a:p>
        </p:txBody>
      </p:sp>
      <p:grpSp>
        <p:nvGrpSpPr>
          <p:cNvPr name="Group 28" id="28"/>
          <p:cNvGrpSpPr/>
          <p:nvPr/>
        </p:nvGrpSpPr>
        <p:grpSpPr>
          <a:xfrm rot="0">
            <a:off x="6441805" y="5654202"/>
            <a:ext cx="5267325" cy="1228201"/>
            <a:chOff x="0" y="0"/>
            <a:chExt cx="7023100" cy="1637602"/>
          </a:xfrm>
        </p:grpSpPr>
        <p:sp>
          <p:nvSpPr>
            <p:cNvPr name="Freeform 29" id="29"/>
            <p:cNvSpPr/>
            <p:nvPr/>
          </p:nvSpPr>
          <p:spPr>
            <a:xfrm flipH="false" flipV="false" rot="0">
              <a:off x="0" y="0"/>
              <a:ext cx="7023100" cy="1637729"/>
            </a:xfrm>
            <a:custGeom>
              <a:avLst/>
              <a:gdLst/>
              <a:ahLst/>
              <a:cxnLst/>
              <a:rect r="r" b="b" t="t" l="l"/>
              <a:pathLst>
                <a:path h="1637729" w="7023100">
                  <a:moveTo>
                    <a:pt x="0" y="206231"/>
                  </a:moveTo>
                  <a:cubicBezTo>
                    <a:pt x="0" y="92265"/>
                    <a:pt x="88011" y="0"/>
                    <a:pt x="196723" y="0"/>
                  </a:cubicBezTo>
                  <a:lnTo>
                    <a:pt x="6826377" y="0"/>
                  </a:lnTo>
                  <a:cubicBezTo>
                    <a:pt x="6935089" y="0"/>
                    <a:pt x="7023100" y="92265"/>
                    <a:pt x="7023100" y="206231"/>
                  </a:cubicBezTo>
                  <a:lnTo>
                    <a:pt x="7023100" y="1431503"/>
                  </a:lnTo>
                  <a:cubicBezTo>
                    <a:pt x="7023100" y="1545337"/>
                    <a:pt x="6935089" y="1637729"/>
                    <a:pt x="6826377" y="1637729"/>
                  </a:cubicBezTo>
                  <a:lnTo>
                    <a:pt x="196723" y="1637729"/>
                  </a:lnTo>
                  <a:cubicBezTo>
                    <a:pt x="88011" y="1637602"/>
                    <a:pt x="0" y="1545337"/>
                    <a:pt x="0" y="1431370"/>
                  </a:cubicBezTo>
                  <a:close/>
                </a:path>
              </a:pathLst>
            </a:custGeom>
            <a:solidFill>
              <a:srgbClr val="FFFFFF"/>
            </a:solidFill>
            <a:ln w="9526" cap="sq">
              <a:solidFill>
                <a:srgbClr val="E5E7EB"/>
              </a:solidFill>
              <a:prstDash val="solid"/>
              <a:miter/>
            </a:ln>
          </p:spPr>
        </p:sp>
      </p:grpSp>
      <p:grpSp>
        <p:nvGrpSpPr>
          <p:cNvPr name="Group 30" id="30"/>
          <p:cNvGrpSpPr/>
          <p:nvPr/>
        </p:nvGrpSpPr>
        <p:grpSpPr>
          <a:xfrm rot="0">
            <a:off x="6620027" y="5794248"/>
            <a:ext cx="476250" cy="476250"/>
            <a:chOff x="0" y="0"/>
            <a:chExt cx="635000" cy="635000"/>
          </a:xfrm>
        </p:grpSpPr>
        <p:sp>
          <p:nvSpPr>
            <p:cNvPr name="Freeform 31" id="31"/>
            <p:cNvSpPr/>
            <p:nvPr/>
          </p:nvSpPr>
          <p:spPr>
            <a:xfrm flipH="false" flipV="false" rot="0">
              <a:off x="0" y="0"/>
              <a:ext cx="635000" cy="635000"/>
            </a:xfrm>
            <a:custGeom>
              <a:avLst/>
              <a:gdLst/>
              <a:ahLst/>
              <a:cxnLst/>
              <a:rect r="r" b="b" t="t" l="l"/>
              <a:pathLst>
                <a:path h="635000" w="635000">
                  <a:moveTo>
                    <a:pt x="0" y="121920"/>
                  </a:moveTo>
                  <a:cubicBezTo>
                    <a:pt x="0" y="54610"/>
                    <a:pt x="54610" y="0"/>
                    <a:pt x="121920" y="0"/>
                  </a:cubicBezTo>
                  <a:lnTo>
                    <a:pt x="513080" y="0"/>
                  </a:lnTo>
                  <a:cubicBezTo>
                    <a:pt x="580390" y="0"/>
                    <a:pt x="635000" y="54610"/>
                    <a:pt x="635000" y="121920"/>
                  </a:cubicBezTo>
                  <a:lnTo>
                    <a:pt x="635000" y="513080"/>
                  </a:lnTo>
                  <a:cubicBezTo>
                    <a:pt x="635000" y="580390"/>
                    <a:pt x="580390" y="635000"/>
                    <a:pt x="513080" y="635000"/>
                  </a:cubicBezTo>
                  <a:lnTo>
                    <a:pt x="121920" y="635000"/>
                  </a:lnTo>
                  <a:cubicBezTo>
                    <a:pt x="54610" y="635000"/>
                    <a:pt x="0" y="580390"/>
                    <a:pt x="0" y="513080"/>
                  </a:cubicBezTo>
                  <a:close/>
                </a:path>
              </a:pathLst>
            </a:custGeom>
            <a:solidFill>
              <a:srgbClr val="31CE76">
                <a:alpha val="784"/>
              </a:srgbClr>
            </a:solidFill>
          </p:spPr>
        </p:sp>
      </p:grpSp>
      <p:grpSp>
        <p:nvGrpSpPr>
          <p:cNvPr name="Group 32" id="32"/>
          <p:cNvGrpSpPr/>
          <p:nvPr/>
        </p:nvGrpSpPr>
        <p:grpSpPr>
          <a:xfrm rot="0">
            <a:off x="6730155" y="5904376"/>
            <a:ext cx="255984" cy="255984"/>
            <a:chOff x="0" y="0"/>
            <a:chExt cx="341312" cy="341312"/>
          </a:xfrm>
        </p:grpSpPr>
        <p:sp>
          <p:nvSpPr>
            <p:cNvPr name="Freeform 33" id="33" descr="preencoded.png"/>
            <p:cNvSpPr/>
            <p:nvPr/>
          </p:nvSpPr>
          <p:spPr>
            <a:xfrm flipH="false" flipV="false" rot="0">
              <a:off x="0" y="0"/>
              <a:ext cx="341249" cy="341249"/>
            </a:xfrm>
            <a:custGeom>
              <a:avLst/>
              <a:gdLst/>
              <a:ahLst/>
              <a:cxnLst/>
              <a:rect r="r" b="b" t="t" l="l"/>
              <a:pathLst>
                <a:path h="341249" w="341249">
                  <a:moveTo>
                    <a:pt x="0" y="0"/>
                  </a:moveTo>
                  <a:lnTo>
                    <a:pt x="341249" y="0"/>
                  </a:lnTo>
                  <a:lnTo>
                    <a:pt x="341249" y="341249"/>
                  </a:lnTo>
                  <a:lnTo>
                    <a:pt x="0" y="341249"/>
                  </a:lnTo>
                  <a:lnTo>
                    <a:pt x="0" y="0"/>
                  </a:lnTo>
                  <a:close/>
                </a:path>
              </a:pathLst>
            </a:custGeom>
            <a:blipFill>
              <a:blip r:embed="rId5"/>
              <a:stretch>
                <a:fillRect l="0" t="0" r="-18" b="-18"/>
              </a:stretch>
            </a:blipFill>
          </p:spPr>
        </p:sp>
      </p:grpSp>
      <p:sp>
        <p:nvSpPr>
          <p:cNvPr name="TextBox 34" id="34"/>
          <p:cNvSpPr txBox="true"/>
          <p:nvPr/>
        </p:nvSpPr>
        <p:spPr>
          <a:xfrm rot="0">
            <a:off x="7280443" y="5736060"/>
            <a:ext cx="4248150" cy="361950"/>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Complex regimens</a:t>
            </a:r>
          </a:p>
        </p:txBody>
      </p:sp>
      <p:sp>
        <p:nvSpPr>
          <p:cNvPr name="TextBox 35" id="35"/>
          <p:cNvSpPr txBox="true"/>
          <p:nvPr/>
        </p:nvSpPr>
        <p:spPr>
          <a:xfrm rot="0">
            <a:off x="7284244" y="6058872"/>
            <a:ext cx="4424886" cy="940085"/>
          </a:xfrm>
          <a:prstGeom prst="rect">
            <a:avLst/>
          </a:prstGeom>
        </p:spPr>
        <p:txBody>
          <a:bodyPr anchor="t" rtlCol="false" tIns="0" lIns="0" bIns="0" rIns="0">
            <a:spAutoFit/>
          </a:bodyPr>
          <a:lstStyle/>
          <a:p>
            <a:pPr algn="l">
              <a:lnSpc>
                <a:spcPts val="1879"/>
              </a:lnSpc>
            </a:pPr>
            <a:r>
              <a:rPr lang="en-US" sz="1359">
                <a:solidFill>
                  <a:srgbClr val="595959"/>
                </a:solidFill>
                <a:latin typeface="Inter"/>
                <a:ea typeface="Inter"/>
                <a:cs typeface="Inter"/>
                <a:sym typeface="Inter"/>
              </a:rPr>
              <a:t>Many pati</a:t>
            </a:r>
            <a:r>
              <a:rPr lang="en-US" sz="1359">
                <a:solidFill>
                  <a:srgbClr val="595959"/>
                </a:solidFill>
                <a:latin typeface="Inter"/>
                <a:ea typeface="Inter"/>
                <a:cs typeface="Inter"/>
                <a:sym typeface="Inter"/>
              </a:rPr>
              <a:t>ents manage several medications with different timings, food rules, and instructions, making treatment harder to follow correctly.</a:t>
            </a:r>
          </a:p>
          <a:p>
            <a:pPr algn="l">
              <a:lnSpc>
                <a:spcPts val="1880"/>
              </a:lnSpc>
            </a:pPr>
          </a:p>
        </p:txBody>
      </p:sp>
      <p:grpSp>
        <p:nvGrpSpPr>
          <p:cNvPr name="Group 36" id="36"/>
          <p:cNvGrpSpPr/>
          <p:nvPr/>
        </p:nvGrpSpPr>
        <p:grpSpPr>
          <a:xfrm rot="0">
            <a:off x="909638" y="7086524"/>
            <a:ext cx="5267325" cy="1225229"/>
            <a:chOff x="0" y="0"/>
            <a:chExt cx="7023100" cy="1633639"/>
          </a:xfrm>
        </p:grpSpPr>
        <p:sp>
          <p:nvSpPr>
            <p:cNvPr name="Freeform 37" id="37"/>
            <p:cNvSpPr/>
            <p:nvPr/>
          </p:nvSpPr>
          <p:spPr>
            <a:xfrm flipH="false" flipV="false" rot="0">
              <a:off x="0" y="0"/>
              <a:ext cx="7023100" cy="1633766"/>
            </a:xfrm>
            <a:custGeom>
              <a:avLst/>
              <a:gdLst/>
              <a:ahLst/>
              <a:cxnLst/>
              <a:rect r="r" b="b" t="t" l="l"/>
              <a:pathLst>
                <a:path h="1633766" w="7023100">
                  <a:moveTo>
                    <a:pt x="0" y="205732"/>
                  </a:moveTo>
                  <a:cubicBezTo>
                    <a:pt x="0" y="92042"/>
                    <a:pt x="88011" y="0"/>
                    <a:pt x="196723" y="0"/>
                  </a:cubicBezTo>
                  <a:lnTo>
                    <a:pt x="6826377" y="0"/>
                  </a:lnTo>
                  <a:cubicBezTo>
                    <a:pt x="6935089" y="0"/>
                    <a:pt x="7023100" y="92042"/>
                    <a:pt x="7023100" y="205732"/>
                  </a:cubicBezTo>
                  <a:lnTo>
                    <a:pt x="7023100" y="1428040"/>
                  </a:lnTo>
                  <a:cubicBezTo>
                    <a:pt x="7023100" y="1541597"/>
                    <a:pt x="6935089" y="1633766"/>
                    <a:pt x="6826377" y="1633766"/>
                  </a:cubicBezTo>
                  <a:lnTo>
                    <a:pt x="196723" y="1633766"/>
                  </a:lnTo>
                  <a:cubicBezTo>
                    <a:pt x="88011" y="1633639"/>
                    <a:pt x="0" y="1541597"/>
                    <a:pt x="0" y="1427907"/>
                  </a:cubicBezTo>
                  <a:close/>
                </a:path>
              </a:pathLst>
            </a:custGeom>
            <a:solidFill>
              <a:srgbClr val="FFFFFF"/>
            </a:solidFill>
            <a:ln w="9526" cap="sq">
              <a:solidFill>
                <a:srgbClr val="E5E7EB"/>
              </a:solidFill>
              <a:prstDash val="solid"/>
              <a:miter/>
            </a:ln>
          </p:spPr>
        </p:sp>
      </p:grpSp>
      <p:grpSp>
        <p:nvGrpSpPr>
          <p:cNvPr name="Group 38" id="38"/>
          <p:cNvGrpSpPr/>
          <p:nvPr/>
        </p:nvGrpSpPr>
        <p:grpSpPr>
          <a:xfrm rot="0">
            <a:off x="1087936" y="7226865"/>
            <a:ext cx="476250" cy="476250"/>
            <a:chOff x="0" y="0"/>
            <a:chExt cx="635000" cy="635000"/>
          </a:xfrm>
        </p:grpSpPr>
        <p:sp>
          <p:nvSpPr>
            <p:cNvPr name="Freeform 39" id="39"/>
            <p:cNvSpPr/>
            <p:nvPr/>
          </p:nvSpPr>
          <p:spPr>
            <a:xfrm flipH="false" flipV="false" rot="0">
              <a:off x="0" y="0"/>
              <a:ext cx="635000" cy="635000"/>
            </a:xfrm>
            <a:custGeom>
              <a:avLst/>
              <a:gdLst/>
              <a:ahLst/>
              <a:cxnLst/>
              <a:rect r="r" b="b" t="t" l="l"/>
              <a:pathLst>
                <a:path h="635000" w="635000">
                  <a:moveTo>
                    <a:pt x="0" y="121920"/>
                  </a:moveTo>
                  <a:cubicBezTo>
                    <a:pt x="0" y="54610"/>
                    <a:pt x="54610" y="0"/>
                    <a:pt x="121920" y="0"/>
                  </a:cubicBezTo>
                  <a:lnTo>
                    <a:pt x="513080" y="0"/>
                  </a:lnTo>
                  <a:cubicBezTo>
                    <a:pt x="580390" y="0"/>
                    <a:pt x="635000" y="54610"/>
                    <a:pt x="635000" y="121920"/>
                  </a:cubicBezTo>
                  <a:lnTo>
                    <a:pt x="635000" y="513080"/>
                  </a:lnTo>
                  <a:cubicBezTo>
                    <a:pt x="635000" y="580390"/>
                    <a:pt x="580390" y="635000"/>
                    <a:pt x="513080" y="635000"/>
                  </a:cubicBezTo>
                  <a:lnTo>
                    <a:pt x="121920" y="635000"/>
                  </a:lnTo>
                  <a:cubicBezTo>
                    <a:pt x="54610" y="635000"/>
                    <a:pt x="0" y="580390"/>
                    <a:pt x="0" y="513080"/>
                  </a:cubicBezTo>
                  <a:close/>
                </a:path>
              </a:pathLst>
            </a:custGeom>
            <a:solidFill>
              <a:srgbClr val="31CE76">
                <a:alpha val="784"/>
              </a:srgbClr>
            </a:solidFill>
          </p:spPr>
        </p:sp>
      </p:grpSp>
      <p:grpSp>
        <p:nvGrpSpPr>
          <p:cNvPr name="Group 40" id="40"/>
          <p:cNvGrpSpPr/>
          <p:nvPr/>
        </p:nvGrpSpPr>
        <p:grpSpPr>
          <a:xfrm rot="0">
            <a:off x="1198064" y="7336993"/>
            <a:ext cx="255984" cy="255984"/>
            <a:chOff x="0" y="0"/>
            <a:chExt cx="341312" cy="341312"/>
          </a:xfrm>
        </p:grpSpPr>
        <p:sp>
          <p:nvSpPr>
            <p:cNvPr name="Freeform 41" id="41" descr="preencoded.png"/>
            <p:cNvSpPr/>
            <p:nvPr/>
          </p:nvSpPr>
          <p:spPr>
            <a:xfrm flipH="false" flipV="false" rot="0">
              <a:off x="0" y="0"/>
              <a:ext cx="341249" cy="341249"/>
            </a:xfrm>
            <a:custGeom>
              <a:avLst/>
              <a:gdLst/>
              <a:ahLst/>
              <a:cxnLst/>
              <a:rect r="r" b="b" t="t" l="l"/>
              <a:pathLst>
                <a:path h="341249" w="341249">
                  <a:moveTo>
                    <a:pt x="0" y="0"/>
                  </a:moveTo>
                  <a:lnTo>
                    <a:pt x="341249" y="0"/>
                  </a:lnTo>
                  <a:lnTo>
                    <a:pt x="341249" y="341249"/>
                  </a:lnTo>
                  <a:lnTo>
                    <a:pt x="0" y="341249"/>
                  </a:lnTo>
                  <a:lnTo>
                    <a:pt x="0" y="0"/>
                  </a:lnTo>
                  <a:close/>
                </a:path>
              </a:pathLst>
            </a:custGeom>
            <a:blipFill>
              <a:blip r:embed="rId6"/>
              <a:stretch>
                <a:fillRect l="0" t="0" r="-18" b="-18"/>
              </a:stretch>
            </a:blipFill>
          </p:spPr>
        </p:sp>
      </p:grpSp>
      <p:sp>
        <p:nvSpPr>
          <p:cNvPr name="TextBox 42" id="42"/>
          <p:cNvSpPr txBox="true"/>
          <p:nvPr/>
        </p:nvSpPr>
        <p:spPr>
          <a:xfrm rot="0">
            <a:off x="1748285" y="7168677"/>
            <a:ext cx="4248150"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S</a:t>
            </a:r>
            <a:r>
              <a:rPr lang="en-US" sz="1580" b="true">
                <a:solidFill>
                  <a:srgbClr val="1A1A2E"/>
                </a:solidFill>
                <a:latin typeface="Arimo Bold"/>
                <a:ea typeface="Arimo Bold"/>
                <a:cs typeface="Arimo Bold"/>
                <a:sym typeface="Arimo Bold"/>
              </a:rPr>
              <a:t>afety risks</a:t>
            </a:r>
          </a:p>
        </p:txBody>
      </p:sp>
      <p:sp>
        <p:nvSpPr>
          <p:cNvPr name="TextBox 43" id="43"/>
          <p:cNvSpPr txBox="true"/>
          <p:nvPr/>
        </p:nvSpPr>
        <p:spPr>
          <a:xfrm rot="0">
            <a:off x="1748285" y="7485907"/>
            <a:ext cx="4398245" cy="940085"/>
          </a:xfrm>
          <a:prstGeom prst="rect">
            <a:avLst/>
          </a:prstGeom>
        </p:spPr>
        <p:txBody>
          <a:bodyPr anchor="t" rtlCol="false" tIns="0" lIns="0" bIns="0" rIns="0">
            <a:spAutoFit/>
          </a:bodyPr>
          <a:lstStyle/>
          <a:p>
            <a:pPr algn="l">
              <a:lnSpc>
                <a:spcPts val="1879"/>
              </a:lnSpc>
            </a:pPr>
            <a:r>
              <a:rPr lang="en-US" sz="1359">
                <a:solidFill>
                  <a:srgbClr val="595959"/>
                </a:solidFill>
                <a:latin typeface="Inter"/>
                <a:ea typeface="Inter"/>
                <a:cs typeface="Inter"/>
                <a:sym typeface="Inter"/>
              </a:rPr>
              <a:t>Allergi</a:t>
            </a:r>
            <a:r>
              <a:rPr lang="en-US" sz="1359">
                <a:solidFill>
                  <a:srgbClr val="595959"/>
                </a:solidFill>
                <a:latin typeface="Inter"/>
                <a:ea typeface="Inter"/>
                <a:cs typeface="Inter"/>
                <a:sym typeface="Inter"/>
              </a:rPr>
              <a:t>es, chronic diseases, and medication interactions may be overlooked when key health details are not organized in one clear view.</a:t>
            </a:r>
          </a:p>
          <a:p>
            <a:pPr algn="l">
              <a:lnSpc>
                <a:spcPts val="1880"/>
              </a:lnSpc>
            </a:pPr>
          </a:p>
        </p:txBody>
      </p:sp>
      <p:grpSp>
        <p:nvGrpSpPr>
          <p:cNvPr name="Group 44" id="44"/>
          <p:cNvGrpSpPr/>
          <p:nvPr/>
        </p:nvGrpSpPr>
        <p:grpSpPr>
          <a:xfrm rot="0">
            <a:off x="6441805" y="7086524"/>
            <a:ext cx="5267325" cy="1225229"/>
            <a:chOff x="0" y="0"/>
            <a:chExt cx="7023100" cy="1633639"/>
          </a:xfrm>
        </p:grpSpPr>
        <p:sp>
          <p:nvSpPr>
            <p:cNvPr name="Freeform 45" id="45"/>
            <p:cNvSpPr/>
            <p:nvPr/>
          </p:nvSpPr>
          <p:spPr>
            <a:xfrm flipH="false" flipV="false" rot="0">
              <a:off x="0" y="0"/>
              <a:ext cx="7023100" cy="1633766"/>
            </a:xfrm>
            <a:custGeom>
              <a:avLst/>
              <a:gdLst/>
              <a:ahLst/>
              <a:cxnLst/>
              <a:rect r="r" b="b" t="t" l="l"/>
              <a:pathLst>
                <a:path h="1633766" w="7023100">
                  <a:moveTo>
                    <a:pt x="0" y="205732"/>
                  </a:moveTo>
                  <a:cubicBezTo>
                    <a:pt x="0" y="92042"/>
                    <a:pt x="88011" y="0"/>
                    <a:pt x="196723" y="0"/>
                  </a:cubicBezTo>
                  <a:lnTo>
                    <a:pt x="6826377" y="0"/>
                  </a:lnTo>
                  <a:cubicBezTo>
                    <a:pt x="6935089" y="0"/>
                    <a:pt x="7023100" y="92042"/>
                    <a:pt x="7023100" y="205732"/>
                  </a:cubicBezTo>
                  <a:lnTo>
                    <a:pt x="7023100" y="1428040"/>
                  </a:lnTo>
                  <a:cubicBezTo>
                    <a:pt x="7023100" y="1541597"/>
                    <a:pt x="6935089" y="1633766"/>
                    <a:pt x="6826377" y="1633766"/>
                  </a:cubicBezTo>
                  <a:lnTo>
                    <a:pt x="196723" y="1633766"/>
                  </a:lnTo>
                  <a:cubicBezTo>
                    <a:pt x="88011" y="1633639"/>
                    <a:pt x="0" y="1541597"/>
                    <a:pt x="0" y="1427907"/>
                  </a:cubicBezTo>
                  <a:close/>
                </a:path>
              </a:pathLst>
            </a:custGeom>
            <a:solidFill>
              <a:srgbClr val="FFFFFF"/>
            </a:solidFill>
            <a:ln w="9526" cap="sq">
              <a:solidFill>
                <a:srgbClr val="E5E7EB"/>
              </a:solidFill>
              <a:prstDash val="solid"/>
              <a:miter/>
            </a:ln>
          </p:spPr>
        </p:sp>
      </p:grpSp>
      <p:grpSp>
        <p:nvGrpSpPr>
          <p:cNvPr name="Group 46" id="46"/>
          <p:cNvGrpSpPr/>
          <p:nvPr/>
        </p:nvGrpSpPr>
        <p:grpSpPr>
          <a:xfrm rot="0">
            <a:off x="6620027" y="7227903"/>
            <a:ext cx="476250" cy="476250"/>
            <a:chOff x="0" y="0"/>
            <a:chExt cx="635000" cy="635000"/>
          </a:xfrm>
        </p:grpSpPr>
        <p:sp>
          <p:nvSpPr>
            <p:cNvPr name="Freeform 47" id="47"/>
            <p:cNvSpPr/>
            <p:nvPr/>
          </p:nvSpPr>
          <p:spPr>
            <a:xfrm flipH="false" flipV="false" rot="0">
              <a:off x="0" y="0"/>
              <a:ext cx="635000" cy="635000"/>
            </a:xfrm>
            <a:custGeom>
              <a:avLst/>
              <a:gdLst/>
              <a:ahLst/>
              <a:cxnLst/>
              <a:rect r="r" b="b" t="t" l="l"/>
              <a:pathLst>
                <a:path h="635000" w="635000">
                  <a:moveTo>
                    <a:pt x="0" y="121920"/>
                  </a:moveTo>
                  <a:cubicBezTo>
                    <a:pt x="0" y="54610"/>
                    <a:pt x="54610" y="0"/>
                    <a:pt x="121920" y="0"/>
                  </a:cubicBezTo>
                  <a:lnTo>
                    <a:pt x="513080" y="0"/>
                  </a:lnTo>
                  <a:cubicBezTo>
                    <a:pt x="580390" y="0"/>
                    <a:pt x="635000" y="54610"/>
                    <a:pt x="635000" y="121920"/>
                  </a:cubicBezTo>
                  <a:lnTo>
                    <a:pt x="635000" y="513080"/>
                  </a:lnTo>
                  <a:cubicBezTo>
                    <a:pt x="635000" y="580390"/>
                    <a:pt x="580390" y="635000"/>
                    <a:pt x="513080" y="635000"/>
                  </a:cubicBezTo>
                  <a:lnTo>
                    <a:pt x="121920" y="635000"/>
                  </a:lnTo>
                  <a:cubicBezTo>
                    <a:pt x="54610" y="635000"/>
                    <a:pt x="0" y="580390"/>
                    <a:pt x="0" y="513080"/>
                  </a:cubicBezTo>
                  <a:close/>
                </a:path>
              </a:pathLst>
            </a:custGeom>
            <a:solidFill>
              <a:srgbClr val="31CE76">
                <a:alpha val="784"/>
              </a:srgbClr>
            </a:solidFill>
          </p:spPr>
        </p:sp>
      </p:grpSp>
      <p:grpSp>
        <p:nvGrpSpPr>
          <p:cNvPr name="Group 48" id="48"/>
          <p:cNvGrpSpPr/>
          <p:nvPr/>
        </p:nvGrpSpPr>
        <p:grpSpPr>
          <a:xfrm rot="0">
            <a:off x="6730155" y="7338031"/>
            <a:ext cx="255984" cy="255984"/>
            <a:chOff x="0" y="0"/>
            <a:chExt cx="341312" cy="341312"/>
          </a:xfrm>
        </p:grpSpPr>
        <p:sp>
          <p:nvSpPr>
            <p:cNvPr name="Freeform 49" id="49" descr="preencoded.png"/>
            <p:cNvSpPr/>
            <p:nvPr/>
          </p:nvSpPr>
          <p:spPr>
            <a:xfrm flipH="false" flipV="false" rot="0">
              <a:off x="0" y="0"/>
              <a:ext cx="341249" cy="341249"/>
            </a:xfrm>
            <a:custGeom>
              <a:avLst/>
              <a:gdLst/>
              <a:ahLst/>
              <a:cxnLst/>
              <a:rect r="r" b="b" t="t" l="l"/>
              <a:pathLst>
                <a:path h="341249" w="341249">
                  <a:moveTo>
                    <a:pt x="0" y="0"/>
                  </a:moveTo>
                  <a:lnTo>
                    <a:pt x="341249" y="0"/>
                  </a:lnTo>
                  <a:lnTo>
                    <a:pt x="341249" y="341249"/>
                  </a:lnTo>
                  <a:lnTo>
                    <a:pt x="0" y="341249"/>
                  </a:lnTo>
                  <a:lnTo>
                    <a:pt x="0" y="0"/>
                  </a:lnTo>
                  <a:close/>
                </a:path>
              </a:pathLst>
            </a:custGeom>
            <a:blipFill>
              <a:blip r:embed="rId7"/>
              <a:stretch>
                <a:fillRect l="0" t="0" r="-18" b="-18"/>
              </a:stretch>
            </a:blipFill>
          </p:spPr>
        </p:sp>
      </p:grpSp>
      <p:sp>
        <p:nvSpPr>
          <p:cNvPr name="TextBox 50" id="50"/>
          <p:cNvSpPr txBox="true"/>
          <p:nvPr/>
        </p:nvSpPr>
        <p:spPr>
          <a:xfrm rot="0">
            <a:off x="7280443" y="7169715"/>
            <a:ext cx="4248150"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F</a:t>
            </a:r>
            <a:r>
              <a:rPr lang="en-US" sz="1580" b="true">
                <a:solidFill>
                  <a:srgbClr val="1A1A2E"/>
                </a:solidFill>
                <a:latin typeface="Arimo Bold"/>
                <a:ea typeface="Arimo Bold"/>
                <a:cs typeface="Arimo Bold"/>
                <a:sym typeface="Arimo Bold"/>
              </a:rPr>
              <a:t>amily follow-up burden</a:t>
            </a:r>
          </a:p>
        </p:txBody>
      </p:sp>
      <p:sp>
        <p:nvSpPr>
          <p:cNvPr name="TextBox 51" id="51"/>
          <p:cNvSpPr txBox="true"/>
          <p:nvPr/>
        </p:nvSpPr>
        <p:spPr>
          <a:xfrm rot="0">
            <a:off x="7284244" y="7485907"/>
            <a:ext cx="4248150" cy="701929"/>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Famili</a:t>
            </a:r>
            <a:r>
              <a:rPr lang="en-US" sz="1360">
                <a:solidFill>
                  <a:srgbClr val="595959"/>
                </a:solidFill>
                <a:latin typeface="Inter"/>
                <a:ea typeface="Inter"/>
                <a:cs typeface="Inter"/>
                <a:sym typeface="Inter"/>
              </a:rPr>
              <a:t>es often need to check on elderly relatives manually, with limited tools to confirm whether medications were taken on time.</a:t>
            </a:r>
          </a:p>
        </p:txBody>
      </p:sp>
      <p:grpSp>
        <p:nvGrpSpPr>
          <p:cNvPr name="Group 52" id="52"/>
          <p:cNvGrpSpPr/>
          <p:nvPr/>
        </p:nvGrpSpPr>
        <p:grpSpPr>
          <a:xfrm rot="0">
            <a:off x="12064375" y="5239722"/>
            <a:ext cx="5314950" cy="2171700"/>
            <a:chOff x="0" y="0"/>
            <a:chExt cx="7086600" cy="2895600"/>
          </a:xfrm>
        </p:grpSpPr>
        <p:sp>
          <p:nvSpPr>
            <p:cNvPr name="Freeform 53" id="53"/>
            <p:cNvSpPr/>
            <p:nvPr/>
          </p:nvSpPr>
          <p:spPr>
            <a:xfrm flipH="false" flipV="false" rot="0">
              <a:off x="0" y="0"/>
              <a:ext cx="7086600" cy="2895600"/>
            </a:xfrm>
            <a:custGeom>
              <a:avLst/>
              <a:gdLst/>
              <a:ahLst/>
              <a:cxnLst/>
              <a:rect r="r" b="b" t="t" l="l"/>
              <a:pathLst>
                <a:path h="2895600" w="7086600">
                  <a:moveTo>
                    <a:pt x="0" y="195961"/>
                  </a:moveTo>
                  <a:cubicBezTo>
                    <a:pt x="0" y="87757"/>
                    <a:pt x="87757" y="0"/>
                    <a:pt x="195961" y="0"/>
                  </a:cubicBezTo>
                  <a:lnTo>
                    <a:pt x="6890639" y="0"/>
                  </a:lnTo>
                  <a:cubicBezTo>
                    <a:pt x="6998843" y="0"/>
                    <a:pt x="7086600" y="87757"/>
                    <a:pt x="7086600" y="195961"/>
                  </a:cubicBezTo>
                  <a:lnTo>
                    <a:pt x="7086600" y="2699639"/>
                  </a:lnTo>
                  <a:cubicBezTo>
                    <a:pt x="7086600" y="2807843"/>
                    <a:pt x="6998843" y="2895600"/>
                    <a:pt x="6890639" y="2895600"/>
                  </a:cubicBezTo>
                  <a:lnTo>
                    <a:pt x="195961" y="2895600"/>
                  </a:lnTo>
                  <a:cubicBezTo>
                    <a:pt x="87757" y="2895600"/>
                    <a:pt x="0" y="2807843"/>
                    <a:pt x="0" y="2699639"/>
                  </a:cubicBezTo>
                  <a:close/>
                </a:path>
              </a:pathLst>
            </a:custGeom>
            <a:solidFill>
              <a:srgbClr val="FFFFFF"/>
            </a:solidFill>
            <a:ln w="9526" cap="sq">
              <a:solidFill>
                <a:srgbClr val="E5E7EB"/>
              </a:solidFill>
              <a:prstDash val="solid"/>
              <a:miter/>
            </a:ln>
          </p:spPr>
        </p:sp>
      </p:grpSp>
      <p:sp>
        <p:nvSpPr>
          <p:cNvPr name="TextBox 54" id="54"/>
          <p:cNvSpPr txBox="true"/>
          <p:nvPr/>
        </p:nvSpPr>
        <p:spPr>
          <a:xfrm rot="0">
            <a:off x="12283450" y="5416153"/>
            <a:ext cx="48768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STATISTIC</a:t>
            </a:r>
          </a:p>
        </p:txBody>
      </p:sp>
      <p:sp>
        <p:nvSpPr>
          <p:cNvPr name="TextBox 55" id="55"/>
          <p:cNvSpPr txBox="true"/>
          <p:nvPr/>
        </p:nvSpPr>
        <p:spPr>
          <a:xfrm rot="0">
            <a:off x="12283450" y="5812260"/>
            <a:ext cx="1454646" cy="551307"/>
          </a:xfrm>
          <a:prstGeom prst="rect">
            <a:avLst/>
          </a:prstGeom>
        </p:spPr>
        <p:txBody>
          <a:bodyPr anchor="t" rtlCol="false" tIns="0" lIns="0" bIns="0" rIns="0">
            <a:spAutoFit/>
          </a:bodyPr>
          <a:lstStyle/>
          <a:p>
            <a:pPr algn="l">
              <a:lnSpc>
                <a:spcPts val="4031"/>
              </a:lnSpc>
            </a:pPr>
            <a:r>
              <a:rPr lang="en-US" sz="4039" b="true">
                <a:solidFill>
                  <a:srgbClr val="1A1A2E"/>
                </a:solidFill>
                <a:latin typeface="Arimo Bold"/>
                <a:ea typeface="Arimo Bold"/>
                <a:cs typeface="Arimo Bold"/>
                <a:sym typeface="Arimo Bold"/>
              </a:rPr>
              <a:t>72.1%</a:t>
            </a:r>
          </a:p>
        </p:txBody>
      </p:sp>
      <p:sp>
        <p:nvSpPr>
          <p:cNvPr name="TextBox 56" id="56"/>
          <p:cNvSpPr txBox="true"/>
          <p:nvPr/>
        </p:nvSpPr>
        <p:spPr>
          <a:xfrm rot="0">
            <a:off x="12306814" y="6430266"/>
            <a:ext cx="4876800" cy="463804"/>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of eld</a:t>
            </a:r>
            <a:r>
              <a:rPr lang="en-US" sz="1360">
                <a:solidFill>
                  <a:srgbClr val="595959"/>
                </a:solidFill>
                <a:latin typeface="Inter"/>
                <a:ea typeface="Inter"/>
                <a:cs typeface="Inter"/>
                <a:sym typeface="Inter"/>
              </a:rPr>
              <a:t>erly patients in Kuwait were using five or more medications.</a:t>
            </a:r>
          </a:p>
        </p:txBody>
      </p:sp>
      <p:grpSp>
        <p:nvGrpSpPr>
          <p:cNvPr name="Group 57" id="57"/>
          <p:cNvGrpSpPr/>
          <p:nvPr/>
        </p:nvGrpSpPr>
        <p:grpSpPr>
          <a:xfrm rot="0">
            <a:off x="12283450" y="6996498"/>
            <a:ext cx="2035859" cy="340495"/>
            <a:chOff x="0" y="0"/>
            <a:chExt cx="2714479" cy="453994"/>
          </a:xfrm>
        </p:grpSpPr>
        <p:sp>
          <p:nvSpPr>
            <p:cNvPr name="Freeform 58" id="58"/>
            <p:cNvSpPr/>
            <p:nvPr/>
          </p:nvSpPr>
          <p:spPr>
            <a:xfrm flipH="false" flipV="false" rot="0">
              <a:off x="0" y="0"/>
              <a:ext cx="2714479" cy="453994"/>
            </a:xfrm>
            <a:custGeom>
              <a:avLst/>
              <a:gdLst/>
              <a:ahLst/>
              <a:cxnLst/>
              <a:rect r="r" b="b" t="t" l="l"/>
              <a:pathLst>
                <a:path h="453994" w="2714479">
                  <a:moveTo>
                    <a:pt x="0" y="226997"/>
                  </a:moveTo>
                  <a:cubicBezTo>
                    <a:pt x="0" y="101667"/>
                    <a:pt x="100300" y="0"/>
                    <a:pt x="223945" y="0"/>
                  </a:cubicBezTo>
                  <a:lnTo>
                    <a:pt x="2490535" y="0"/>
                  </a:lnTo>
                  <a:cubicBezTo>
                    <a:pt x="2614179" y="0"/>
                    <a:pt x="2714479" y="101667"/>
                    <a:pt x="2714479" y="226997"/>
                  </a:cubicBezTo>
                  <a:cubicBezTo>
                    <a:pt x="2714479" y="352327"/>
                    <a:pt x="2614179" y="453994"/>
                    <a:pt x="2490535" y="453994"/>
                  </a:cubicBezTo>
                  <a:lnTo>
                    <a:pt x="223945" y="453994"/>
                  </a:lnTo>
                  <a:cubicBezTo>
                    <a:pt x="100300" y="453994"/>
                    <a:pt x="0" y="352327"/>
                    <a:pt x="0" y="226997"/>
                  </a:cubicBezTo>
                  <a:close/>
                </a:path>
              </a:pathLst>
            </a:custGeom>
            <a:solidFill>
              <a:srgbClr val="F7F8FA"/>
            </a:solidFill>
            <a:ln w="9526" cap="sq">
              <a:solidFill>
                <a:srgbClr val="E5E7EB"/>
              </a:solidFill>
              <a:prstDash val="solid"/>
              <a:miter/>
            </a:ln>
          </p:spPr>
        </p:sp>
        <p:sp>
          <p:nvSpPr>
            <p:cNvPr name="TextBox 59" id="59"/>
            <p:cNvSpPr txBox="true"/>
            <p:nvPr/>
          </p:nvSpPr>
          <p:spPr>
            <a:xfrm>
              <a:off x="0" y="-38100"/>
              <a:ext cx="2714479" cy="492094"/>
            </a:xfrm>
            <a:prstGeom prst="rect">
              <a:avLst/>
            </a:prstGeom>
          </p:spPr>
          <p:txBody>
            <a:bodyPr anchor="ctr" rtlCol="false" tIns="50800" lIns="50800" bIns="50800" rIns="50800"/>
            <a:lstStyle/>
            <a:p>
              <a:pPr algn="ctr">
                <a:lnSpc>
                  <a:spcPts val="1727"/>
                </a:lnSpc>
              </a:pPr>
              <a:r>
                <a:rPr lang="en-US" sz="1159" i="true">
                  <a:solidFill>
                    <a:srgbClr val="6B7280"/>
                  </a:solidFill>
                  <a:latin typeface="Inter Italics"/>
                  <a:ea typeface="Inter Italics"/>
                  <a:cs typeface="Inter Italics"/>
                  <a:sym typeface="Inter Italics"/>
                </a:rPr>
                <a:t>[Source: </a:t>
              </a:r>
              <a:r>
                <a:rPr lang="en-US" sz="1159" i="true" u="sng">
                  <a:solidFill>
                    <a:srgbClr val="6B7280"/>
                  </a:solidFill>
                  <a:latin typeface="Inter Italics"/>
                  <a:ea typeface="Inter Italics"/>
                  <a:cs typeface="Inter Italics"/>
                  <a:sym typeface="Inter Italics"/>
                  <a:hlinkClick r:id="rId8" tooltip="https://www.frontiersin.org/journals/pharmacology/articles/10.3389/fphar.2020.01296/full"/>
                </a:rPr>
                <a:t>Awad et al., 2020</a:t>
              </a:r>
              <a:r>
                <a:rPr lang="en-US" sz="1159" i="true">
                  <a:solidFill>
                    <a:srgbClr val="6B7280"/>
                  </a:solidFill>
                  <a:latin typeface="Inter Italics"/>
                  <a:ea typeface="Inter Italics"/>
                  <a:cs typeface="Inter Italics"/>
                  <a:sym typeface="Inter Italics"/>
                </a:rPr>
                <a:t>]</a:t>
              </a:r>
            </a:p>
          </p:txBody>
        </p:sp>
      </p:grpSp>
      <p:grpSp>
        <p:nvGrpSpPr>
          <p:cNvPr name="Group 60" id="60"/>
          <p:cNvGrpSpPr/>
          <p:nvPr/>
        </p:nvGrpSpPr>
        <p:grpSpPr>
          <a:xfrm rot="0">
            <a:off x="12069147" y="7527055"/>
            <a:ext cx="5305425" cy="1273310"/>
            <a:chOff x="0" y="0"/>
            <a:chExt cx="7073900" cy="1697747"/>
          </a:xfrm>
        </p:grpSpPr>
        <p:sp>
          <p:nvSpPr>
            <p:cNvPr name="Freeform 61" id="61"/>
            <p:cNvSpPr/>
            <p:nvPr/>
          </p:nvSpPr>
          <p:spPr>
            <a:xfrm flipH="false" flipV="false" rot="0">
              <a:off x="0" y="0"/>
              <a:ext cx="7073900" cy="1697747"/>
            </a:xfrm>
            <a:custGeom>
              <a:avLst/>
              <a:gdLst/>
              <a:ahLst/>
              <a:cxnLst/>
              <a:rect r="r" b="b" t="t" l="l"/>
              <a:pathLst>
                <a:path h="1697747" w="7073900">
                  <a:moveTo>
                    <a:pt x="0" y="195580"/>
                  </a:moveTo>
                  <a:cubicBezTo>
                    <a:pt x="0" y="87604"/>
                    <a:pt x="65532" y="0"/>
                    <a:pt x="146304" y="0"/>
                  </a:cubicBezTo>
                  <a:lnTo>
                    <a:pt x="6927596" y="0"/>
                  </a:lnTo>
                  <a:cubicBezTo>
                    <a:pt x="7008368" y="0"/>
                    <a:pt x="7073900" y="87604"/>
                    <a:pt x="7073900" y="195580"/>
                  </a:cubicBezTo>
                  <a:lnTo>
                    <a:pt x="7073900" y="1502167"/>
                  </a:lnTo>
                  <a:cubicBezTo>
                    <a:pt x="7073900" y="1610143"/>
                    <a:pt x="7008368" y="1697747"/>
                    <a:pt x="6927596" y="1697747"/>
                  </a:cubicBezTo>
                  <a:lnTo>
                    <a:pt x="146304" y="1697747"/>
                  </a:lnTo>
                  <a:cubicBezTo>
                    <a:pt x="65532" y="1697747"/>
                    <a:pt x="0" y="1610143"/>
                    <a:pt x="0" y="1502167"/>
                  </a:cubicBezTo>
                  <a:close/>
                </a:path>
              </a:pathLst>
            </a:custGeom>
            <a:solidFill>
              <a:srgbClr val="31CE76">
                <a:alpha val="784"/>
              </a:srgbClr>
            </a:solidFill>
          </p:spPr>
        </p:sp>
      </p:grpSp>
      <p:sp>
        <p:nvSpPr>
          <p:cNvPr name="TextBox 62" id="62"/>
          <p:cNvSpPr txBox="true"/>
          <p:nvPr/>
        </p:nvSpPr>
        <p:spPr>
          <a:xfrm rot="0">
            <a:off x="12302500" y="7655938"/>
            <a:ext cx="4905375" cy="923298"/>
          </a:xfrm>
          <a:prstGeom prst="rect">
            <a:avLst/>
          </a:prstGeom>
        </p:spPr>
        <p:txBody>
          <a:bodyPr anchor="t" rtlCol="false" tIns="0" lIns="0" bIns="0" rIns="0">
            <a:spAutoFit/>
          </a:bodyPr>
          <a:lstStyle/>
          <a:p>
            <a:pPr algn="l">
              <a:lnSpc>
                <a:spcPts val="1861"/>
              </a:lnSpc>
            </a:pPr>
            <a:r>
              <a:rPr lang="en-US" sz="1359">
                <a:solidFill>
                  <a:srgbClr val="1A1A2E"/>
                </a:solidFill>
                <a:latin typeface="Arimo"/>
                <a:ea typeface="Arimo"/>
                <a:cs typeface="Arimo"/>
                <a:sym typeface="Arimo"/>
              </a:rPr>
              <a:t>“</a:t>
            </a:r>
            <a:r>
              <a:rPr lang="en-US" sz="1359">
                <a:solidFill>
                  <a:srgbClr val="1A1A2E"/>
                </a:solidFill>
                <a:latin typeface="Arimo"/>
                <a:ea typeface="Arimo"/>
                <a:cs typeface="Arimo"/>
                <a:sym typeface="Arimo"/>
              </a:rPr>
              <a:t>I do not just need a reminder. I need to know that the right medication was taken at the right time, especially for my elderly family member.”</a:t>
            </a:r>
          </a:p>
          <a:p>
            <a:pPr algn="l">
              <a:lnSpc>
                <a:spcPts val="1862"/>
              </a:lnSpc>
            </a:pPr>
          </a:p>
        </p:txBody>
      </p:sp>
      <p:sp>
        <p:nvSpPr>
          <p:cNvPr name="TextBox 63" id="63"/>
          <p:cNvSpPr txBox="true"/>
          <p:nvPr/>
        </p:nvSpPr>
        <p:spPr>
          <a:xfrm rot="0">
            <a:off x="12306814" y="8459172"/>
            <a:ext cx="2012495" cy="228981"/>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P</a:t>
            </a:r>
            <a:r>
              <a:rPr lang="en-US" sz="1220">
                <a:solidFill>
                  <a:srgbClr val="6B7280"/>
                </a:solidFill>
                <a:latin typeface="Inter"/>
                <a:ea typeface="Inter"/>
                <a:cs typeface="Inter"/>
                <a:sym typeface="Inter"/>
              </a:rPr>
              <a:t>otential family user insight</a:t>
            </a:r>
          </a:p>
        </p:txBody>
      </p:sp>
      <p:grpSp>
        <p:nvGrpSpPr>
          <p:cNvPr name="Group 64" id="64"/>
          <p:cNvGrpSpPr/>
          <p:nvPr/>
        </p:nvGrpSpPr>
        <p:grpSpPr>
          <a:xfrm rot="0">
            <a:off x="914400" y="9703222"/>
            <a:ext cx="16459200" cy="297293"/>
            <a:chOff x="0" y="0"/>
            <a:chExt cx="21945600" cy="396391"/>
          </a:xfrm>
        </p:grpSpPr>
        <p:sp>
          <p:nvSpPr>
            <p:cNvPr name="Freeform 65" id="65"/>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9">
                <a:alphaModFix amt="0"/>
              </a:blip>
              <a:stretch>
                <a:fillRect l="0" t="-1032300" r="0" b="-1025213"/>
              </a:stretch>
            </a:blipFill>
          </p:spPr>
        </p:sp>
        <p:sp>
          <p:nvSpPr>
            <p:cNvPr name="TextBox 66" id="66"/>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67" id="67"/>
          <p:cNvGrpSpPr/>
          <p:nvPr/>
        </p:nvGrpSpPr>
        <p:grpSpPr>
          <a:xfrm rot="0">
            <a:off x="0" y="10247414"/>
            <a:ext cx="18288000" cy="38100"/>
            <a:chOff x="0" y="0"/>
            <a:chExt cx="24384000" cy="50800"/>
          </a:xfrm>
        </p:grpSpPr>
        <p:sp>
          <p:nvSpPr>
            <p:cNvPr name="Freeform 68" id="68"/>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69" id="69" descr="preencoded.png"/>
          <p:cNvSpPr/>
          <p:nvPr/>
        </p:nvSpPr>
        <p:spPr>
          <a:xfrm flipH="false" flipV="false" rot="0">
            <a:off x="12064375" y="7694038"/>
            <a:ext cx="5305425" cy="952500"/>
          </a:xfrm>
          <a:custGeom>
            <a:avLst/>
            <a:gdLst/>
            <a:ahLst/>
            <a:cxnLst/>
            <a:rect r="r" b="b" t="t" l="l"/>
            <a:pathLst>
              <a:path h="952500" w="5305425">
                <a:moveTo>
                  <a:pt x="0" y="0"/>
                </a:moveTo>
                <a:lnTo>
                  <a:pt x="5305425" y="0"/>
                </a:lnTo>
                <a:lnTo>
                  <a:pt x="5305425" y="952500"/>
                </a:lnTo>
                <a:lnTo>
                  <a:pt x="0" y="952500"/>
                </a:lnTo>
                <a:lnTo>
                  <a:pt x="0" y="0"/>
                </a:lnTo>
                <a:close/>
              </a:path>
            </a:pathLst>
          </a:custGeom>
          <a:blipFill>
            <a:blip r:embed="rId10">
              <a:extLst>
                <a:ext uri="{96DAC541-7B7A-43D3-8B79-37D633B846F1}">
                  <asvg:svgBlip xmlns:asvg="http://schemas.microsoft.com/office/drawing/2016/SVG/main" r:embed="rId11"/>
                </a:ext>
              </a:extLst>
            </a:blip>
            <a:stretch>
              <a:fillRect l="0" t="-409" r="0" b="-409"/>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9586"/>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86859"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685" y="352501"/>
            <a:ext cx="30289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04 · PROBLEM / NEED</a:t>
            </a:r>
          </a:p>
        </p:txBody>
      </p:sp>
      <p:sp>
        <p:nvSpPr>
          <p:cNvPr name="TextBox 8" id="8"/>
          <p:cNvSpPr txBox="true"/>
          <p:nvPr/>
        </p:nvSpPr>
        <p:spPr>
          <a:xfrm rot="0">
            <a:off x="16784022"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06 / 31</a:t>
            </a:r>
          </a:p>
        </p:txBody>
      </p:sp>
      <p:sp>
        <p:nvSpPr>
          <p:cNvPr name="TextBox 9" id="9"/>
          <p:cNvSpPr txBox="true"/>
          <p:nvPr/>
        </p:nvSpPr>
        <p:spPr>
          <a:xfrm rot="0">
            <a:off x="914400" y="1198807"/>
            <a:ext cx="11086268" cy="721614"/>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Key Statistics and Market Evidence</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4400" y="9703222"/>
            <a:ext cx="16459200" cy="297293"/>
            <a:chOff x="0" y="0"/>
            <a:chExt cx="21945600" cy="396391"/>
          </a:xfrm>
        </p:grpSpPr>
        <p:sp>
          <p:nvSpPr>
            <p:cNvPr name="Freeform 13" id="13"/>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14" id="14"/>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15" id="15"/>
          <p:cNvGrpSpPr/>
          <p:nvPr/>
        </p:nvGrpSpPr>
        <p:grpSpPr>
          <a:xfrm rot="0">
            <a:off x="0" y="10247414"/>
            <a:ext cx="18288000" cy="38100"/>
            <a:chOff x="0" y="0"/>
            <a:chExt cx="24384000" cy="50800"/>
          </a:xfrm>
        </p:grpSpPr>
        <p:sp>
          <p:nvSpPr>
            <p:cNvPr name="Freeform 16" id="16"/>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17" id="17"/>
          <p:cNvGrpSpPr/>
          <p:nvPr/>
        </p:nvGrpSpPr>
        <p:grpSpPr>
          <a:xfrm rot="0">
            <a:off x="12616475" y="2549947"/>
            <a:ext cx="5504838" cy="4773110"/>
            <a:chOff x="0" y="0"/>
            <a:chExt cx="7339784" cy="6364147"/>
          </a:xfrm>
        </p:grpSpPr>
        <p:grpSp>
          <p:nvGrpSpPr>
            <p:cNvPr name="Group 18" id="18"/>
            <p:cNvGrpSpPr/>
            <p:nvPr/>
          </p:nvGrpSpPr>
          <p:grpSpPr>
            <a:xfrm rot="0">
              <a:off x="0" y="0"/>
              <a:ext cx="7339784" cy="6364147"/>
              <a:chOff x="0" y="0"/>
              <a:chExt cx="9004690" cy="7807746"/>
            </a:xfrm>
          </p:grpSpPr>
          <p:sp>
            <p:nvSpPr>
              <p:cNvPr name="Freeform 19" id="19"/>
              <p:cNvSpPr/>
              <p:nvPr/>
            </p:nvSpPr>
            <p:spPr>
              <a:xfrm flipH="false" flipV="false" rot="0">
                <a:off x="0" y="0"/>
                <a:ext cx="9004691" cy="7807746"/>
              </a:xfrm>
              <a:custGeom>
                <a:avLst/>
                <a:gdLst/>
                <a:ahLst/>
                <a:cxnLst/>
                <a:rect r="r" b="b" t="t" l="l"/>
                <a:pathLst>
                  <a:path h="7807746" w="9004691">
                    <a:moveTo>
                      <a:pt x="0" y="210503"/>
                    </a:moveTo>
                    <a:cubicBezTo>
                      <a:pt x="0" y="94262"/>
                      <a:pt x="187943" y="0"/>
                      <a:pt x="419710" y="0"/>
                    </a:cubicBezTo>
                    <a:lnTo>
                      <a:pt x="8584981" y="0"/>
                    </a:lnTo>
                    <a:cubicBezTo>
                      <a:pt x="8816748" y="0"/>
                      <a:pt x="9004691" y="94262"/>
                      <a:pt x="9004691" y="210503"/>
                    </a:cubicBezTo>
                    <a:lnTo>
                      <a:pt x="9004691" y="7597243"/>
                    </a:lnTo>
                    <a:cubicBezTo>
                      <a:pt x="9004691" y="7713485"/>
                      <a:pt x="8816748" y="7807746"/>
                      <a:pt x="8584981" y="7807746"/>
                    </a:cubicBezTo>
                    <a:lnTo>
                      <a:pt x="419710" y="7807746"/>
                    </a:lnTo>
                    <a:cubicBezTo>
                      <a:pt x="187943" y="7807746"/>
                      <a:pt x="0" y="7713485"/>
                      <a:pt x="0" y="7597243"/>
                    </a:cubicBezTo>
                    <a:close/>
                  </a:path>
                </a:pathLst>
              </a:custGeom>
              <a:solidFill>
                <a:srgbClr val="FFFFFF"/>
              </a:solidFill>
              <a:ln w="9526" cap="sq">
                <a:solidFill>
                  <a:srgbClr val="E5E7EB"/>
                </a:solidFill>
                <a:prstDash val="solid"/>
                <a:miter/>
              </a:ln>
            </p:spPr>
          </p:sp>
        </p:grpSp>
        <p:sp>
          <p:nvSpPr>
            <p:cNvPr name="TextBox 20" id="20"/>
            <p:cNvSpPr txBox="true"/>
            <p:nvPr/>
          </p:nvSpPr>
          <p:spPr>
            <a:xfrm rot="0">
              <a:off x="2181453" y="350101"/>
              <a:ext cx="2976878" cy="604969"/>
            </a:xfrm>
            <a:prstGeom prst="rect">
              <a:avLst/>
            </a:prstGeom>
          </p:spPr>
          <p:txBody>
            <a:bodyPr anchor="t" rtlCol="false" tIns="0" lIns="0" bIns="0" rIns="0">
              <a:spAutoFit/>
            </a:bodyPr>
            <a:lstStyle/>
            <a:p>
              <a:pPr algn="ctr">
                <a:lnSpc>
                  <a:spcPts val="1882"/>
                </a:lnSpc>
                <a:spcBef>
                  <a:spcPct val="0"/>
                </a:spcBef>
              </a:pPr>
              <a:r>
                <a:rPr lang="en-US" b="true" sz="1255">
                  <a:solidFill>
                    <a:srgbClr val="000000"/>
                  </a:solidFill>
                  <a:latin typeface="Arimo Bold"/>
                  <a:ea typeface="Arimo Bold"/>
                  <a:cs typeface="Arimo Bold"/>
                  <a:sym typeface="Arimo Bold"/>
                </a:rPr>
                <a:t>M</a:t>
              </a:r>
              <a:r>
                <a:rPr lang="en-US" b="true" sz="1255">
                  <a:solidFill>
                    <a:srgbClr val="000000"/>
                  </a:solidFill>
                  <a:latin typeface="Arimo Bold"/>
                  <a:ea typeface="Arimo Bold"/>
                  <a:cs typeface="Arimo Bold"/>
                  <a:sym typeface="Arimo Bold"/>
                </a:rPr>
                <a:t>edication Errors In Kuwait </a:t>
              </a:r>
              <a:r>
                <a:rPr lang="en-US" b="true" sz="1255">
                  <a:solidFill>
                    <a:srgbClr val="000000"/>
                  </a:solidFill>
                  <a:latin typeface="Arimo Bold"/>
                  <a:ea typeface="Arimo Bold"/>
                  <a:cs typeface="Arimo Bold"/>
                  <a:sym typeface="Arimo Bold"/>
                </a:rPr>
                <a:t>(2021)</a:t>
              </a:r>
            </a:p>
          </p:txBody>
        </p:sp>
        <p:sp>
          <p:nvSpPr>
            <p:cNvPr name="TextBox 21" id="21"/>
            <p:cNvSpPr txBox="true"/>
            <p:nvPr/>
          </p:nvSpPr>
          <p:spPr>
            <a:xfrm rot="0">
              <a:off x="1542386" y="5810901"/>
              <a:ext cx="4255011" cy="301358"/>
            </a:xfrm>
            <a:prstGeom prst="rect">
              <a:avLst/>
            </a:prstGeom>
          </p:spPr>
          <p:txBody>
            <a:bodyPr anchor="t" rtlCol="false" tIns="0" lIns="0" bIns="0" rIns="0">
              <a:spAutoFit/>
            </a:bodyPr>
            <a:lstStyle/>
            <a:p>
              <a:pPr algn="ctr">
                <a:lnSpc>
                  <a:spcPts val="1882"/>
                </a:lnSpc>
                <a:spcBef>
                  <a:spcPct val="0"/>
                </a:spcBef>
              </a:pPr>
              <a:r>
                <a:rPr lang="en-US" b="true" sz="1255" u="sng">
                  <a:solidFill>
                    <a:srgbClr val="000000"/>
                  </a:solidFill>
                  <a:latin typeface="Arimo Bold"/>
                  <a:ea typeface="Arimo Bold"/>
                  <a:cs typeface="Arimo Bold"/>
                  <a:sym typeface="Arimo Bold"/>
                  <a:hlinkClick r:id="rId4" tooltip="https://www.frontiersin.org/journals/medicine/articles/10.3389/fmed.2021.784315/full"/>
                </a:rPr>
                <a:t>Source: Frontiers</a:t>
              </a:r>
            </a:p>
          </p:txBody>
        </p:sp>
      </p:grpSp>
      <p:sp>
        <p:nvSpPr>
          <p:cNvPr name="AutoShape 22" id="22"/>
          <p:cNvSpPr/>
          <p:nvPr/>
        </p:nvSpPr>
        <p:spPr>
          <a:xfrm flipV="true">
            <a:off x="12290985" y="2642274"/>
            <a:ext cx="0" cy="6328777"/>
          </a:xfrm>
          <a:prstGeom prst="line">
            <a:avLst/>
          </a:prstGeom>
          <a:ln cap="flat" w="47625">
            <a:solidFill>
              <a:srgbClr val="2ECC71"/>
            </a:solidFill>
            <a:prstDash val="solid"/>
            <a:headEnd type="none" len="sm" w="sm"/>
            <a:tailEnd type="none" len="sm" w="sm"/>
          </a:ln>
        </p:spPr>
      </p:sp>
      <p:grpSp>
        <p:nvGrpSpPr>
          <p:cNvPr name="Group 23" id="23"/>
          <p:cNvGrpSpPr/>
          <p:nvPr/>
        </p:nvGrpSpPr>
        <p:grpSpPr>
          <a:xfrm rot="0">
            <a:off x="6457534" y="2549947"/>
            <a:ext cx="5504838" cy="4767902"/>
            <a:chOff x="0" y="0"/>
            <a:chExt cx="7339784" cy="6357202"/>
          </a:xfrm>
        </p:grpSpPr>
        <p:grpSp>
          <p:nvGrpSpPr>
            <p:cNvPr name="Group 24" id="24"/>
            <p:cNvGrpSpPr/>
            <p:nvPr/>
          </p:nvGrpSpPr>
          <p:grpSpPr>
            <a:xfrm rot="0">
              <a:off x="0" y="0"/>
              <a:ext cx="7339784" cy="6357202"/>
              <a:chOff x="0" y="0"/>
              <a:chExt cx="9004690" cy="7799227"/>
            </a:xfrm>
          </p:grpSpPr>
          <p:sp>
            <p:nvSpPr>
              <p:cNvPr name="Freeform 25" id="25"/>
              <p:cNvSpPr/>
              <p:nvPr/>
            </p:nvSpPr>
            <p:spPr>
              <a:xfrm flipH="false" flipV="false" rot="0">
                <a:off x="0" y="0"/>
                <a:ext cx="9004691" cy="7799226"/>
              </a:xfrm>
              <a:custGeom>
                <a:avLst/>
                <a:gdLst/>
                <a:ahLst/>
                <a:cxnLst/>
                <a:rect r="r" b="b" t="t" l="l"/>
                <a:pathLst>
                  <a:path h="7799226" w="9004691">
                    <a:moveTo>
                      <a:pt x="0" y="210273"/>
                    </a:moveTo>
                    <a:cubicBezTo>
                      <a:pt x="0" y="94159"/>
                      <a:pt x="187943" y="0"/>
                      <a:pt x="419710" y="0"/>
                    </a:cubicBezTo>
                    <a:lnTo>
                      <a:pt x="8584981" y="0"/>
                    </a:lnTo>
                    <a:cubicBezTo>
                      <a:pt x="8816748" y="0"/>
                      <a:pt x="9004691" y="94159"/>
                      <a:pt x="9004691" y="210273"/>
                    </a:cubicBezTo>
                    <a:lnTo>
                      <a:pt x="9004691" y="7588953"/>
                    </a:lnTo>
                    <a:cubicBezTo>
                      <a:pt x="9004691" y="7705068"/>
                      <a:pt x="8816748" y="7799226"/>
                      <a:pt x="8584981" y="7799226"/>
                    </a:cubicBezTo>
                    <a:lnTo>
                      <a:pt x="419710" y="7799226"/>
                    </a:lnTo>
                    <a:cubicBezTo>
                      <a:pt x="187943" y="7799226"/>
                      <a:pt x="0" y="7705068"/>
                      <a:pt x="0" y="7588953"/>
                    </a:cubicBezTo>
                    <a:close/>
                  </a:path>
                </a:pathLst>
              </a:custGeom>
              <a:solidFill>
                <a:srgbClr val="FFFFFF"/>
              </a:solidFill>
              <a:ln w="9526" cap="sq">
                <a:solidFill>
                  <a:srgbClr val="E5E7EB"/>
                </a:solidFill>
                <a:prstDash val="solid"/>
                <a:miter/>
              </a:ln>
            </p:spPr>
          </p:sp>
        </p:grpSp>
        <p:pic>
          <p:nvPicPr>
            <p:cNvPr name="Picture 26" id="26"/>
            <p:cNvPicPr>
              <a:picLocks noChangeAspect="true"/>
            </p:cNvPicPr>
            <p:nvPr/>
          </p:nvPicPr>
          <p:blipFill>
            <a:blip r:embed="rId5"/>
            <a:stretch>
              <a:fillRect/>
            </a:stretch>
          </p:blipFill>
          <p:spPr>
            <a:xfrm rot="0">
              <a:off x="-424580" y="260938"/>
              <a:ext cx="8188944" cy="6012089"/>
            </a:xfrm>
            <a:prstGeom prst="rect">
              <a:avLst/>
            </a:prstGeom>
          </p:spPr>
        </p:pic>
        <p:sp>
          <p:nvSpPr>
            <p:cNvPr name="TextBox 27" id="27"/>
            <p:cNvSpPr txBox="true"/>
            <p:nvPr/>
          </p:nvSpPr>
          <p:spPr>
            <a:xfrm rot="0">
              <a:off x="2043538" y="338381"/>
              <a:ext cx="3252708" cy="604969"/>
            </a:xfrm>
            <a:prstGeom prst="rect">
              <a:avLst/>
            </a:prstGeom>
          </p:spPr>
          <p:txBody>
            <a:bodyPr anchor="t" rtlCol="false" tIns="0" lIns="0" bIns="0" rIns="0">
              <a:spAutoFit/>
            </a:bodyPr>
            <a:lstStyle/>
            <a:p>
              <a:pPr algn="ctr">
                <a:lnSpc>
                  <a:spcPts val="1882"/>
                </a:lnSpc>
                <a:spcBef>
                  <a:spcPct val="0"/>
                </a:spcBef>
              </a:pPr>
              <a:r>
                <a:rPr lang="en-US" b="true" sz="1255">
                  <a:solidFill>
                    <a:srgbClr val="000000"/>
                  </a:solidFill>
                  <a:latin typeface="Arimo Bold"/>
                  <a:ea typeface="Arimo Bold"/>
                  <a:cs typeface="Arimo Bold"/>
                  <a:sym typeface="Arimo Bold"/>
                </a:rPr>
                <a:t>N</a:t>
              </a:r>
              <a:r>
                <a:rPr lang="en-US" b="true" sz="1255">
                  <a:solidFill>
                    <a:srgbClr val="000000"/>
                  </a:solidFill>
                  <a:latin typeface="Arimo Bold"/>
                  <a:ea typeface="Arimo Bold"/>
                  <a:cs typeface="Arimo Bold"/>
                  <a:sym typeface="Arimo Bold"/>
                </a:rPr>
                <a:t>umber of adults (20–79 years) with diabetes in Kuwait</a:t>
              </a:r>
            </a:p>
          </p:txBody>
        </p:sp>
        <p:sp>
          <p:nvSpPr>
            <p:cNvPr name="TextBox 28" id="28"/>
            <p:cNvSpPr txBox="true"/>
            <p:nvPr/>
          </p:nvSpPr>
          <p:spPr>
            <a:xfrm rot="0">
              <a:off x="1542386" y="5841393"/>
              <a:ext cx="4255011" cy="294413"/>
            </a:xfrm>
            <a:prstGeom prst="rect">
              <a:avLst/>
            </a:prstGeom>
          </p:spPr>
          <p:txBody>
            <a:bodyPr anchor="t" rtlCol="false" tIns="0" lIns="0" bIns="0" rIns="0">
              <a:spAutoFit/>
            </a:bodyPr>
            <a:lstStyle/>
            <a:p>
              <a:pPr algn="ctr">
                <a:lnSpc>
                  <a:spcPts val="1882"/>
                </a:lnSpc>
                <a:spcBef>
                  <a:spcPct val="0"/>
                </a:spcBef>
              </a:pPr>
              <a:r>
                <a:rPr lang="en-US" b="true" sz="1255" u="sng">
                  <a:solidFill>
                    <a:srgbClr val="000000"/>
                  </a:solidFill>
                  <a:latin typeface="Arimo Bold"/>
                  <a:ea typeface="Arimo Bold"/>
                  <a:cs typeface="Arimo Bold"/>
                  <a:sym typeface="Arimo Bold"/>
                  <a:hlinkClick r:id="rId6" tooltip="https://diabetesatlas.org/data-by-location/country/kuwait/?utm_source=chatgpt.com"/>
                </a:rPr>
                <a:t>Source: International Diabetes Federation</a:t>
              </a:r>
            </a:p>
          </p:txBody>
        </p:sp>
      </p:grpSp>
      <p:sp>
        <p:nvSpPr>
          <p:cNvPr name="AutoShape 29" id="29"/>
          <p:cNvSpPr/>
          <p:nvPr/>
        </p:nvSpPr>
        <p:spPr>
          <a:xfrm flipV="true">
            <a:off x="6128922" y="2549947"/>
            <a:ext cx="0" cy="6421104"/>
          </a:xfrm>
          <a:prstGeom prst="line">
            <a:avLst/>
          </a:prstGeom>
          <a:ln cap="flat" w="47625">
            <a:solidFill>
              <a:srgbClr val="2ECC71"/>
            </a:solidFill>
            <a:prstDash val="solid"/>
            <a:headEnd type="none" len="sm" w="sm"/>
            <a:tailEnd type="none" len="sm" w="sm"/>
          </a:ln>
        </p:spPr>
      </p:sp>
      <p:grpSp>
        <p:nvGrpSpPr>
          <p:cNvPr name="Group 30" id="30"/>
          <p:cNvGrpSpPr/>
          <p:nvPr/>
        </p:nvGrpSpPr>
        <p:grpSpPr>
          <a:xfrm rot="0">
            <a:off x="295471" y="2578714"/>
            <a:ext cx="5504838" cy="4754399"/>
            <a:chOff x="0" y="0"/>
            <a:chExt cx="7339784" cy="6339198"/>
          </a:xfrm>
        </p:grpSpPr>
        <p:grpSp>
          <p:nvGrpSpPr>
            <p:cNvPr name="Group 31" id="31"/>
            <p:cNvGrpSpPr/>
            <p:nvPr/>
          </p:nvGrpSpPr>
          <p:grpSpPr>
            <a:xfrm rot="0">
              <a:off x="0" y="0"/>
              <a:ext cx="7339784" cy="6339198"/>
              <a:chOff x="0" y="0"/>
              <a:chExt cx="9004690" cy="7777139"/>
            </a:xfrm>
          </p:grpSpPr>
          <p:sp>
            <p:nvSpPr>
              <p:cNvPr name="Freeform 32" id="32"/>
              <p:cNvSpPr/>
              <p:nvPr/>
            </p:nvSpPr>
            <p:spPr>
              <a:xfrm flipH="false" flipV="false" rot="0">
                <a:off x="0" y="0"/>
                <a:ext cx="9004691" cy="7777138"/>
              </a:xfrm>
              <a:custGeom>
                <a:avLst/>
                <a:gdLst/>
                <a:ahLst/>
                <a:cxnLst/>
                <a:rect r="r" b="b" t="t" l="l"/>
                <a:pathLst>
                  <a:path h="7777138" w="9004691">
                    <a:moveTo>
                      <a:pt x="0" y="209678"/>
                    </a:moveTo>
                    <a:cubicBezTo>
                      <a:pt x="0" y="93892"/>
                      <a:pt x="187943" y="0"/>
                      <a:pt x="419710" y="0"/>
                    </a:cubicBezTo>
                    <a:lnTo>
                      <a:pt x="8584981" y="0"/>
                    </a:lnTo>
                    <a:cubicBezTo>
                      <a:pt x="8816748" y="0"/>
                      <a:pt x="9004691" y="93892"/>
                      <a:pt x="9004691" y="209678"/>
                    </a:cubicBezTo>
                    <a:lnTo>
                      <a:pt x="9004691" y="7567461"/>
                    </a:lnTo>
                    <a:cubicBezTo>
                      <a:pt x="9004691" y="7683247"/>
                      <a:pt x="8816748" y="7777138"/>
                      <a:pt x="8584981" y="7777138"/>
                    </a:cubicBezTo>
                    <a:lnTo>
                      <a:pt x="419710" y="7777138"/>
                    </a:lnTo>
                    <a:cubicBezTo>
                      <a:pt x="187943" y="7777138"/>
                      <a:pt x="0" y="7683247"/>
                      <a:pt x="0" y="7567461"/>
                    </a:cubicBezTo>
                    <a:close/>
                  </a:path>
                </a:pathLst>
              </a:custGeom>
              <a:solidFill>
                <a:srgbClr val="FFFFFF"/>
              </a:solidFill>
              <a:ln w="9526" cap="sq">
                <a:solidFill>
                  <a:srgbClr val="E5E7EB"/>
                </a:solidFill>
                <a:prstDash val="solid"/>
                <a:miter/>
              </a:ln>
            </p:spPr>
          </p:sp>
        </p:grpSp>
        <p:sp>
          <p:nvSpPr>
            <p:cNvPr name="TextBox 33" id="33"/>
            <p:cNvSpPr txBox="true"/>
            <p:nvPr/>
          </p:nvSpPr>
          <p:spPr>
            <a:xfrm rot="0">
              <a:off x="2043538" y="300026"/>
              <a:ext cx="3252708" cy="618617"/>
            </a:xfrm>
            <a:prstGeom prst="rect">
              <a:avLst/>
            </a:prstGeom>
          </p:spPr>
          <p:txBody>
            <a:bodyPr anchor="t" rtlCol="false" tIns="0" lIns="0" bIns="0" rIns="0">
              <a:spAutoFit/>
            </a:bodyPr>
            <a:lstStyle/>
            <a:p>
              <a:pPr algn="ctr">
                <a:lnSpc>
                  <a:spcPts val="1890"/>
                </a:lnSpc>
                <a:spcBef>
                  <a:spcPct val="0"/>
                </a:spcBef>
              </a:pPr>
              <a:r>
                <a:rPr lang="en-US" b="true" sz="1260">
                  <a:solidFill>
                    <a:srgbClr val="000000"/>
                  </a:solidFill>
                  <a:latin typeface="Arimo Bold"/>
                  <a:ea typeface="Arimo Bold"/>
                  <a:cs typeface="Arimo Bold"/>
                  <a:sym typeface="Arimo Bold"/>
                </a:rPr>
                <a:t>Ch</a:t>
              </a:r>
              <a:r>
                <a:rPr lang="en-US" b="true" sz="1260">
                  <a:solidFill>
                    <a:srgbClr val="000000"/>
                  </a:solidFill>
                  <a:latin typeface="Arimo Bold"/>
                  <a:ea typeface="Arimo Bold"/>
                  <a:cs typeface="Arimo Bold"/>
                  <a:sym typeface="Arimo Bold"/>
                </a:rPr>
                <a:t>ronic Diseases Drive Higher Hospital Use in Kuwait</a:t>
              </a:r>
            </a:p>
          </p:txBody>
        </p:sp>
        <p:sp>
          <p:nvSpPr>
            <p:cNvPr name="TextBox 34" id="34"/>
            <p:cNvSpPr txBox="true"/>
            <p:nvPr/>
          </p:nvSpPr>
          <p:spPr>
            <a:xfrm rot="0">
              <a:off x="1542386" y="5816685"/>
              <a:ext cx="4255011" cy="301117"/>
            </a:xfrm>
            <a:prstGeom prst="rect">
              <a:avLst/>
            </a:prstGeom>
          </p:spPr>
          <p:txBody>
            <a:bodyPr anchor="t" rtlCol="false" tIns="0" lIns="0" bIns="0" rIns="0">
              <a:spAutoFit/>
            </a:bodyPr>
            <a:lstStyle/>
            <a:p>
              <a:pPr algn="ctr">
                <a:lnSpc>
                  <a:spcPts val="1890"/>
                </a:lnSpc>
                <a:spcBef>
                  <a:spcPct val="0"/>
                </a:spcBef>
              </a:pPr>
              <a:r>
                <a:rPr lang="en-US" b="true" sz="1260" u="sng">
                  <a:solidFill>
                    <a:srgbClr val="000000"/>
                  </a:solidFill>
                  <a:latin typeface="Arimo Bold"/>
                  <a:ea typeface="Arimo Bold"/>
                  <a:cs typeface="Arimo Bold"/>
                  <a:sym typeface="Arimo Bold"/>
                  <a:hlinkClick r:id="rId7" tooltip="https://www.frontiersin.org/journals/pharmacology/articles/10.3389/fphar.2020.01296/full"/>
                </a:rPr>
                <a:t>Source: Frontiers</a:t>
              </a:r>
            </a:p>
          </p:txBody>
        </p:sp>
      </p:grpSp>
      <p:pic>
        <p:nvPicPr>
          <p:cNvPr name="Picture 35" id="35"/>
          <p:cNvPicPr>
            <a:picLocks noChangeAspect="true"/>
          </p:cNvPicPr>
          <p:nvPr/>
        </p:nvPicPr>
        <p:blipFill>
          <a:blip r:embed="rId8"/>
          <a:stretch>
            <a:fillRect/>
          </a:stretch>
        </p:blipFill>
        <p:spPr>
          <a:xfrm rot="0">
            <a:off x="-329806" y="2917702"/>
            <a:ext cx="6687398" cy="4492428"/>
          </a:xfrm>
          <a:prstGeom prst="rect">
            <a:avLst/>
          </a:prstGeom>
        </p:spPr>
      </p:pic>
      <p:pic>
        <p:nvPicPr>
          <p:cNvPr name="Picture 36" id="36"/>
          <p:cNvPicPr>
            <a:picLocks noChangeAspect="true"/>
          </p:cNvPicPr>
          <p:nvPr/>
        </p:nvPicPr>
        <p:blipFill>
          <a:blip r:embed="rId9"/>
          <a:stretch>
            <a:fillRect/>
          </a:stretch>
        </p:blipFill>
        <p:spPr>
          <a:xfrm rot="0">
            <a:off x="12033032" y="2681496"/>
            <a:ext cx="6641761" cy="4902798"/>
          </a:xfrm>
          <a:prstGeom prst="rect">
            <a:avLst/>
          </a:prstGeom>
        </p:spPr>
      </p:pic>
      <p:sp>
        <p:nvSpPr>
          <p:cNvPr name="TextBox 37" id="37"/>
          <p:cNvSpPr txBox="true"/>
          <p:nvPr/>
        </p:nvSpPr>
        <p:spPr>
          <a:xfrm rot="0">
            <a:off x="326195" y="7470162"/>
            <a:ext cx="5474115" cy="1378077"/>
          </a:xfrm>
          <a:prstGeom prst="rect">
            <a:avLst/>
          </a:prstGeom>
        </p:spPr>
        <p:txBody>
          <a:bodyPr anchor="t" rtlCol="false" tIns="0" lIns="0" bIns="0" rIns="0">
            <a:spAutoFit/>
          </a:bodyPr>
          <a:lstStyle/>
          <a:p>
            <a:pPr algn="ctr">
              <a:lnSpc>
                <a:spcPts val="2744"/>
              </a:lnSpc>
              <a:spcBef>
                <a:spcPct val="0"/>
              </a:spcBef>
            </a:pPr>
            <a:r>
              <a:rPr lang="en-US" sz="1829">
                <a:solidFill>
                  <a:srgbClr val="595959"/>
                </a:solidFill>
                <a:latin typeface="Arimo"/>
                <a:ea typeface="Arimo"/>
                <a:cs typeface="Arimo"/>
                <a:sym typeface="Arimo"/>
              </a:rPr>
              <a:t>This graph shows how common complex medication routines are among olde</a:t>
            </a:r>
            <a:r>
              <a:rPr lang="en-US" sz="1829">
                <a:solidFill>
                  <a:srgbClr val="595959"/>
                </a:solidFill>
                <a:latin typeface="Arimo"/>
                <a:ea typeface="Arimo"/>
                <a:cs typeface="Arimo"/>
                <a:sym typeface="Arimo"/>
              </a:rPr>
              <a:t>r patients in Kuwait, including multiple medicines, frequent daily doses, need for help, and nonadherence.</a:t>
            </a:r>
          </a:p>
        </p:txBody>
      </p:sp>
      <p:sp>
        <p:nvSpPr>
          <p:cNvPr name="TextBox 38" id="38"/>
          <p:cNvSpPr txBox="true"/>
          <p:nvPr/>
        </p:nvSpPr>
        <p:spPr>
          <a:xfrm rot="0">
            <a:off x="6488257" y="7470162"/>
            <a:ext cx="5474115" cy="1035177"/>
          </a:xfrm>
          <a:prstGeom prst="rect">
            <a:avLst/>
          </a:prstGeom>
        </p:spPr>
        <p:txBody>
          <a:bodyPr anchor="t" rtlCol="false" tIns="0" lIns="0" bIns="0" rIns="0">
            <a:spAutoFit/>
          </a:bodyPr>
          <a:lstStyle/>
          <a:p>
            <a:pPr algn="ctr">
              <a:lnSpc>
                <a:spcPts val="2744"/>
              </a:lnSpc>
              <a:spcBef>
                <a:spcPct val="0"/>
              </a:spcBef>
            </a:pPr>
            <a:r>
              <a:rPr lang="en-US" sz="1829">
                <a:solidFill>
                  <a:srgbClr val="595959"/>
                </a:solidFill>
                <a:latin typeface="Arimo"/>
                <a:ea typeface="Arimo"/>
                <a:cs typeface="Arimo"/>
                <a:sym typeface="Arimo"/>
              </a:rPr>
              <a:t>This graph shows the rising number of adults aged 20–79 with diabe</a:t>
            </a:r>
            <a:r>
              <a:rPr lang="en-US" sz="1829">
                <a:solidFill>
                  <a:srgbClr val="595959"/>
                </a:solidFill>
                <a:latin typeface="Arimo"/>
                <a:ea typeface="Arimo"/>
                <a:cs typeface="Arimo"/>
                <a:sym typeface="Arimo"/>
              </a:rPr>
              <a:t>tes in Kuwait from 2000 to the projected figure for 2050.</a:t>
            </a:r>
          </a:p>
        </p:txBody>
      </p:sp>
      <p:sp>
        <p:nvSpPr>
          <p:cNvPr name="TextBox 39" id="39"/>
          <p:cNvSpPr txBox="true"/>
          <p:nvPr/>
        </p:nvSpPr>
        <p:spPr>
          <a:xfrm rot="0">
            <a:off x="12679559" y="7470162"/>
            <a:ext cx="5378668" cy="1378077"/>
          </a:xfrm>
          <a:prstGeom prst="rect">
            <a:avLst/>
          </a:prstGeom>
        </p:spPr>
        <p:txBody>
          <a:bodyPr anchor="t" rtlCol="false" tIns="0" lIns="0" bIns="0" rIns="0">
            <a:spAutoFit/>
          </a:bodyPr>
          <a:lstStyle/>
          <a:p>
            <a:pPr algn="ctr">
              <a:lnSpc>
                <a:spcPts val="2744"/>
              </a:lnSpc>
              <a:spcBef>
                <a:spcPct val="0"/>
              </a:spcBef>
            </a:pPr>
            <a:r>
              <a:rPr lang="en-US" sz="1829">
                <a:solidFill>
                  <a:srgbClr val="595959"/>
                </a:solidFill>
                <a:latin typeface="Arimo"/>
                <a:ea typeface="Arimo"/>
                <a:cs typeface="Arimo"/>
                <a:sym typeface="Arimo"/>
              </a:rPr>
              <a:t>This graph shows the most reported types of medica</a:t>
            </a:r>
            <a:r>
              <a:rPr lang="en-US" sz="1829">
                <a:solidFill>
                  <a:srgbClr val="595959"/>
                </a:solidFill>
                <a:latin typeface="Arimo"/>
                <a:ea typeface="Arimo"/>
                <a:cs typeface="Arimo"/>
                <a:sym typeface="Arimo"/>
              </a:rPr>
              <a:t>tion errors in Kuwait, including prescribing errors, wrong dose, missed medication, </a:t>
            </a:r>
          </a:p>
          <a:p>
            <a:pPr algn="ctr">
              <a:lnSpc>
                <a:spcPts val="2744"/>
              </a:lnSpc>
              <a:spcBef>
                <a:spcPct val="0"/>
              </a:spcBef>
            </a:pPr>
            <a:r>
              <a:rPr lang="en-US" sz="1829">
                <a:solidFill>
                  <a:srgbClr val="595959"/>
                </a:solidFill>
                <a:latin typeface="Arimo"/>
                <a:ea typeface="Arimo"/>
                <a:cs typeface="Arimo"/>
                <a:sym typeface="Arimo"/>
              </a:rPr>
              <a:t>and wrong-time use.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2394"/>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72521"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3266" y="352501"/>
            <a:ext cx="28384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05 · TARGET USERS</a:t>
            </a:r>
          </a:p>
        </p:txBody>
      </p:sp>
      <p:sp>
        <p:nvSpPr>
          <p:cNvPr name="TextBox 8" id="8"/>
          <p:cNvSpPr txBox="true"/>
          <p:nvPr/>
        </p:nvSpPr>
        <p:spPr>
          <a:xfrm rot="0">
            <a:off x="16800690" y="352501"/>
            <a:ext cx="57150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07 / 31</a:t>
            </a:r>
          </a:p>
        </p:txBody>
      </p:sp>
      <p:sp>
        <p:nvSpPr>
          <p:cNvPr name="TextBox 9" id="9"/>
          <p:cNvSpPr txBox="true"/>
          <p:nvPr/>
        </p:nvSpPr>
        <p:spPr>
          <a:xfrm rot="0">
            <a:off x="912095" y="1198807"/>
            <a:ext cx="37719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Target Users</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TextBox 12" id="12"/>
          <p:cNvSpPr txBox="true"/>
          <p:nvPr/>
        </p:nvSpPr>
        <p:spPr>
          <a:xfrm rot="0">
            <a:off x="13054279" y="1676314"/>
            <a:ext cx="5167084" cy="604266"/>
          </a:xfrm>
          <a:prstGeom prst="rect">
            <a:avLst/>
          </a:prstGeom>
        </p:spPr>
        <p:txBody>
          <a:bodyPr anchor="t" rtlCol="false" tIns="0" lIns="0" bIns="0" rIns="0">
            <a:spAutoFit/>
          </a:bodyPr>
          <a:lstStyle/>
          <a:p>
            <a:pPr algn="ctr">
              <a:lnSpc>
                <a:spcPts val="2484"/>
              </a:lnSpc>
            </a:pPr>
            <a:r>
              <a:rPr lang="en-US" sz="1660">
                <a:solidFill>
                  <a:srgbClr val="6B7280"/>
                </a:solidFill>
                <a:latin typeface="Inter"/>
                <a:ea typeface="Inter"/>
                <a:cs typeface="Inter"/>
                <a:sym typeface="Inter"/>
              </a:rPr>
              <a:t>ISTSEH supports patients, older adults, caregivers, who manage complex medication routines.</a:t>
            </a:r>
          </a:p>
        </p:txBody>
      </p:sp>
      <p:grpSp>
        <p:nvGrpSpPr>
          <p:cNvPr name="Group 13" id="13"/>
          <p:cNvGrpSpPr/>
          <p:nvPr/>
        </p:nvGrpSpPr>
        <p:grpSpPr>
          <a:xfrm rot="0">
            <a:off x="908895" y="2668934"/>
            <a:ext cx="3933825" cy="6800850"/>
            <a:chOff x="0" y="0"/>
            <a:chExt cx="5245100" cy="9067800"/>
          </a:xfrm>
        </p:grpSpPr>
        <p:sp>
          <p:nvSpPr>
            <p:cNvPr name="Freeform 14" id="14"/>
            <p:cNvSpPr/>
            <p:nvPr/>
          </p:nvSpPr>
          <p:spPr>
            <a:xfrm flipH="false" flipV="false" rot="0">
              <a:off x="0" y="0"/>
              <a:ext cx="5245100" cy="9067800"/>
            </a:xfrm>
            <a:custGeom>
              <a:avLst/>
              <a:gdLst/>
              <a:ahLst/>
              <a:cxnLst/>
              <a:rect r="r" b="b" t="t" l="l"/>
              <a:pathLst>
                <a:path h="9067800" w="5245100">
                  <a:moveTo>
                    <a:pt x="0" y="244475"/>
                  </a:moveTo>
                  <a:cubicBezTo>
                    <a:pt x="0" y="109474"/>
                    <a:pt x="109474" y="0"/>
                    <a:pt x="244475" y="0"/>
                  </a:cubicBezTo>
                  <a:lnTo>
                    <a:pt x="5000625" y="0"/>
                  </a:lnTo>
                  <a:cubicBezTo>
                    <a:pt x="5135626" y="0"/>
                    <a:pt x="5245100" y="109474"/>
                    <a:pt x="5245100" y="244475"/>
                  </a:cubicBezTo>
                  <a:lnTo>
                    <a:pt x="5245100" y="8823325"/>
                  </a:lnTo>
                  <a:cubicBezTo>
                    <a:pt x="5245100" y="8958326"/>
                    <a:pt x="5135626" y="9067800"/>
                    <a:pt x="5000625" y="9067800"/>
                  </a:cubicBezTo>
                  <a:lnTo>
                    <a:pt x="244475" y="9067800"/>
                  </a:lnTo>
                  <a:cubicBezTo>
                    <a:pt x="109474" y="9067800"/>
                    <a:pt x="0" y="8958326"/>
                    <a:pt x="0" y="8823325"/>
                  </a:cubicBezTo>
                  <a:close/>
                </a:path>
              </a:pathLst>
            </a:custGeom>
            <a:solidFill>
              <a:srgbClr val="FFFFFF"/>
            </a:solidFill>
            <a:ln w="9526" cap="sq">
              <a:solidFill>
                <a:srgbClr val="E5E7EB"/>
              </a:solidFill>
              <a:prstDash val="solid"/>
              <a:miter/>
            </a:ln>
          </p:spPr>
        </p:sp>
      </p:grpSp>
      <p:grpSp>
        <p:nvGrpSpPr>
          <p:cNvPr name="Group 15" id="15"/>
          <p:cNvGrpSpPr/>
          <p:nvPr/>
        </p:nvGrpSpPr>
        <p:grpSpPr>
          <a:xfrm rot="0">
            <a:off x="1130875" y="2891057"/>
            <a:ext cx="619125" cy="619125"/>
            <a:chOff x="0" y="0"/>
            <a:chExt cx="825500" cy="825500"/>
          </a:xfrm>
        </p:grpSpPr>
        <p:sp>
          <p:nvSpPr>
            <p:cNvPr name="Freeform 16" id="16"/>
            <p:cNvSpPr/>
            <p:nvPr/>
          </p:nvSpPr>
          <p:spPr>
            <a:xfrm flipH="false" flipV="false" rot="0">
              <a:off x="0" y="0"/>
              <a:ext cx="825500" cy="825500"/>
            </a:xfrm>
            <a:custGeom>
              <a:avLst/>
              <a:gdLst/>
              <a:ahLst/>
              <a:cxnLst/>
              <a:rect r="r" b="b" t="t" l="l"/>
              <a:pathLst>
                <a:path h="825500" w="825500">
                  <a:moveTo>
                    <a:pt x="0" y="412750"/>
                  </a:moveTo>
                  <a:cubicBezTo>
                    <a:pt x="0" y="184785"/>
                    <a:pt x="184785" y="0"/>
                    <a:pt x="412750" y="0"/>
                  </a:cubicBezTo>
                  <a:cubicBezTo>
                    <a:pt x="640715" y="0"/>
                    <a:pt x="825500" y="184785"/>
                    <a:pt x="825500" y="412750"/>
                  </a:cubicBezTo>
                  <a:cubicBezTo>
                    <a:pt x="825500" y="640715"/>
                    <a:pt x="640715" y="825500"/>
                    <a:pt x="412750" y="825500"/>
                  </a:cubicBezTo>
                  <a:cubicBezTo>
                    <a:pt x="184785" y="825500"/>
                    <a:pt x="0" y="640715"/>
                    <a:pt x="0" y="412750"/>
                  </a:cubicBezTo>
                  <a:close/>
                </a:path>
              </a:pathLst>
            </a:custGeom>
            <a:solidFill>
              <a:srgbClr val="2FC972">
                <a:alpha val="1961"/>
              </a:srgbClr>
            </a:solidFill>
          </p:spPr>
        </p:sp>
      </p:grpSp>
      <p:grpSp>
        <p:nvGrpSpPr>
          <p:cNvPr name="Group 17" id="17"/>
          <p:cNvGrpSpPr/>
          <p:nvPr/>
        </p:nvGrpSpPr>
        <p:grpSpPr>
          <a:xfrm rot="0">
            <a:off x="1275902" y="3036094"/>
            <a:ext cx="329060" cy="329060"/>
            <a:chOff x="0" y="0"/>
            <a:chExt cx="438747" cy="438747"/>
          </a:xfrm>
        </p:grpSpPr>
        <p:sp>
          <p:nvSpPr>
            <p:cNvPr name="Freeform 18" id="18"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3"/>
              <a:stretch>
                <a:fillRect l="0" t="0" r="8" b="8"/>
              </a:stretch>
            </a:blipFill>
          </p:spPr>
        </p:sp>
      </p:grpSp>
      <p:sp>
        <p:nvSpPr>
          <p:cNvPr name="TextBox 19" id="19"/>
          <p:cNvSpPr txBox="true"/>
          <p:nvPr/>
        </p:nvSpPr>
        <p:spPr>
          <a:xfrm rot="0">
            <a:off x="1899047" y="2904382"/>
            <a:ext cx="2647950"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PERSONA 01</a:t>
            </a:r>
          </a:p>
        </p:txBody>
      </p:sp>
      <p:sp>
        <p:nvSpPr>
          <p:cNvPr name="TextBox 20" id="20"/>
          <p:cNvSpPr txBox="true"/>
          <p:nvPr/>
        </p:nvSpPr>
        <p:spPr>
          <a:xfrm rot="0">
            <a:off x="1899047" y="3134020"/>
            <a:ext cx="2647950" cy="323850"/>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[Chronic-care patient]</a:t>
            </a:r>
          </a:p>
        </p:txBody>
      </p:sp>
      <p:sp>
        <p:nvSpPr>
          <p:cNvPr name="TextBox 21" id="21"/>
          <p:cNvSpPr txBox="true"/>
          <p:nvPr/>
        </p:nvSpPr>
        <p:spPr>
          <a:xfrm rot="0">
            <a:off x="1127970" y="3598964"/>
            <a:ext cx="3495675" cy="234634"/>
          </a:xfrm>
          <a:prstGeom prst="rect">
            <a:avLst/>
          </a:prstGeom>
        </p:spPr>
        <p:txBody>
          <a:bodyPr anchor="t" rtlCol="false" tIns="0" lIns="0" bIns="0" rIns="0">
            <a:spAutoFit/>
          </a:bodyPr>
          <a:lstStyle/>
          <a:p>
            <a:pPr algn="l">
              <a:lnSpc>
                <a:spcPts val="1986"/>
              </a:lnSpc>
            </a:pPr>
            <a:r>
              <a:rPr lang="en-US" sz="1320">
                <a:solidFill>
                  <a:srgbClr val="595959"/>
                </a:solidFill>
                <a:latin typeface="Inter"/>
                <a:ea typeface="Inter"/>
                <a:cs typeface="Inter"/>
                <a:sym typeface="Inter"/>
              </a:rPr>
              <a:t>Age: 25 - 65</a:t>
            </a:r>
          </a:p>
        </p:txBody>
      </p:sp>
      <p:sp>
        <p:nvSpPr>
          <p:cNvPr name="TextBox 22" id="22"/>
          <p:cNvSpPr txBox="true"/>
          <p:nvPr/>
        </p:nvSpPr>
        <p:spPr>
          <a:xfrm rot="0">
            <a:off x="1127970" y="3832022"/>
            <a:ext cx="3495675" cy="234634"/>
          </a:xfrm>
          <a:prstGeom prst="rect">
            <a:avLst/>
          </a:prstGeom>
        </p:spPr>
        <p:txBody>
          <a:bodyPr anchor="t" rtlCol="false" tIns="0" lIns="0" bIns="0" rIns="0">
            <a:spAutoFit/>
          </a:bodyPr>
          <a:lstStyle/>
          <a:p>
            <a:pPr algn="l">
              <a:lnSpc>
                <a:spcPts val="1986"/>
              </a:lnSpc>
            </a:pPr>
            <a:r>
              <a:rPr lang="en-US" sz="1320">
                <a:solidFill>
                  <a:srgbClr val="595959"/>
                </a:solidFill>
                <a:latin typeface="Inter"/>
                <a:ea typeface="Inter"/>
                <a:cs typeface="Inter"/>
                <a:sym typeface="Inter"/>
              </a:rPr>
              <a:t>Role: Manages long-term medications</a:t>
            </a:r>
          </a:p>
        </p:txBody>
      </p:sp>
      <p:sp>
        <p:nvSpPr>
          <p:cNvPr name="TextBox 23" id="23"/>
          <p:cNvSpPr txBox="true"/>
          <p:nvPr/>
        </p:nvSpPr>
        <p:spPr>
          <a:xfrm rot="0">
            <a:off x="1130875" y="4123805"/>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PROFILE</a:t>
            </a:r>
          </a:p>
        </p:txBody>
      </p:sp>
      <p:sp>
        <p:nvSpPr>
          <p:cNvPr name="TextBox 24" id="24"/>
          <p:cNvSpPr txBox="true"/>
          <p:nvPr/>
        </p:nvSpPr>
        <p:spPr>
          <a:xfrm rot="0">
            <a:off x="1127970" y="4381743"/>
            <a:ext cx="3709168" cy="456484"/>
          </a:xfrm>
          <a:prstGeom prst="rect">
            <a:avLst/>
          </a:prstGeom>
        </p:spPr>
        <p:txBody>
          <a:bodyPr anchor="t" rtlCol="false" tIns="0" lIns="0" bIns="0" rIns="0">
            <a:spAutoFit/>
          </a:bodyPr>
          <a:lstStyle/>
          <a:p>
            <a:pPr algn="l">
              <a:lnSpc>
                <a:spcPts val="1844"/>
              </a:lnSpc>
            </a:pPr>
            <a:r>
              <a:rPr lang="en-US" sz="1220">
                <a:solidFill>
                  <a:srgbClr val="595959"/>
                </a:solidFill>
                <a:latin typeface="Inter"/>
                <a:ea typeface="Inter"/>
                <a:cs typeface="Inter"/>
                <a:sym typeface="Inter"/>
              </a:rPr>
              <a:t>Lives with on</a:t>
            </a:r>
            <a:r>
              <a:rPr lang="en-US" sz="1220">
                <a:solidFill>
                  <a:srgbClr val="595959"/>
                </a:solidFill>
                <a:latin typeface="Inter"/>
                <a:ea typeface="Inter"/>
                <a:cs typeface="Inter"/>
                <a:sym typeface="Inter"/>
              </a:rPr>
              <a:t>e or more chronic conditions such as diabetes, hypertension, asthma, or heart disease.</a:t>
            </a:r>
          </a:p>
        </p:txBody>
      </p:sp>
      <p:sp>
        <p:nvSpPr>
          <p:cNvPr name="TextBox 25" id="25"/>
          <p:cNvSpPr txBox="true"/>
          <p:nvPr/>
        </p:nvSpPr>
        <p:spPr>
          <a:xfrm rot="0">
            <a:off x="1130875" y="5098256"/>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NEEDS</a:t>
            </a:r>
          </a:p>
        </p:txBody>
      </p:sp>
      <p:sp>
        <p:nvSpPr>
          <p:cNvPr name="TextBox 26" id="26"/>
          <p:cNvSpPr txBox="true"/>
          <p:nvPr/>
        </p:nvSpPr>
        <p:spPr>
          <a:xfrm rot="0">
            <a:off x="1130875" y="5482620"/>
            <a:ext cx="3590094" cy="429006"/>
          </a:xfrm>
          <a:prstGeom prst="rect">
            <a:avLst/>
          </a:prstGeom>
        </p:spPr>
        <p:txBody>
          <a:bodyPr anchor="t" rtlCol="false" tIns="0" lIns="0" bIns="0" rIns="0">
            <a:spAutoFit/>
          </a:bodyPr>
          <a:lstStyle/>
          <a:p>
            <a:pPr algn="l">
              <a:lnSpc>
                <a:spcPts val="1781"/>
              </a:lnSpc>
            </a:pPr>
            <a:r>
              <a:rPr lang="en-US" sz="1299">
                <a:solidFill>
                  <a:srgbClr val="595959"/>
                </a:solidFill>
                <a:latin typeface="Inter"/>
                <a:ea typeface="Inter"/>
                <a:cs typeface="Inter"/>
                <a:sym typeface="Inter"/>
              </a:rPr>
              <a:t>Clear perso</a:t>
            </a:r>
            <a:r>
              <a:rPr lang="en-US" sz="1299">
                <a:solidFill>
                  <a:srgbClr val="595959"/>
                </a:solidFill>
                <a:latin typeface="Inter"/>
                <a:ea typeface="Inter"/>
                <a:cs typeface="Inter"/>
                <a:sym typeface="Inter"/>
              </a:rPr>
              <a:t>nalized dose timing, medication information, refill reminders, and safety alerts.</a:t>
            </a:r>
          </a:p>
        </p:txBody>
      </p:sp>
      <p:sp>
        <p:nvSpPr>
          <p:cNvPr name="TextBox 27" id="27"/>
          <p:cNvSpPr txBox="true"/>
          <p:nvPr/>
        </p:nvSpPr>
        <p:spPr>
          <a:xfrm rot="0">
            <a:off x="1130875" y="6321201"/>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FRUSTRATIONS</a:t>
            </a:r>
          </a:p>
        </p:txBody>
      </p:sp>
      <p:grpSp>
        <p:nvGrpSpPr>
          <p:cNvPr name="Group 28" id="28"/>
          <p:cNvGrpSpPr/>
          <p:nvPr/>
        </p:nvGrpSpPr>
        <p:grpSpPr>
          <a:xfrm rot="0">
            <a:off x="5087693" y="2668934"/>
            <a:ext cx="3933825" cy="6800850"/>
            <a:chOff x="0" y="0"/>
            <a:chExt cx="5245100" cy="9067800"/>
          </a:xfrm>
        </p:grpSpPr>
        <p:sp>
          <p:nvSpPr>
            <p:cNvPr name="Freeform 29" id="29"/>
            <p:cNvSpPr/>
            <p:nvPr/>
          </p:nvSpPr>
          <p:spPr>
            <a:xfrm flipH="false" flipV="false" rot="0">
              <a:off x="0" y="0"/>
              <a:ext cx="5245100" cy="9067800"/>
            </a:xfrm>
            <a:custGeom>
              <a:avLst/>
              <a:gdLst/>
              <a:ahLst/>
              <a:cxnLst/>
              <a:rect r="r" b="b" t="t" l="l"/>
              <a:pathLst>
                <a:path h="9067800" w="5245100">
                  <a:moveTo>
                    <a:pt x="0" y="244475"/>
                  </a:moveTo>
                  <a:cubicBezTo>
                    <a:pt x="0" y="109474"/>
                    <a:pt x="109474" y="0"/>
                    <a:pt x="244475" y="0"/>
                  </a:cubicBezTo>
                  <a:lnTo>
                    <a:pt x="5000625" y="0"/>
                  </a:lnTo>
                  <a:cubicBezTo>
                    <a:pt x="5135626" y="0"/>
                    <a:pt x="5245100" y="109474"/>
                    <a:pt x="5245100" y="244475"/>
                  </a:cubicBezTo>
                  <a:lnTo>
                    <a:pt x="5245100" y="8823325"/>
                  </a:lnTo>
                  <a:cubicBezTo>
                    <a:pt x="5245100" y="8958326"/>
                    <a:pt x="5135626" y="9067800"/>
                    <a:pt x="5000625" y="9067800"/>
                  </a:cubicBezTo>
                  <a:lnTo>
                    <a:pt x="244475" y="9067800"/>
                  </a:lnTo>
                  <a:cubicBezTo>
                    <a:pt x="109474" y="9067800"/>
                    <a:pt x="0" y="8958326"/>
                    <a:pt x="0" y="8823325"/>
                  </a:cubicBezTo>
                  <a:close/>
                </a:path>
              </a:pathLst>
            </a:custGeom>
            <a:solidFill>
              <a:srgbClr val="FFFFFF"/>
            </a:solidFill>
            <a:ln w="9526" cap="sq">
              <a:solidFill>
                <a:srgbClr val="E5E7EB"/>
              </a:solidFill>
              <a:prstDash val="solid"/>
              <a:miter/>
            </a:ln>
          </p:spPr>
        </p:sp>
      </p:grpSp>
      <p:grpSp>
        <p:nvGrpSpPr>
          <p:cNvPr name="Group 30" id="30"/>
          <p:cNvGrpSpPr/>
          <p:nvPr/>
        </p:nvGrpSpPr>
        <p:grpSpPr>
          <a:xfrm rot="0">
            <a:off x="5309664" y="2891057"/>
            <a:ext cx="619125" cy="619125"/>
            <a:chOff x="0" y="0"/>
            <a:chExt cx="825500" cy="825500"/>
          </a:xfrm>
        </p:grpSpPr>
        <p:sp>
          <p:nvSpPr>
            <p:cNvPr name="Freeform 31" id="31"/>
            <p:cNvSpPr/>
            <p:nvPr/>
          </p:nvSpPr>
          <p:spPr>
            <a:xfrm flipH="false" flipV="false" rot="0">
              <a:off x="0" y="0"/>
              <a:ext cx="825500" cy="825500"/>
            </a:xfrm>
            <a:custGeom>
              <a:avLst/>
              <a:gdLst/>
              <a:ahLst/>
              <a:cxnLst/>
              <a:rect r="r" b="b" t="t" l="l"/>
              <a:pathLst>
                <a:path h="825500" w="825500">
                  <a:moveTo>
                    <a:pt x="0" y="412750"/>
                  </a:moveTo>
                  <a:cubicBezTo>
                    <a:pt x="0" y="184785"/>
                    <a:pt x="184785" y="0"/>
                    <a:pt x="412750" y="0"/>
                  </a:cubicBezTo>
                  <a:cubicBezTo>
                    <a:pt x="640715" y="0"/>
                    <a:pt x="825500" y="184785"/>
                    <a:pt x="825500" y="412750"/>
                  </a:cubicBezTo>
                  <a:cubicBezTo>
                    <a:pt x="825500" y="640715"/>
                    <a:pt x="640715" y="825500"/>
                    <a:pt x="412750" y="825500"/>
                  </a:cubicBezTo>
                  <a:cubicBezTo>
                    <a:pt x="184785" y="825500"/>
                    <a:pt x="0" y="640715"/>
                    <a:pt x="0" y="412750"/>
                  </a:cubicBezTo>
                  <a:close/>
                </a:path>
              </a:pathLst>
            </a:custGeom>
            <a:solidFill>
              <a:srgbClr val="2FC972">
                <a:alpha val="1961"/>
              </a:srgbClr>
            </a:solidFill>
          </p:spPr>
        </p:sp>
      </p:grpSp>
      <p:grpSp>
        <p:nvGrpSpPr>
          <p:cNvPr name="Group 32" id="32"/>
          <p:cNvGrpSpPr/>
          <p:nvPr/>
        </p:nvGrpSpPr>
        <p:grpSpPr>
          <a:xfrm rot="0">
            <a:off x="5454701" y="3036094"/>
            <a:ext cx="329060" cy="329060"/>
            <a:chOff x="0" y="0"/>
            <a:chExt cx="438747" cy="438747"/>
          </a:xfrm>
        </p:grpSpPr>
        <p:sp>
          <p:nvSpPr>
            <p:cNvPr name="Freeform 33" id="33"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3"/>
              <a:stretch>
                <a:fillRect l="0" t="0" r="8" b="8"/>
              </a:stretch>
            </a:blipFill>
          </p:spPr>
        </p:sp>
      </p:grpSp>
      <p:sp>
        <p:nvSpPr>
          <p:cNvPr name="TextBox 34" id="34"/>
          <p:cNvSpPr txBox="true"/>
          <p:nvPr/>
        </p:nvSpPr>
        <p:spPr>
          <a:xfrm rot="0">
            <a:off x="6078436" y="2904382"/>
            <a:ext cx="14954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PERSONA 02</a:t>
            </a:r>
          </a:p>
        </p:txBody>
      </p:sp>
      <p:sp>
        <p:nvSpPr>
          <p:cNvPr name="TextBox 35" id="35"/>
          <p:cNvSpPr txBox="true"/>
          <p:nvPr/>
        </p:nvSpPr>
        <p:spPr>
          <a:xfrm rot="0">
            <a:off x="6078436" y="3134020"/>
            <a:ext cx="1495425" cy="323850"/>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[Older adult]</a:t>
            </a:r>
          </a:p>
        </p:txBody>
      </p:sp>
      <p:sp>
        <p:nvSpPr>
          <p:cNvPr name="TextBox 36" id="36"/>
          <p:cNvSpPr txBox="true"/>
          <p:nvPr/>
        </p:nvSpPr>
        <p:spPr>
          <a:xfrm rot="0">
            <a:off x="5309673" y="4123805"/>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PROFILE</a:t>
            </a:r>
          </a:p>
        </p:txBody>
      </p:sp>
      <p:sp>
        <p:nvSpPr>
          <p:cNvPr name="TextBox 37" id="37"/>
          <p:cNvSpPr txBox="true"/>
          <p:nvPr/>
        </p:nvSpPr>
        <p:spPr>
          <a:xfrm rot="0">
            <a:off x="5313607" y="5095875"/>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NEEDS</a:t>
            </a:r>
          </a:p>
        </p:txBody>
      </p:sp>
      <p:sp>
        <p:nvSpPr>
          <p:cNvPr name="TextBox 38" id="38"/>
          <p:cNvSpPr txBox="true"/>
          <p:nvPr/>
        </p:nvSpPr>
        <p:spPr>
          <a:xfrm rot="0">
            <a:off x="5304082" y="6321201"/>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FRUSTRATIONS</a:t>
            </a:r>
          </a:p>
        </p:txBody>
      </p:sp>
      <p:grpSp>
        <p:nvGrpSpPr>
          <p:cNvPr name="Group 39" id="39"/>
          <p:cNvGrpSpPr/>
          <p:nvPr/>
        </p:nvGrpSpPr>
        <p:grpSpPr>
          <a:xfrm rot="0">
            <a:off x="9266482" y="2668934"/>
            <a:ext cx="3933825" cy="6800850"/>
            <a:chOff x="0" y="0"/>
            <a:chExt cx="5245100" cy="9067800"/>
          </a:xfrm>
        </p:grpSpPr>
        <p:sp>
          <p:nvSpPr>
            <p:cNvPr name="Freeform 40" id="40"/>
            <p:cNvSpPr/>
            <p:nvPr/>
          </p:nvSpPr>
          <p:spPr>
            <a:xfrm flipH="false" flipV="false" rot="0">
              <a:off x="0" y="0"/>
              <a:ext cx="5245100" cy="9067800"/>
            </a:xfrm>
            <a:custGeom>
              <a:avLst/>
              <a:gdLst/>
              <a:ahLst/>
              <a:cxnLst/>
              <a:rect r="r" b="b" t="t" l="l"/>
              <a:pathLst>
                <a:path h="9067800" w="5245100">
                  <a:moveTo>
                    <a:pt x="0" y="244475"/>
                  </a:moveTo>
                  <a:cubicBezTo>
                    <a:pt x="0" y="109474"/>
                    <a:pt x="109474" y="0"/>
                    <a:pt x="244475" y="0"/>
                  </a:cubicBezTo>
                  <a:lnTo>
                    <a:pt x="5000625" y="0"/>
                  </a:lnTo>
                  <a:cubicBezTo>
                    <a:pt x="5135626" y="0"/>
                    <a:pt x="5245100" y="109474"/>
                    <a:pt x="5245100" y="244475"/>
                  </a:cubicBezTo>
                  <a:lnTo>
                    <a:pt x="5245100" y="8823325"/>
                  </a:lnTo>
                  <a:cubicBezTo>
                    <a:pt x="5245100" y="8958326"/>
                    <a:pt x="5135626" y="9067800"/>
                    <a:pt x="5000625" y="9067800"/>
                  </a:cubicBezTo>
                  <a:lnTo>
                    <a:pt x="244475" y="9067800"/>
                  </a:lnTo>
                  <a:cubicBezTo>
                    <a:pt x="109474" y="9067800"/>
                    <a:pt x="0" y="8958326"/>
                    <a:pt x="0" y="8823325"/>
                  </a:cubicBezTo>
                  <a:close/>
                </a:path>
              </a:pathLst>
            </a:custGeom>
            <a:solidFill>
              <a:srgbClr val="FFFFFF"/>
            </a:solidFill>
            <a:ln w="9526" cap="sq">
              <a:solidFill>
                <a:srgbClr val="E5E7EB"/>
              </a:solidFill>
              <a:prstDash val="solid"/>
              <a:miter/>
            </a:ln>
          </p:spPr>
        </p:sp>
      </p:grpSp>
      <p:grpSp>
        <p:nvGrpSpPr>
          <p:cNvPr name="Group 41" id="41"/>
          <p:cNvGrpSpPr/>
          <p:nvPr/>
        </p:nvGrpSpPr>
        <p:grpSpPr>
          <a:xfrm rot="0">
            <a:off x="9488462" y="2891057"/>
            <a:ext cx="619125" cy="619125"/>
            <a:chOff x="0" y="0"/>
            <a:chExt cx="825500" cy="825500"/>
          </a:xfrm>
        </p:grpSpPr>
        <p:sp>
          <p:nvSpPr>
            <p:cNvPr name="Freeform 42" id="42"/>
            <p:cNvSpPr/>
            <p:nvPr/>
          </p:nvSpPr>
          <p:spPr>
            <a:xfrm flipH="false" flipV="false" rot="0">
              <a:off x="0" y="0"/>
              <a:ext cx="825500" cy="825500"/>
            </a:xfrm>
            <a:custGeom>
              <a:avLst/>
              <a:gdLst/>
              <a:ahLst/>
              <a:cxnLst/>
              <a:rect r="r" b="b" t="t" l="l"/>
              <a:pathLst>
                <a:path h="825500" w="825500">
                  <a:moveTo>
                    <a:pt x="0" y="412750"/>
                  </a:moveTo>
                  <a:cubicBezTo>
                    <a:pt x="0" y="184785"/>
                    <a:pt x="184785" y="0"/>
                    <a:pt x="412750" y="0"/>
                  </a:cubicBezTo>
                  <a:cubicBezTo>
                    <a:pt x="640715" y="0"/>
                    <a:pt x="825500" y="184785"/>
                    <a:pt x="825500" y="412750"/>
                  </a:cubicBezTo>
                  <a:cubicBezTo>
                    <a:pt x="825500" y="640715"/>
                    <a:pt x="640715" y="825500"/>
                    <a:pt x="412750" y="825500"/>
                  </a:cubicBezTo>
                  <a:cubicBezTo>
                    <a:pt x="184785" y="825500"/>
                    <a:pt x="0" y="640715"/>
                    <a:pt x="0" y="412750"/>
                  </a:cubicBezTo>
                  <a:close/>
                </a:path>
              </a:pathLst>
            </a:custGeom>
            <a:solidFill>
              <a:srgbClr val="2FC972">
                <a:alpha val="1961"/>
              </a:srgbClr>
            </a:solidFill>
          </p:spPr>
        </p:sp>
      </p:grpSp>
      <p:grpSp>
        <p:nvGrpSpPr>
          <p:cNvPr name="Group 43" id="43"/>
          <p:cNvGrpSpPr/>
          <p:nvPr/>
        </p:nvGrpSpPr>
        <p:grpSpPr>
          <a:xfrm rot="0">
            <a:off x="9633499" y="3036094"/>
            <a:ext cx="329060" cy="329060"/>
            <a:chOff x="0" y="0"/>
            <a:chExt cx="438747" cy="438747"/>
          </a:xfrm>
        </p:grpSpPr>
        <p:sp>
          <p:nvSpPr>
            <p:cNvPr name="Freeform 44" id="44"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3"/>
              <a:stretch>
                <a:fillRect l="0" t="0" r="8" b="8"/>
              </a:stretch>
            </a:blipFill>
          </p:spPr>
        </p:sp>
      </p:grpSp>
      <p:sp>
        <p:nvSpPr>
          <p:cNvPr name="TextBox 45" id="45"/>
          <p:cNvSpPr txBox="true"/>
          <p:nvPr/>
        </p:nvSpPr>
        <p:spPr>
          <a:xfrm rot="0">
            <a:off x="10256263" y="2904382"/>
            <a:ext cx="208597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PERSONA 03</a:t>
            </a:r>
          </a:p>
        </p:txBody>
      </p:sp>
      <p:sp>
        <p:nvSpPr>
          <p:cNvPr name="TextBox 46" id="46"/>
          <p:cNvSpPr txBox="true"/>
          <p:nvPr/>
        </p:nvSpPr>
        <p:spPr>
          <a:xfrm rot="0">
            <a:off x="10256263" y="3134020"/>
            <a:ext cx="2085975" cy="323850"/>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[Family caregiver]</a:t>
            </a:r>
          </a:p>
        </p:txBody>
      </p:sp>
      <p:sp>
        <p:nvSpPr>
          <p:cNvPr name="TextBox 47" id="47"/>
          <p:cNvSpPr txBox="true"/>
          <p:nvPr/>
        </p:nvSpPr>
        <p:spPr>
          <a:xfrm rot="0">
            <a:off x="9485557" y="3598964"/>
            <a:ext cx="3495675" cy="234634"/>
          </a:xfrm>
          <a:prstGeom prst="rect">
            <a:avLst/>
          </a:prstGeom>
        </p:spPr>
        <p:txBody>
          <a:bodyPr anchor="t" rtlCol="false" tIns="0" lIns="0" bIns="0" rIns="0">
            <a:spAutoFit/>
          </a:bodyPr>
          <a:lstStyle/>
          <a:p>
            <a:pPr algn="l">
              <a:lnSpc>
                <a:spcPts val="1986"/>
              </a:lnSpc>
            </a:pPr>
            <a:r>
              <a:rPr lang="en-US" sz="1320">
                <a:solidFill>
                  <a:srgbClr val="6B7280"/>
                </a:solidFill>
                <a:latin typeface="Inter"/>
                <a:ea typeface="Inter"/>
                <a:cs typeface="Inter"/>
                <a:sym typeface="Inter"/>
              </a:rPr>
              <a:t>Age: 25 – 45</a:t>
            </a:r>
          </a:p>
        </p:txBody>
      </p:sp>
      <p:sp>
        <p:nvSpPr>
          <p:cNvPr name="TextBox 48" id="48"/>
          <p:cNvSpPr txBox="true"/>
          <p:nvPr/>
        </p:nvSpPr>
        <p:spPr>
          <a:xfrm rot="0">
            <a:off x="9485557" y="3832022"/>
            <a:ext cx="3495675" cy="234634"/>
          </a:xfrm>
          <a:prstGeom prst="rect">
            <a:avLst/>
          </a:prstGeom>
        </p:spPr>
        <p:txBody>
          <a:bodyPr anchor="t" rtlCol="false" tIns="0" lIns="0" bIns="0" rIns="0">
            <a:spAutoFit/>
          </a:bodyPr>
          <a:lstStyle/>
          <a:p>
            <a:pPr algn="l">
              <a:lnSpc>
                <a:spcPts val="1986"/>
              </a:lnSpc>
            </a:pPr>
            <a:r>
              <a:rPr lang="en-US" sz="1320">
                <a:solidFill>
                  <a:srgbClr val="6B7280"/>
                </a:solidFill>
                <a:latin typeface="Inter"/>
                <a:ea typeface="Inter"/>
                <a:cs typeface="Inter"/>
                <a:sym typeface="Inter"/>
              </a:rPr>
              <a:t>Role: Supports a parent or family member</a:t>
            </a:r>
          </a:p>
        </p:txBody>
      </p:sp>
      <p:sp>
        <p:nvSpPr>
          <p:cNvPr name="TextBox 49" id="49"/>
          <p:cNvSpPr txBox="true"/>
          <p:nvPr/>
        </p:nvSpPr>
        <p:spPr>
          <a:xfrm rot="0">
            <a:off x="9488462" y="4123805"/>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PROFILE</a:t>
            </a:r>
          </a:p>
        </p:txBody>
      </p:sp>
      <p:sp>
        <p:nvSpPr>
          <p:cNvPr name="TextBox 50" id="50"/>
          <p:cNvSpPr txBox="true"/>
          <p:nvPr/>
        </p:nvSpPr>
        <p:spPr>
          <a:xfrm rot="0">
            <a:off x="9485557" y="5098256"/>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NEEDS</a:t>
            </a:r>
          </a:p>
        </p:txBody>
      </p:sp>
      <p:sp>
        <p:nvSpPr>
          <p:cNvPr name="TextBox 51" id="51"/>
          <p:cNvSpPr txBox="true"/>
          <p:nvPr/>
        </p:nvSpPr>
        <p:spPr>
          <a:xfrm rot="0">
            <a:off x="9485557" y="5470494"/>
            <a:ext cx="3495675" cy="429006"/>
          </a:xfrm>
          <a:prstGeom prst="rect">
            <a:avLst/>
          </a:prstGeom>
        </p:spPr>
        <p:txBody>
          <a:bodyPr anchor="t" rtlCol="false" tIns="0" lIns="0" bIns="0" rIns="0">
            <a:spAutoFit/>
          </a:bodyPr>
          <a:lstStyle/>
          <a:p>
            <a:pPr algn="l">
              <a:lnSpc>
                <a:spcPts val="1782"/>
              </a:lnSpc>
            </a:pPr>
            <a:r>
              <a:rPr lang="en-US" sz="1300">
                <a:solidFill>
                  <a:srgbClr val="595959"/>
                </a:solidFill>
                <a:latin typeface="Inter"/>
                <a:ea typeface="Inter"/>
                <a:cs typeface="Inter"/>
                <a:sym typeface="Inter"/>
              </a:rPr>
              <a:t>R</a:t>
            </a:r>
            <a:r>
              <a:rPr lang="en-US" sz="1300">
                <a:solidFill>
                  <a:srgbClr val="595959"/>
                </a:solidFill>
                <a:latin typeface="Inter"/>
                <a:ea typeface="Inter"/>
                <a:cs typeface="Inter"/>
                <a:sym typeface="Inter"/>
              </a:rPr>
              <a:t>emote visibility, shared schedules, missed-dose alerts, and patient profile management.</a:t>
            </a:r>
          </a:p>
        </p:txBody>
      </p:sp>
      <p:sp>
        <p:nvSpPr>
          <p:cNvPr name="TextBox 52" id="52"/>
          <p:cNvSpPr txBox="true"/>
          <p:nvPr/>
        </p:nvSpPr>
        <p:spPr>
          <a:xfrm rot="0">
            <a:off x="9491139" y="6321201"/>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FRUSTRATIONS</a:t>
            </a:r>
          </a:p>
        </p:txBody>
      </p:sp>
      <p:sp>
        <p:nvSpPr>
          <p:cNvPr name="TextBox 53" id="53"/>
          <p:cNvSpPr txBox="true"/>
          <p:nvPr/>
        </p:nvSpPr>
        <p:spPr>
          <a:xfrm rot="0">
            <a:off x="9485557" y="6693438"/>
            <a:ext cx="3495675" cy="867220"/>
          </a:xfrm>
          <a:prstGeom prst="rect">
            <a:avLst/>
          </a:prstGeom>
        </p:spPr>
        <p:txBody>
          <a:bodyPr anchor="t" rtlCol="false" tIns="0" lIns="0" bIns="0" rIns="0">
            <a:spAutoFit/>
          </a:bodyPr>
          <a:lstStyle/>
          <a:p>
            <a:pPr algn="l">
              <a:lnSpc>
                <a:spcPts val="1780"/>
              </a:lnSpc>
            </a:pPr>
            <a:r>
              <a:rPr lang="en-US" sz="1299">
                <a:solidFill>
                  <a:srgbClr val="595959"/>
                </a:solidFill>
                <a:latin typeface="Inter"/>
                <a:ea typeface="Inter"/>
                <a:cs typeface="Inter"/>
                <a:sym typeface="Inter"/>
              </a:rPr>
              <a:t>Does </a:t>
            </a:r>
            <a:r>
              <a:rPr lang="en-US" sz="1299">
                <a:solidFill>
                  <a:srgbClr val="595959"/>
                </a:solidFill>
                <a:latin typeface="Inter"/>
                <a:ea typeface="Inter"/>
                <a:cs typeface="Inter"/>
                <a:sym typeface="Inter"/>
              </a:rPr>
              <a:t>not always know if medicine was taken, struggles to keep track while at work, and worries about safety.</a:t>
            </a:r>
          </a:p>
          <a:p>
            <a:pPr algn="l">
              <a:lnSpc>
                <a:spcPts val="1782"/>
              </a:lnSpc>
            </a:pPr>
          </a:p>
        </p:txBody>
      </p:sp>
      <p:grpSp>
        <p:nvGrpSpPr>
          <p:cNvPr name="Group 54" id="54"/>
          <p:cNvGrpSpPr/>
          <p:nvPr/>
        </p:nvGrpSpPr>
        <p:grpSpPr>
          <a:xfrm rot="0">
            <a:off x="13445280" y="2668934"/>
            <a:ext cx="3933825" cy="6800850"/>
            <a:chOff x="0" y="0"/>
            <a:chExt cx="5245100" cy="9067800"/>
          </a:xfrm>
        </p:grpSpPr>
        <p:sp>
          <p:nvSpPr>
            <p:cNvPr name="Freeform 55" id="55"/>
            <p:cNvSpPr/>
            <p:nvPr/>
          </p:nvSpPr>
          <p:spPr>
            <a:xfrm flipH="false" flipV="false" rot="0">
              <a:off x="0" y="0"/>
              <a:ext cx="5245100" cy="9067800"/>
            </a:xfrm>
            <a:custGeom>
              <a:avLst/>
              <a:gdLst/>
              <a:ahLst/>
              <a:cxnLst/>
              <a:rect r="r" b="b" t="t" l="l"/>
              <a:pathLst>
                <a:path h="9067800" w="5245100">
                  <a:moveTo>
                    <a:pt x="0" y="244475"/>
                  </a:moveTo>
                  <a:cubicBezTo>
                    <a:pt x="0" y="109474"/>
                    <a:pt x="109474" y="0"/>
                    <a:pt x="244475" y="0"/>
                  </a:cubicBezTo>
                  <a:lnTo>
                    <a:pt x="5000625" y="0"/>
                  </a:lnTo>
                  <a:cubicBezTo>
                    <a:pt x="5135626" y="0"/>
                    <a:pt x="5245100" y="109474"/>
                    <a:pt x="5245100" y="244475"/>
                  </a:cubicBezTo>
                  <a:lnTo>
                    <a:pt x="5245100" y="8823325"/>
                  </a:lnTo>
                  <a:cubicBezTo>
                    <a:pt x="5245100" y="8958326"/>
                    <a:pt x="5135626" y="9067800"/>
                    <a:pt x="5000625" y="9067800"/>
                  </a:cubicBezTo>
                  <a:lnTo>
                    <a:pt x="244475" y="9067800"/>
                  </a:lnTo>
                  <a:cubicBezTo>
                    <a:pt x="109474" y="9067800"/>
                    <a:pt x="0" y="8958326"/>
                    <a:pt x="0" y="8823325"/>
                  </a:cubicBezTo>
                  <a:close/>
                </a:path>
              </a:pathLst>
            </a:custGeom>
            <a:solidFill>
              <a:srgbClr val="ECFAF2"/>
            </a:solidFill>
            <a:ln w="9526" cap="sq">
              <a:solidFill>
                <a:srgbClr val="ECFAF2"/>
              </a:solidFill>
              <a:prstDash val="solid"/>
              <a:miter/>
            </a:ln>
          </p:spPr>
        </p:sp>
      </p:grpSp>
      <p:grpSp>
        <p:nvGrpSpPr>
          <p:cNvPr name="Group 56" id="56"/>
          <p:cNvGrpSpPr/>
          <p:nvPr/>
        </p:nvGrpSpPr>
        <p:grpSpPr>
          <a:xfrm rot="0">
            <a:off x="13667261" y="2891057"/>
            <a:ext cx="619125" cy="619125"/>
            <a:chOff x="0" y="0"/>
            <a:chExt cx="825500" cy="825500"/>
          </a:xfrm>
        </p:grpSpPr>
        <p:sp>
          <p:nvSpPr>
            <p:cNvPr name="Freeform 57" id="57"/>
            <p:cNvSpPr/>
            <p:nvPr/>
          </p:nvSpPr>
          <p:spPr>
            <a:xfrm flipH="false" flipV="false" rot="0">
              <a:off x="0" y="0"/>
              <a:ext cx="825500" cy="825500"/>
            </a:xfrm>
            <a:custGeom>
              <a:avLst/>
              <a:gdLst/>
              <a:ahLst/>
              <a:cxnLst/>
              <a:rect r="r" b="b" t="t" l="l"/>
              <a:pathLst>
                <a:path h="825500" w="825500">
                  <a:moveTo>
                    <a:pt x="0" y="412750"/>
                  </a:moveTo>
                  <a:cubicBezTo>
                    <a:pt x="0" y="184785"/>
                    <a:pt x="184785" y="0"/>
                    <a:pt x="412750" y="0"/>
                  </a:cubicBezTo>
                  <a:cubicBezTo>
                    <a:pt x="640715" y="0"/>
                    <a:pt x="825500" y="184785"/>
                    <a:pt x="825500" y="412750"/>
                  </a:cubicBezTo>
                  <a:cubicBezTo>
                    <a:pt x="825500" y="640715"/>
                    <a:pt x="640715" y="825500"/>
                    <a:pt x="412750" y="825500"/>
                  </a:cubicBezTo>
                  <a:cubicBezTo>
                    <a:pt x="184785" y="825500"/>
                    <a:pt x="0" y="640715"/>
                    <a:pt x="0" y="412750"/>
                  </a:cubicBezTo>
                  <a:close/>
                </a:path>
              </a:pathLst>
            </a:custGeom>
            <a:solidFill>
              <a:srgbClr val="2FC972">
                <a:alpha val="1961"/>
              </a:srgbClr>
            </a:solidFill>
          </p:spPr>
        </p:sp>
      </p:grpSp>
      <p:grpSp>
        <p:nvGrpSpPr>
          <p:cNvPr name="Group 58" id="58"/>
          <p:cNvGrpSpPr/>
          <p:nvPr/>
        </p:nvGrpSpPr>
        <p:grpSpPr>
          <a:xfrm rot="0">
            <a:off x="13812288" y="3036094"/>
            <a:ext cx="329060" cy="329060"/>
            <a:chOff x="0" y="0"/>
            <a:chExt cx="438747" cy="438747"/>
          </a:xfrm>
        </p:grpSpPr>
        <p:sp>
          <p:nvSpPr>
            <p:cNvPr name="Freeform 59" id="59"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3"/>
              <a:stretch>
                <a:fillRect l="0" t="0" r="8" b="8"/>
              </a:stretch>
            </a:blipFill>
          </p:spPr>
        </p:sp>
      </p:grpSp>
      <p:sp>
        <p:nvSpPr>
          <p:cNvPr name="TextBox 60" id="60"/>
          <p:cNvSpPr txBox="true"/>
          <p:nvPr/>
        </p:nvSpPr>
        <p:spPr>
          <a:xfrm rot="0">
            <a:off x="14432909" y="2904382"/>
            <a:ext cx="24098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PERSONA 04</a:t>
            </a:r>
          </a:p>
        </p:txBody>
      </p:sp>
      <p:sp>
        <p:nvSpPr>
          <p:cNvPr name="TextBox 61" id="61"/>
          <p:cNvSpPr txBox="true"/>
          <p:nvPr/>
        </p:nvSpPr>
        <p:spPr>
          <a:xfrm rot="0">
            <a:off x="14432909" y="3134020"/>
            <a:ext cx="2334667" cy="313182"/>
          </a:xfrm>
          <a:prstGeom prst="rect">
            <a:avLst/>
          </a:prstGeom>
        </p:spPr>
        <p:txBody>
          <a:bodyPr anchor="t" rtlCol="false" tIns="0" lIns="0" bIns="0" rIns="0">
            <a:spAutoFit/>
          </a:bodyPr>
          <a:lstStyle/>
          <a:p>
            <a:pPr algn="l">
              <a:lnSpc>
                <a:spcPts val="2340"/>
              </a:lnSpc>
            </a:pPr>
            <a:r>
              <a:rPr lang="en-US" b="true" sz="1880">
                <a:solidFill>
                  <a:srgbClr val="1A1A2F"/>
                </a:solidFill>
                <a:latin typeface="Arimo Bold"/>
                <a:ea typeface="Arimo Bold"/>
                <a:cs typeface="Arimo Bold"/>
                <a:sym typeface="Arimo Bold"/>
              </a:rPr>
              <a:t>[Pharmacist partner]</a:t>
            </a:r>
          </a:p>
        </p:txBody>
      </p:sp>
      <p:sp>
        <p:nvSpPr>
          <p:cNvPr name="TextBox 62" id="62"/>
          <p:cNvSpPr txBox="true"/>
          <p:nvPr/>
        </p:nvSpPr>
        <p:spPr>
          <a:xfrm rot="0">
            <a:off x="13664355" y="3598964"/>
            <a:ext cx="3495675" cy="234634"/>
          </a:xfrm>
          <a:prstGeom prst="rect">
            <a:avLst/>
          </a:prstGeom>
        </p:spPr>
        <p:txBody>
          <a:bodyPr anchor="t" rtlCol="false" tIns="0" lIns="0" bIns="0" rIns="0">
            <a:spAutoFit/>
          </a:bodyPr>
          <a:lstStyle/>
          <a:p>
            <a:pPr algn="l">
              <a:lnSpc>
                <a:spcPts val="1986"/>
              </a:lnSpc>
            </a:pPr>
            <a:r>
              <a:rPr lang="en-US" sz="1320">
                <a:solidFill>
                  <a:srgbClr val="595959"/>
                </a:solidFill>
                <a:latin typeface="Inter"/>
                <a:ea typeface="Inter"/>
                <a:cs typeface="Inter"/>
                <a:sym typeface="Inter"/>
              </a:rPr>
              <a:t>Age: N/A</a:t>
            </a:r>
          </a:p>
        </p:txBody>
      </p:sp>
      <p:sp>
        <p:nvSpPr>
          <p:cNvPr name="TextBox 63" id="63"/>
          <p:cNvSpPr txBox="true"/>
          <p:nvPr/>
        </p:nvSpPr>
        <p:spPr>
          <a:xfrm rot="0">
            <a:off x="13664355" y="3832022"/>
            <a:ext cx="3495675" cy="234634"/>
          </a:xfrm>
          <a:prstGeom prst="rect">
            <a:avLst/>
          </a:prstGeom>
        </p:spPr>
        <p:txBody>
          <a:bodyPr anchor="t" rtlCol="false" tIns="0" lIns="0" bIns="0" rIns="0">
            <a:spAutoFit/>
          </a:bodyPr>
          <a:lstStyle/>
          <a:p>
            <a:pPr algn="l">
              <a:lnSpc>
                <a:spcPts val="1986"/>
              </a:lnSpc>
            </a:pPr>
            <a:r>
              <a:rPr lang="en-US" sz="1320">
                <a:solidFill>
                  <a:srgbClr val="595959"/>
                </a:solidFill>
                <a:latin typeface="Inter"/>
                <a:ea typeface="Inter"/>
                <a:cs typeface="Inter"/>
                <a:sym typeface="Inter"/>
              </a:rPr>
              <a:t>Role: Potential B2B customer/partner</a:t>
            </a:r>
          </a:p>
        </p:txBody>
      </p:sp>
      <p:sp>
        <p:nvSpPr>
          <p:cNvPr name="TextBox 64" id="64"/>
          <p:cNvSpPr txBox="true"/>
          <p:nvPr/>
        </p:nvSpPr>
        <p:spPr>
          <a:xfrm rot="0">
            <a:off x="13667261" y="4123805"/>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PROFILE</a:t>
            </a:r>
          </a:p>
        </p:txBody>
      </p:sp>
      <p:sp>
        <p:nvSpPr>
          <p:cNvPr name="TextBox 65" id="65"/>
          <p:cNvSpPr txBox="true"/>
          <p:nvPr/>
        </p:nvSpPr>
        <p:spPr>
          <a:xfrm rot="0">
            <a:off x="13657507" y="5098256"/>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NEEDS</a:t>
            </a:r>
          </a:p>
        </p:txBody>
      </p:sp>
      <p:sp>
        <p:nvSpPr>
          <p:cNvPr name="TextBox 66" id="66"/>
          <p:cNvSpPr txBox="true"/>
          <p:nvPr/>
        </p:nvSpPr>
        <p:spPr>
          <a:xfrm rot="0">
            <a:off x="13667261" y="6321201"/>
            <a:ext cx="3495675" cy="267462"/>
          </a:xfrm>
          <a:prstGeom prst="rect">
            <a:avLst/>
          </a:prstGeom>
        </p:spPr>
        <p:txBody>
          <a:bodyPr anchor="t" rtlCol="false" tIns="0" lIns="0" bIns="0" rIns="0">
            <a:spAutoFit/>
          </a:bodyPr>
          <a:lstStyle/>
          <a:p>
            <a:pPr algn="l">
              <a:lnSpc>
                <a:spcPts val="2219"/>
              </a:lnSpc>
            </a:pPr>
            <a:r>
              <a:rPr lang="en-US" b="true" sz="1479" spc="73">
                <a:solidFill>
                  <a:srgbClr val="2ECC71"/>
                </a:solidFill>
                <a:latin typeface="Inter Bold"/>
                <a:ea typeface="Inter Bold"/>
                <a:cs typeface="Inter Bold"/>
                <a:sym typeface="Inter Bold"/>
              </a:rPr>
              <a:t>FRUSTRATIONS</a:t>
            </a:r>
          </a:p>
        </p:txBody>
      </p:sp>
      <p:grpSp>
        <p:nvGrpSpPr>
          <p:cNvPr name="Group 67" id="67"/>
          <p:cNvGrpSpPr/>
          <p:nvPr/>
        </p:nvGrpSpPr>
        <p:grpSpPr>
          <a:xfrm rot="0">
            <a:off x="914400" y="9703222"/>
            <a:ext cx="16459200" cy="297293"/>
            <a:chOff x="0" y="0"/>
            <a:chExt cx="21945600" cy="396391"/>
          </a:xfrm>
        </p:grpSpPr>
        <p:sp>
          <p:nvSpPr>
            <p:cNvPr name="Freeform 68" id="68"/>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4">
                <a:alphaModFix amt="0"/>
              </a:blip>
              <a:stretch>
                <a:fillRect l="0" t="-1032300" r="0" b="-1025213"/>
              </a:stretch>
            </a:blipFill>
          </p:spPr>
        </p:sp>
        <p:sp>
          <p:nvSpPr>
            <p:cNvPr name="TextBox 69" id="69"/>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70" id="70"/>
          <p:cNvGrpSpPr/>
          <p:nvPr/>
        </p:nvGrpSpPr>
        <p:grpSpPr>
          <a:xfrm rot="0">
            <a:off x="0" y="10247414"/>
            <a:ext cx="18288000" cy="38100"/>
            <a:chOff x="0" y="0"/>
            <a:chExt cx="24384000" cy="50800"/>
          </a:xfrm>
        </p:grpSpPr>
        <p:sp>
          <p:nvSpPr>
            <p:cNvPr name="Freeform 71" id="71"/>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TextBox 72" id="72"/>
          <p:cNvSpPr txBox="true"/>
          <p:nvPr/>
        </p:nvSpPr>
        <p:spPr>
          <a:xfrm rot="0">
            <a:off x="1130875" y="6693438"/>
            <a:ext cx="3495675" cy="867156"/>
          </a:xfrm>
          <a:prstGeom prst="rect">
            <a:avLst/>
          </a:prstGeom>
        </p:spPr>
        <p:txBody>
          <a:bodyPr anchor="t" rtlCol="false" tIns="0" lIns="0" bIns="0" rIns="0">
            <a:spAutoFit/>
          </a:bodyPr>
          <a:lstStyle/>
          <a:p>
            <a:pPr algn="l">
              <a:lnSpc>
                <a:spcPts val="1782"/>
              </a:lnSpc>
            </a:pPr>
            <a:r>
              <a:rPr lang="en-US" sz="1300">
                <a:solidFill>
                  <a:srgbClr val="595959"/>
                </a:solidFill>
                <a:latin typeface="Inter"/>
                <a:ea typeface="Inter"/>
                <a:cs typeface="Inter"/>
                <a:sym typeface="Inter"/>
              </a:rPr>
              <a:t>Forgets doses, feels co</a:t>
            </a:r>
            <a:r>
              <a:rPr lang="en-US" sz="1300">
                <a:solidFill>
                  <a:srgbClr val="595959"/>
                </a:solidFill>
                <a:latin typeface="Inter"/>
                <a:ea typeface="Inter"/>
                <a:cs typeface="Inter"/>
                <a:sym typeface="Inter"/>
              </a:rPr>
              <a:t>nfused by instructions, struggles to organize multiple medicines, and worries about unsafe combinations or allergy-related warnings.</a:t>
            </a:r>
          </a:p>
        </p:txBody>
      </p:sp>
      <p:sp>
        <p:nvSpPr>
          <p:cNvPr name="TextBox 73" id="73"/>
          <p:cNvSpPr txBox="true"/>
          <p:nvPr/>
        </p:nvSpPr>
        <p:spPr>
          <a:xfrm rot="0">
            <a:off x="5309664" y="3573113"/>
            <a:ext cx="3495675" cy="234634"/>
          </a:xfrm>
          <a:prstGeom prst="rect">
            <a:avLst/>
          </a:prstGeom>
        </p:spPr>
        <p:txBody>
          <a:bodyPr anchor="t" rtlCol="false" tIns="0" lIns="0" bIns="0" rIns="0">
            <a:spAutoFit/>
          </a:bodyPr>
          <a:lstStyle/>
          <a:p>
            <a:pPr algn="l">
              <a:lnSpc>
                <a:spcPts val="1986"/>
              </a:lnSpc>
            </a:pPr>
            <a:r>
              <a:rPr lang="en-US" sz="1320">
                <a:solidFill>
                  <a:srgbClr val="595959"/>
                </a:solidFill>
                <a:latin typeface="Inter"/>
                <a:ea typeface="Inter"/>
                <a:cs typeface="Inter"/>
                <a:sym typeface="Inter"/>
              </a:rPr>
              <a:t>Age: 65+</a:t>
            </a:r>
          </a:p>
        </p:txBody>
      </p:sp>
      <p:sp>
        <p:nvSpPr>
          <p:cNvPr name="TextBox 74" id="74"/>
          <p:cNvSpPr txBox="true"/>
          <p:nvPr/>
        </p:nvSpPr>
        <p:spPr>
          <a:xfrm rot="0">
            <a:off x="5309664" y="3806171"/>
            <a:ext cx="3495675" cy="234634"/>
          </a:xfrm>
          <a:prstGeom prst="rect">
            <a:avLst/>
          </a:prstGeom>
        </p:spPr>
        <p:txBody>
          <a:bodyPr anchor="t" rtlCol="false" tIns="0" lIns="0" bIns="0" rIns="0">
            <a:spAutoFit/>
          </a:bodyPr>
          <a:lstStyle/>
          <a:p>
            <a:pPr algn="l">
              <a:lnSpc>
                <a:spcPts val="1986"/>
              </a:lnSpc>
            </a:pPr>
            <a:r>
              <a:rPr lang="en-US" sz="1320">
                <a:solidFill>
                  <a:srgbClr val="595959"/>
                </a:solidFill>
                <a:latin typeface="Inter"/>
                <a:ea typeface="Inter"/>
                <a:cs typeface="Inter"/>
                <a:sym typeface="Inter"/>
              </a:rPr>
              <a:t>Role: Daily medicine user</a:t>
            </a:r>
          </a:p>
        </p:txBody>
      </p:sp>
      <p:sp>
        <p:nvSpPr>
          <p:cNvPr name="TextBox 75" id="75"/>
          <p:cNvSpPr txBox="true"/>
          <p:nvPr/>
        </p:nvSpPr>
        <p:spPr>
          <a:xfrm rot="0">
            <a:off x="5304082" y="4381743"/>
            <a:ext cx="3709168" cy="456484"/>
          </a:xfrm>
          <a:prstGeom prst="rect">
            <a:avLst/>
          </a:prstGeom>
        </p:spPr>
        <p:txBody>
          <a:bodyPr anchor="t" rtlCol="false" tIns="0" lIns="0" bIns="0" rIns="0">
            <a:spAutoFit/>
          </a:bodyPr>
          <a:lstStyle/>
          <a:p>
            <a:pPr algn="l">
              <a:lnSpc>
                <a:spcPts val="1844"/>
              </a:lnSpc>
            </a:pPr>
            <a:r>
              <a:rPr lang="en-US" sz="1220">
                <a:solidFill>
                  <a:srgbClr val="595959"/>
                </a:solidFill>
                <a:latin typeface="Inter"/>
                <a:ea typeface="Inter"/>
                <a:cs typeface="Inter"/>
                <a:sym typeface="Inter"/>
              </a:rPr>
              <a:t>Tak</a:t>
            </a:r>
            <a:r>
              <a:rPr lang="en-US" sz="1220">
                <a:solidFill>
                  <a:srgbClr val="595959"/>
                </a:solidFill>
                <a:latin typeface="Inter"/>
                <a:ea typeface="Inter"/>
                <a:cs typeface="Inter"/>
                <a:sym typeface="Inter"/>
              </a:rPr>
              <a:t>es s</a:t>
            </a:r>
            <a:r>
              <a:rPr lang="en-US" sz="1220">
                <a:solidFill>
                  <a:srgbClr val="595959"/>
                </a:solidFill>
                <a:latin typeface="Inter"/>
                <a:ea typeface="Inter"/>
                <a:cs typeface="Inter"/>
                <a:sym typeface="Inter"/>
              </a:rPr>
              <a:t>everal medicines daily and may need support remembering when and how to take them.</a:t>
            </a:r>
          </a:p>
        </p:txBody>
      </p:sp>
      <p:sp>
        <p:nvSpPr>
          <p:cNvPr name="TextBox 76" id="76"/>
          <p:cNvSpPr txBox="true"/>
          <p:nvPr/>
        </p:nvSpPr>
        <p:spPr>
          <a:xfrm rot="0">
            <a:off x="5317931" y="5470494"/>
            <a:ext cx="3703587" cy="620590"/>
          </a:xfrm>
          <a:prstGeom prst="rect">
            <a:avLst/>
          </a:prstGeom>
        </p:spPr>
        <p:txBody>
          <a:bodyPr anchor="t" rtlCol="false" tIns="0" lIns="0" bIns="0" rIns="0">
            <a:spAutoFit/>
          </a:bodyPr>
          <a:lstStyle/>
          <a:p>
            <a:pPr algn="l">
              <a:lnSpc>
                <a:spcPts val="1713"/>
              </a:lnSpc>
            </a:pPr>
            <a:r>
              <a:rPr lang="en-US" sz="1250">
                <a:solidFill>
                  <a:srgbClr val="595959"/>
                </a:solidFill>
                <a:latin typeface="Inter"/>
                <a:ea typeface="Inter"/>
                <a:cs typeface="Inter"/>
                <a:sym typeface="Inter"/>
              </a:rPr>
              <a:t>Simp</a:t>
            </a:r>
            <a:r>
              <a:rPr lang="en-US" sz="1250">
                <a:solidFill>
                  <a:srgbClr val="595959"/>
                </a:solidFill>
                <a:latin typeface="Inter"/>
                <a:ea typeface="Inter"/>
                <a:cs typeface="Inter"/>
                <a:sym typeface="Inter"/>
              </a:rPr>
              <a:t>le r</a:t>
            </a:r>
            <a:r>
              <a:rPr lang="en-US" sz="1250">
                <a:solidFill>
                  <a:srgbClr val="595959"/>
                </a:solidFill>
                <a:latin typeface="Inter"/>
                <a:ea typeface="Inter"/>
                <a:cs typeface="Inter"/>
                <a:sym typeface="Inter"/>
              </a:rPr>
              <a:t>eminders, easy-to-read and maintain schedules, caregiver support, and clear instructions.</a:t>
            </a:r>
          </a:p>
        </p:txBody>
      </p:sp>
      <p:sp>
        <p:nvSpPr>
          <p:cNvPr name="TextBox 77" id="77"/>
          <p:cNvSpPr txBox="true"/>
          <p:nvPr/>
        </p:nvSpPr>
        <p:spPr>
          <a:xfrm rot="0">
            <a:off x="5304082" y="6693438"/>
            <a:ext cx="3495675" cy="648081"/>
          </a:xfrm>
          <a:prstGeom prst="rect">
            <a:avLst/>
          </a:prstGeom>
        </p:spPr>
        <p:txBody>
          <a:bodyPr anchor="t" rtlCol="false" tIns="0" lIns="0" bIns="0" rIns="0">
            <a:spAutoFit/>
          </a:bodyPr>
          <a:lstStyle/>
          <a:p>
            <a:pPr algn="l">
              <a:lnSpc>
                <a:spcPts val="1782"/>
              </a:lnSpc>
            </a:pPr>
            <a:r>
              <a:rPr lang="en-US" sz="1300">
                <a:solidFill>
                  <a:srgbClr val="595959"/>
                </a:solidFill>
                <a:latin typeface="Inter"/>
                <a:ea typeface="Inter"/>
                <a:cs typeface="Inter"/>
                <a:sym typeface="Inter"/>
              </a:rPr>
              <a:t>Complex routines, small m</a:t>
            </a:r>
            <a:r>
              <a:rPr lang="en-US" sz="1300">
                <a:solidFill>
                  <a:srgbClr val="595959"/>
                </a:solidFill>
                <a:latin typeface="Inter"/>
                <a:ea typeface="Inter"/>
                <a:cs typeface="Inter"/>
                <a:sym typeface="Inter"/>
              </a:rPr>
              <a:t>edication labels, memory gaps, uncertainty about missed doses, and too many medications.</a:t>
            </a:r>
          </a:p>
        </p:txBody>
      </p:sp>
      <p:sp>
        <p:nvSpPr>
          <p:cNvPr name="TextBox 78" id="78"/>
          <p:cNvSpPr txBox="true"/>
          <p:nvPr/>
        </p:nvSpPr>
        <p:spPr>
          <a:xfrm rot="0">
            <a:off x="9491139" y="4381743"/>
            <a:ext cx="3709168" cy="456484"/>
          </a:xfrm>
          <a:prstGeom prst="rect">
            <a:avLst/>
          </a:prstGeom>
        </p:spPr>
        <p:txBody>
          <a:bodyPr anchor="t" rtlCol="false" tIns="0" lIns="0" bIns="0" rIns="0">
            <a:spAutoFit/>
          </a:bodyPr>
          <a:lstStyle/>
          <a:p>
            <a:pPr algn="l">
              <a:lnSpc>
                <a:spcPts val="1844"/>
              </a:lnSpc>
            </a:pPr>
            <a:r>
              <a:rPr lang="en-US" sz="1220">
                <a:solidFill>
                  <a:srgbClr val="595959"/>
                </a:solidFill>
                <a:latin typeface="Inter"/>
                <a:ea typeface="Inter"/>
                <a:cs typeface="Inter"/>
                <a:sym typeface="Inter"/>
              </a:rPr>
              <a:t>H</a:t>
            </a:r>
            <a:r>
              <a:rPr lang="en-US" sz="1220">
                <a:solidFill>
                  <a:srgbClr val="595959"/>
                </a:solidFill>
                <a:latin typeface="Inter"/>
                <a:ea typeface="Inter"/>
                <a:cs typeface="Inter"/>
                <a:sym typeface="Inter"/>
              </a:rPr>
              <a:t>elps monito</a:t>
            </a:r>
            <a:r>
              <a:rPr lang="en-US" sz="1220">
                <a:solidFill>
                  <a:srgbClr val="595959"/>
                </a:solidFill>
                <a:latin typeface="Inter"/>
                <a:ea typeface="Inter"/>
                <a:cs typeface="Inter"/>
                <a:sym typeface="Inter"/>
              </a:rPr>
              <a:t>r medications, appointments, allergies, and chronic conditions for someone else.</a:t>
            </a:r>
          </a:p>
        </p:txBody>
      </p:sp>
      <p:sp>
        <p:nvSpPr>
          <p:cNvPr name="TextBox 79" id="79"/>
          <p:cNvSpPr txBox="true"/>
          <p:nvPr/>
        </p:nvSpPr>
        <p:spPr>
          <a:xfrm rot="0">
            <a:off x="13676557" y="4381743"/>
            <a:ext cx="3709168" cy="685084"/>
          </a:xfrm>
          <a:prstGeom prst="rect">
            <a:avLst/>
          </a:prstGeom>
        </p:spPr>
        <p:txBody>
          <a:bodyPr anchor="t" rtlCol="false" tIns="0" lIns="0" bIns="0" rIns="0">
            <a:spAutoFit/>
          </a:bodyPr>
          <a:lstStyle/>
          <a:p>
            <a:pPr algn="l">
              <a:lnSpc>
                <a:spcPts val="1844"/>
              </a:lnSpc>
            </a:pPr>
            <a:r>
              <a:rPr lang="en-US" sz="1220">
                <a:solidFill>
                  <a:srgbClr val="595959"/>
                </a:solidFill>
                <a:latin typeface="Inter"/>
                <a:ea typeface="Inter"/>
                <a:cs typeface="Inter"/>
                <a:sym typeface="Inter"/>
              </a:rPr>
              <a:t>C</a:t>
            </a:r>
            <a:r>
              <a:rPr lang="en-US" sz="1220">
                <a:solidFill>
                  <a:srgbClr val="595959"/>
                </a:solidFill>
                <a:latin typeface="Inter"/>
                <a:ea typeface="Inter"/>
                <a:cs typeface="Inter"/>
                <a:sym typeface="Inter"/>
              </a:rPr>
              <a:t>linics, hospit</a:t>
            </a:r>
            <a:r>
              <a:rPr lang="en-US" sz="1220">
                <a:solidFill>
                  <a:srgbClr val="595959"/>
                </a:solidFill>
                <a:latin typeface="Inter"/>
                <a:ea typeface="Inter"/>
                <a:cs typeface="Inter"/>
                <a:sym typeface="Inter"/>
              </a:rPr>
              <a:t>als, insurance providers, or corporate wellness programs that support patients with chronic conditions.</a:t>
            </a:r>
          </a:p>
        </p:txBody>
      </p:sp>
      <p:sp>
        <p:nvSpPr>
          <p:cNvPr name="TextBox 80" id="80"/>
          <p:cNvSpPr txBox="true"/>
          <p:nvPr/>
        </p:nvSpPr>
        <p:spPr>
          <a:xfrm rot="0">
            <a:off x="13664355" y="5470494"/>
            <a:ext cx="3495675" cy="648081"/>
          </a:xfrm>
          <a:prstGeom prst="rect">
            <a:avLst/>
          </a:prstGeom>
        </p:spPr>
        <p:txBody>
          <a:bodyPr anchor="t" rtlCol="false" tIns="0" lIns="0" bIns="0" rIns="0">
            <a:spAutoFit/>
          </a:bodyPr>
          <a:lstStyle/>
          <a:p>
            <a:pPr algn="l">
              <a:lnSpc>
                <a:spcPts val="1782"/>
              </a:lnSpc>
            </a:pPr>
            <a:r>
              <a:rPr lang="en-US" sz="1300">
                <a:solidFill>
                  <a:srgbClr val="595959"/>
                </a:solidFill>
                <a:latin typeface="Inter"/>
                <a:ea typeface="Inter"/>
                <a:cs typeface="Inter"/>
                <a:sym typeface="Inter"/>
              </a:rPr>
              <a:t>B</a:t>
            </a:r>
            <a:r>
              <a:rPr lang="en-US" sz="1300">
                <a:solidFill>
                  <a:srgbClr val="595959"/>
                </a:solidFill>
                <a:latin typeface="Inter"/>
                <a:ea typeface="Inter"/>
                <a:cs typeface="Inter"/>
                <a:sym typeface="Inter"/>
              </a:rPr>
              <a:t>etter medication adherence, patient follow-up, safety-risk tracking, and tools that reduce avoidable care gaps.</a:t>
            </a:r>
          </a:p>
        </p:txBody>
      </p:sp>
      <p:sp>
        <p:nvSpPr>
          <p:cNvPr name="TextBox 81" id="81"/>
          <p:cNvSpPr txBox="true"/>
          <p:nvPr/>
        </p:nvSpPr>
        <p:spPr>
          <a:xfrm rot="0">
            <a:off x="13657507" y="6693438"/>
            <a:ext cx="3495675" cy="1305433"/>
          </a:xfrm>
          <a:prstGeom prst="rect">
            <a:avLst/>
          </a:prstGeom>
        </p:spPr>
        <p:txBody>
          <a:bodyPr anchor="t" rtlCol="false" tIns="0" lIns="0" bIns="0" rIns="0">
            <a:spAutoFit/>
          </a:bodyPr>
          <a:lstStyle/>
          <a:p>
            <a:pPr algn="l">
              <a:lnSpc>
                <a:spcPts val="1780"/>
              </a:lnSpc>
            </a:pPr>
            <a:r>
              <a:rPr lang="en-US" sz="1299">
                <a:solidFill>
                  <a:srgbClr val="595959"/>
                </a:solidFill>
                <a:latin typeface="Inter"/>
                <a:ea typeface="Inter"/>
                <a:cs typeface="Inter"/>
                <a:sym typeface="Inter"/>
              </a:rPr>
              <a:t>Missed doses a</a:t>
            </a:r>
            <a:r>
              <a:rPr lang="en-US" sz="1299">
                <a:solidFill>
                  <a:srgbClr val="595959"/>
                </a:solidFill>
                <a:latin typeface="Inter"/>
                <a:ea typeface="Inter"/>
                <a:cs typeface="Inter"/>
                <a:sym typeface="Inter"/>
              </a:rPr>
              <a:t>nd unclear medication instructions can lead to preventable complications, repeat visits, and higher care costs, giving healthcare organizations a financial reason to support better medication management.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6" id="6"/>
          <p:cNvGrpSpPr/>
          <p:nvPr/>
        </p:nvGrpSpPr>
        <p:grpSpPr>
          <a:xfrm rot="0">
            <a:off x="915295" y="1997497"/>
            <a:ext cx="1095375" cy="47625"/>
            <a:chOff x="0" y="0"/>
            <a:chExt cx="1460500" cy="63500"/>
          </a:xfrm>
        </p:grpSpPr>
        <p:sp>
          <p:nvSpPr>
            <p:cNvPr name="Freeform 7" id="7"/>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8" id="8"/>
          <p:cNvGrpSpPr/>
          <p:nvPr/>
        </p:nvGrpSpPr>
        <p:grpSpPr>
          <a:xfrm rot="0">
            <a:off x="914400" y="9703222"/>
            <a:ext cx="16459200" cy="343172"/>
            <a:chOff x="0" y="0"/>
            <a:chExt cx="21945600" cy="457562"/>
          </a:xfrm>
        </p:grpSpPr>
        <p:sp>
          <p:nvSpPr>
            <p:cNvPr name="Freeform 9" id="9"/>
            <p:cNvSpPr/>
            <p:nvPr/>
          </p:nvSpPr>
          <p:spPr>
            <a:xfrm flipH="false" flipV="false" rot="0">
              <a:off x="0" y="0"/>
              <a:ext cx="21945600" cy="457564"/>
            </a:xfrm>
            <a:custGeom>
              <a:avLst/>
              <a:gdLst/>
              <a:ahLst/>
              <a:cxnLst/>
              <a:rect r="r" b="b" t="t" l="l"/>
              <a:pathLst>
                <a:path h="457564" w="21945600">
                  <a:moveTo>
                    <a:pt x="0" y="0"/>
                  </a:moveTo>
                  <a:lnTo>
                    <a:pt x="21945600" y="0"/>
                  </a:lnTo>
                  <a:lnTo>
                    <a:pt x="21945600" y="457564"/>
                  </a:lnTo>
                  <a:lnTo>
                    <a:pt x="0" y="457564"/>
                  </a:lnTo>
                  <a:close/>
                </a:path>
              </a:pathLst>
            </a:custGeom>
            <a:blipFill>
              <a:blip r:embed="rId3">
                <a:alphaModFix amt="0"/>
              </a:blip>
              <a:stretch>
                <a:fillRect l="0" t="-894292" r="0" b="-874783"/>
              </a:stretch>
            </a:blipFill>
          </p:spPr>
        </p:sp>
        <p:sp>
          <p:nvSpPr>
            <p:cNvPr name="TextBox 10" id="10"/>
            <p:cNvSpPr txBox="true"/>
            <p:nvPr/>
          </p:nvSpPr>
          <p:spPr>
            <a:xfrm>
              <a:off x="0" y="-47625"/>
              <a:ext cx="21945600" cy="505187"/>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11" id="11"/>
          <p:cNvGrpSpPr/>
          <p:nvPr/>
        </p:nvGrpSpPr>
        <p:grpSpPr>
          <a:xfrm rot="0">
            <a:off x="0" y="10247414"/>
            <a:ext cx="18288000" cy="38100"/>
            <a:chOff x="0" y="0"/>
            <a:chExt cx="24384000" cy="50800"/>
          </a:xfrm>
        </p:grpSpPr>
        <p:sp>
          <p:nvSpPr>
            <p:cNvPr name="Freeform 12" id="12"/>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13" id="13"/>
          <p:cNvGrpSpPr/>
          <p:nvPr/>
        </p:nvGrpSpPr>
        <p:grpSpPr>
          <a:xfrm rot="0">
            <a:off x="4766218" y="3073317"/>
            <a:ext cx="3403425" cy="3555746"/>
            <a:chOff x="0" y="0"/>
            <a:chExt cx="896375" cy="936493"/>
          </a:xfrm>
        </p:grpSpPr>
        <p:sp>
          <p:nvSpPr>
            <p:cNvPr name="Freeform 14" id="14"/>
            <p:cNvSpPr/>
            <p:nvPr/>
          </p:nvSpPr>
          <p:spPr>
            <a:xfrm flipH="false" flipV="false" rot="0">
              <a:off x="0" y="0"/>
              <a:ext cx="896375" cy="936493"/>
            </a:xfrm>
            <a:custGeom>
              <a:avLst/>
              <a:gdLst/>
              <a:ahLst/>
              <a:cxnLst/>
              <a:rect r="r" b="b" t="t" l="l"/>
              <a:pathLst>
                <a:path h="936493" w="896375">
                  <a:moveTo>
                    <a:pt x="52319" y="0"/>
                  </a:moveTo>
                  <a:lnTo>
                    <a:pt x="844056" y="0"/>
                  </a:lnTo>
                  <a:cubicBezTo>
                    <a:pt x="872951" y="0"/>
                    <a:pt x="896375" y="23424"/>
                    <a:pt x="896375" y="52319"/>
                  </a:cubicBezTo>
                  <a:lnTo>
                    <a:pt x="896375" y="884174"/>
                  </a:lnTo>
                  <a:cubicBezTo>
                    <a:pt x="896375" y="898050"/>
                    <a:pt x="890863" y="911357"/>
                    <a:pt x="881052" y="921169"/>
                  </a:cubicBezTo>
                  <a:cubicBezTo>
                    <a:pt x="871240" y="930981"/>
                    <a:pt x="857932" y="936493"/>
                    <a:pt x="844056" y="936493"/>
                  </a:cubicBezTo>
                  <a:lnTo>
                    <a:pt x="52319" y="936493"/>
                  </a:lnTo>
                  <a:cubicBezTo>
                    <a:pt x="23424" y="936493"/>
                    <a:pt x="0" y="913069"/>
                    <a:pt x="0" y="884174"/>
                  </a:cubicBezTo>
                  <a:lnTo>
                    <a:pt x="0" y="52319"/>
                  </a:lnTo>
                  <a:cubicBezTo>
                    <a:pt x="0" y="23424"/>
                    <a:pt x="23424" y="0"/>
                    <a:pt x="52319" y="0"/>
                  </a:cubicBezTo>
                  <a:close/>
                </a:path>
              </a:pathLst>
            </a:custGeom>
            <a:solidFill>
              <a:srgbClr val="FFFFFF"/>
            </a:solidFill>
            <a:ln w="9525" cap="rnd">
              <a:solidFill>
                <a:srgbClr val="E5E7EB"/>
              </a:solidFill>
              <a:prstDash val="solid"/>
              <a:round/>
            </a:ln>
          </p:spPr>
        </p:sp>
        <p:sp>
          <p:nvSpPr>
            <p:cNvPr name="TextBox 15" id="15"/>
            <p:cNvSpPr txBox="true"/>
            <p:nvPr/>
          </p:nvSpPr>
          <p:spPr>
            <a:xfrm>
              <a:off x="0" y="-47625"/>
              <a:ext cx="896375" cy="984118"/>
            </a:xfrm>
            <a:prstGeom prst="rect">
              <a:avLst/>
            </a:prstGeom>
          </p:spPr>
          <p:txBody>
            <a:bodyPr anchor="ctr" rtlCol="false" tIns="50800" lIns="50800" bIns="50800" rIns="50800"/>
            <a:lstStyle/>
            <a:p>
              <a:pPr algn="ctr">
                <a:lnSpc>
                  <a:spcPts val="2160"/>
                </a:lnSpc>
              </a:pPr>
            </a:p>
          </p:txBody>
        </p:sp>
      </p:grpSp>
      <p:grpSp>
        <p:nvGrpSpPr>
          <p:cNvPr name="Group 16" id="16"/>
          <p:cNvGrpSpPr/>
          <p:nvPr/>
        </p:nvGrpSpPr>
        <p:grpSpPr>
          <a:xfrm rot="0">
            <a:off x="9153246" y="3087081"/>
            <a:ext cx="3196327" cy="3541983"/>
            <a:chOff x="0" y="0"/>
            <a:chExt cx="841831" cy="932868"/>
          </a:xfrm>
        </p:grpSpPr>
        <p:sp>
          <p:nvSpPr>
            <p:cNvPr name="Freeform 17" id="17"/>
            <p:cNvSpPr/>
            <p:nvPr/>
          </p:nvSpPr>
          <p:spPr>
            <a:xfrm flipH="false" flipV="false" rot="0">
              <a:off x="0" y="0"/>
              <a:ext cx="841831" cy="932868"/>
            </a:xfrm>
            <a:custGeom>
              <a:avLst/>
              <a:gdLst/>
              <a:ahLst/>
              <a:cxnLst/>
              <a:rect r="r" b="b" t="t" l="l"/>
              <a:pathLst>
                <a:path h="932868" w="841831">
                  <a:moveTo>
                    <a:pt x="55709" y="0"/>
                  </a:moveTo>
                  <a:lnTo>
                    <a:pt x="786122" y="0"/>
                  </a:lnTo>
                  <a:cubicBezTo>
                    <a:pt x="816889" y="0"/>
                    <a:pt x="841831" y="24942"/>
                    <a:pt x="841831" y="55709"/>
                  </a:cubicBezTo>
                  <a:lnTo>
                    <a:pt x="841831" y="877159"/>
                  </a:lnTo>
                  <a:cubicBezTo>
                    <a:pt x="841831" y="907926"/>
                    <a:pt x="816889" y="932868"/>
                    <a:pt x="786122" y="932868"/>
                  </a:cubicBezTo>
                  <a:lnTo>
                    <a:pt x="55709" y="932868"/>
                  </a:lnTo>
                  <a:cubicBezTo>
                    <a:pt x="24942" y="932868"/>
                    <a:pt x="0" y="907926"/>
                    <a:pt x="0" y="877159"/>
                  </a:cubicBezTo>
                  <a:lnTo>
                    <a:pt x="0" y="55709"/>
                  </a:lnTo>
                  <a:cubicBezTo>
                    <a:pt x="0" y="24942"/>
                    <a:pt x="24942" y="0"/>
                    <a:pt x="55709" y="0"/>
                  </a:cubicBezTo>
                  <a:close/>
                </a:path>
              </a:pathLst>
            </a:custGeom>
            <a:solidFill>
              <a:srgbClr val="FFFFFF"/>
            </a:solidFill>
            <a:ln w="9525" cap="rnd">
              <a:solidFill>
                <a:srgbClr val="E5E7EB"/>
              </a:solidFill>
              <a:prstDash val="solid"/>
              <a:round/>
            </a:ln>
          </p:spPr>
        </p:sp>
        <p:sp>
          <p:nvSpPr>
            <p:cNvPr name="TextBox 18" id="18"/>
            <p:cNvSpPr txBox="true"/>
            <p:nvPr/>
          </p:nvSpPr>
          <p:spPr>
            <a:xfrm>
              <a:off x="0" y="-47625"/>
              <a:ext cx="841831" cy="980493"/>
            </a:xfrm>
            <a:prstGeom prst="rect">
              <a:avLst/>
            </a:prstGeom>
          </p:spPr>
          <p:txBody>
            <a:bodyPr anchor="ctr" rtlCol="false" tIns="50800" lIns="50800" bIns="50800" rIns="50800"/>
            <a:lstStyle/>
            <a:p>
              <a:pPr algn="ctr">
                <a:lnSpc>
                  <a:spcPts val="2160"/>
                </a:lnSpc>
              </a:pPr>
            </a:p>
          </p:txBody>
        </p:sp>
      </p:grpSp>
      <p:grpSp>
        <p:nvGrpSpPr>
          <p:cNvPr name="Group 19" id="19"/>
          <p:cNvGrpSpPr/>
          <p:nvPr/>
        </p:nvGrpSpPr>
        <p:grpSpPr>
          <a:xfrm rot="0">
            <a:off x="648172" y="3087081"/>
            <a:ext cx="3282518" cy="3541983"/>
            <a:chOff x="0" y="0"/>
            <a:chExt cx="864531" cy="932868"/>
          </a:xfrm>
        </p:grpSpPr>
        <p:sp>
          <p:nvSpPr>
            <p:cNvPr name="Freeform 20" id="20"/>
            <p:cNvSpPr/>
            <p:nvPr/>
          </p:nvSpPr>
          <p:spPr>
            <a:xfrm flipH="false" flipV="false" rot="0">
              <a:off x="0" y="0"/>
              <a:ext cx="864531" cy="932868"/>
            </a:xfrm>
            <a:custGeom>
              <a:avLst/>
              <a:gdLst/>
              <a:ahLst/>
              <a:cxnLst/>
              <a:rect r="r" b="b" t="t" l="l"/>
              <a:pathLst>
                <a:path h="932868" w="864531">
                  <a:moveTo>
                    <a:pt x="54246" y="0"/>
                  </a:moveTo>
                  <a:lnTo>
                    <a:pt x="810285" y="0"/>
                  </a:lnTo>
                  <a:cubicBezTo>
                    <a:pt x="840245" y="0"/>
                    <a:pt x="864531" y="24287"/>
                    <a:pt x="864531" y="54246"/>
                  </a:cubicBezTo>
                  <a:lnTo>
                    <a:pt x="864531" y="878622"/>
                  </a:lnTo>
                  <a:cubicBezTo>
                    <a:pt x="864531" y="893009"/>
                    <a:pt x="858816" y="906806"/>
                    <a:pt x="848643" y="916979"/>
                  </a:cubicBezTo>
                  <a:cubicBezTo>
                    <a:pt x="838470" y="927153"/>
                    <a:pt x="824672" y="932868"/>
                    <a:pt x="810285" y="932868"/>
                  </a:cubicBezTo>
                  <a:lnTo>
                    <a:pt x="54246" y="932868"/>
                  </a:lnTo>
                  <a:cubicBezTo>
                    <a:pt x="24287" y="932868"/>
                    <a:pt x="0" y="908581"/>
                    <a:pt x="0" y="878622"/>
                  </a:cubicBezTo>
                  <a:lnTo>
                    <a:pt x="0" y="54246"/>
                  </a:lnTo>
                  <a:cubicBezTo>
                    <a:pt x="0" y="24287"/>
                    <a:pt x="24287" y="0"/>
                    <a:pt x="54246" y="0"/>
                  </a:cubicBezTo>
                  <a:close/>
                </a:path>
              </a:pathLst>
            </a:custGeom>
            <a:solidFill>
              <a:srgbClr val="FFFFFF"/>
            </a:solidFill>
            <a:ln w="9525" cap="rnd">
              <a:solidFill>
                <a:srgbClr val="E5E7EB"/>
              </a:solidFill>
              <a:prstDash val="solid"/>
              <a:round/>
            </a:ln>
          </p:spPr>
        </p:sp>
        <p:sp>
          <p:nvSpPr>
            <p:cNvPr name="TextBox 21" id="21"/>
            <p:cNvSpPr txBox="true"/>
            <p:nvPr/>
          </p:nvSpPr>
          <p:spPr>
            <a:xfrm>
              <a:off x="0" y="-47625"/>
              <a:ext cx="864531" cy="980493"/>
            </a:xfrm>
            <a:prstGeom prst="rect">
              <a:avLst/>
            </a:prstGeom>
          </p:spPr>
          <p:txBody>
            <a:bodyPr anchor="ctr" rtlCol="false" tIns="50800" lIns="50800" bIns="50800" rIns="50800"/>
            <a:lstStyle/>
            <a:p>
              <a:pPr algn="ctr">
                <a:lnSpc>
                  <a:spcPts val="2160"/>
                </a:lnSpc>
              </a:pPr>
            </a:p>
          </p:txBody>
        </p:sp>
      </p:grpSp>
      <p:grpSp>
        <p:nvGrpSpPr>
          <p:cNvPr name="Group 22" id="22"/>
          <p:cNvGrpSpPr/>
          <p:nvPr/>
        </p:nvGrpSpPr>
        <p:grpSpPr>
          <a:xfrm rot="0">
            <a:off x="648172" y="6829089"/>
            <a:ext cx="15607801" cy="2696527"/>
            <a:chOff x="0" y="0"/>
            <a:chExt cx="5766166" cy="996209"/>
          </a:xfrm>
        </p:grpSpPr>
        <p:sp>
          <p:nvSpPr>
            <p:cNvPr name="Freeform 23" id="23"/>
            <p:cNvSpPr/>
            <p:nvPr/>
          </p:nvSpPr>
          <p:spPr>
            <a:xfrm flipH="false" flipV="false" rot="0">
              <a:off x="0" y="0"/>
              <a:ext cx="5766166" cy="996209"/>
            </a:xfrm>
            <a:custGeom>
              <a:avLst/>
              <a:gdLst/>
              <a:ahLst/>
              <a:cxnLst/>
              <a:rect r="r" b="b" t="t" l="l"/>
              <a:pathLst>
                <a:path h="996209" w="5766166">
                  <a:moveTo>
                    <a:pt x="11409" y="0"/>
                  </a:moveTo>
                  <a:lnTo>
                    <a:pt x="5754758" y="0"/>
                  </a:lnTo>
                  <a:cubicBezTo>
                    <a:pt x="5757783" y="0"/>
                    <a:pt x="5760685" y="1202"/>
                    <a:pt x="5762825" y="3342"/>
                  </a:cubicBezTo>
                  <a:cubicBezTo>
                    <a:pt x="5764964" y="5481"/>
                    <a:pt x="5766166" y="8383"/>
                    <a:pt x="5766166" y="11409"/>
                  </a:cubicBezTo>
                  <a:lnTo>
                    <a:pt x="5766166" y="984800"/>
                  </a:lnTo>
                  <a:cubicBezTo>
                    <a:pt x="5766166" y="987826"/>
                    <a:pt x="5764964" y="990728"/>
                    <a:pt x="5762825" y="992867"/>
                  </a:cubicBezTo>
                  <a:cubicBezTo>
                    <a:pt x="5760685" y="995007"/>
                    <a:pt x="5757783" y="996209"/>
                    <a:pt x="5754758" y="996209"/>
                  </a:cubicBezTo>
                  <a:lnTo>
                    <a:pt x="11409" y="996209"/>
                  </a:lnTo>
                  <a:cubicBezTo>
                    <a:pt x="8383" y="996209"/>
                    <a:pt x="5481" y="995007"/>
                    <a:pt x="3342" y="992867"/>
                  </a:cubicBezTo>
                  <a:cubicBezTo>
                    <a:pt x="1202" y="990728"/>
                    <a:pt x="0" y="987826"/>
                    <a:pt x="0" y="984800"/>
                  </a:cubicBezTo>
                  <a:lnTo>
                    <a:pt x="0" y="11409"/>
                  </a:lnTo>
                  <a:cubicBezTo>
                    <a:pt x="0" y="8383"/>
                    <a:pt x="1202" y="5481"/>
                    <a:pt x="3342" y="3342"/>
                  </a:cubicBezTo>
                  <a:cubicBezTo>
                    <a:pt x="5481" y="1202"/>
                    <a:pt x="8383" y="0"/>
                    <a:pt x="11409" y="0"/>
                  </a:cubicBezTo>
                  <a:close/>
                </a:path>
              </a:pathLst>
            </a:custGeom>
            <a:solidFill>
              <a:srgbClr val="FFFFFF"/>
            </a:solidFill>
            <a:ln w="9525" cap="rnd">
              <a:solidFill>
                <a:srgbClr val="E5E7EB"/>
              </a:solidFill>
              <a:prstDash val="solid"/>
              <a:round/>
            </a:ln>
          </p:spPr>
        </p:sp>
        <p:sp>
          <p:nvSpPr>
            <p:cNvPr name="TextBox 24" id="24"/>
            <p:cNvSpPr txBox="true"/>
            <p:nvPr/>
          </p:nvSpPr>
          <p:spPr>
            <a:xfrm>
              <a:off x="0" y="-47625"/>
              <a:ext cx="5766166" cy="1043834"/>
            </a:xfrm>
            <a:prstGeom prst="rect">
              <a:avLst/>
            </a:prstGeom>
          </p:spPr>
          <p:txBody>
            <a:bodyPr anchor="ctr" rtlCol="false" tIns="50800" lIns="50800" bIns="50800" rIns="50800"/>
            <a:lstStyle/>
            <a:p>
              <a:pPr algn="ctr">
                <a:lnSpc>
                  <a:spcPts val="2160"/>
                </a:lnSpc>
              </a:pPr>
            </a:p>
          </p:txBody>
        </p:sp>
      </p:grpSp>
      <p:sp>
        <p:nvSpPr>
          <p:cNvPr name="TextBox 25" id="25"/>
          <p:cNvSpPr txBox="true"/>
          <p:nvPr/>
        </p:nvSpPr>
        <p:spPr>
          <a:xfrm rot="0">
            <a:off x="1244279" y="285826"/>
            <a:ext cx="914944"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26" id="26"/>
          <p:cNvSpPr txBox="true"/>
          <p:nvPr/>
        </p:nvSpPr>
        <p:spPr>
          <a:xfrm rot="0">
            <a:off x="2357218" y="352501"/>
            <a:ext cx="334327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06 · PRODUCT / SERVICE</a:t>
            </a:r>
          </a:p>
        </p:txBody>
      </p:sp>
      <p:sp>
        <p:nvSpPr>
          <p:cNvPr name="TextBox 27" id="27"/>
          <p:cNvSpPr txBox="true"/>
          <p:nvPr/>
        </p:nvSpPr>
        <p:spPr>
          <a:xfrm rot="0">
            <a:off x="16784088"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08 / 31</a:t>
            </a:r>
          </a:p>
        </p:txBody>
      </p:sp>
      <p:sp>
        <p:nvSpPr>
          <p:cNvPr name="TextBox 28" id="28"/>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Product / Service Idea</a:t>
            </a:r>
          </a:p>
        </p:txBody>
      </p:sp>
      <p:sp>
        <p:nvSpPr>
          <p:cNvPr name="TextBox 29" id="29"/>
          <p:cNvSpPr txBox="true"/>
          <p:nvPr/>
        </p:nvSpPr>
        <p:spPr>
          <a:xfrm rot="0">
            <a:off x="913505" y="2635596"/>
            <a:ext cx="10791825" cy="24193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HOW ISTSEH WORKS</a:t>
            </a:r>
          </a:p>
        </p:txBody>
      </p:sp>
      <p:sp>
        <p:nvSpPr>
          <p:cNvPr name="TextBox 30" id="30"/>
          <p:cNvSpPr txBox="true"/>
          <p:nvPr/>
        </p:nvSpPr>
        <p:spPr>
          <a:xfrm rot="0">
            <a:off x="840479" y="3167877"/>
            <a:ext cx="861272" cy="323469"/>
          </a:xfrm>
          <a:prstGeom prst="rect">
            <a:avLst/>
          </a:prstGeom>
        </p:spPr>
        <p:txBody>
          <a:bodyPr anchor="t" rtlCol="false" tIns="0" lIns="0" bIns="0" rIns="0">
            <a:spAutoFit/>
          </a:bodyPr>
          <a:lstStyle/>
          <a:p>
            <a:pPr algn="l">
              <a:lnSpc>
                <a:spcPts val="2591"/>
              </a:lnSpc>
            </a:pPr>
            <a:r>
              <a:rPr lang="en-US" sz="1719" b="true">
                <a:solidFill>
                  <a:srgbClr val="2ECC71"/>
                </a:solidFill>
                <a:latin typeface="Arimo Bold"/>
                <a:ea typeface="Arimo Bold"/>
                <a:cs typeface="Arimo Bold"/>
                <a:sym typeface="Arimo Bold"/>
              </a:rPr>
              <a:t>Step 01</a:t>
            </a:r>
          </a:p>
        </p:txBody>
      </p:sp>
      <p:sp>
        <p:nvSpPr>
          <p:cNvPr name="TextBox 31" id="31"/>
          <p:cNvSpPr txBox="true"/>
          <p:nvPr/>
        </p:nvSpPr>
        <p:spPr>
          <a:xfrm rot="0">
            <a:off x="840479" y="3591537"/>
            <a:ext cx="1640532" cy="248793"/>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Add heal</a:t>
            </a:r>
            <a:r>
              <a:rPr lang="en-US" sz="1520" b="true">
                <a:solidFill>
                  <a:srgbClr val="1A1A2E"/>
                </a:solidFill>
                <a:latin typeface="Arimo Bold"/>
                <a:ea typeface="Arimo Bold"/>
                <a:cs typeface="Arimo Bold"/>
                <a:sym typeface="Arimo Bold"/>
              </a:rPr>
              <a:t>th profile</a:t>
            </a:r>
          </a:p>
        </p:txBody>
      </p:sp>
      <p:sp>
        <p:nvSpPr>
          <p:cNvPr name="TextBox 32" id="32"/>
          <p:cNvSpPr txBox="true"/>
          <p:nvPr/>
        </p:nvSpPr>
        <p:spPr>
          <a:xfrm rot="0">
            <a:off x="840479" y="3970068"/>
            <a:ext cx="2942137" cy="2051237"/>
          </a:xfrm>
          <a:prstGeom prst="rect">
            <a:avLst/>
          </a:prstGeom>
        </p:spPr>
        <p:txBody>
          <a:bodyPr anchor="t" rtlCol="false" tIns="0" lIns="0" bIns="0" rIns="0">
            <a:spAutoFit/>
          </a:bodyPr>
          <a:lstStyle/>
          <a:p>
            <a:pPr algn="l">
              <a:lnSpc>
                <a:spcPts val="2073"/>
              </a:lnSpc>
            </a:pPr>
            <a:r>
              <a:rPr lang="en-US" sz="1500">
                <a:solidFill>
                  <a:srgbClr val="595959"/>
                </a:solidFill>
                <a:latin typeface="Inter"/>
                <a:ea typeface="Inter"/>
                <a:cs typeface="Inter"/>
                <a:sym typeface="Inter"/>
              </a:rPr>
              <a:t>The user adds basic health details such as allergi</a:t>
            </a:r>
            <a:r>
              <a:rPr lang="en-US" sz="1500">
                <a:solidFill>
                  <a:srgbClr val="595959"/>
                </a:solidFill>
                <a:latin typeface="Inter"/>
                <a:ea typeface="Inter"/>
                <a:cs typeface="Inter"/>
                <a:sym typeface="Inter"/>
              </a:rPr>
              <a:t>es, chronic conditions, daily routine times, and caregiver connection if needed. This allows ISTSEH to understand the person behind the medication list, not just the medicine names.</a:t>
            </a:r>
          </a:p>
        </p:txBody>
      </p:sp>
      <p:sp>
        <p:nvSpPr>
          <p:cNvPr name="TextBox 33" id="33"/>
          <p:cNvSpPr txBox="true"/>
          <p:nvPr/>
        </p:nvSpPr>
        <p:spPr>
          <a:xfrm rot="0">
            <a:off x="4931646" y="3167877"/>
            <a:ext cx="824694" cy="323469"/>
          </a:xfrm>
          <a:prstGeom prst="rect">
            <a:avLst/>
          </a:prstGeom>
        </p:spPr>
        <p:txBody>
          <a:bodyPr anchor="t" rtlCol="false" tIns="0" lIns="0" bIns="0" rIns="0">
            <a:spAutoFit/>
          </a:bodyPr>
          <a:lstStyle/>
          <a:p>
            <a:pPr algn="l">
              <a:lnSpc>
                <a:spcPts val="2591"/>
              </a:lnSpc>
            </a:pPr>
            <a:r>
              <a:rPr lang="en-US" sz="1719" b="true">
                <a:solidFill>
                  <a:srgbClr val="2ECC71"/>
                </a:solidFill>
                <a:latin typeface="Arimo Bold"/>
                <a:ea typeface="Arimo Bold"/>
                <a:cs typeface="Arimo Bold"/>
                <a:sym typeface="Arimo Bold"/>
              </a:rPr>
              <a:t>Step 02</a:t>
            </a:r>
          </a:p>
        </p:txBody>
      </p:sp>
      <p:sp>
        <p:nvSpPr>
          <p:cNvPr name="TextBox 34" id="34"/>
          <p:cNvSpPr txBox="true"/>
          <p:nvPr/>
        </p:nvSpPr>
        <p:spPr>
          <a:xfrm rot="0">
            <a:off x="4931646" y="3591537"/>
            <a:ext cx="2005012" cy="248793"/>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Build</a:t>
            </a:r>
            <a:r>
              <a:rPr lang="en-US" sz="1520" b="true">
                <a:solidFill>
                  <a:srgbClr val="1A1A2E"/>
                </a:solidFill>
                <a:latin typeface="Arimo Bold"/>
                <a:ea typeface="Arimo Bold"/>
                <a:cs typeface="Arimo Bold"/>
                <a:sym typeface="Arimo Bold"/>
              </a:rPr>
              <a:t> medication plan</a:t>
            </a:r>
          </a:p>
        </p:txBody>
      </p:sp>
      <p:sp>
        <p:nvSpPr>
          <p:cNvPr name="TextBox 35" id="35"/>
          <p:cNvSpPr txBox="true"/>
          <p:nvPr/>
        </p:nvSpPr>
        <p:spPr>
          <a:xfrm rot="0">
            <a:off x="4931646" y="3930996"/>
            <a:ext cx="3056025" cy="2308412"/>
          </a:xfrm>
          <a:prstGeom prst="rect">
            <a:avLst/>
          </a:prstGeom>
        </p:spPr>
        <p:txBody>
          <a:bodyPr anchor="t" rtlCol="false" tIns="0" lIns="0" bIns="0" rIns="0">
            <a:spAutoFit/>
          </a:bodyPr>
          <a:lstStyle/>
          <a:p>
            <a:pPr algn="l">
              <a:lnSpc>
                <a:spcPts val="2073"/>
              </a:lnSpc>
            </a:pPr>
            <a:r>
              <a:rPr lang="en-US" sz="1500">
                <a:solidFill>
                  <a:srgbClr val="595959"/>
                </a:solidFill>
                <a:latin typeface="Inter"/>
                <a:ea typeface="Inter"/>
                <a:cs typeface="Inter"/>
                <a:sym typeface="Inter"/>
              </a:rPr>
              <a:t>Us</a:t>
            </a:r>
            <a:r>
              <a:rPr lang="en-US" sz="1500">
                <a:solidFill>
                  <a:srgbClr val="595959"/>
                </a:solidFill>
                <a:latin typeface="Inter"/>
                <a:ea typeface="Inter"/>
                <a:cs typeface="Inter"/>
                <a:sym typeface="Inter"/>
              </a:rPr>
              <a:t>ers can add medicines manually, search for medication information, or use image-based recognition. ISTSEH then helps organize key details such as dose timing, food instructions, reminder times, and whether the medicine is taken daily or only when needed.</a:t>
            </a:r>
          </a:p>
        </p:txBody>
      </p:sp>
      <p:sp>
        <p:nvSpPr>
          <p:cNvPr name="TextBox 36" id="36"/>
          <p:cNvSpPr txBox="true"/>
          <p:nvPr/>
        </p:nvSpPr>
        <p:spPr>
          <a:xfrm rot="0">
            <a:off x="9316721" y="3167877"/>
            <a:ext cx="946897" cy="323469"/>
          </a:xfrm>
          <a:prstGeom prst="rect">
            <a:avLst/>
          </a:prstGeom>
        </p:spPr>
        <p:txBody>
          <a:bodyPr anchor="t" rtlCol="false" tIns="0" lIns="0" bIns="0" rIns="0">
            <a:spAutoFit/>
          </a:bodyPr>
          <a:lstStyle/>
          <a:p>
            <a:pPr algn="l">
              <a:lnSpc>
                <a:spcPts val="2591"/>
              </a:lnSpc>
            </a:pPr>
            <a:r>
              <a:rPr lang="en-US" sz="1719" b="true">
                <a:solidFill>
                  <a:srgbClr val="2ECC71"/>
                </a:solidFill>
                <a:latin typeface="Arimo Bold"/>
                <a:ea typeface="Arimo Bold"/>
                <a:cs typeface="Arimo Bold"/>
                <a:sym typeface="Arimo Bold"/>
              </a:rPr>
              <a:t>Step 03</a:t>
            </a:r>
          </a:p>
        </p:txBody>
      </p:sp>
      <p:sp>
        <p:nvSpPr>
          <p:cNvPr name="TextBox 37" id="37"/>
          <p:cNvSpPr txBox="true"/>
          <p:nvPr/>
        </p:nvSpPr>
        <p:spPr>
          <a:xfrm rot="0">
            <a:off x="9316721" y="3591537"/>
            <a:ext cx="2155924" cy="248793"/>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Follow daily care safely</a:t>
            </a:r>
          </a:p>
        </p:txBody>
      </p:sp>
      <p:sp>
        <p:nvSpPr>
          <p:cNvPr name="TextBox 38" id="38"/>
          <p:cNvSpPr txBox="true"/>
          <p:nvPr/>
        </p:nvSpPr>
        <p:spPr>
          <a:xfrm rot="0">
            <a:off x="9316721" y="3930996"/>
            <a:ext cx="2850880" cy="2822795"/>
          </a:xfrm>
          <a:prstGeom prst="rect">
            <a:avLst/>
          </a:prstGeom>
        </p:spPr>
        <p:txBody>
          <a:bodyPr anchor="t" rtlCol="false" tIns="0" lIns="0" bIns="0" rIns="0">
            <a:spAutoFit/>
          </a:bodyPr>
          <a:lstStyle/>
          <a:p>
            <a:pPr algn="l">
              <a:lnSpc>
                <a:spcPts val="2072"/>
              </a:lnSpc>
            </a:pPr>
            <a:r>
              <a:rPr lang="en-US" sz="1500">
                <a:solidFill>
                  <a:srgbClr val="595959"/>
                </a:solidFill>
                <a:latin typeface="Inter"/>
                <a:ea typeface="Inter"/>
                <a:cs typeface="Inter"/>
                <a:sym typeface="Inter"/>
              </a:rPr>
              <a:t>Th</a:t>
            </a:r>
            <a:r>
              <a:rPr lang="en-US" sz="1500">
                <a:solidFill>
                  <a:srgbClr val="595959"/>
                </a:solidFill>
                <a:latin typeface="Inter"/>
                <a:ea typeface="Inter"/>
                <a:cs typeface="Inter"/>
                <a:sym typeface="Inter"/>
              </a:rPr>
              <a:t>e Today page shows the user’s scheduled doses and appointments in a clear daily view. ISTSEH sends reminders, tracks taken or skipped doses, and displays safety warnings when there may be duplicate ingredients, allergy risks, or medication interaction concerns.</a:t>
            </a:r>
          </a:p>
          <a:p>
            <a:pPr algn="l">
              <a:lnSpc>
                <a:spcPts val="2073"/>
              </a:lnSpc>
            </a:pPr>
          </a:p>
        </p:txBody>
      </p:sp>
      <p:sp>
        <p:nvSpPr>
          <p:cNvPr name="TextBox 39" id="39"/>
          <p:cNvSpPr txBox="true"/>
          <p:nvPr/>
        </p:nvSpPr>
        <p:spPr>
          <a:xfrm rot="0">
            <a:off x="13931284" y="8064332"/>
            <a:ext cx="1581150" cy="323850"/>
          </a:xfrm>
          <a:prstGeom prst="rect">
            <a:avLst/>
          </a:prstGeom>
        </p:spPr>
        <p:txBody>
          <a:bodyPr anchor="t" rtlCol="false" tIns="0" lIns="0" bIns="0" rIns="0">
            <a:spAutoFit/>
          </a:bodyPr>
          <a:lstStyle/>
          <a:p>
            <a:pPr algn="ctr">
              <a:lnSpc>
                <a:spcPts val="2160"/>
              </a:lnSpc>
            </a:pPr>
            <a:r>
              <a:rPr lang="en-US" sz="1439">
                <a:solidFill>
                  <a:srgbClr val="FFFFFF"/>
                </a:solidFill>
                <a:latin typeface="Inter"/>
                <a:ea typeface="Inter"/>
                <a:cs typeface="Inter"/>
                <a:sym typeface="Inter"/>
              </a:rPr>
              <a:t>iOS · iPhone · iPad</a:t>
            </a:r>
          </a:p>
        </p:txBody>
      </p:sp>
      <p:sp>
        <p:nvSpPr>
          <p:cNvPr name="TextBox 40" id="40"/>
          <p:cNvSpPr txBox="true"/>
          <p:nvPr/>
        </p:nvSpPr>
        <p:spPr>
          <a:xfrm rot="0">
            <a:off x="840479" y="6913345"/>
            <a:ext cx="2152546" cy="323469"/>
          </a:xfrm>
          <a:prstGeom prst="rect">
            <a:avLst/>
          </a:prstGeom>
        </p:spPr>
        <p:txBody>
          <a:bodyPr anchor="t" rtlCol="false" tIns="0" lIns="0" bIns="0" rIns="0">
            <a:spAutoFit/>
          </a:bodyPr>
          <a:lstStyle/>
          <a:p>
            <a:pPr algn="l">
              <a:lnSpc>
                <a:spcPts val="2591"/>
              </a:lnSpc>
            </a:pPr>
            <a:r>
              <a:rPr lang="en-US" sz="1719" b="true">
                <a:solidFill>
                  <a:srgbClr val="2ECC71"/>
                </a:solidFill>
                <a:latin typeface="Arimo Bold"/>
                <a:ea typeface="Arimo Bold"/>
                <a:cs typeface="Arimo Bold"/>
                <a:sym typeface="Arimo Bold"/>
              </a:rPr>
              <a:t>Optional Step</a:t>
            </a:r>
          </a:p>
        </p:txBody>
      </p:sp>
      <p:sp>
        <p:nvSpPr>
          <p:cNvPr name="TextBox 41" id="41"/>
          <p:cNvSpPr txBox="true"/>
          <p:nvPr/>
        </p:nvSpPr>
        <p:spPr>
          <a:xfrm rot="0">
            <a:off x="840479" y="7384452"/>
            <a:ext cx="1952030" cy="248793"/>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Add</a:t>
            </a:r>
            <a:r>
              <a:rPr lang="en-US" sz="1520" b="true">
                <a:solidFill>
                  <a:srgbClr val="1A1A2E"/>
                </a:solidFill>
                <a:latin typeface="Arimo Bold"/>
                <a:ea typeface="Arimo Bold"/>
                <a:cs typeface="Arimo Bold"/>
                <a:sym typeface="Arimo Bold"/>
              </a:rPr>
              <a:t> a family member</a:t>
            </a:r>
          </a:p>
        </p:txBody>
      </p:sp>
      <p:sp>
        <p:nvSpPr>
          <p:cNvPr name="TextBox 42" id="42"/>
          <p:cNvSpPr txBox="true"/>
          <p:nvPr/>
        </p:nvSpPr>
        <p:spPr>
          <a:xfrm rot="0">
            <a:off x="840479" y="7766595"/>
            <a:ext cx="15200226" cy="1760893"/>
          </a:xfrm>
          <a:prstGeom prst="rect">
            <a:avLst/>
          </a:prstGeom>
        </p:spPr>
        <p:txBody>
          <a:bodyPr anchor="t" rtlCol="false" tIns="0" lIns="0" bIns="0" rIns="0">
            <a:spAutoFit/>
          </a:bodyPr>
          <a:lstStyle/>
          <a:p>
            <a:pPr algn="l">
              <a:lnSpc>
                <a:spcPts val="2349"/>
              </a:lnSpc>
            </a:pPr>
            <a:r>
              <a:rPr lang="en-US" sz="1699">
                <a:solidFill>
                  <a:srgbClr val="595959"/>
                </a:solidFill>
                <a:latin typeface="Inter"/>
                <a:ea typeface="Inter"/>
                <a:cs typeface="Inter"/>
                <a:sym typeface="Inter"/>
              </a:rPr>
              <a:t>ISTSEH also allows a us</a:t>
            </a:r>
            <a:r>
              <a:rPr lang="en-US" sz="1699">
                <a:solidFill>
                  <a:srgbClr val="595959"/>
                </a:solidFill>
                <a:latin typeface="Inter"/>
                <a:ea typeface="Inter"/>
                <a:cs typeface="Inter"/>
                <a:sym typeface="Inter"/>
              </a:rPr>
              <a:t>er to add a family member and manage their medication care as a caregiver. This feature is designed for people who support an elderly parent, child, or relative who may need help remembering medicines, understanding schedules, or staying consistent with daily care, the caregiver creates a family member profile, adds the person’s basic medical details such as allergies, chronic conditions, routine times, and medications, then manages reminders and appointments on their behalf. This means the app can support both independent patients and family-supported patients without making the experience complicated.</a:t>
            </a:r>
          </a:p>
          <a:p>
            <a:pPr algn="l">
              <a:lnSpc>
                <a:spcPts val="234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295" y="1997497"/>
            <a:ext cx="1095375" cy="47625"/>
            <a:chOff x="0" y="0"/>
            <a:chExt cx="1460500" cy="63500"/>
          </a:xfrm>
        </p:grpSpPr>
        <p:sp>
          <p:nvSpPr>
            <p:cNvPr name="Freeform 3" id="3"/>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6" id="6"/>
          <p:cNvGrpSpPr/>
          <p:nvPr/>
        </p:nvGrpSpPr>
        <p:grpSpPr>
          <a:xfrm rot="0">
            <a:off x="915295" y="447675"/>
            <a:ext cx="180975" cy="180975"/>
            <a:chOff x="0" y="0"/>
            <a:chExt cx="241300" cy="241300"/>
          </a:xfrm>
        </p:grpSpPr>
        <p:sp>
          <p:nvSpPr>
            <p:cNvPr name="Freeform 7" id="7"/>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8" id="8"/>
          <p:cNvGrpSpPr/>
          <p:nvPr/>
        </p:nvGrpSpPr>
        <p:grpSpPr>
          <a:xfrm rot="0">
            <a:off x="914400" y="9703222"/>
            <a:ext cx="16459200" cy="343172"/>
            <a:chOff x="0" y="0"/>
            <a:chExt cx="21945600" cy="457562"/>
          </a:xfrm>
        </p:grpSpPr>
        <p:sp>
          <p:nvSpPr>
            <p:cNvPr name="Freeform 9" id="9"/>
            <p:cNvSpPr/>
            <p:nvPr/>
          </p:nvSpPr>
          <p:spPr>
            <a:xfrm flipH="false" flipV="false" rot="0">
              <a:off x="0" y="0"/>
              <a:ext cx="21945600" cy="457564"/>
            </a:xfrm>
            <a:custGeom>
              <a:avLst/>
              <a:gdLst/>
              <a:ahLst/>
              <a:cxnLst/>
              <a:rect r="r" b="b" t="t" l="l"/>
              <a:pathLst>
                <a:path h="457564" w="21945600">
                  <a:moveTo>
                    <a:pt x="0" y="0"/>
                  </a:moveTo>
                  <a:lnTo>
                    <a:pt x="21945600" y="0"/>
                  </a:lnTo>
                  <a:lnTo>
                    <a:pt x="21945600" y="457564"/>
                  </a:lnTo>
                  <a:lnTo>
                    <a:pt x="0" y="457564"/>
                  </a:lnTo>
                  <a:close/>
                </a:path>
              </a:pathLst>
            </a:custGeom>
            <a:blipFill>
              <a:blip r:embed="rId3">
                <a:alphaModFix amt="0"/>
              </a:blip>
              <a:stretch>
                <a:fillRect l="0" t="-894292" r="0" b="-874783"/>
              </a:stretch>
            </a:blipFill>
          </p:spPr>
        </p:sp>
        <p:sp>
          <p:nvSpPr>
            <p:cNvPr name="TextBox 10" id="10"/>
            <p:cNvSpPr txBox="true"/>
            <p:nvPr/>
          </p:nvSpPr>
          <p:spPr>
            <a:xfrm>
              <a:off x="0" y="-47625"/>
              <a:ext cx="21945600" cy="505187"/>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11" id="11"/>
          <p:cNvGrpSpPr/>
          <p:nvPr/>
        </p:nvGrpSpPr>
        <p:grpSpPr>
          <a:xfrm rot="0">
            <a:off x="0" y="10247414"/>
            <a:ext cx="18288000" cy="38100"/>
            <a:chOff x="0" y="0"/>
            <a:chExt cx="24384000" cy="50800"/>
          </a:xfrm>
        </p:grpSpPr>
        <p:sp>
          <p:nvSpPr>
            <p:cNvPr name="Freeform 12" id="12"/>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13" id="13"/>
          <p:cNvGrpSpPr/>
          <p:nvPr/>
        </p:nvGrpSpPr>
        <p:grpSpPr>
          <a:xfrm rot="0">
            <a:off x="1067695" y="2149897"/>
            <a:ext cx="1095375" cy="47625"/>
            <a:chOff x="0" y="0"/>
            <a:chExt cx="1460500" cy="63500"/>
          </a:xfrm>
        </p:grpSpPr>
        <p:sp>
          <p:nvSpPr>
            <p:cNvPr name="Freeform 14" id="14"/>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Freeform 15" id="15"/>
          <p:cNvSpPr/>
          <p:nvPr/>
        </p:nvSpPr>
        <p:spPr>
          <a:xfrm flipH="false" flipV="false" rot="0">
            <a:off x="644946" y="2581397"/>
            <a:ext cx="2982547" cy="6483799"/>
          </a:xfrm>
          <a:custGeom>
            <a:avLst/>
            <a:gdLst/>
            <a:ahLst/>
            <a:cxnLst/>
            <a:rect r="r" b="b" t="t" l="l"/>
            <a:pathLst>
              <a:path h="6483799" w="2982547">
                <a:moveTo>
                  <a:pt x="0" y="0"/>
                </a:moveTo>
                <a:lnTo>
                  <a:pt x="2982547" y="0"/>
                </a:lnTo>
                <a:lnTo>
                  <a:pt x="2982547" y="6483798"/>
                </a:lnTo>
                <a:lnTo>
                  <a:pt x="0" y="6483798"/>
                </a:lnTo>
                <a:lnTo>
                  <a:pt x="0" y="0"/>
                </a:lnTo>
                <a:close/>
              </a:path>
            </a:pathLst>
          </a:custGeom>
          <a:blipFill>
            <a:blip r:embed="rId4"/>
            <a:stretch>
              <a:fillRect l="0" t="0" r="0" b="0"/>
            </a:stretch>
          </a:blipFill>
        </p:spPr>
      </p:sp>
      <p:sp>
        <p:nvSpPr>
          <p:cNvPr name="Freeform 16" id="16"/>
          <p:cNvSpPr/>
          <p:nvPr/>
        </p:nvSpPr>
        <p:spPr>
          <a:xfrm flipH="false" flipV="false" rot="0">
            <a:off x="4200629" y="2581397"/>
            <a:ext cx="2964287" cy="6483799"/>
          </a:xfrm>
          <a:custGeom>
            <a:avLst/>
            <a:gdLst/>
            <a:ahLst/>
            <a:cxnLst/>
            <a:rect r="r" b="b" t="t" l="l"/>
            <a:pathLst>
              <a:path h="6483799" w="2964287">
                <a:moveTo>
                  <a:pt x="0" y="0"/>
                </a:moveTo>
                <a:lnTo>
                  <a:pt x="2964287" y="0"/>
                </a:lnTo>
                <a:lnTo>
                  <a:pt x="2964287" y="6483798"/>
                </a:lnTo>
                <a:lnTo>
                  <a:pt x="0" y="6483798"/>
                </a:lnTo>
                <a:lnTo>
                  <a:pt x="0" y="0"/>
                </a:lnTo>
                <a:close/>
              </a:path>
            </a:pathLst>
          </a:custGeom>
          <a:blipFill>
            <a:blip r:embed="rId5"/>
            <a:stretch>
              <a:fillRect l="-616" t="0" r="0" b="0"/>
            </a:stretch>
          </a:blipFill>
        </p:spPr>
      </p:sp>
      <p:sp>
        <p:nvSpPr>
          <p:cNvPr name="Freeform 17" id="17"/>
          <p:cNvSpPr/>
          <p:nvPr/>
        </p:nvSpPr>
        <p:spPr>
          <a:xfrm flipH="false" flipV="false" rot="0">
            <a:off x="7695665" y="2581397"/>
            <a:ext cx="2982547" cy="6483799"/>
          </a:xfrm>
          <a:custGeom>
            <a:avLst/>
            <a:gdLst/>
            <a:ahLst/>
            <a:cxnLst/>
            <a:rect r="r" b="b" t="t" l="l"/>
            <a:pathLst>
              <a:path h="6483799" w="2982547">
                <a:moveTo>
                  <a:pt x="0" y="0"/>
                </a:moveTo>
                <a:lnTo>
                  <a:pt x="2982547" y="0"/>
                </a:lnTo>
                <a:lnTo>
                  <a:pt x="2982547" y="6483798"/>
                </a:lnTo>
                <a:lnTo>
                  <a:pt x="0" y="6483798"/>
                </a:lnTo>
                <a:lnTo>
                  <a:pt x="0" y="0"/>
                </a:lnTo>
                <a:close/>
              </a:path>
            </a:pathLst>
          </a:custGeom>
          <a:blipFill>
            <a:blip r:embed="rId6"/>
            <a:stretch>
              <a:fillRect l="0" t="0" r="0" b="0"/>
            </a:stretch>
          </a:blipFill>
        </p:spPr>
      </p:sp>
      <p:sp>
        <p:nvSpPr>
          <p:cNvPr name="Freeform 18" id="18"/>
          <p:cNvSpPr/>
          <p:nvPr/>
        </p:nvSpPr>
        <p:spPr>
          <a:xfrm flipH="false" flipV="false" rot="0">
            <a:off x="11255235" y="2638547"/>
            <a:ext cx="2969403" cy="6455224"/>
          </a:xfrm>
          <a:custGeom>
            <a:avLst/>
            <a:gdLst/>
            <a:ahLst/>
            <a:cxnLst/>
            <a:rect r="r" b="b" t="t" l="l"/>
            <a:pathLst>
              <a:path h="6455224" w="2969403">
                <a:moveTo>
                  <a:pt x="0" y="0"/>
                </a:moveTo>
                <a:lnTo>
                  <a:pt x="2969402" y="0"/>
                </a:lnTo>
                <a:lnTo>
                  <a:pt x="2969402" y="6455223"/>
                </a:lnTo>
                <a:lnTo>
                  <a:pt x="0" y="6455223"/>
                </a:lnTo>
                <a:lnTo>
                  <a:pt x="0" y="0"/>
                </a:lnTo>
                <a:close/>
              </a:path>
            </a:pathLst>
          </a:custGeom>
          <a:blipFill>
            <a:blip r:embed="rId7"/>
            <a:stretch>
              <a:fillRect l="0" t="0" r="0" b="0"/>
            </a:stretch>
          </a:blipFill>
        </p:spPr>
      </p:sp>
      <p:sp>
        <p:nvSpPr>
          <p:cNvPr name="Freeform 19" id="19"/>
          <p:cNvSpPr/>
          <p:nvPr/>
        </p:nvSpPr>
        <p:spPr>
          <a:xfrm flipH="false" flipV="false" rot="0">
            <a:off x="299123" y="2364024"/>
            <a:ext cx="3486338" cy="6848854"/>
          </a:xfrm>
          <a:custGeom>
            <a:avLst/>
            <a:gdLst/>
            <a:ahLst/>
            <a:cxnLst/>
            <a:rect r="r" b="b" t="t" l="l"/>
            <a:pathLst>
              <a:path h="6848854" w="3486338">
                <a:moveTo>
                  <a:pt x="0" y="0"/>
                </a:moveTo>
                <a:lnTo>
                  <a:pt x="3486338" y="0"/>
                </a:lnTo>
                <a:lnTo>
                  <a:pt x="3486338" y="6848854"/>
                </a:lnTo>
                <a:lnTo>
                  <a:pt x="0" y="6848854"/>
                </a:lnTo>
                <a:lnTo>
                  <a:pt x="0" y="0"/>
                </a:lnTo>
                <a:close/>
              </a:path>
            </a:pathLst>
          </a:custGeom>
          <a:blipFill>
            <a:blip r:embed="rId8"/>
            <a:stretch>
              <a:fillRect l="-14609" t="0" r="-18355" b="-1526"/>
            </a:stretch>
          </a:blipFill>
        </p:spPr>
      </p:sp>
      <p:sp>
        <p:nvSpPr>
          <p:cNvPr name="TextBox 20" id="20"/>
          <p:cNvSpPr txBox="true"/>
          <p:nvPr/>
        </p:nvSpPr>
        <p:spPr>
          <a:xfrm rot="0">
            <a:off x="13702665" y="7915873"/>
            <a:ext cx="1581150" cy="323850"/>
          </a:xfrm>
          <a:prstGeom prst="rect">
            <a:avLst/>
          </a:prstGeom>
        </p:spPr>
        <p:txBody>
          <a:bodyPr anchor="t" rtlCol="false" tIns="0" lIns="0" bIns="0" rIns="0">
            <a:spAutoFit/>
          </a:bodyPr>
          <a:lstStyle/>
          <a:p>
            <a:pPr algn="ctr">
              <a:lnSpc>
                <a:spcPts val="2160"/>
              </a:lnSpc>
            </a:pPr>
            <a:r>
              <a:rPr lang="en-US" sz="1439">
                <a:solidFill>
                  <a:srgbClr val="FFFFFF"/>
                </a:solidFill>
                <a:latin typeface="Inter"/>
                <a:ea typeface="Inter"/>
                <a:cs typeface="Inter"/>
                <a:sym typeface="Inter"/>
              </a:rPr>
              <a:t>iOS · iPhone · iPad</a:t>
            </a:r>
          </a:p>
        </p:txBody>
      </p:sp>
      <p:sp>
        <p:nvSpPr>
          <p:cNvPr name="Freeform 21" id="21"/>
          <p:cNvSpPr/>
          <p:nvPr/>
        </p:nvSpPr>
        <p:spPr>
          <a:xfrm flipH="false" flipV="false" rot="0">
            <a:off x="3851511" y="2335449"/>
            <a:ext cx="3486338" cy="6848854"/>
          </a:xfrm>
          <a:custGeom>
            <a:avLst/>
            <a:gdLst/>
            <a:ahLst/>
            <a:cxnLst/>
            <a:rect r="r" b="b" t="t" l="l"/>
            <a:pathLst>
              <a:path h="6848854" w="3486338">
                <a:moveTo>
                  <a:pt x="0" y="0"/>
                </a:moveTo>
                <a:lnTo>
                  <a:pt x="3486338" y="0"/>
                </a:lnTo>
                <a:lnTo>
                  <a:pt x="3486338" y="6848854"/>
                </a:lnTo>
                <a:lnTo>
                  <a:pt x="0" y="6848854"/>
                </a:lnTo>
                <a:lnTo>
                  <a:pt x="0" y="0"/>
                </a:lnTo>
                <a:close/>
              </a:path>
            </a:pathLst>
          </a:custGeom>
          <a:blipFill>
            <a:blip r:embed="rId8"/>
            <a:stretch>
              <a:fillRect l="-14609" t="0" r="-18355" b="-1526"/>
            </a:stretch>
          </a:blipFill>
        </p:spPr>
      </p:sp>
      <p:sp>
        <p:nvSpPr>
          <p:cNvPr name="Freeform 22" id="22"/>
          <p:cNvSpPr/>
          <p:nvPr/>
        </p:nvSpPr>
        <p:spPr>
          <a:xfrm flipH="false" flipV="false" rot="0">
            <a:off x="7404524" y="2335449"/>
            <a:ext cx="3486338" cy="6848854"/>
          </a:xfrm>
          <a:custGeom>
            <a:avLst/>
            <a:gdLst/>
            <a:ahLst/>
            <a:cxnLst/>
            <a:rect r="r" b="b" t="t" l="l"/>
            <a:pathLst>
              <a:path h="6848854" w="3486338">
                <a:moveTo>
                  <a:pt x="0" y="0"/>
                </a:moveTo>
                <a:lnTo>
                  <a:pt x="3486338" y="0"/>
                </a:lnTo>
                <a:lnTo>
                  <a:pt x="3486338" y="6848854"/>
                </a:lnTo>
                <a:lnTo>
                  <a:pt x="0" y="6848854"/>
                </a:lnTo>
                <a:lnTo>
                  <a:pt x="0" y="0"/>
                </a:lnTo>
                <a:close/>
              </a:path>
            </a:pathLst>
          </a:custGeom>
          <a:blipFill>
            <a:blip r:embed="rId8"/>
            <a:stretch>
              <a:fillRect l="-14609" t="0" r="-18355" b="-1526"/>
            </a:stretch>
          </a:blipFill>
        </p:spPr>
      </p:sp>
      <p:sp>
        <p:nvSpPr>
          <p:cNvPr name="Freeform 23" id="23"/>
          <p:cNvSpPr/>
          <p:nvPr/>
        </p:nvSpPr>
        <p:spPr>
          <a:xfrm flipH="false" flipV="false" rot="0">
            <a:off x="10957537" y="2364024"/>
            <a:ext cx="3486338" cy="6848854"/>
          </a:xfrm>
          <a:custGeom>
            <a:avLst/>
            <a:gdLst/>
            <a:ahLst/>
            <a:cxnLst/>
            <a:rect r="r" b="b" t="t" l="l"/>
            <a:pathLst>
              <a:path h="6848854" w="3486338">
                <a:moveTo>
                  <a:pt x="0" y="0"/>
                </a:moveTo>
                <a:lnTo>
                  <a:pt x="3486337" y="0"/>
                </a:lnTo>
                <a:lnTo>
                  <a:pt x="3486337" y="6848854"/>
                </a:lnTo>
                <a:lnTo>
                  <a:pt x="0" y="6848854"/>
                </a:lnTo>
                <a:lnTo>
                  <a:pt x="0" y="0"/>
                </a:lnTo>
                <a:close/>
              </a:path>
            </a:pathLst>
          </a:custGeom>
          <a:blipFill>
            <a:blip r:embed="rId8"/>
            <a:stretch>
              <a:fillRect l="-14609" t="0" r="-18355" b="-1526"/>
            </a:stretch>
          </a:blipFill>
        </p:spPr>
      </p:sp>
      <p:sp>
        <p:nvSpPr>
          <p:cNvPr name="Freeform 24" id="24"/>
          <p:cNvSpPr/>
          <p:nvPr/>
        </p:nvSpPr>
        <p:spPr>
          <a:xfrm flipH="false" flipV="false" rot="0">
            <a:off x="14805824" y="2517976"/>
            <a:ext cx="2982547" cy="6483799"/>
          </a:xfrm>
          <a:custGeom>
            <a:avLst/>
            <a:gdLst/>
            <a:ahLst/>
            <a:cxnLst/>
            <a:rect r="r" b="b" t="t" l="l"/>
            <a:pathLst>
              <a:path h="6483799" w="2982547">
                <a:moveTo>
                  <a:pt x="0" y="0"/>
                </a:moveTo>
                <a:lnTo>
                  <a:pt x="2982548" y="0"/>
                </a:lnTo>
                <a:lnTo>
                  <a:pt x="2982548" y="6483799"/>
                </a:lnTo>
                <a:lnTo>
                  <a:pt x="0" y="6483799"/>
                </a:lnTo>
                <a:lnTo>
                  <a:pt x="0" y="0"/>
                </a:lnTo>
                <a:close/>
              </a:path>
            </a:pathLst>
          </a:custGeom>
          <a:blipFill>
            <a:blip r:embed="rId9"/>
            <a:stretch>
              <a:fillRect l="0" t="0" r="0" b="0"/>
            </a:stretch>
          </a:blipFill>
        </p:spPr>
      </p:sp>
      <p:sp>
        <p:nvSpPr>
          <p:cNvPr name="TextBox 25" id="25"/>
          <p:cNvSpPr txBox="true"/>
          <p:nvPr/>
        </p:nvSpPr>
        <p:spPr>
          <a:xfrm rot="0">
            <a:off x="1244279" y="285826"/>
            <a:ext cx="914944"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26" id="26"/>
          <p:cNvSpPr txBox="true"/>
          <p:nvPr/>
        </p:nvSpPr>
        <p:spPr>
          <a:xfrm rot="0">
            <a:off x="2357218" y="352501"/>
            <a:ext cx="3343275" cy="259461"/>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06 · APP PREVIEW</a:t>
            </a:r>
          </a:p>
        </p:txBody>
      </p:sp>
      <p:sp>
        <p:nvSpPr>
          <p:cNvPr name="TextBox 27" id="27"/>
          <p:cNvSpPr txBox="true"/>
          <p:nvPr/>
        </p:nvSpPr>
        <p:spPr>
          <a:xfrm rot="0">
            <a:off x="16784088"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08 / 31</a:t>
            </a:r>
          </a:p>
        </p:txBody>
      </p:sp>
      <p:sp>
        <p:nvSpPr>
          <p:cNvPr name="TextBox 28" id="28"/>
          <p:cNvSpPr txBox="true"/>
          <p:nvPr/>
        </p:nvSpPr>
        <p:spPr>
          <a:xfrm rot="0">
            <a:off x="914400" y="1198807"/>
            <a:ext cx="4258387" cy="721614"/>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App Preview</a:t>
            </a:r>
          </a:p>
        </p:txBody>
      </p:sp>
      <p:sp>
        <p:nvSpPr>
          <p:cNvPr name="Freeform 29" id="29"/>
          <p:cNvSpPr/>
          <p:nvPr/>
        </p:nvSpPr>
        <p:spPr>
          <a:xfrm flipH="false" flipV="false" rot="0">
            <a:off x="14493240" y="2335449"/>
            <a:ext cx="3486338" cy="6848854"/>
          </a:xfrm>
          <a:custGeom>
            <a:avLst/>
            <a:gdLst/>
            <a:ahLst/>
            <a:cxnLst/>
            <a:rect r="r" b="b" t="t" l="l"/>
            <a:pathLst>
              <a:path h="6848854" w="3486338">
                <a:moveTo>
                  <a:pt x="0" y="0"/>
                </a:moveTo>
                <a:lnTo>
                  <a:pt x="3486338" y="0"/>
                </a:lnTo>
                <a:lnTo>
                  <a:pt x="3486338" y="6848854"/>
                </a:lnTo>
                <a:lnTo>
                  <a:pt x="0" y="6848854"/>
                </a:lnTo>
                <a:lnTo>
                  <a:pt x="0" y="0"/>
                </a:lnTo>
                <a:close/>
              </a:path>
            </a:pathLst>
          </a:custGeom>
          <a:blipFill>
            <a:blip r:embed="rId8"/>
            <a:stretch>
              <a:fillRect l="-14609" t="0" r="-18355" b="-1526"/>
            </a:stretch>
          </a:blipFill>
        </p:spPr>
      </p:sp>
      <p:sp>
        <p:nvSpPr>
          <p:cNvPr name="TextBox 30" id="30"/>
          <p:cNvSpPr txBox="true"/>
          <p:nvPr/>
        </p:nvSpPr>
        <p:spPr>
          <a:xfrm rot="0">
            <a:off x="1323229" y="9298603"/>
            <a:ext cx="1438127" cy="322140"/>
          </a:xfrm>
          <a:prstGeom prst="rect">
            <a:avLst/>
          </a:prstGeom>
        </p:spPr>
        <p:txBody>
          <a:bodyPr anchor="t" rtlCol="false" tIns="0" lIns="0" bIns="0" rIns="0">
            <a:spAutoFit/>
          </a:bodyPr>
          <a:lstStyle/>
          <a:p>
            <a:pPr algn="l">
              <a:lnSpc>
                <a:spcPts val="2464"/>
              </a:lnSpc>
            </a:pPr>
            <a:r>
              <a:rPr lang="en-US" sz="1979" b="true">
                <a:solidFill>
                  <a:srgbClr val="595959"/>
                </a:solidFill>
                <a:latin typeface="Arimo Bold"/>
                <a:ea typeface="Arimo Bold"/>
                <a:cs typeface="Arimo Bold"/>
                <a:sym typeface="Arimo Bold"/>
              </a:rPr>
              <a:t>Today Page</a:t>
            </a:r>
          </a:p>
        </p:txBody>
      </p:sp>
      <p:sp>
        <p:nvSpPr>
          <p:cNvPr name="TextBox 31" id="31"/>
          <p:cNvSpPr txBox="true"/>
          <p:nvPr/>
        </p:nvSpPr>
        <p:spPr>
          <a:xfrm rot="0">
            <a:off x="4786391" y="9268405"/>
            <a:ext cx="1792763" cy="322140"/>
          </a:xfrm>
          <a:prstGeom prst="rect">
            <a:avLst/>
          </a:prstGeom>
        </p:spPr>
        <p:txBody>
          <a:bodyPr anchor="t" rtlCol="false" tIns="0" lIns="0" bIns="0" rIns="0">
            <a:spAutoFit/>
          </a:bodyPr>
          <a:lstStyle/>
          <a:p>
            <a:pPr algn="l">
              <a:lnSpc>
                <a:spcPts val="2464"/>
              </a:lnSpc>
            </a:pPr>
            <a:r>
              <a:rPr lang="en-US" sz="1979" b="true">
                <a:solidFill>
                  <a:srgbClr val="595959"/>
                </a:solidFill>
                <a:latin typeface="Arimo Bold"/>
                <a:ea typeface="Arimo Bold"/>
                <a:cs typeface="Arimo Bold"/>
                <a:sym typeface="Arimo Bold"/>
              </a:rPr>
              <a:t>Calendar Page</a:t>
            </a:r>
          </a:p>
        </p:txBody>
      </p:sp>
      <p:sp>
        <p:nvSpPr>
          <p:cNvPr name="TextBox 32" id="32"/>
          <p:cNvSpPr txBox="true"/>
          <p:nvPr/>
        </p:nvSpPr>
        <p:spPr>
          <a:xfrm rot="0">
            <a:off x="8417213" y="9268405"/>
            <a:ext cx="1539452" cy="322140"/>
          </a:xfrm>
          <a:prstGeom prst="rect">
            <a:avLst/>
          </a:prstGeom>
        </p:spPr>
        <p:txBody>
          <a:bodyPr anchor="t" rtlCol="false" tIns="0" lIns="0" bIns="0" rIns="0">
            <a:spAutoFit/>
          </a:bodyPr>
          <a:lstStyle/>
          <a:p>
            <a:pPr algn="l">
              <a:lnSpc>
                <a:spcPts val="2464"/>
              </a:lnSpc>
            </a:pPr>
            <a:r>
              <a:rPr lang="en-US" sz="1979" b="true">
                <a:solidFill>
                  <a:srgbClr val="595959"/>
                </a:solidFill>
                <a:latin typeface="Arimo Bold"/>
                <a:ea typeface="Arimo Bold"/>
                <a:cs typeface="Arimo Bold"/>
                <a:sym typeface="Arimo Bold"/>
              </a:rPr>
              <a:t>Search Page</a:t>
            </a:r>
          </a:p>
        </p:txBody>
      </p:sp>
      <p:sp>
        <p:nvSpPr>
          <p:cNvPr name="TextBox 33" id="33"/>
          <p:cNvSpPr txBox="true"/>
          <p:nvPr/>
        </p:nvSpPr>
        <p:spPr>
          <a:xfrm rot="0">
            <a:off x="11794990" y="9292985"/>
            <a:ext cx="2012299" cy="626940"/>
          </a:xfrm>
          <a:prstGeom prst="rect">
            <a:avLst/>
          </a:prstGeom>
        </p:spPr>
        <p:txBody>
          <a:bodyPr anchor="t" rtlCol="false" tIns="0" lIns="0" bIns="0" rIns="0">
            <a:spAutoFit/>
          </a:bodyPr>
          <a:lstStyle/>
          <a:p>
            <a:pPr algn="ctr">
              <a:lnSpc>
                <a:spcPts val="2464"/>
              </a:lnSpc>
            </a:pPr>
            <a:r>
              <a:rPr lang="en-US" sz="1979" b="true">
                <a:solidFill>
                  <a:srgbClr val="595959"/>
                </a:solidFill>
                <a:latin typeface="Arimo Bold"/>
                <a:ea typeface="Arimo Bold"/>
                <a:cs typeface="Arimo Bold"/>
                <a:sym typeface="Arimo Bold"/>
              </a:rPr>
              <a:t>Family Members (caregiver)</a:t>
            </a:r>
          </a:p>
        </p:txBody>
      </p:sp>
      <p:sp>
        <p:nvSpPr>
          <p:cNvPr name="TextBox 34" id="34"/>
          <p:cNvSpPr txBox="true"/>
          <p:nvPr/>
        </p:nvSpPr>
        <p:spPr>
          <a:xfrm rot="0">
            <a:off x="15398796" y="9298603"/>
            <a:ext cx="1796604" cy="322140"/>
          </a:xfrm>
          <a:prstGeom prst="rect">
            <a:avLst/>
          </a:prstGeom>
        </p:spPr>
        <p:txBody>
          <a:bodyPr anchor="t" rtlCol="false" tIns="0" lIns="0" bIns="0" rIns="0">
            <a:spAutoFit/>
          </a:bodyPr>
          <a:lstStyle/>
          <a:p>
            <a:pPr algn="l">
              <a:lnSpc>
                <a:spcPts val="2464"/>
              </a:lnSpc>
            </a:pPr>
            <a:r>
              <a:rPr lang="en-US" sz="1979" b="true">
                <a:solidFill>
                  <a:srgbClr val="595959"/>
                </a:solidFill>
                <a:latin typeface="Arimo Bold"/>
                <a:ea typeface="Arimo Bold"/>
                <a:cs typeface="Arimo Bold"/>
                <a:sym typeface="Arimo Bold"/>
              </a:rPr>
              <a:t>Medical Profile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6" id="6"/>
          <p:cNvGrpSpPr/>
          <p:nvPr/>
        </p:nvGrpSpPr>
        <p:grpSpPr>
          <a:xfrm rot="0">
            <a:off x="915295" y="1997497"/>
            <a:ext cx="1095375" cy="47625"/>
            <a:chOff x="0" y="0"/>
            <a:chExt cx="1460500" cy="63500"/>
          </a:xfrm>
        </p:grpSpPr>
        <p:sp>
          <p:nvSpPr>
            <p:cNvPr name="Freeform 7" id="7"/>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8" id="8"/>
          <p:cNvGrpSpPr/>
          <p:nvPr/>
        </p:nvGrpSpPr>
        <p:grpSpPr>
          <a:xfrm rot="0">
            <a:off x="908666" y="2671762"/>
            <a:ext cx="5314950" cy="2085975"/>
            <a:chOff x="0" y="0"/>
            <a:chExt cx="7086600" cy="2781300"/>
          </a:xfrm>
        </p:grpSpPr>
        <p:sp>
          <p:nvSpPr>
            <p:cNvPr name="Freeform 9" id="9"/>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10" id="10"/>
          <p:cNvGrpSpPr/>
          <p:nvPr/>
        </p:nvGrpSpPr>
        <p:grpSpPr>
          <a:xfrm rot="0">
            <a:off x="1183186" y="2940625"/>
            <a:ext cx="581025" cy="542925"/>
            <a:chOff x="0" y="0"/>
            <a:chExt cx="774700" cy="723900"/>
          </a:xfrm>
        </p:grpSpPr>
        <p:sp>
          <p:nvSpPr>
            <p:cNvPr name="Freeform 11" id="11"/>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12" id="12"/>
          <p:cNvGrpSpPr/>
          <p:nvPr/>
        </p:nvGrpSpPr>
        <p:grpSpPr>
          <a:xfrm rot="0">
            <a:off x="1309087" y="3047552"/>
            <a:ext cx="329060" cy="329060"/>
            <a:chOff x="0" y="0"/>
            <a:chExt cx="438747" cy="438747"/>
          </a:xfrm>
        </p:grpSpPr>
        <p:sp>
          <p:nvSpPr>
            <p:cNvPr name="Freeform 13" id="13"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3"/>
              <a:stretch>
                <a:fillRect l="0" t="0" r="8" b="8"/>
              </a:stretch>
            </a:blipFill>
          </p:spPr>
        </p:sp>
      </p:grpSp>
      <p:grpSp>
        <p:nvGrpSpPr>
          <p:cNvPr name="Group 14" id="14"/>
          <p:cNvGrpSpPr/>
          <p:nvPr/>
        </p:nvGrpSpPr>
        <p:grpSpPr>
          <a:xfrm rot="0">
            <a:off x="6486449" y="2671762"/>
            <a:ext cx="5314950" cy="2085975"/>
            <a:chOff x="0" y="0"/>
            <a:chExt cx="7086600" cy="2781300"/>
          </a:xfrm>
        </p:grpSpPr>
        <p:sp>
          <p:nvSpPr>
            <p:cNvPr name="Freeform 15" id="15"/>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16" id="16"/>
          <p:cNvGrpSpPr/>
          <p:nvPr/>
        </p:nvGrpSpPr>
        <p:grpSpPr>
          <a:xfrm rot="0">
            <a:off x="6760959" y="2940625"/>
            <a:ext cx="581025" cy="542925"/>
            <a:chOff x="0" y="0"/>
            <a:chExt cx="774700" cy="723900"/>
          </a:xfrm>
        </p:grpSpPr>
        <p:sp>
          <p:nvSpPr>
            <p:cNvPr name="Freeform 17" id="17"/>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18" id="18"/>
          <p:cNvGrpSpPr/>
          <p:nvPr/>
        </p:nvGrpSpPr>
        <p:grpSpPr>
          <a:xfrm rot="0">
            <a:off x="6886870" y="3047552"/>
            <a:ext cx="329060" cy="329060"/>
            <a:chOff x="0" y="0"/>
            <a:chExt cx="438747" cy="438747"/>
          </a:xfrm>
        </p:grpSpPr>
        <p:sp>
          <p:nvSpPr>
            <p:cNvPr name="Freeform 19" id="19"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4"/>
              <a:stretch>
                <a:fillRect l="0" t="0" r="8" b="8"/>
              </a:stretch>
            </a:blipFill>
          </p:spPr>
        </p:sp>
      </p:grpSp>
      <p:grpSp>
        <p:nvGrpSpPr>
          <p:cNvPr name="Group 20" id="20"/>
          <p:cNvGrpSpPr/>
          <p:nvPr/>
        </p:nvGrpSpPr>
        <p:grpSpPr>
          <a:xfrm rot="0">
            <a:off x="12064232" y="2671762"/>
            <a:ext cx="5314950" cy="2085975"/>
            <a:chOff x="0" y="0"/>
            <a:chExt cx="7086600" cy="2781300"/>
          </a:xfrm>
        </p:grpSpPr>
        <p:sp>
          <p:nvSpPr>
            <p:cNvPr name="Freeform 21" id="21"/>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22" id="22"/>
          <p:cNvGrpSpPr/>
          <p:nvPr/>
        </p:nvGrpSpPr>
        <p:grpSpPr>
          <a:xfrm rot="0">
            <a:off x="12338742" y="2940625"/>
            <a:ext cx="581025" cy="542925"/>
            <a:chOff x="0" y="0"/>
            <a:chExt cx="774700" cy="723900"/>
          </a:xfrm>
        </p:grpSpPr>
        <p:sp>
          <p:nvSpPr>
            <p:cNvPr name="Freeform 23" id="23"/>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24" id="24"/>
          <p:cNvGrpSpPr/>
          <p:nvPr/>
        </p:nvGrpSpPr>
        <p:grpSpPr>
          <a:xfrm rot="0">
            <a:off x="12464653" y="3047552"/>
            <a:ext cx="329060" cy="329060"/>
            <a:chOff x="0" y="0"/>
            <a:chExt cx="438747" cy="438747"/>
          </a:xfrm>
        </p:grpSpPr>
        <p:sp>
          <p:nvSpPr>
            <p:cNvPr name="Freeform 25" id="25"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5"/>
              <a:stretch>
                <a:fillRect l="0" t="0" r="8" b="8"/>
              </a:stretch>
            </a:blipFill>
          </p:spPr>
        </p:sp>
      </p:grpSp>
      <p:grpSp>
        <p:nvGrpSpPr>
          <p:cNvPr name="Group 26" id="26"/>
          <p:cNvGrpSpPr/>
          <p:nvPr/>
        </p:nvGrpSpPr>
        <p:grpSpPr>
          <a:xfrm rot="0">
            <a:off x="908666" y="5026371"/>
            <a:ext cx="5314950" cy="2085975"/>
            <a:chOff x="0" y="0"/>
            <a:chExt cx="7086600" cy="2781300"/>
          </a:xfrm>
        </p:grpSpPr>
        <p:sp>
          <p:nvSpPr>
            <p:cNvPr name="Freeform 27" id="27"/>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28" id="28"/>
          <p:cNvGrpSpPr/>
          <p:nvPr/>
        </p:nvGrpSpPr>
        <p:grpSpPr>
          <a:xfrm rot="0">
            <a:off x="1183186" y="5295233"/>
            <a:ext cx="581025" cy="542925"/>
            <a:chOff x="0" y="0"/>
            <a:chExt cx="774700" cy="723900"/>
          </a:xfrm>
        </p:grpSpPr>
        <p:sp>
          <p:nvSpPr>
            <p:cNvPr name="Freeform 29" id="29"/>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30" id="30"/>
          <p:cNvGrpSpPr/>
          <p:nvPr/>
        </p:nvGrpSpPr>
        <p:grpSpPr>
          <a:xfrm rot="0">
            <a:off x="1309087" y="5402161"/>
            <a:ext cx="329060" cy="329060"/>
            <a:chOff x="0" y="0"/>
            <a:chExt cx="438747" cy="438747"/>
          </a:xfrm>
        </p:grpSpPr>
        <p:sp>
          <p:nvSpPr>
            <p:cNvPr name="Freeform 31" id="31"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6"/>
              <a:stretch>
                <a:fillRect l="0" t="0" r="8" b="8"/>
              </a:stretch>
            </a:blipFill>
          </p:spPr>
        </p:sp>
      </p:grpSp>
      <p:grpSp>
        <p:nvGrpSpPr>
          <p:cNvPr name="Group 32" id="32"/>
          <p:cNvGrpSpPr/>
          <p:nvPr/>
        </p:nvGrpSpPr>
        <p:grpSpPr>
          <a:xfrm rot="0">
            <a:off x="6486449" y="5026371"/>
            <a:ext cx="5314950" cy="2085975"/>
            <a:chOff x="0" y="0"/>
            <a:chExt cx="7086600" cy="2781300"/>
          </a:xfrm>
        </p:grpSpPr>
        <p:sp>
          <p:nvSpPr>
            <p:cNvPr name="Freeform 33" id="33"/>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34" id="34"/>
          <p:cNvGrpSpPr/>
          <p:nvPr/>
        </p:nvGrpSpPr>
        <p:grpSpPr>
          <a:xfrm rot="0">
            <a:off x="6760959" y="5295233"/>
            <a:ext cx="581025" cy="542925"/>
            <a:chOff x="0" y="0"/>
            <a:chExt cx="774700" cy="723900"/>
          </a:xfrm>
        </p:grpSpPr>
        <p:sp>
          <p:nvSpPr>
            <p:cNvPr name="Freeform 35" id="35"/>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36" id="36"/>
          <p:cNvGrpSpPr/>
          <p:nvPr/>
        </p:nvGrpSpPr>
        <p:grpSpPr>
          <a:xfrm rot="0">
            <a:off x="6886870" y="5402161"/>
            <a:ext cx="329060" cy="329060"/>
            <a:chOff x="0" y="0"/>
            <a:chExt cx="438747" cy="438747"/>
          </a:xfrm>
        </p:grpSpPr>
        <p:sp>
          <p:nvSpPr>
            <p:cNvPr name="Freeform 37" id="37"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7"/>
              <a:stretch>
                <a:fillRect l="0" t="0" r="8" b="8"/>
              </a:stretch>
            </a:blipFill>
          </p:spPr>
        </p:sp>
      </p:grpSp>
      <p:grpSp>
        <p:nvGrpSpPr>
          <p:cNvPr name="Group 38" id="38"/>
          <p:cNvGrpSpPr/>
          <p:nvPr/>
        </p:nvGrpSpPr>
        <p:grpSpPr>
          <a:xfrm rot="0">
            <a:off x="12064232" y="5026371"/>
            <a:ext cx="5314950" cy="2085975"/>
            <a:chOff x="0" y="0"/>
            <a:chExt cx="7086600" cy="2781300"/>
          </a:xfrm>
        </p:grpSpPr>
        <p:sp>
          <p:nvSpPr>
            <p:cNvPr name="Freeform 39" id="39"/>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40" id="40"/>
          <p:cNvGrpSpPr/>
          <p:nvPr/>
        </p:nvGrpSpPr>
        <p:grpSpPr>
          <a:xfrm rot="0">
            <a:off x="12338742" y="5295233"/>
            <a:ext cx="581025" cy="542925"/>
            <a:chOff x="0" y="0"/>
            <a:chExt cx="774700" cy="723900"/>
          </a:xfrm>
        </p:grpSpPr>
        <p:sp>
          <p:nvSpPr>
            <p:cNvPr name="Freeform 41" id="41"/>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42" id="42"/>
          <p:cNvGrpSpPr/>
          <p:nvPr/>
        </p:nvGrpSpPr>
        <p:grpSpPr>
          <a:xfrm rot="0">
            <a:off x="12464653" y="5402161"/>
            <a:ext cx="329060" cy="329060"/>
            <a:chOff x="0" y="0"/>
            <a:chExt cx="438747" cy="438747"/>
          </a:xfrm>
        </p:grpSpPr>
        <p:sp>
          <p:nvSpPr>
            <p:cNvPr name="Freeform 43" id="43"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8"/>
              <a:stretch>
                <a:fillRect l="0" t="0" r="8" b="8"/>
              </a:stretch>
            </a:blipFill>
          </p:spPr>
        </p:sp>
      </p:grpSp>
      <p:grpSp>
        <p:nvGrpSpPr>
          <p:cNvPr name="Group 44" id="44"/>
          <p:cNvGrpSpPr/>
          <p:nvPr/>
        </p:nvGrpSpPr>
        <p:grpSpPr>
          <a:xfrm rot="0">
            <a:off x="908666" y="7380980"/>
            <a:ext cx="5314950" cy="2085975"/>
            <a:chOff x="0" y="0"/>
            <a:chExt cx="7086600" cy="2781300"/>
          </a:xfrm>
        </p:grpSpPr>
        <p:sp>
          <p:nvSpPr>
            <p:cNvPr name="Freeform 45" id="45"/>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46" id="46"/>
          <p:cNvGrpSpPr/>
          <p:nvPr/>
        </p:nvGrpSpPr>
        <p:grpSpPr>
          <a:xfrm rot="0">
            <a:off x="1183186" y="7649842"/>
            <a:ext cx="581025" cy="542925"/>
            <a:chOff x="0" y="0"/>
            <a:chExt cx="774700" cy="723900"/>
          </a:xfrm>
        </p:grpSpPr>
        <p:sp>
          <p:nvSpPr>
            <p:cNvPr name="Freeform 47" id="47"/>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48" id="48"/>
          <p:cNvGrpSpPr/>
          <p:nvPr/>
        </p:nvGrpSpPr>
        <p:grpSpPr>
          <a:xfrm rot="0">
            <a:off x="1309087" y="7756769"/>
            <a:ext cx="329060" cy="329060"/>
            <a:chOff x="0" y="0"/>
            <a:chExt cx="438747" cy="438747"/>
          </a:xfrm>
        </p:grpSpPr>
        <p:sp>
          <p:nvSpPr>
            <p:cNvPr name="Freeform 49" id="49"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9"/>
              <a:stretch>
                <a:fillRect l="0" t="0" r="8" b="8"/>
              </a:stretch>
            </a:blipFill>
          </p:spPr>
        </p:sp>
      </p:grpSp>
      <p:grpSp>
        <p:nvGrpSpPr>
          <p:cNvPr name="Group 50" id="50"/>
          <p:cNvGrpSpPr/>
          <p:nvPr/>
        </p:nvGrpSpPr>
        <p:grpSpPr>
          <a:xfrm rot="0">
            <a:off x="6486449" y="7380980"/>
            <a:ext cx="5314950" cy="2085975"/>
            <a:chOff x="0" y="0"/>
            <a:chExt cx="7086600" cy="2781300"/>
          </a:xfrm>
        </p:grpSpPr>
        <p:sp>
          <p:nvSpPr>
            <p:cNvPr name="Freeform 51" id="51"/>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FFFFFF"/>
            </a:solidFill>
            <a:ln w="9526" cap="sq">
              <a:solidFill>
                <a:srgbClr val="E5E7EB"/>
              </a:solidFill>
              <a:prstDash val="solid"/>
              <a:miter/>
            </a:ln>
          </p:spPr>
        </p:sp>
      </p:grpSp>
      <p:grpSp>
        <p:nvGrpSpPr>
          <p:cNvPr name="Group 52" id="52"/>
          <p:cNvGrpSpPr/>
          <p:nvPr/>
        </p:nvGrpSpPr>
        <p:grpSpPr>
          <a:xfrm rot="0">
            <a:off x="6760959" y="7649842"/>
            <a:ext cx="581025" cy="542925"/>
            <a:chOff x="0" y="0"/>
            <a:chExt cx="774700" cy="723900"/>
          </a:xfrm>
        </p:grpSpPr>
        <p:sp>
          <p:nvSpPr>
            <p:cNvPr name="Freeform 53" id="53"/>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31CE76">
                <a:alpha val="784"/>
              </a:srgbClr>
            </a:solidFill>
          </p:spPr>
        </p:sp>
      </p:grpSp>
      <p:grpSp>
        <p:nvGrpSpPr>
          <p:cNvPr name="Group 54" id="54"/>
          <p:cNvGrpSpPr/>
          <p:nvPr/>
        </p:nvGrpSpPr>
        <p:grpSpPr>
          <a:xfrm rot="0">
            <a:off x="6886870" y="7756769"/>
            <a:ext cx="329060" cy="329060"/>
            <a:chOff x="0" y="0"/>
            <a:chExt cx="438747" cy="438747"/>
          </a:xfrm>
        </p:grpSpPr>
        <p:sp>
          <p:nvSpPr>
            <p:cNvPr name="Freeform 55" id="55" descr="preencoded.png"/>
            <p:cNvSpPr/>
            <p:nvPr/>
          </p:nvSpPr>
          <p:spPr>
            <a:xfrm flipH="false" flipV="false" rot="0">
              <a:off x="0" y="0"/>
              <a:ext cx="438785" cy="438785"/>
            </a:xfrm>
            <a:custGeom>
              <a:avLst/>
              <a:gdLst/>
              <a:ahLst/>
              <a:cxnLst/>
              <a:rect r="r" b="b" t="t" l="l"/>
              <a:pathLst>
                <a:path h="438785" w="438785">
                  <a:moveTo>
                    <a:pt x="0" y="0"/>
                  </a:moveTo>
                  <a:lnTo>
                    <a:pt x="438785" y="0"/>
                  </a:lnTo>
                  <a:lnTo>
                    <a:pt x="438785" y="438785"/>
                  </a:lnTo>
                  <a:lnTo>
                    <a:pt x="0" y="438785"/>
                  </a:lnTo>
                  <a:lnTo>
                    <a:pt x="0" y="0"/>
                  </a:lnTo>
                  <a:close/>
                </a:path>
              </a:pathLst>
            </a:custGeom>
            <a:blipFill>
              <a:blip r:embed="rId10"/>
              <a:stretch>
                <a:fillRect l="0" t="0" r="8" b="8"/>
              </a:stretch>
            </a:blipFill>
          </p:spPr>
        </p:sp>
      </p:grpSp>
      <p:grpSp>
        <p:nvGrpSpPr>
          <p:cNvPr name="Group 56" id="56"/>
          <p:cNvGrpSpPr/>
          <p:nvPr/>
        </p:nvGrpSpPr>
        <p:grpSpPr>
          <a:xfrm rot="0">
            <a:off x="12064232" y="7380980"/>
            <a:ext cx="5314950" cy="2085975"/>
            <a:chOff x="0" y="0"/>
            <a:chExt cx="7086600" cy="2781300"/>
          </a:xfrm>
        </p:grpSpPr>
        <p:sp>
          <p:nvSpPr>
            <p:cNvPr name="Freeform 57" id="57"/>
            <p:cNvSpPr/>
            <p:nvPr/>
          </p:nvSpPr>
          <p:spPr>
            <a:xfrm flipH="false" flipV="false" rot="0">
              <a:off x="0" y="0"/>
              <a:ext cx="7086600" cy="2781300"/>
            </a:xfrm>
            <a:custGeom>
              <a:avLst/>
              <a:gdLst/>
              <a:ahLst/>
              <a:cxnLst/>
              <a:rect r="r" b="b" t="t" l="l"/>
              <a:pathLst>
                <a:path h="2781300" w="7086600">
                  <a:moveTo>
                    <a:pt x="0" y="244983"/>
                  </a:moveTo>
                  <a:cubicBezTo>
                    <a:pt x="0" y="109728"/>
                    <a:pt x="109728" y="0"/>
                    <a:pt x="244983" y="0"/>
                  </a:cubicBezTo>
                  <a:lnTo>
                    <a:pt x="6841617" y="0"/>
                  </a:lnTo>
                  <a:cubicBezTo>
                    <a:pt x="6976999" y="0"/>
                    <a:pt x="7086600" y="109728"/>
                    <a:pt x="7086600" y="244983"/>
                  </a:cubicBezTo>
                  <a:lnTo>
                    <a:pt x="7086600" y="2536317"/>
                  </a:lnTo>
                  <a:cubicBezTo>
                    <a:pt x="7086600" y="2671572"/>
                    <a:pt x="6976872" y="2781300"/>
                    <a:pt x="6841617" y="2781300"/>
                  </a:cubicBezTo>
                  <a:lnTo>
                    <a:pt x="244983" y="2781300"/>
                  </a:lnTo>
                  <a:cubicBezTo>
                    <a:pt x="109728" y="2781300"/>
                    <a:pt x="0" y="2671572"/>
                    <a:pt x="0" y="2536317"/>
                  </a:cubicBezTo>
                  <a:close/>
                </a:path>
              </a:pathLst>
            </a:custGeom>
            <a:solidFill>
              <a:srgbClr val="ECFAF2"/>
            </a:solidFill>
            <a:ln w="9526" cap="sq">
              <a:solidFill>
                <a:srgbClr val="ECFAF2"/>
              </a:solidFill>
              <a:prstDash val="solid"/>
              <a:miter/>
            </a:ln>
          </p:spPr>
        </p:sp>
      </p:grpSp>
      <p:grpSp>
        <p:nvGrpSpPr>
          <p:cNvPr name="Group 58" id="58"/>
          <p:cNvGrpSpPr/>
          <p:nvPr/>
        </p:nvGrpSpPr>
        <p:grpSpPr>
          <a:xfrm rot="0">
            <a:off x="12338742" y="7649842"/>
            <a:ext cx="581025" cy="542925"/>
            <a:chOff x="0" y="0"/>
            <a:chExt cx="774700" cy="723900"/>
          </a:xfrm>
        </p:grpSpPr>
        <p:sp>
          <p:nvSpPr>
            <p:cNvPr name="Freeform 59" id="59"/>
            <p:cNvSpPr/>
            <p:nvPr/>
          </p:nvSpPr>
          <p:spPr>
            <a:xfrm flipH="false" flipV="false" rot="0">
              <a:off x="0" y="0"/>
              <a:ext cx="774700" cy="723900"/>
            </a:xfrm>
            <a:custGeom>
              <a:avLst/>
              <a:gdLst/>
              <a:ahLst/>
              <a:cxnLst/>
              <a:rect r="r" b="b" t="t" l="l"/>
              <a:pathLst>
                <a:path h="723900" w="774700">
                  <a:moveTo>
                    <a:pt x="0" y="170688"/>
                  </a:moveTo>
                  <a:cubicBezTo>
                    <a:pt x="0" y="76454"/>
                    <a:pt x="76454" y="0"/>
                    <a:pt x="170688" y="0"/>
                  </a:cubicBezTo>
                  <a:lnTo>
                    <a:pt x="604012" y="0"/>
                  </a:lnTo>
                  <a:cubicBezTo>
                    <a:pt x="698246" y="0"/>
                    <a:pt x="774700" y="76454"/>
                    <a:pt x="774700" y="170688"/>
                  </a:cubicBezTo>
                  <a:lnTo>
                    <a:pt x="774700" y="553212"/>
                  </a:lnTo>
                  <a:cubicBezTo>
                    <a:pt x="774700" y="647446"/>
                    <a:pt x="698246" y="723900"/>
                    <a:pt x="604012" y="723900"/>
                  </a:cubicBezTo>
                  <a:lnTo>
                    <a:pt x="170688" y="723900"/>
                  </a:lnTo>
                  <a:cubicBezTo>
                    <a:pt x="76454" y="723900"/>
                    <a:pt x="0" y="647446"/>
                    <a:pt x="0" y="553212"/>
                  </a:cubicBezTo>
                  <a:close/>
                </a:path>
              </a:pathLst>
            </a:custGeom>
            <a:solidFill>
              <a:srgbClr val="2ECC71"/>
            </a:solidFill>
          </p:spPr>
        </p:sp>
      </p:grpSp>
      <p:grpSp>
        <p:nvGrpSpPr>
          <p:cNvPr name="Group 60" id="60"/>
          <p:cNvGrpSpPr/>
          <p:nvPr/>
        </p:nvGrpSpPr>
        <p:grpSpPr>
          <a:xfrm rot="0">
            <a:off x="0" y="10247414"/>
            <a:ext cx="18288000" cy="38100"/>
            <a:chOff x="0" y="0"/>
            <a:chExt cx="24384000" cy="50800"/>
          </a:xfrm>
        </p:grpSpPr>
        <p:sp>
          <p:nvSpPr>
            <p:cNvPr name="Freeform 61" id="61"/>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62" id="62"/>
          <p:cNvSpPr/>
          <p:nvPr/>
        </p:nvSpPr>
        <p:spPr>
          <a:xfrm flipH="false" flipV="false" rot="0">
            <a:off x="12479833" y="7738272"/>
            <a:ext cx="298843" cy="366066"/>
          </a:xfrm>
          <a:custGeom>
            <a:avLst/>
            <a:gdLst/>
            <a:ahLst/>
            <a:cxnLst/>
            <a:rect r="r" b="b" t="t" l="l"/>
            <a:pathLst>
              <a:path h="366066" w="298843">
                <a:moveTo>
                  <a:pt x="0" y="0"/>
                </a:moveTo>
                <a:lnTo>
                  <a:pt x="298843" y="0"/>
                </a:lnTo>
                <a:lnTo>
                  <a:pt x="298843" y="366065"/>
                </a:lnTo>
                <a:lnTo>
                  <a:pt x="0" y="3660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63" id="63"/>
          <p:cNvSpPr txBox="true"/>
          <p:nvPr/>
        </p:nvSpPr>
        <p:spPr>
          <a:xfrm rot="0">
            <a:off x="1244279" y="285826"/>
            <a:ext cx="896549"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64" id="64"/>
          <p:cNvSpPr txBox="true"/>
          <p:nvPr/>
        </p:nvSpPr>
        <p:spPr>
          <a:xfrm rot="0">
            <a:off x="2356837" y="352501"/>
            <a:ext cx="28003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07 · KEY FEATURES</a:t>
            </a:r>
          </a:p>
        </p:txBody>
      </p:sp>
      <p:sp>
        <p:nvSpPr>
          <p:cNvPr name="TextBox 65" id="65"/>
          <p:cNvSpPr txBox="true"/>
          <p:nvPr/>
        </p:nvSpPr>
        <p:spPr>
          <a:xfrm rot="0">
            <a:off x="16784022"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09 / 31</a:t>
            </a:r>
          </a:p>
        </p:txBody>
      </p:sp>
      <p:sp>
        <p:nvSpPr>
          <p:cNvPr name="TextBox 66" id="66"/>
          <p:cNvSpPr txBox="true"/>
          <p:nvPr/>
        </p:nvSpPr>
        <p:spPr>
          <a:xfrm rot="0">
            <a:off x="915591" y="1198807"/>
            <a:ext cx="394335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Key Features</a:t>
            </a:r>
          </a:p>
        </p:txBody>
      </p:sp>
      <p:sp>
        <p:nvSpPr>
          <p:cNvPr name="TextBox 67" id="67"/>
          <p:cNvSpPr txBox="true"/>
          <p:nvPr/>
        </p:nvSpPr>
        <p:spPr>
          <a:xfrm rot="0">
            <a:off x="12338742" y="1248346"/>
            <a:ext cx="5733683" cy="918591"/>
          </a:xfrm>
          <a:prstGeom prst="rect">
            <a:avLst/>
          </a:prstGeom>
        </p:spPr>
        <p:txBody>
          <a:bodyPr anchor="t" rtlCol="false" tIns="0" lIns="0" bIns="0" rIns="0">
            <a:spAutoFit/>
          </a:bodyPr>
          <a:lstStyle/>
          <a:p>
            <a:pPr algn="l">
              <a:lnSpc>
                <a:spcPts val="2483"/>
              </a:lnSpc>
            </a:pPr>
            <a:r>
              <a:rPr lang="en-US" sz="1659">
                <a:solidFill>
                  <a:srgbClr val="6B7280"/>
                </a:solidFill>
                <a:latin typeface="Inter"/>
                <a:ea typeface="Inter"/>
                <a:cs typeface="Inter"/>
                <a:sym typeface="Inter"/>
              </a:rPr>
              <a:t>ISTSEH</a:t>
            </a:r>
            <a:r>
              <a:rPr lang="en-US" sz="1659">
                <a:solidFill>
                  <a:srgbClr val="6B7280"/>
                </a:solidFill>
                <a:latin typeface="Inter"/>
                <a:ea typeface="Inter"/>
                <a:cs typeface="Inter"/>
                <a:sym typeface="Inter"/>
              </a:rPr>
              <a:t> combines reminders, smart scheduling, safety checks, and caregiver support into one medication-care system designed for patients and families.</a:t>
            </a:r>
          </a:p>
        </p:txBody>
      </p:sp>
      <p:sp>
        <p:nvSpPr>
          <p:cNvPr name="TextBox 68" id="68"/>
          <p:cNvSpPr txBox="true"/>
          <p:nvPr/>
        </p:nvSpPr>
        <p:spPr>
          <a:xfrm rot="0">
            <a:off x="1180128" y="3599107"/>
            <a:ext cx="4772025" cy="323850"/>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Medication reminders</a:t>
            </a:r>
          </a:p>
        </p:txBody>
      </p:sp>
      <p:sp>
        <p:nvSpPr>
          <p:cNvPr name="TextBox 69" id="69"/>
          <p:cNvSpPr txBox="true"/>
          <p:nvPr/>
        </p:nvSpPr>
        <p:spPr>
          <a:xfrm rot="0">
            <a:off x="1180128" y="3955847"/>
            <a:ext cx="4772025"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Daily and weekly views organize every dose clearly, with taken, skipped, and missed-dose tracking.</a:t>
            </a:r>
          </a:p>
        </p:txBody>
      </p:sp>
      <p:sp>
        <p:nvSpPr>
          <p:cNvPr name="TextBox 70" id="70"/>
          <p:cNvSpPr txBox="true"/>
          <p:nvPr/>
        </p:nvSpPr>
        <p:spPr>
          <a:xfrm rot="0">
            <a:off x="6757911" y="3599107"/>
            <a:ext cx="1711375"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Ad</a:t>
            </a:r>
            <a:r>
              <a:rPr lang="en-US" sz="1880" b="true">
                <a:solidFill>
                  <a:srgbClr val="1A1A2E"/>
                </a:solidFill>
                <a:latin typeface="Arimo Bold"/>
                <a:ea typeface="Arimo Bold"/>
                <a:cs typeface="Arimo Bold"/>
                <a:sym typeface="Arimo Bold"/>
              </a:rPr>
              <a:t>aptive alerts</a:t>
            </a:r>
          </a:p>
        </p:txBody>
      </p:sp>
      <p:sp>
        <p:nvSpPr>
          <p:cNvPr name="TextBox 71" id="71"/>
          <p:cNvSpPr txBox="true"/>
          <p:nvPr/>
        </p:nvSpPr>
        <p:spPr>
          <a:xfrm rot="0">
            <a:off x="6757911" y="3955847"/>
            <a:ext cx="4772025"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A</a:t>
            </a:r>
            <a:r>
              <a:rPr lang="en-US" sz="1439">
                <a:solidFill>
                  <a:srgbClr val="595959"/>
                </a:solidFill>
                <a:latin typeface="Inter"/>
                <a:ea typeface="Inter"/>
                <a:cs typeface="Inter"/>
                <a:sym typeface="Inter"/>
              </a:rPr>
              <a:t>lerts adapt to medication timing, appointments, routine changes, and important safety moments.</a:t>
            </a:r>
          </a:p>
        </p:txBody>
      </p:sp>
      <p:sp>
        <p:nvSpPr>
          <p:cNvPr name="TextBox 72" id="72"/>
          <p:cNvSpPr txBox="true"/>
          <p:nvPr/>
        </p:nvSpPr>
        <p:spPr>
          <a:xfrm rot="0">
            <a:off x="12335694" y="3599107"/>
            <a:ext cx="3422303"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Smart routine-based</a:t>
            </a:r>
            <a:r>
              <a:rPr lang="en-US" sz="1880" b="true">
                <a:solidFill>
                  <a:srgbClr val="1A1A2E"/>
                </a:solidFill>
                <a:latin typeface="Arimo Bold"/>
                <a:ea typeface="Arimo Bold"/>
                <a:cs typeface="Arimo Bold"/>
                <a:sym typeface="Arimo Bold"/>
              </a:rPr>
              <a:t> schedule</a:t>
            </a:r>
          </a:p>
        </p:txBody>
      </p:sp>
      <p:sp>
        <p:nvSpPr>
          <p:cNvPr name="TextBox 73" id="73"/>
          <p:cNvSpPr txBox="true"/>
          <p:nvPr/>
        </p:nvSpPr>
        <p:spPr>
          <a:xfrm rot="0">
            <a:off x="12335694" y="3955847"/>
            <a:ext cx="4772025"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Builds dos</a:t>
            </a:r>
            <a:r>
              <a:rPr lang="en-US" sz="1439">
                <a:solidFill>
                  <a:srgbClr val="595959"/>
                </a:solidFill>
                <a:latin typeface="Inter"/>
                <a:ea typeface="Inter"/>
                <a:cs typeface="Inter"/>
                <a:sym typeface="Inter"/>
              </a:rPr>
              <a:t>e timing around wake time, meals, bedtime, food rules, and caregiver-supported care plans.</a:t>
            </a:r>
          </a:p>
        </p:txBody>
      </p:sp>
      <p:sp>
        <p:nvSpPr>
          <p:cNvPr name="TextBox 74" id="74"/>
          <p:cNvSpPr txBox="true"/>
          <p:nvPr/>
        </p:nvSpPr>
        <p:spPr>
          <a:xfrm rot="0">
            <a:off x="1180128" y="5953725"/>
            <a:ext cx="2440781"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Caregiver connection</a:t>
            </a:r>
          </a:p>
        </p:txBody>
      </p:sp>
      <p:sp>
        <p:nvSpPr>
          <p:cNvPr name="TextBox 75" id="75"/>
          <p:cNvSpPr txBox="true"/>
          <p:nvPr/>
        </p:nvSpPr>
        <p:spPr>
          <a:xfrm rot="0">
            <a:off x="1180128" y="6310465"/>
            <a:ext cx="4772025" cy="73952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F</a:t>
            </a:r>
            <a:r>
              <a:rPr lang="en-US" sz="1439">
                <a:solidFill>
                  <a:srgbClr val="595959"/>
                </a:solidFill>
                <a:latin typeface="Inter"/>
                <a:ea typeface="Inter"/>
                <a:cs typeface="Inter"/>
                <a:sym typeface="Inter"/>
              </a:rPr>
              <a:t>amily members can support patients, manage medication plans, and monitor care through linked profiles.</a:t>
            </a:r>
          </a:p>
        </p:txBody>
      </p:sp>
      <p:sp>
        <p:nvSpPr>
          <p:cNvPr name="TextBox 76" id="76"/>
          <p:cNvSpPr txBox="true"/>
          <p:nvPr/>
        </p:nvSpPr>
        <p:spPr>
          <a:xfrm rot="0">
            <a:off x="6757911" y="5953725"/>
            <a:ext cx="4772025" cy="323850"/>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Safety warnings</a:t>
            </a:r>
          </a:p>
        </p:txBody>
      </p:sp>
      <p:sp>
        <p:nvSpPr>
          <p:cNvPr name="TextBox 77" id="77"/>
          <p:cNvSpPr txBox="true"/>
          <p:nvPr/>
        </p:nvSpPr>
        <p:spPr>
          <a:xfrm rot="0">
            <a:off x="6757911" y="6310465"/>
            <a:ext cx="4772025" cy="73952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ISTSEH ch</a:t>
            </a:r>
            <a:r>
              <a:rPr lang="en-US" sz="1439">
                <a:solidFill>
                  <a:srgbClr val="595959"/>
                </a:solidFill>
                <a:latin typeface="Inter"/>
                <a:ea typeface="Inter"/>
                <a:cs typeface="Inter"/>
                <a:sym typeface="Inter"/>
              </a:rPr>
              <a:t>ecks medications against allergies, duplicate ingredients, and possible interaction risks before saving.</a:t>
            </a:r>
          </a:p>
        </p:txBody>
      </p:sp>
      <p:sp>
        <p:nvSpPr>
          <p:cNvPr name="TextBox 78" id="78"/>
          <p:cNvSpPr txBox="true"/>
          <p:nvPr/>
        </p:nvSpPr>
        <p:spPr>
          <a:xfrm rot="0">
            <a:off x="12335694" y="5953725"/>
            <a:ext cx="4772025" cy="323850"/>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Medication search</a:t>
            </a:r>
          </a:p>
        </p:txBody>
      </p:sp>
      <p:sp>
        <p:nvSpPr>
          <p:cNvPr name="TextBox 79" id="79"/>
          <p:cNvSpPr txBox="true"/>
          <p:nvPr/>
        </p:nvSpPr>
        <p:spPr>
          <a:xfrm rot="0">
            <a:off x="12335694" y="6310465"/>
            <a:ext cx="4772025"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Us</a:t>
            </a:r>
            <a:r>
              <a:rPr lang="en-US" sz="1439">
                <a:solidFill>
                  <a:srgbClr val="595959"/>
                </a:solidFill>
                <a:latin typeface="Inter"/>
                <a:ea typeface="Inter"/>
                <a:cs typeface="Inter"/>
                <a:sym typeface="Inter"/>
              </a:rPr>
              <a:t>ers can search for medicines and view simplified information from verified medication data sources.</a:t>
            </a:r>
          </a:p>
        </p:txBody>
      </p:sp>
      <p:sp>
        <p:nvSpPr>
          <p:cNvPr name="TextBox 80" id="80"/>
          <p:cNvSpPr txBox="true"/>
          <p:nvPr/>
        </p:nvSpPr>
        <p:spPr>
          <a:xfrm rot="0">
            <a:off x="1180128" y="8308334"/>
            <a:ext cx="1671340"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Medical profile</a:t>
            </a:r>
          </a:p>
        </p:txBody>
      </p:sp>
      <p:sp>
        <p:nvSpPr>
          <p:cNvPr name="TextBox 81" id="81"/>
          <p:cNvSpPr txBox="true"/>
          <p:nvPr/>
        </p:nvSpPr>
        <p:spPr>
          <a:xfrm rot="0">
            <a:off x="1180128" y="8665073"/>
            <a:ext cx="4772025"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Each us</a:t>
            </a:r>
            <a:r>
              <a:rPr lang="en-US" sz="1439">
                <a:solidFill>
                  <a:srgbClr val="595959"/>
                </a:solidFill>
                <a:latin typeface="Inter"/>
                <a:ea typeface="Inter"/>
                <a:cs typeface="Inter"/>
                <a:sym typeface="Inter"/>
              </a:rPr>
              <a:t>er has a medical profile for allergies, chronic conditions, routine times, and emergency details.</a:t>
            </a:r>
          </a:p>
        </p:txBody>
      </p:sp>
      <p:sp>
        <p:nvSpPr>
          <p:cNvPr name="TextBox 82" id="82"/>
          <p:cNvSpPr txBox="true"/>
          <p:nvPr/>
        </p:nvSpPr>
        <p:spPr>
          <a:xfrm rot="0">
            <a:off x="6757911" y="8308334"/>
            <a:ext cx="2267992"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AI</a:t>
            </a:r>
            <a:r>
              <a:rPr lang="en-US" sz="1880" b="true">
                <a:solidFill>
                  <a:srgbClr val="1A1A2E"/>
                </a:solidFill>
                <a:latin typeface="Arimo Bold"/>
                <a:ea typeface="Arimo Bold"/>
                <a:cs typeface="Arimo Bold"/>
                <a:sym typeface="Arimo Bold"/>
              </a:rPr>
              <a:t> medication guide</a:t>
            </a:r>
          </a:p>
        </p:txBody>
      </p:sp>
      <p:sp>
        <p:nvSpPr>
          <p:cNvPr name="TextBox 83" id="83"/>
          <p:cNvSpPr txBox="true"/>
          <p:nvPr/>
        </p:nvSpPr>
        <p:spPr>
          <a:xfrm rot="0">
            <a:off x="6757911" y="8669141"/>
            <a:ext cx="5043488"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T</a:t>
            </a:r>
            <a:r>
              <a:rPr lang="en-US" sz="1439">
                <a:solidFill>
                  <a:srgbClr val="595959"/>
                </a:solidFill>
                <a:latin typeface="Inter"/>
                <a:ea typeface="Inter"/>
                <a:cs typeface="Inter"/>
                <a:sym typeface="Inter"/>
              </a:rPr>
              <a:t>he assistant helps explain medication information, schedule instructions, and safety notes in simple language.</a:t>
            </a:r>
          </a:p>
        </p:txBody>
      </p:sp>
      <p:sp>
        <p:nvSpPr>
          <p:cNvPr name="TextBox 84" id="84"/>
          <p:cNvSpPr txBox="true"/>
          <p:nvPr/>
        </p:nvSpPr>
        <p:spPr>
          <a:xfrm rot="0">
            <a:off x="12335694" y="8308334"/>
            <a:ext cx="2122587" cy="313182"/>
          </a:xfrm>
          <a:prstGeom prst="rect">
            <a:avLst/>
          </a:prstGeom>
        </p:spPr>
        <p:txBody>
          <a:bodyPr anchor="t" rtlCol="false" tIns="0" lIns="0" bIns="0" rIns="0">
            <a:spAutoFit/>
          </a:bodyPr>
          <a:lstStyle/>
          <a:p>
            <a:pPr algn="l">
              <a:lnSpc>
                <a:spcPts val="2340"/>
              </a:lnSpc>
            </a:pPr>
            <a:r>
              <a:rPr lang="en-US" sz="1880" b="true">
                <a:solidFill>
                  <a:srgbClr val="595959"/>
                </a:solidFill>
                <a:latin typeface="Arimo Bold"/>
                <a:ea typeface="Arimo Bold"/>
                <a:cs typeface="Arimo Bold"/>
                <a:sym typeface="Arimo Bold"/>
              </a:rPr>
              <a:t>S</a:t>
            </a:r>
            <a:r>
              <a:rPr lang="en-US" b="true" sz="1880">
                <a:solidFill>
                  <a:srgbClr val="595959"/>
                </a:solidFill>
                <a:latin typeface="Arimo Bold"/>
                <a:ea typeface="Arimo Bold"/>
                <a:cs typeface="Arimo Bold"/>
                <a:sym typeface="Arimo Bold"/>
              </a:rPr>
              <a:t>ecure health data</a:t>
            </a:r>
          </a:p>
        </p:txBody>
      </p:sp>
      <p:sp>
        <p:nvSpPr>
          <p:cNvPr name="TextBox 85" id="85"/>
          <p:cNvSpPr txBox="true"/>
          <p:nvPr/>
        </p:nvSpPr>
        <p:spPr>
          <a:xfrm rot="0">
            <a:off x="12335694" y="8665073"/>
            <a:ext cx="5038877" cy="73952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Prot</a:t>
            </a:r>
            <a:r>
              <a:rPr lang="en-US" sz="1439">
                <a:solidFill>
                  <a:srgbClr val="595959"/>
                </a:solidFill>
                <a:latin typeface="Inter"/>
                <a:ea typeface="Inter"/>
                <a:cs typeface="Inter"/>
                <a:sym typeface="Inter"/>
              </a:rPr>
              <a:t>ects personal medication records, medical profile details, and caregiver access with privacy-focused account controls.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12246321" y="2655374"/>
            <a:ext cx="5178847" cy="3432273"/>
            <a:chOff x="0" y="0"/>
            <a:chExt cx="1363991" cy="904034"/>
          </a:xfrm>
        </p:grpSpPr>
        <p:sp>
          <p:nvSpPr>
            <p:cNvPr name="Freeform 5" id="5"/>
            <p:cNvSpPr/>
            <p:nvPr/>
          </p:nvSpPr>
          <p:spPr>
            <a:xfrm flipH="false" flipV="false" rot="0">
              <a:off x="0" y="0"/>
              <a:ext cx="1363991" cy="904034"/>
            </a:xfrm>
            <a:custGeom>
              <a:avLst/>
              <a:gdLst/>
              <a:ahLst/>
              <a:cxnLst/>
              <a:rect r="r" b="b" t="t" l="l"/>
              <a:pathLst>
                <a:path h="904034" w="1363991">
                  <a:moveTo>
                    <a:pt x="1363991" y="29898"/>
                  </a:moveTo>
                  <a:lnTo>
                    <a:pt x="1363991" y="874136"/>
                  </a:lnTo>
                  <a:cubicBezTo>
                    <a:pt x="1363991" y="890649"/>
                    <a:pt x="1350605" y="904034"/>
                    <a:pt x="1334092" y="904034"/>
                  </a:cubicBezTo>
                  <a:lnTo>
                    <a:pt x="29898" y="904034"/>
                  </a:lnTo>
                  <a:cubicBezTo>
                    <a:pt x="21969" y="904034"/>
                    <a:pt x="14364" y="900884"/>
                    <a:pt x="8757" y="895277"/>
                  </a:cubicBezTo>
                  <a:cubicBezTo>
                    <a:pt x="3150" y="889671"/>
                    <a:pt x="0" y="882066"/>
                    <a:pt x="0" y="874136"/>
                  </a:cubicBezTo>
                  <a:lnTo>
                    <a:pt x="0" y="29898"/>
                  </a:lnTo>
                  <a:cubicBezTo>
                    <a:pt x="0" y="21969"/>
                    <a:pt x="3150" y="14364"/>
                    <a:pt x="8757" y="8757"/>
                  </a:cubicBezTo>
                  <a:cubicBezTo>
                    <a:pt x="14364" y="3150"/>
                    <a:pt x="21969" y="0"/>
                    <a:pt x="29898" y="0"/>
                  </a:cubicBezTo>
                  <a:lnTo>
                    <a:pt x="1334092" y="0"/>
                  </a:lnTo>
                  <a:cubicBezTo>
                    <a:pt x="1342022" y="0"/>
                    <a:pt x="1349627" y="3150"/>
                    <a:pt x="1355234" y="8757"/>
                  </a:cubicBezTo>
                  <a:cubicBezTo>
                    <a:pt x="1360841" y="14364"/>
                    <a:pt x="1363991" y="21969"/>
                    <a:pt x="1363991" y="29898"/>
                  </a:cubicBezTo>
                  <a:close/>
                </a:path>
              </a:pathLst>
            </a:custGeom>
            <a:solidFill>
              <a:srgbClr val="FFFFFF"/>
            </a:solidFill>
          </p:spPr>
        </p:sp>
        <p:sp>
          <p:nvSpPr>
            <p:cNvPr name="TextBox 6" id="6"/>
            <p:cNvSpPr txBox="true"/>
            <p:nvPr/>
          </p:nvSpPr>
          <p:spPr>
            <a:xfrm>
              <a:off x="0" y="-47625"/>
              <a:ext cx="1363991" cy="951659"/>
            </a:xfrm>
            <a:prstGeom prst="rect">
              <a:avLst/>
            </a:prstGeom>
          </p:spPr>
          <p:txBody>
            <a:bodyPr anchor="ctr" rtlCol="false" tIns="50800" lIns="50800" bIns="50800" rIns="50800"/>
            <a:lstStyle/>
            <a:p>
              <a:pPr algn="ctr">
                <a:lnSpc>
                  <a:spcPts val="2160"/>
                </a:lnSpc>
              </a:pPr>
            </a:p>
          </p:txBody>
        </p:sp>
      </p:grpSp>
      <p:grpSp>
        <p:nvGrpSpPr>
          <p:cNvPr name="Group 7" id="7"/>
          <p:cNvGrpSpPr/>
          <p:nvPr/>
        </p:nvGrpSpPr>
        <p:grpSpPr>
          <a:xfrm rot="0">
            <a:off x="915295" y="412699"/>
            <a:ext cx="180975" cy="180975"/>
            <a:chOff x="0" y="0"/>
            <a:chExt cx="241300" cy="241300"/>
          </a:xfrm>
        </p:grpSpPr>
        <p:sp>
          <p:nvSpPr>
            <p:cNvPr name="Freeform 8" id="8"/>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9" id="9"/>
          <p:cNvGrpSpPr/>
          <p:nvPr/>
        </p:nvGrpSpPr>
        <p:grpSpPr>
          <a:xfrm rot="0">
            <a:off x="915295" y="1997497"/>
            <a:ext cx="1095375" cy="47625"/>
            <a:chOff x="0" y="0"/>
            <a:chExt cx="1460500" cy="63500"/>
          </a:xfrm>
        </p:grpSpPr>
        <p:sp>
          <p:nvSpPr>
            <p:cNvPr name="Freeform 10" id="10"/>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1" id="11"/>
          <p:cNvGrpSpPr/>
          <p:nvPr/>
        </p:nvGrpSpPr>
        <p:grpSpPr>
          <a:xfrm rot="0">
            <a:off x="908666" y="2671096"/>
            <a:ext cx="5314950" cy="1524000"/>
            <a:chOff x="0" y="0"/>
            <a:chExt cx="7086600" cy="2032000"/>
          </a:xfrm>
        </p:grpSpPr>
        <p:sp>
          <p:nvSpPr>
            <p:cNvPr name="Freeform 12" id="12"/>
            <p:cNvSpPr/>
            <p:nvPr/>
          </p:nvSpPr>
          <p:spPr>
            <a:xfrm flipH="false" flipV="false" rot="0">
              <a:off x="0" y="0"/>
              <a:ext cx="7086600" cy="2032000"/>
            </a:xfrm>
            <a:custGeom>
              <a:avLst/>
              <a:gdLst/>
              <a:ahLst/>
              <a:cxnLst/>
              <a:rect r="r" b="b" t="t" l="l"/>
              <a:pathLst>
                <a:path h="2032000" w="7086600">
                  <a:moveTo>
                    <a:pt x="0" y="196342"/>
                  </a:moveTo>
                  <a:cubicBezTo>
                    <a:pt x="0" y="87884"/>
                    <a:pt x="87884" y="0"/>
                    <a:pt x="196342" y="0"/>
                  </a:cubicBezTo>
                  <a:lnTo>
                    <a:pt x="6890258" y="0"/>
                  </a:lnTo>
                  <a:cubicBezTo>
                    <a:pt x="6998716" y="0"/>
                    <a:pt x="7086600" y="87884"/>
                    <a:pt x="7086600" y="196342"/>
                  </a:cubicBezTo>
                  <a:lnTo>
                    <a:pt x="7086600" y="1835658"/>
                  </a:lnTo>
                  <a:cubicBezTo>
                    <a:pt x="7086600" y="1944116"/>
                    <a:pt x="6998716" y="2032000"/>
                    <a:pt x="6890258" y="2032000"/>
                  </a:cubicBezTo>
                  <a:lnTo>
                    <a:pt x="196342" y="2032000"/>
                  </a:lnTo>
                  <a:cubicBezTo>
                    <a:pt x="87884" y="2032000"/>
                    <a:pt x="0" y="1944116"/>
                    <a:pt x="0" y="1835658"/>
                  </a:cubicBezTo>
                  <a:close/>
                </a:path>
              </a:pathLst>
            </a:custGeom>
            <a:solidFill>
              <a:srgbClr val="FFFFFF"/>
            </a:solidFill>
            <a:ln w="9526" cap="sq">
              <a:solidFill>
                <a:srgbClr val="E5E7EB"/>
              </a:solidFill>
              <a:prstDash val="solid"/>
              <a:miter/>
            </a:ln>
          </p:spPr>
        </p:sp>
      </p:grpSp>
      <p:sp>
        <p:nvSpPr>
          <p:cNvPr name="TextBox 13" id="13"/>
          <p:cNvSpPr txBox="true"/>
          <p:nvPr/>
        </p:nvSpPr>
        <p:spPr>
          <a:xfrm rot="0">
            <a:off x="1127750" y="2844403"/>
            <a:ext cx="4876800"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TAM</a:t>
            </a:r>
          </a:p>
        </p:txBody>
      </p:sp>
      <p:sp>
        <p:nvSpPr>
          <p:cNvPr name="TextBox 14" id="14"/>
          <p:cNvSpPr txBox="true"/>
          <p:nvPr/>
        </p:nvSpPr>
        <p:spPr>
          <a:xfrm rot="0">
            <a:off x="1127750" y="3222203"/>
            <a:ext cx="1710035" cy="478917"/>
          </a:xfrm>
          <a:prstGeom prst="rect">
            <a:avLst/>
          </a:prstGeom>
        </p:spPr>
        <p:txBody>
          <a:bodyPr anchor="t" rtlCol="false" tIns="0" lIns="0" bIns="0" rIns="0">
            <a:spAutoFit/>
          </a:bodyPr>
          <a:lstStyle/>
          <a:p>
            <a:pPr algn="l">
              <a:lnSpc>
                <a:spcPts val="3456"/>
              </a:lnSpc>
            </a:pPr>
            <a:r>
              <a:rPr lang="en-US" sz="3460" b="true">
                <a:solidFill>
                  <a:srgbClr val="1A1A2E"/>
                </a:solidFill>
                <a:latin typeface="Arimo Bold"/>
                <a:ea typeface="Arimo Bold"/>
                <a:cs typeface="Arimo Bold"/>
                <a:sym typeface="Arimo Bold"/>
              </a:rPr>
              <a:t>$540.3M</a:t>
            </a:r>
          </a:p>
        </p:txBody>
      </p:sp>
      <p:sp>
        <p:nvSpPr>
          <p:cNvPr name="TextBox 15" id="15"/>
          <p:cNvSpPr txBox="true"/>
          <p:nvPr/>
        </p:nvSpPr>
        <p:spPr>
          <a:xfrm rot="0">
            <a:off x="1127750" y="3679479"/>
            <a:ext cx="2255899"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Kuwait digi</a:t>
            </a:r>
            <a:r>
              <a:rPr lang="en-US" sz="1360">
                <a:solidFill>
                  <a:srgbClr val="595959"/>
                </a:solidFill>
                <a:latin typeface="Inter"/>
                <a:ea typeface="Inter"/>
                <a:cs typeface="Inter"/>
                <a:sym typeface="Inter"/>
              </a:rPr>
              <a:t>tal health market</a:t>
            </a:r>
          </a:p>
        </p:txBody>
      </p:sp>
      <p:grpSp>
        <p:nvGrpSpPr>
          <p:cNvPr name="Group 16" id="16"/>
          <p:cNvGrpSpPr/>
          <p:nvPr/>
        </p:nvGrpSpPr>
        <p:grpSpPr>
          <a:xfrm rot="0">
            <a:off x="6486449" y="2671096"/>
            <a:ext cx="5314950" cy="1524000"/>
            <a:chOff x="0" y="0"/>
            <a:chExt cx="7086600" cy="2032000"/>
          </a:xfrm>
        </p:grpSpPr>
        <p:sp>
          <p:nvSpPr>
            <p:cNvPr name="Freeform 17" id="17"/>
            <p:cNvSpPr/>
            <p:nvPr/>
          </p:nvSpPr>
          <p:spPr>
            <a:xfrm flipH="false" flipV="false" rot="0">
              <a:off x="0" y="0"/>
              <a:ext cx="7086600" cy="2032000"/>
            </a:xfrm>
            <a:custGeom>
              <a:avLst/>
              <a:gdLst/>
              <a:ahLst/>
              <a:cxnLst/>
              <a:rect r="r" b="b" t="t" l="l"/>
              <a:pathLst>
                <a:path h="2032000" w="7086600">
                  <a:moveTo>
                    <a:pt x="0" y="196342"/>
                  </a:moveTo>
                  <a:cubicBezTo>
                    <a:pt x="0" y="87884"/>
                    <a:pt x="87884" y="0"/>
                    <a:pt x="196342" y="0"/>
                  </a:cubicBezTo>
                  <a:lnTo>
                    <a:pt x="6890258" y="0"/>
                  </a:lnTo>
                  <a:cubicBezTo>
                    <a:pt x="6998716" y="0"/>
                    <a:pt x="7086600" y="87884"/>
                    <a:pt x="7086600" y="196342"/>
                  </a:cubicBezTo>
                  <a:lnTo>
                    <a:pt x="7086600" y="1835658"/>
                  </a:lnTo>
                  <a:cubicBezTo>
                    <a:pt x="7086600" y="1944116"/>
                    <a:pt x="6998716" y="2032000"/>
                    <a:pt x="6890258" y="2032000"/>
                  </a:cubicBezTo>
                  <a:lnTo>
                    <a:pt x="196342" y="2032000"/>
                  </a:lnTo>
                  <a:cubicBezTo>
                    <a:pt x="87884" y="2032000"/>
                    <a:pt x="0" y="1944116"/>
                    <a:pt x="0" y="1835658"/>
                  </a:cubicBezTo>
                  <a:close/>
                </a:path>
              </a:pathLst>
            </a:custGeom>
            <a:solidFill>
              <a:srgbClr val="FFFFFF"/>
            </a:solidFill>
            <a:ln w="9526" cap="sq">
              <a:solidFill>
                <a:srgbClr val="E5E7EB"/>
              </a:solidFill>
              <a:prstDash val="solid"/>
              <a:miter/>
            </a:ln>
          </p:spPr>
        </p:sp>
      </p:grpSp>
      <p:sp>
        <p:nvSpPr>
          <p:cNvPr name="TextBox 18" id="18"/>
          <p:cNvSpPr txBox="true"/>
          <p:nvPr/>
        </p:nvSpPr>
        <p:spPr>
          <a:xfrm rot="0">
            <a:off x="6705524" y="2844403"/>
            <a:ext cx="4876800"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SAM</a:t>
            </a:r>
          </a:p>
        </p:txBody>
      </p:sp>
      <p:sp>
        <p:nvSpPr>
          <p:cNvPr name="TextBox 19" id="19"/>
          <p:cNvSpPr txBox="true"/>
          <p:nvPr/>
        </p:nvSpPr>
        <p:spPr>
          <a:xfrm rot="0">
            <a:off x="6705524" y="3222203"/>
            <a:ext cx="1099245" cy="478917"/>
          </a:xfrm>
          <a:prstGeom prst="rect">
            <a:avLst/>
          </a:prstGeom>
        </p:spPr>
        <p:txBody>
          <a:bodyPr anchor="t" rtlCol="false" tIns="0" lIns="0" bIns="0" rIns="0">
            <a:spAutoFit/>
          </a:bodyPr>
          <a:lstStyle/>
          <a:p>
            <a:pPr algn="l">
              <a:lnSpc>
                <a:spcPts val="3456"/>
              </a:lnSpc>
            </a:pPr>
            <a:r>
              <a:rPr lang="en-US" sz="3460" b="true">
                <a:solidFill>
                  <a:srgbClr val="1A1A2E"/>
                </a:solidFill>
                <a:latin typeface="Arimo Bold"/>
                <a:ea typeface="Arimo Bold"/>
                <a:cs typeface="Arimo Bold"/>
                <a:sym typeface="Arimo Bold"/>
              </a:rPr>
              <a:t>$71M</a:t>
            </a:r>
          </a:p>
        </p:txBody>
      </p:sp>
      <p:sp>
        <p:nvSpPr>
          <p:cNvPr name="TextBox 20" id="20"/>
          <p:cNvSpPr txBox="true"/>
          <p:nvPr/>
        </p:nvSpPr>
        <p:spPr>
          <a:xfrm rot="0">
            <a:off x="6705524" y="3679479"/>
            <a:ext cx="2329401"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Kuwa</a:t>
            </a:r>
            <a:r>
              <a:rPr lang="en-US" sz="1360">
                <a:solidFill>
                  <a:srgbClr val="595959"/>
                </a:solidFill>
                <a:latin typeface="Inter"/>
                <a:ea typeface="Inter"/>
                <a:cs typeface="Inter"/>
                <a:sym typeface="Inter"/>
              </a:rPr>
              <a:t>it mHealth apps market</a:t>
            </a:r>
          </a:p>
        </p:txBody>
      </p:sp>
      <p:grpSp>
        <p:nvGrpSpPr>
          <p:cNvPr name="Group 21" id="21"/>
          <p:cNvGrpSpPr/>
          <p:nvPr/>
        </p:nvGrpSpPr>
        <p:grpSpPr>
          <a:xfrm rot="0">
            <a:off x="12246321" y="8432571"/>
            <a:ext cx="5127279" cy="1003952"/>
            <a:chOff x="0" y="0"/>
            <a:chExt cx="6836372" cy="1338602"/>
          </a:xfrm>
        </p:grpSpPr>
        <p:sp>
          <p:nvSpPr>
            <p:cNvPr name="Freeform 22" id="22"/>
            <p:cNvSpPr/>
            <p:nvPr/>
          </p:nvSpPr>
          <p:spPr>
            <a:xfrm flipH="false" flipV="false" rot="0">
              <a:off x="0" y="0"/>
              <a:ext cx="6836372" cy="1338602"/>
            </a:xfrm>
            <a:custGeom>
              <a:avLst/>
              <a:gdLst/>
              <a:ahLst/>
              <a:cxnLst/>
              <a:rect r="r" b="b" t="t" l="l"/>
              <a:pathLst>
                <a:path h="1338602" w="6836372">
                  <a:moveTo>
                    <a:pt x="0" y="201570"/>
                  </a:moveTo>
                  <a:cubicBezTo>
                    <a:pt x="0" y="90193"/>
                    <a:pt x="88023" y="0"/>
                    <a:pt x="196720" y="0"/>
                  </a:cubicBezTo>
                  <a:lnTo>
                    <a:pt x="6639651" y="0"/>
                  </a:lnTo>
                  <a:cubicBezTo>
                    <a:pt x="6748349" y="0"/>
                    <a:pt x="6836372" y="90193"/>
                    <a:pt x="6836372" y="201570"/>
                  </a:cubicBezTo>
                  <a:lnTo>
                    <a:pt x="6836372" y="1137032"/>
                  </a:lnTo>
                  <a:cubicBezTo>
                    <a:pt x="6836372" y="1248409"/>
                    <a:pt x="6748349" y="1338602"/>
                    <a:pt x="6639651" y="1338602"/>
                  </a:cubicBezTo>
                  <a:lnTo>
                    <a:pt x="196720" y="1338602"/>
                  </a:lnTo>
                  <a:cubicBezTo>
                    <a:pt x="88023" y="1338602"/>
                    <a:pt x="0" y="1248409"/>
                    <a:pt x="0" y="1137032"/>
                  </a:cubicBezTo>
                  <a:close/>
                </a:path>
              </a:pathLst>
            </a:custGeom>
            <a:solidFill>
              <a:srgbClr val="FFFFFF"/>
            </a:solidFill>
            <a:ln w="9526" cap="sq">
              <a:solidFill>
                <a:srgbClr val="E5E7EB"/>
              </a:solidFill>
              <a:prstDash val="solid"/>
              <a:miter/>
            </a:ln>
          </p:spPr>
        </p:sp>
      </p:grpSp>
      <p:grpSp>
        <p:nvGrpSpPr>
          <p:cNvPr name="Group 23" id="23"/>
          <p:cNvGrpSpPr/>
          <p:nvPr/>
        </p:nvGrpSpPr>
        <p:grpSpPr>
          <a:xfrm rot="0">
            <a:off x="914400" y="9703222"/>
            <a:ext cx="16459200" cy="276225"/>
            <a:chOff x="0" y="0"/>
            <a:chExt cx="21945600" cy="368300"/>
          </a:xfrm>
        </p:grpSpPr>
        <p:sp>
          <p:nvSpPr>
            <p:cNvPr name="Freeform 24" id="24"/>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25" id="25"/>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26" id="26"/>
          <p:cNvGrpSpPr/>
          <p:nvPr/>
        </p:nvGrpSpPr>
        <p:grpSpPr>
          <a:xfrm rot="0">
            <a:off x="0" y="10247414"/>
            <a:ext cx="18288000" cy="38100"/>
            <a:chOff x="0" y="0"/>
            <a:chExt cx="24384000" cy="50800"/>
          </a:xfrm>
        </p:grpSpPr>
        <p:sp>
          <p:nvSpPr>
            <p:cNvPr name="Freeform 27" id="27"/>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28" id="28"/>
          <p:cNvGrpSpPr/>
          <p:nvPr/>
        </p:nvGrpSpPr>
        <p:grpSpPr>
          <a:xfrm rot="0">
            <a:off x="908666" y="4475336"/>
            <a:ext cx="10886103" cy="4961187"/>
            <a:chOff x="0" y="0"/>
            <a:chExt cx="2867152" cy="1306739"/>
          </a:xfrm>
        </p:grpSpPr>
        <p:sp>
          <p:nvSpPr>
            <p:cNvPr name="Freeform 29" id="29"/>
            <p:cNvSpPr/>
            <p:nvPr/>
          </p:nvSpPr>
          <p:spPr>
            <a:xfrm flipH="false" flipV="false" rot="0">
              <a:off x="0" y="0"/>
              <a:ext cx="2867152" cy="1306739"/>
            </a:xfrm>
            <a:custGeom>
              <a:avLst/>
              <a:gdLst/>
              <a:ahLst/>
              <a:cxnLst/>
              <a:rect r="r" b="b" t="t" l="l"/>
              <a:pathLst>
                <a:path h="1306739" w="2867152">
                  <a:moveTo>
                    <a:pt x="2867152" y="14223"/>
                  </a:moveTo>
                  <a:lnTo>
                    <a:pt x="2867152" y="1292515"/>
                  </a:lnTo>
                  <a:cubicBezTo>
                    <a:pt x="2867152" y="1296287"/>
                    <a:pt x="2865653" y="1299905"/>
                    <a:pt x="2862986" y="1302573"/>
                  </a:cubicBezTo>
                  <a:cubicBezTo>
                    <a:pt x="2860319" y="1305240"/>
                    <a:pt x="2856701" y="1306739"/>
                    <a:pt x="2852928" y="1306739"/>
                  </a:cubicBezTo>
                  <a:lnTo>
                    <a:pt x="14223" y="1306739"/>
                  </a:lnTo>
                  <a:cubicBezTo>
                    <a:pt x="6368" y="1306739"/>
                    <a:pt x="0" y="1300371"/>
                    <a:pt x="0" y="1292515"/>
                  </a:cubicBezTo>
                  <a:lnTo>
                    <a:pt x="0" y="14223"/>
                  </a:lnTo>
                  <a:cubicBezTo>
                    <a:pt x="0" y="10451"/>
                    <a:pt x="1499" y="6833"/>
                    <a:pt x="4166" y="4166"/>
                  </a:cubicBezTo>
                  <a:cubicBezTo>
                    <a:pt x="6833" y="1499"/>
                    <a:pt x="10451" y="0"/>
                    <a:pt x="14223" y="0"/>
                  </a:cubicBezTo>
                  <a:lnTo>
                    <a:pt x="2852928" y="0"/>
                  </a:lnTo>
                  <a:cubicBezTo>
                    <a:pt x="2856701" y="0"/>
                    <a:pt x="2860319" y="1499"/>
                    <a:pt x="2862986" y="4166"/>
                  </a:cubicBezTo>
                  <a:cubicBezTo>
                    <a:pt x="2865653" y="6833"/>
                    <a:pt x="2867152" y="10451"/>
                    <a:pt x="2867152" y="14223"/>
                  </a:cubicBezTo>
                  <a:close/>
                </a:path>
              </a:pathLst>
            </a:custGeom>
            <a:solidFill>
              <a:srgbClr val="FFFFFF"/>
            </a:solidFill>
          </p:spPr>
        </p:sp>
        <p:sp>
          <p:nvSpPr>
            <p:cNvPr name="TextBox 30" id="30"/>
            <p:cNvSpPr txBox="true"/>
            <p:nvPr/>
          </p:nvSpPr>
          <p:spPr>
            <a:xfrm>
              <a:off x="0" y="-47625"/>
              <a:ext cx="2867152" cy="1354364"/>
            </a:xfrm>
            <a:prstGeom prst="rect">
              <a:avLst/>
            </a:prstGeom>
          </p:spPr>
          <p:txBody>
            <a:bodyPr anchor="ctr" rtlCol="false" tIns="50800" lIns="50800" bIns="50800" rIns="50800"/>
            <a:lstStyle/>
            <a:p>
              <a:pPr algn="ctr">
                <a:lnSpc>
                  <a:spcPts val="2160"/>
                </a:lnSpc>
              </a:pPr>
            </a:p>
          </p:txBody>
        </p:sp>
      </p:grpSp>
      <p:sp>
        <p:nvSpPr>
          <p:cNvPr name="TextBox 31" id="31"/>
          <p:cNvSpPr txBox="true"/>
          <p:nvPr/>
        </p:nvSpPr>
        <p:spPr>
          <a:xfrm rot="0">
            <a:off x="1244279" y="285826"/>
            <a:ext cx="874366"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32" id="32"/>
          <p:cNvSpPr txBox="true"/>
          <p:nvPr/>
        </p:nvSpPr>
        <p:spPr>
          <a:xfrm rot="0">
            <a:off x="2354456" y="352501"/>
            <a:ext cx="32956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08 · MARKET RESEARCH</a:t>
            </a:r>
          </a:p>
        </p:txBody>
      </p:sp>
      <p:sp>
        <p:nvSpPr>
          <p:cNvPr name="TextBox 33" id="33"/>
          <p:cNvSpPr txBox="true"/>
          <p:nvPr/>
        </p:nvSpPr>
        <p:spPr>
          <a:xfrm rot="0">
            <a:off x="16822712" y="352501"/>
            <a:ext cx="5524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10 / 31</a:t>
            </a:r>
          </a:p>
        </p:txBody>
      </p:sp>
      <p:sp>
        <p:nvSpPr>
          <p:cNvPr name="TextBox 34" id="34"/>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Market Research</a:t>
            </a:r>
          </a:p>
        </p:txBody>
      </p:sp>
      <p:sp>
        <p:nvSpPr>
          <p:cNvPr name="TextBox 35" id="35"/>
          <p:cNvSpPr txBox="true"/>
          <p:nvPr/>
        </p:nvSpPr>
        <p:spPr>
          <a:xfrm rot="0">
            <a:off x="12328179" y="2691515"/>
            <a:ext cx="4876800"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SOM</a:t>
            </a:r>
          </a:p>
        </p:txBody>
      </p:sp>
      <p:sp>
        <p:nvSpPr>
          <p:cNvPr name="TextBox 36" id="36"/>
          <p:cNvSpPr txBox="true"/>
          <p:nvPr/>
        </p:nvSpPr>
        <p:spPr>
          <a:xfrm rot="0">
            <a:off x="12328179" y="3069314"/>
            <a:ext cx="1221284" cy="478917"/>
          </a:xfrm>
          <a:prstGeom prst="rect">
            <a:avLst/>
          </a:prstGeom>
        </p:spPr>
        <p:txBody>
          <a:bodyPr anchor="t" rtlCol="false" tIns="0" lIns="0" bIns="0" rIns="0">
            <a:spAutoFit/>
          </a:bodyPr>
          <a:lstStyle/>
          <a:p>
            <a:pPr algn="l">
              <a:lnSpc>
                <a:spcPts val="3456"/>
              </a:lnSpc>
            </a:pPr>
            <a:r>
              <a:rPr lang="en-US" sz="3460" b="true">
                <a:solidFill>
                  <a:srgbClr val="1A1A2E"/>
                </a:solidFill>
                <a:latin typeface="Arimo Bold"/>
                <a:ea typeface="Arimo Bold"/>
                <a:cs typeface="Arimo Bold"/>
                <a:sym typeface="Arimo Bold"/>
              </a:rPr>
              <a:t>$1.1M</a:t>
            </a:r>
          </a:p>
        </p:txBody>
      </p:sp>
      <p:sp>
        <p:nvSpPr>
          <p:cNvPr name="TextBox 37" id="37"/>
          <p:cNvSpPr txBox="true"/>
          <p:nvPr/>
        </p:nvSpPr>
        <p:spPr>
          <a:xfrm rot="0">
            <a:off x="12322800" y="3557756"/>
            <a:ext cx="5003454" cy="2348641"/>
          </a:xfrm>
          <a:prstGeom prst="rect">
            <a:avLst/>
          </a:prstGeom>
        </p:spPr>
        <p:txBody>
          <a:bodyPr anchor="t" rtlCol="false" tIns="0" lIns="0" bIns="0" rIns="0">
            <a:spAutoFit/>
          </a:bodyPr>
          <a:lstStyle/>
          <a:p>
            <a:pPr algn="l">
              <a:lnSpc>
                <a:spcPts val="2353"/>
              </a:lnSpc>
            </a:pPr>
            <a:r>
              <a:rPr lang="en-US" sz="1560">
                <a:solidFill>
                  <a:srgbClr val="595959"/>
                </a:solidFill>
                <a:latin typeface="Inter"/>
                <a:ea typeface="Inter"/>
                <a:cs typeface="Inter"/>
                <a:sym typeface="Inter"/>
              </a:rPr>
              <a:t>SOM was estimated using the projected 2024 Kuwait mHealth apps market and a realistic early capture rate: SOM = SAM₍2023₎ × (1 + CAGR)ⁿ × Capture Rate = $60.7M × (1 + 15.9%)¹ × 1.5% = $1.055M ≈ $1.1M. This means ISTSEH’s obtainable market is estimated as 1.5% of the projected 2024 Kuwait mHealth apps market, using the reported 2023 market size and CAGR to project one year forward.</a:t>
            </a:r>
          </a:p>
        </p:txBody>
      </p:sp>
      <p:sp>
        <p:nvSpPr>
          <p:cNvPr name="TextBox 38" id="38"/>
          <p:cNvSpPr txBox="true"/>
          <p:nvPr/>
        </p:nvSpPr>
        <p:spPr>
          <a:xfrm rot="0">
            <a:off x="12447220" y="8548220"/>
            <a:ext cx="4754613"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Strong Product Fit</a:t>
            </a:r>
          </a:p>
        </p:txBody>
      </p:sp>
      <p:sp>
        <p:nvSpPr>
          <p:cNvPr name="TextBox 39" id="39"/>
          <p:cNvSpPr txBox="true"/>
          <p:nvPr/>
        </p:nvSpPr>
        <p:spPr>
          <a:xfrm rot="0">
            <a:off x="12447220" y="8877785"/>
            <a:ext cx="4887506" cy="463804"/>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ISTSEH</a:t>
            </a:r>
            <a:r>
              <a:rPr lang="en-US" sz="1360">
                <a:solidFill>
                  <a:srgbClr val="595959"/>
                </a:solidFill>
                <a:latin typeface="Inter"/>
                <a:ea typeface="Inter"/>
                <a:cs typeface="Inter"/>
                <a:sym typeface="Inter"/>
              </a:rPr>
              <a:t> fits within the mHealth apps market by focusing on personalized scheduling, health profiles, and safety support.</a:t>
            </a:r>
          </a:p>
        </p:txBody>
      </p:sp>
      <p:sp>
        <p:nvSpPr>
          <p:cNvPr name="TextBox 40" id="40"/>
          <p:cNvSpPr txBox="true"/>
          <p:nvPr/>
        </p:nvSpPr>
        <p:spPr>
          <a:xfrm rot="0">
            <a:off x="9727695" y="3898429"/>
            <a:ext cx="1940554" cy="211679"/>
          </a:xfrm>
          <a:prstGeom prst="rect">
            <a:avLst/>
          </a:prstGeom>
        </p:spPr>
        <p:txBody>
          <a:bodyPr anchor="t" rtlCol="false" tIns="0" lIns="0" bIns="0" rIns="0">
            <a:spAutoFit/>
          </a:bodyPr>
          <a:lstStyle/>
          <a:p>
            <a:pPr algn="l">
              <a:lnSpc>
                <a:spcPts val="1750"/>
              </a:lnSpc>
            </a:pPr>
            <a:r>
              <a:rPr lang="en-US" sz="1160">
                <a:solidFill>
                  <a:srgbClr val="595959"/>
                </a:solidFill>
                <a:latin typeface="Inter"/>
                <a:ea typeface="Inter"/>
                <a:cs typeface="Inter"/>
                <a:sym typeface="Inter"/>
              </a:rPr>
              <a:t>Source: </a:t>
            </a:r>
            <a:r>
              <a:rPr lang="en-US" sz="1160" u="sng">
                <a:solidFill>
                  <a:srgbClr val="595959"/>
                </a:solidFill>
                <a:latin typeface="Inter"/>
                <a:ea typeface="Inter"/>
                <a:cs typeface="Inter"/>
                <a:sym typeface="Inter"/>
                <a:hlinkClick r:id="rId4" tooltip="https://www.grandviewresearch.com/horizon/outlook/mhealth-apps-market/kuwait"/>
              </a:rPr>
              <a:t>Grand View Horizon</a:t>
            </a:r>
          </a:p>
        </p:txBody>
      </p:sp>
      <p:sp>
        <p:nvSpPr>
          <p:cNvPr name="TextBox 41" id="41"/>
          <p:cNvSpPr txBox="true"/>
          <p:nvPr/>
        </p:nvSpPr>
        <p:spPr>
          <a:xfrm rot="0">
            <a:off x="3910171" y="3898429"/>
            <a:ext cx="2176228" cy="211679"/>
          </a:xfrm>
          <a:prstGeom prst="rect">
            <a:avLst/>
          </a:prstGeom>
        </p:spPr>
        <p:txBody>
          <a:bodyPr anchor="t" rtlCol="false" tIns="0" lIns="0" bIns="0" rIns="0">
            <a:spAutoFit/>
          </a:bodyPr>
          <a:lstStyle/>
          <a:p>
            <a:pPr algn="l">
              <a:lnSpc>
                <a:spcPts val="1750"/>
              </a:lnSpc>
            </a:pPr>
            <a:r>
              <a:rPr lang="en-US" sz="1160">
                <a:solidFill>
                  <a:srgbClr val="595959"/>
                </a:solidFill>
                <a:latin typeface="Inter"/>
                <a:ea typeface="Inter"/>
                <a:cs typeface="Inter"/>
                <a:sym typeface="Inter"/>
              </a:rPr>
              <a:t>Source: </a:t>
            </a:r>
            <a:r>
              <a:rPr lang="en-US" sz="1160" u="sng">
                <a:solidFill>
                  <a:srgbClr val="595959"/>
                </a:solidFill>
                <a:latin typeface="Inter"/>
                <a:ea typeface="Inter"/>
                <a:cs typeface="Inter"/>
                <a:sym typeface="Inter"/>
                <a:hlinkClick r:id="rId5" tooltip="https://oxfordbusinessgroup.com/reports/kuwait/2025-report/education-health/digitally-driven-public-investment-and-private-innovation-are-accelerating-the-adoption-of-digital-platforms-and-remote-services-analysis/"/>
              </a:rPr>
              <a:t>Oxford Business Group</a:t>
            </a:r>
          </a:p>
        </p:txBody>
      </p:sp>
      <p:pic>
        <p:nvPicPr>
          <p:cNvPr name="Picture 42" id="42"/>
          <p:cNvPicPr>
            <a:picLocks noChangeAspect="true"/>
          </p:cNvPicPr>
          <p:nvPr/>
        </p:nvPicPr>
        <p:blipFill>
          <a:blip r:embed="rId6"/>
          <a:stretch>
            <a:fillRect/>
          </a:stretch>
        </p:blipFill>
        <p:spPr>
          <a:xfrm rot="0">
            <a:off x="-107924" y="3521749"/>
            <a:ext cx="12919283" cy="6452532"/>
          </a:xfrm>
          <a:prstGeom prst="rect">
            <a:avLst/>
          </a:prstGeom>
        </p:spPr>
      </p:pic>
      <p:sp>
        <p:nvSpPr>
          <p:cNvPr name="TextBox 43" id="43"/>
          <p:cNvSpPr txBox="true"/>
          <p:nvPr/>
        </p:nvSpPr>
        <p:spPr>
          <a:xfrm rot="0">
            <a:off x="4018174" y="8947816"/>
            <a:ext cx="5374700" cy="296844"/>
          </a:xfrm>
          <a:prstGeom prst="rect">
            <a:avLst/>
          </a:prstGeom>
        </p:spPr>
        <p:txBody>
          <a:bodyPr anchor="t" rtlCol="false" tIns="0" lIns="0" bIns="0" rIns="0">
            <a:spAutoFit/>
          </a:bodyPr>
          <a:lstStyle/>
          <a:p>
            <a:pPr algn="l">
              <a:lnSpc>
                <a:spcPts val="2504"/>
              </a:lnSpc>
            </a:pPr>
            <a:r>
              <a:rPr lang="en-US" sz="1659" b="true">
                <a:solidFill>
                  <a:srgbClr val="595959"/>
                </a:solidFill>
                <a:latin typeface="Inter Bold"/>
                <a:ea typeface="Inter Bold"/>
                <a:cs typeface="Inter Bold"/>
                <a:sym typeface="Inter Bold"/>
              </a:rPr>
              <a:t>Projected Growth of Kuwait’s mHealth Apps M</a:t>
            </a:r>
            <a:r>
              <a:rPr lang="en-US" b="true" sz="1659" u="none">
                <a:solidFill>
                  <a:srgbClr val="595959"/>
                </a:solidFill>
                <a:latin typeface="Inter Bold"/>
                <a:ea typeface="Inter Bold"/>
                <a:cs typeface="Inter Bold"/>
                <a:sym typeface="Inter Bold"/>
              </a:rPr>
              <a:t>a</a:t>
            </a:r>
            <a:r>
              <a:rPr lang="en-US" sz="1659" b="true">
                <a:solidFill>
                  <a:srgbClr val="595959"/>
                </a:solidFill>
                <a:latin typeface="Inter Bold"/>
                <a:ea typeface="Inter Bold"/>
                <a:cs typeface="Inter Bold"/>
                <a:sym typeface="Inter Bold"/>
              </a:rPr>
              <a:t>rk</a:t>
            </a:r>
            <a:r>
              <a:rPr lang="en-US" b="true" sz="1659" u="none">
                <a:solidFill>
                  <a:srgbClr val="595959"/>
                </a:solidFill>
                <a:latin typeface="Inter Bold"/>
                <a:ea typeface="Inter Bold"/>
                <a:cs typeface="Inter Bold"/>
                <a:sym typeface="Inter Bold"/>
              </a:rPr>
              <a:t>e</a:t>
            </a:r>
            <a:r>
              <a:rPr lang="en-US" sz="1659" b="true">
                <a:solidFill>
                  <a:srgbClr val="595959"/>
                </a:solidFill>
                <a:latin typeface="Inter Bold"/>
                <a:ea typeface="Inter Bold"/>
                <a:cs typeface="Inter Bold"/>
                <a:sym typeface="Inter Bold"/>
              </a:rPr>
              <a:t>t</a:t>
            </a:r>
          </a:p>
        </p:txBody>
      </p:sp>
      <p:grpSp>
        <p:nvGrpSpPr>
          <p:cNvPr name="Group 44" id="44"/>
          <p:cNvGrpSpPr/>
          <p:nvPr/>
        </p:nvGrpSpPr>
        <p:grpSpPr>
          <a:xfrm rot="0">
            <a:off x="12246321" y="7316372"/>
            <a:ext cx="5127279" cy="1003952"/>
            <a:chOff x="0" y="0"/>
            <a:chExt cx="6836372" cy="1338602"/>
          </a:xfrm>
        </p:grpSpPr>
        <p:sp>
          <p:nvSpPr>
            <p:cNvPr name="Freeform 45" id="45"/>
            <p:cNvSpPr/>
            <p:nvPr/>
          </p:nvSpPr>
          <p:spPr>
            <a:xfrm flipH="false" flipV="false" rot="0">
              <a:off x="0" y="0"/>
              <a:ext cx="6836372" cy="1338602"/>
            </a:xfrm>
            <a:custGeom>
              <a:avLst/>
              <a:gdLst/>
              <a:ahLst/>
              <a:cxnLst/>
              <a:rect r="r" b="b" t="t" l="l"/>
              <a:pathLst>
                <a:path h="1338602" w="6836372">
                  <a:moveTo>
                    <a:pt x="0" y="201570"/>
                  </a:moveTo>
                  <a:cubicBezTo>
                    <a:pt x="0" y="90193"/>
                    <a:pt x="88023" y="0"/>
                    <a:pt x="196720" y="0"/>
                  </a:cubicBezTo>
                  <a:lnTo>
                    <a:pt x="6639651" y="0"/>
                  </a:lnTo>
                  <a:cubicBezTo>
                    <a:pt x="6748349" y="0"/>
                    <a:pt x="6836372" y="90193"/>
                    <a:pt x="6836372" y="201570"/>
                  </a:cubicBezTo>
                  <a:lnTo>
                    <a:pt x="6836372" y="1137032"/>
                  </a:lnTo>
                  <a:cubicBezTo>
                    <a:pt x="6836372" y="1248409"/>
                    <a:pt x="6748349" y="1338602"/>
                    <a:pt x="6639651" y="1338602"/>
                  </a:cubicBezTo>
                  <a:lnTo>
                    <a:pt x="196720" y="1338602"/>
                  </a:lnTo>
                  <a:cubicBezTo>
                    <a:pt x="88023" y="1338602"/>
                    <a:pt x="0" y="1248409"/>
                    <a:pt x="0" y="1137032"/>
                  </a:cubicBezTo>
                  <a:close/>
                </a:path>
              </a:pathLst>
            </a:custGeom>
            <a:solidFill>
              <a:srgbClr val="FFFFFF"/>
            </a:solidFill>
            <a:ln w="9526" cap="sq">
              <a:solidFill>
                <a:srgbClr val="E5E7EB"/>
              </a:solidFill>
              <a:prstDash val="solid"/>
              <a:miter/>
            </a:ln>
          </p:spPr>
        </p:sp>
      </p:grpSp>
      <p:sp>
        <p:nvSpPr>
          <p:cNvPr name="TextBox 46" id="46"/>
          <p:cNvSpPr txBox="true"/>
          <p:nvPr/>
        </p:nvSpPr>
        <p:spPr>
          <a:xfrm rot="0">
            <a:off x="12447220" y="7772085"/>
            <a:ext cx="4872940" cy="463804"/>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Kuwait’s mH</a:t>
            </a:r>
            <a:r>
              <a:rPr lang="en-US" sz="1360">
                <a:solidFill>
                  <a:srgbClr val="595959"/>
                </a:solidFill>
                <a:latin typeface="Inter"/>
                <a:ea typeface="Inter"/>
                <a:cs typeface="Inter"/>
                <a:sym typeface="Inter"/>
              </a:rPr>
              <a:t>ealth apps market is projected to grow from $60.7M to $170.4M by 2030.</a:t>
            </a:r>
          </a:p>
        </p:txBody>
      </p:sp>
      <p:sp>
        <p:nvSpPr>
          <p:cNvPr name="TextBox 47" id="47"/>
          <p:cNvSpPr txBox="true"/>
          <p:nvPr/>
        </p:nvSpPr>
        <p:spPr>
          <a:xfrm rot="0">
            <a:off x="12328179" y="6817131"/>
            <a:ext cx="1876098" cy="299216"/>
          </a:xfrm>
          <a:prstGeom prst="rect">
            <a:avLst/>
          </a:prstGeom>
        </p:spPr>
        <p:txBody>
          <a:bodyPr anchor="t" rtlCol="false" tIns="0" lIns="0" bIns="0" rIns="0">
            <a:spAutoFit/>
          </a:bodyPr>
          <a:lstStyle/>
          <a:p>
            <a:pPr algn="l">
              <a:lnSpc>
                <a:spcPts val="2437"/>
              </a:lnSpc>
            </a:pPr>
            <a:r>
              <a:rPr lang="en-US" b="true" sz="1619" spc="82">
                <a:solidFill>
                  <a:srgbClr val="2ECC71"/>
                </a:solidFill>
                <a:latin typeface="Inter Bold"/>
                <a:ea typeface="Inter Bold"/>
                <a:cs typeface="Inter Bold"/>
                <a:sym typeface="Inter Bold"/>
              </a:rPr>
              <a:t>KEY TAKEWAYS</a:t>
            </a:r>
          </a:p>
        </p:txBody>
      </p:sp>
      <p:sp>
        <p:nvSpPr>
          <p:cNvPr name="TextBox 48" id="48"/>
          <p:cNvSpPr txBox="true"/>
          <p:nvPr/>
        </p:nvSpPr>
        <p:spPr>
          <a:xfrm rot="0">
            <a:off x="12432654" y="7442520"/>
            <a:ext cx="4754613"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Fa</a:t>
            </a:r>
            <a:r>
              <a:rPr lang="en-US" sz="1580" b="true">
                <a:solidFill>
                  <a:srgbClr val="1A1A2E"/>
                </a:solidFill>
                <a:latin typeface="Arimo Bold"/>
                <a:ea typeface="Arimo Bold"/>
                <a:cs typeface="Arimo Bold"/>
                <a:sym typeface="Arimo Bold"/>
              </a:rPr>
              <a:t>st Market Growth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75314"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3789" y="352501"/>
            <a:ext cx="29908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09 · USER RESEARCH</a:t>
            </a:r>
          </a:p>
        </p:txBody>
      </p:sp>
      <p:sp>
        <p:nvSpPr>
          <p:cNvPr name="TextBox 8" id="8"/>
          <p:cNvSpPr txBox="true"/>
          <p:nvPr/>
        </p:nvSpPr>
        <p:spPr>
          <a:xfrm rot="0">
            <a:off x="16867584" y="352501"/>
            <a:ext cx="5048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11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User Research and Survey</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1495" y="2671162"/>
            <a:ext cx="3914775" cy="1123950"/>
            <a:chOff x="0" y="0"/>
            <a:chExt cx="5219700" cy="1498600"/>
          </a:xfrm>
        </p:grpSpPr>
        <p:sp>
          <p:nvSpPr>
            <p:cNvPr name="Freeform 13" id="13"/>
            <p:cNvSpPr/>
            <p:nvPr/>
          </p:nvSpPr>
          <p:spPr>
            <a:xfrm flipH="false" flipV="false" rot="0">
              <a:off x="0" y="0"/>
              <a:ext cx="5219700" cy="1498600"/>
            </a:xfrm>
            <a:custGeom>
              <a:avLst/>
              <a:gdLst/>
              <a:ahLst/>
              <a:cxnLst/>
              <a:rect r="r" b="b" t="t" l="l"/>
              <a:pathLst>
                <a:path h="1498600" w="5219700">
                  <a:moveTo>
                    <a:pt x="0" y="196723"/>
                  </a:moveTo>
                  <a:cubicBezTo>
                    <a:pt x="0" y="88138"/>
                    <a:pt x="88138" y="0"/>
                    <a:pt x="196723" y="0"/>
                  </a:cubicBezTo>
                  <a:lnTo>
                    <a:pt x="5022977" y="0"/>
                  </a:lnTo>
                  <a:cubicBezTo>
                    <a:pt x="5131562" y="0"/>
                    <a:pt x="5219700" y="88138"/>
                    <a:pt x="5219700" y="196723"/>
                  </a:cubicBezTo>
                  <a:lnTo>
                    <a:pt x="5219700" y="1301877"/>
                  </a:lnTo>
                  <a:cubicBezTo>
                    <a:pt x="5219700" y="1410589"/>
                    <a:pt x="5131562" y="1498600"/>
                    <a:pt x="5022977" y="1498600"/>
                  </a:cubicBezTo>
                  <a:lnTo>
                    <a:pt x="196723" y="1498600"/>
                  </a:lnTo>
                  <a:cubicBezTo>
                    <a:pt x="88138" y="1498600"/>
                    <a:pt x="0" y="1410462"/>
                    <a:pt x="0" y="1301877"/>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30570" y="2844403"/>
            <a:ext cx="3476625"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RESPONDENTS</a:t>
            </a:r>
          </a:p>
        </p:txBody>
      </p:sp>
      <p:grpSp>
        <p:nvGrpSpPr>
          <p:cNvPr name="Group 15" id="15"/>
          <p:cNvGrpSpPr/>
          <p:nvPr/>
        </p:nvGrpSpPr>
        <p:grpSpPr>
          <a:xfrm rot="0">
            <a:off x="5094837" y="2671162"/>
            <a:ext cx="3914775" cy="1123950"/>
            <a:chOff x="0" y="0"/>
            <a:chExt cx="5219700" cy="1498600"/>
          </a:xfrm>
        </p:grpSpPr>
        <p:sp>
          <p:nvSpPr>
            <p:cNvPr name="Freeform 16" id="16"/>
            <p:cNvSpPr/>
            <p:nvPr/>
          </p:nvSpPr>
          <p:spPr>
            <a:xfrm flipH="false" flipV="false" rot="0">
              <a:off x="0" y="0"/>
              <a:ext cx="5219700" cy="1498600"/>
            </a:xfrm>
            <a:custGeom>
              <a:avLst/>
              <a:gdLst/>
              <a:ahLst/>
              <a:cxnLst/>
              <a:rect r="r" b="b" t="t" l="l"/>
              <a:pathLst>
                <a:path h="1498600" w="5219700">
                  <a:moveTo>
                    <a:pt x="0" y="196723"/>
                  </a:moveTo>
                  <a:cubicBezTo>
                    <a:pt x="0" y="88138"/>
                    <a:pt x="88138" y="0"/>
                    <a:pt x="196723" y="0"/>
                  </a:cubicBezTo>
                  <a:lnTo>
                    <a:pt x="5022977" y="0"/>
                  </a:lnTo>
                  <a:cubicBezTo>
                    <a:pt x="5131562" y="0"/>
                    <a:pt x="5219700" y="88138"/>
                    <a:pt x="5219700" y="196723"/>
                  </a:cubicBezTo>
                  <a:lnTo>
                    <a:pt x="5219700" y="1301877"/>
                  </a:lnTo>
                  <a:cubicBezTo>
                    <a:pt x="5219700" y="1410589"/>
                    <a:pt x="5131562" y="1498600"/>
                    <a:pt x="5022977" y="1498600"/>
                  </a:cubicBezTo>
                  <a:lnTo>
                    <a:pt x="196723" y="1498600"/>
                  </a:lnTo>
                  <a:cubicBezTo>
                    <a:pt x="88138" y="1498600"/>
                    <a:pt x="0" y="1410462"/>
                    <a:pt x="0" y="1301877"/>
                  </a:cubicBezTo>
                  <a:close/>
                </a:path>
              </a:pathLst>
            </a:custGeom>
            <a:solidFill>
              <a:srgbClr val="FFFFFF"/>
            </a:solidFill>
            <a:ln w="9526" cap="sq">
              <a:solidFill>
                <a:srgbClr val="E5E7EB"/>
              </a:solidFill>
              <a:prstDash val="solid"/>
              <a:miter/>
            </a:ln>
          </p:spPr>
        </p:sp>
      </p:grpSp>
      <p:sp>
        <p:nvSpPr>
          <p:cNvPr name="TextBox 17" id="17"/>
          <p:cNvSpPr txBox="true"/>
          <p:nvPr/>
        </p:nvSpPr>
        <p:spPr>
          <a:xfrm rot="0">
            <a:off x="5313912" y="2844403"/>
            <a:ext cx="3476625"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INTERVIEWS</a:t>
            </a:r>
          </a:p>
        </p:txBody>
      </p:sp>
      <p:sp>
        <p:nvSpPr>
          <p:cNvPr name="TextBox 18" id="18"/>
          <p:cNvSpPr txBox="true"/>
          <p:nvPr/>
        </p:nvSpPr>
        <p:spPr>
          <a:xfrm rot="0">
            <a:off x="5313912" y="3261712"/>
            <a:ext cx="159693" cy="313852"/>
          </a:xfrm>
          <a:prstGeom prst="rect">
            <a:avLst/>
          </a:prstGeom>
        </p:spPr>
        <p:txBody>
          <a:bodyPr anchor="t" rtlCol="false" tIns="0" lIns="0" bIns="0" rIns="0">
            <a:spAutoFit/>
          </a:bodyPr>
          <a:lstStyle/>
          <a:p>
            <a:pPr algn="l">
              <a:lnSpc>
                <a:spcPts val="2265"/>
              </a:lnSpc>
            </a:pPr>
            <a:r>
              <a:rPr lang="en-US" sz="2259" b="true">
                <a:solidFill>
                  <a:srgbClr val="1A1A2E"/>
                </a:solidFill>
                <a:latin typeface="Arimo Bold"/>
                <a:ea typeface="Arimo Bold"/>
                <a:cs typeface="Arimo Bold"/>
                <a:sym typeface="Arimo Bold"/>
              </a:rPr>
              <a:t>0</a:t>
            </a:r>
          </a:p>
        </p:txBody>
      </p:sp>
      <p:grpSp>
        <p:nvGrpSpPr>
          <p:cNvPr name="Group 19" id="19"/>
          <p:cNvGrpSpPr/>
          <p:nvPr/>
        </p:nvGrpSpPr>
        <p:grpSpPr>
          <a:xfrm rot="0">
            <a:off x="9278245" y="2671162"/>
            <a:ext cx="3914775" cy="1123950"/>
            <a:chOff x="0" y="0"/>
            <a:chExt cx="5219700" cy="1498600"/>
          </a:xfrm>
        </p:grpSpPr>
        <p:sp>
          <p:nvSpPr>
            <p:cNvPr name="Freeform 20" id="20"/>
            <p:cNvSpPr/>
            <p:nvPr/>
          </p:nvSpPr>
          <p:spPr>
            <a:xfrm flipH="false" flipV="false" rot="0">
              <a:off x="0" y="0"/>
              <a:ext cx="5219700" cy="1498600"/>
            </a:xfrm>
            <a:custGeom>
              <a:avLst/>
              <a:gdLst/>
              <a:ahLst/>
              <a:cxnLst/>
              <a:rect r="r" b="b" t="t" l="l"/>
              <a:pathLst>
                <a:path h="1498600" w="5219700">
                  <a:moveTo>
                    <a:pt x="0" y="196723"/>
                  </a:moveTo>
                  <a:cubicBezTo>
                    <a:pt x="0" y="88138"/>
                    <a:pt x="88138" y="0"/>
                    <a:pt x="196723" y="0"/>
                  </a:cubicBezTo>
                  <a:lnTo>
                    <a:pt x="5022977" y="0"/>
                  </a:lnTo>
                  <a:cubicBezTo>
                    <a:pt x="5131562" y="0"/>
                    <a:pt x="5219700" y="88138"/>
                    <a:pt x="5219700" y="196723"/>
                  </a:cubicBezTo>
                  <a:lnTo>
                    <a:pt x="5219700" y="1301877"/>
                  </a:lnTo>
                  <a:cubicBezTo>
                    <a:pt x="5219700" y="1410589"/>
                    <a:pt x="5131562" y="1498600"/>
                    <a:pt x="5022977" y="1498600"/>
                  </a:cubicBezTo>
                  <a:lnTo>
                    <a:pt x="196723" y="1498600"/>
                  </a:lnTo>
                  <a:cubicBezTo>
                    <a:pt x="88138" y="1498600"/>
                    <a:pt x="0" y="1410462"/>
                    <a:pt x="0" y="1301877"/>
                  </a:cubicBezTo>
                  <a:close/>
                </a:path>
              </a:pathLst>
            </a:custGeom>
            <a:solidFill>
              <a:srgbClr val="FFFFFF"/>
            </a:solidFill>
            <a:ln w="9526" cap="sq">
              <a:solidFill>
                <a:srgbClr val="E5E7EB"/>
              </a:solidFill>
              <a:prstDash val="solid"/>
              <a:miter/>
            </a:ln>
          </p:spPr>
        </p:sp>
      </p:grpSp>
      <p:sp>
        <p:nvSpPr>
          <p:cNvPr name="TextBox 21" id="21"/>
          <p:cNvSpPr txBox="true"/>
          <p:nvPr/>
        </p:nvSpPr>
        <p:spPr>
          <a:xfrm rot="0">
            <a:off x="9497320" y="2844403"/>
            <a:ext cx="3476625"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METHOD</a:t>
            </a:r>
          </a:p>
        </p:txBody>
      </p:sp>
      <p:sp>
        <p:nvSpPr>
          <p:cNvPr name="TextBox 22" id="22"/>
          <p:cNvSpPr txBox="true"/>
          <p:nvPr/>
        </p:nvSpPr>
        <p:spPr>
          <a:xfrm rot="0">
            <a:off x="9497320" y="3146527"/>
            <a:ext cx="3157835" cy="368176"/>
          </a:xfrm>
          <a:prstGeom prst="rect">
            <a:avLst/>
          </a:prstGeom>
        </p:spPr>
        <p:txBody>
          <a:bodyPr anchor="t" rtlCol="false" tIns="0" lIns="0" bIns="0" rIns="0">
            <a:spAutoFit/>
          </a:bodyPr>
          <a:lstStyle/>
          <a:p>
            <a:pPr algn="l">
              <a:lnSpc>
                <a:spcPts val="2812"/>
              </a:lnSpc>
            </a:pPr>
            <a:r>
              <a:rPr lang="en-US" sz="2259" b="true">
                <a:solidFill>
                  <a:srgbClr val="1A1A2E"/>
                </a:solidFill>
                <a:latin typeface="Arimo Bold"/>
                <a:ea typeface="Arimo Bold"/>
                <a:cs typeface="Arimo Bold"/>
                <a:sym typeface="Arimo Bold"/>
              </a:rPr>
              <a:t>Onlin</a:t>
            </a:r>
            <a:r>
              <a:rPr lang="en-US" sz="2259" b="true">
                <a:solidFill>
                  <a:srgbClr val="1A1A2E"/>
                </a:solidFill>
                <a:latin typeface="Arimo Bold"/>
                <a:ea typeface="Arimo Bold"/>
                <a:cs typeface="Arimo Bold"/>
                <a:sym typeface="Arimo Bold"/>
              </a:rPr>
              <a:t>e bilingual survey</a:t>
            </a:r>
          </a:p>
        </p:txBody>
      </p:sp>
      <p:grpSp>
        <p:nvGrpSpPr>
          <p:cNvPr name="Group 23" id="23"/>
          <p:cNvGrpSpPr/>
          <p:nvPr/>
        </p:nvGrpSpPr>
        <p:grpSpPr>
          <a:xfrm rot="0">
            <a:off x="13461654" y="2671162"/>
            <a:ext cx="3914775" cy="1123950"/>
            <a:chOff x="0" y="0"/>
            <a:chExt cx="5219700" cy="1498600"/>
          </a:xfrm>
        </p:grpSpPr>
        <p:sp>
          <p:nvSpPr>
            <p:cNvPr name="Freeform 24" id="24"/>
            <p:cNvSpPr/>
            <p:nvPr/>
          </p:nvSpPr>
          <p:spPr>
            <a:xfrm flipH="false" flipV="false" rot="0">
              <a:off x="0" y="0"/>
              <a:ext cx="5219700" cy="1498600"/>
            </a:xfrm>
            <a:custGeom>
              <a:avLst/>
              <a:gdLst/>
              <a:ahLst/>
              <a:cxnLst/>
              <a:rect r="r" b="b" t="t" l="l"/>
              <a:pathLst>
                <a:path h="1498600" w="5219700">
                  <a:moveTo>
                    <a:pt x="0" y="196723"/>
                  </a:moveTo>
                  <a:cubicBezTo>
                    <a:pt x="0" y="88138"/>
                    <a:pt x="88138" y="0"/>
                    <a:pt x="196723" y="0"/>
                  </a:cubicBezTo>
                  <a:lnTo>
                    <a:pt x="5022977" y="0"/>
                  </a:lnTo>
                  <a:cubicBezTo>
                    <a:pt x="5131562" y="0"/>
                    <a:pt x="5219700" y="88138"/>
                    <a:pt x="5219700" y="196723"/>
                  </a:cubicBezTo>
                  <a:lnTo>
                    <a:pt x="5219700" y="1301877"/>
                  </a:lnTo>
                  <a:cubicBezTo>
                    <a:pt x="5219700" y="1410589"/>
                    <a:pt x="5131562" y="1498600"/>
                    <a:pt x="5022977" y="1498600"/>
                  </a:cubicBezTo>
                  <a:lnTo>
                    <a:pt x="196723" y="1498600"/>
                  </a:lnTo>
                  <a:cubicBezTo>
                    <a:pt x="88138" y="1498600"/>
                    <a:pt x="0" y="1410462"/>
                    <a:pt x="0" y="1301877"/>
                  </a:cubicBezTo>
                  <a:close/>
                </a:path>
              </a:pathLst>
            </a:custGeom>
            <a:solidFill>
              <a:srgbClr val="FFFFFF"/>
            </a:solidFill>
            <a:ln w="9526" cap="sq">
              <a:solidFill>
                <a:srgbClr val="E5E7EB"/>
              </a:solidFill>
              <a:prstDash val="solid"/>
              <a:miter/>
            </a:ln>
          </p:spPr>
        </p:sp>
      </p:grpSp>
      <p:sp>
        <p:nvSpPr>
          <p:cNvPr name="TextBox 25" id="25"/>
          <p:cNvSpPr txBox="true"/>
          <p:nvPr/>
        </p:nvSpPr>
        <p:spPr>
          <a:xfrm rot="0">
            <a:off x="13680729" y="2844403"/>
            <a:ext cx="3476625" cy="276225"/>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PERIOD</a:t>
            </a:r>
          </a:p>
        </p:txBody>
      </p:sp>
      <p:sp>
        <p:nvSpPr>
          <p:cNvPr name="TextBox 26" id="26"/>
          <p:cNvSpPr txBox="true"/>
          <p:nvPr/>
        </p:nvSpPr>
        <p:spPr>
          <a:xfrm rot="0">
            <a:off x="13680729" y="3146527"/>
            <a:ext cx="2349698" cy="368062"/>
          </a:xfrm>
          <a:prstGeom prst="rect">
            <a:avLst/>
          </a:prstGeom>
        </p:spPr>
        <p:txBody>
          <a:bodyPr anchor="t" rtlCol="false" tIns="0" lIns="0" bIns="0" rIns="0">
            <a:spAutoFit/>
          </a:bodyPr>
          <a:lstStyle/>
          <a:p>
            <a:pPr algn="l">
              <a:lnSpc>
                <a:spcPts val="2837"/>
              </a:lnSpc>
            </a:pPr>
            <a:r>
              <a:rPr lang="en-US" sz="2279" b="true">
                <a:solidFill>
                  <a:srgbClr val="1A1A2E"/>
                </a:solidFill>
                <a:latin typeface="Arimo Bold"/>
                <a:ea typeface="Arimo Bold"/>
                <a:cs typeface="Arimo Bold"/>
                <a:sym typeface="Arimo Bold"/>
              </a:rPr>
              <a:t>M</a:t>
            </a:r>
            <a:r>
              <a:rPr lang="en-US" sz="2279" b="true">
                <a:solidFill>
                  <a:srgbClr val="1A1A2E"/>
                </a:solidFill>
                <a:latin typeface="Arimo Bold"/>
                <a:ea typeface="Arimo Bold"/>
                <a:cs typeface="Arimo Bold"/>
                <a:sym typeface="Arimo Bold"/>
              </a:rPr>
              <a:t>ay 11 - 26, 2026</a:t>
            </a:r>
          </a:p>
        </p:txBody>
      </p:sp>
      <p:grpSp>
        <p:nvGrpSpPr>
          <p:cNvPr name="Group 27" id="27"/>
          <p:cNvGrpSpPr/>
          <p:nvPr/>
        </p:nvGrpSpPr>
        <p:grpSpPr>
          <a:xfrm rot="0">
            <a:off x="909638" y="4523403"/>
            <a:ext cx="10982325" cy="4943475"/>
            <a:chOff x="0" y="0"/>
            <a:chExt cx="14643100" cy="6591300"/>
          </a:xfrm>
        </p:grpSpPr>
        <p:sp>
          <p:nvSpPr>
            <p:cNvPr name="Freeform 28" id="28"/>
            <p:cNvSpPr/>
            <p:nvPr/>
          </p:nvSpPr>
          <p:spPr>
            <a:xfrm flipH="false" flipV="false" rot="0">
              <a:off x="0" y="0"/>
              <a:ext cx="14643100" cy="6591300"/>
            </a:xfrm>
            <a:custGeom>
              <a:avLst/>
              <a:gdLst/>
              <a:ahLst/>
              <a:cxnLst/>
              <a:rect r="r" b="b" t="t" l="l"/>
              <a:pathLst>
                <a:path h="6591300" w="14643100">
                  <a:moveTo>
                    <a:pt x="0" y="244348"/>
                  </a:moveTo>
                  <a:cubicBezTo>
                    <a:pt x="0" y="109347"/>
                    <a:pt x="109347" y="0"/>
                    <a:pt x="244348" y="0"/>
                  </a:cubicBezTo>
                  <a:lnTo>
                    <a:pt x="14398752" y="0"/>
                  </a:lnTo>
                  <a:cubicBezTo>
                    <a:pt x="14533753" y="0"/>
                    <a:pt x="14643100" y="109347"/>
                    <a:pt x="14643100" y="244348"/>
                  </a:cubicBezTo>
                  <a:lnTo>
                    <a:pt x="14643100" y="6346952"/>
                  </a:lnTo>
                  <a:cubicBezTo>
                    <a:pt x="14643100" y="6481953"/>
                    <a:pt x="14533753" y="6591300"/>
                    <a:pt x="14398752" y="6591300"/>
                  </a:cubicBezTo>
                  <a:lnTo>
                    <a:pt x="244348" y="6591300"/>
                  </a:lnTo>
                  <a:cubicBezTo>
                    <a:pt x="109347" y="6591300"/>
                    <a:pt x="0" y="6481953"/>
                    <a:pt x="0" y="6346952"/>
                  </a:cubicBezTo>
                  <a:close/>
                </a:path>
              </a:pathLst>
            </a:custGeom>
            <a:solidFill>
              <a:srgbClr val="FFFFFF"/>
            </a:solidFill>
            <a:ln w="9526" cap="sq">
              <a:solidFill>
                <a:srgbClr val="E5E7EB"/>
              </a:solidFill>
              <a:prstDash val="solid"/>
              <a:miter/>
            </a:ln>
          </p:spPr>
        </p:sp>
      </p:grpSp>
      <p:sp>
        <p:nvSpPr>
          <p:cNvPr name="TextBox 29" id="29"/>
          <p:cNvSpPr txBox="true"/>
          <p:nvPr/>
        </p:nvSpPr>
        <p:spPr>
          <a:xfrm rot="0">
            <a:off x="1181100" y="4756394"/>
            <a:ext cx="10439400" cy="24193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TOP SURVEY FINDING</a:t>
            </a:r>
          </a:p>
        </p:txBody>
      </p:sp>
      <p:sp>
        <p:nvSpPr>
          <p:cNvPr name="TextBox 30" id="30"/>
          <p:cNvSpPr txBox="true"/>
          <p:nvPr/>
        </p:nvSpPr>
        <p:spPr>
          <a:xfrm rot="0">
            <a:off x="1181100" y="6030603"/>
            <a:ext cx="10439400" cy="314706"/>
          </a:xfrm>
          <a:prstGeom prst="rect">
            <a:avLst/>
          </a:prstGeom>
        </p:spPr>
        <p:txBody>
          <a:bodyPr anchor="t" rtlCol="false" tIns="0" lIns="0" bIns="0" rIns="0">
            <a:spAutoFit/>
          </a:bodyPr>
          <a:lstStyle/>
          <a:p>
            <a:pPr algn="l">
              <a:lnSpc>
                <a:spcPts val="2609"/>
              </a:lnSpc>
            </a:pPr>
            <a:r>
              <a:rPr lang="en-US" sz="1739">
                <a:solidFill>
                  <a:srgbClr val="1A1A2E"/>
                </a:solidFill>
                <a:latin typeface="Inter"/>
                <a:ea typeface="Inter"/>
                <a:cs typeface="Inter"/>
                <a:sym typeface="Inter"/>
              </a:rPr>
              <a:t>Have a clo</a:t>
            </a:r>
            <a:r>
              <a:rPr lang="en-US" sz="1739">
                <a:solidFill>
                  <a:srgbClr val="1A1A2E"/>
                </a:solidFill>
                <a:latin typeface="Inter"/>
                <a:ea typeface="Inter"/>
                <a:cs typeface="Inter"/>
                <a:sym typeface="Inter"/>
              </a:rPr>
              <a:t>se family member with chronic disease </a:t>
            </a:r>
            <a:r>
              <a:rPr lang="en-US" sz="1739">
                <a:solidFill>
                  <a:srgbClr val="6B7280"/>
                </a:solidFill>
                <a:latin typeface="Inter"/>
                <a:ea typeface="Inter"/>
                <a:cs typeface="Inter"/>
                <a:sym typeface="Inter"/>
              </a:rPr>
              <a:t>(72.8%)</a:t>
            </a:r>
          </a:p>
        </p:txBody>
      </p:sp>
      <p:sp>
        <p:nvSpPr>
          <p:cNvPr name="TextBox 31" id="31"/>
          <p:cNvSpPr txBox="true"/>
          <p:nvPr/>
        </p:nvSpPr>
        <p:spPr>
          <a:xfrm rot="0">
            <a:off x="1181100" y="6841336"/>
            <a:ext cx="10439400" cy="314706"/>
          </a:xfrm>
          <a:prstGeom prst="rect">
            <a:avLst/>
          </a:prstGeom>
        </p:spPr>
        <p:txBody>
          <a:bodyPr anchor="t" rtlCol="false" tIns="0" lIns="0" bIns="0" rIns="0">
            <a:spAutoFit/>
          </a:bodyPr>
          <a:lstStyle/>
          <a:p>
            <a:pPr algn="l">
              <a:lnSpc>
                <a:spcPts val="2609"/>
              </a:lnSpc>
            </a:pPr>
            <a:r>
              <a:rPr lang="en-US" sz="1739">
                <a:solidFill>
                  <a:srgbClr val="1A1A2E"/>
                </a:solidFill>
                <a:latin typeface="Inter"/>
                <a:ea typeface="Inter"/>
                <a:cs typeface="Inter"/>
                <a:sym typeface="Inter"/>
              </a:rPr>
              <a:t>Take or know someone who takes 3+ medications daily </a:t>
            </a:r>
            <a:r>
              <a:rPr lang="en-US" sz="1739">
                <a:solidFill>
                  <a:srgbClr val="6B7280"/>
                </a:solidFill>
                <a:latin typeface="Inter"/>
                <a:ea typeface="Inter"/>
                <a:cs typeface="Inter"/>
                <a:sym typeface="Inter"/>
              </a:rPr>
              <a:t>(64.1%)</a:t>
            </a:r>
          </a:p>
        </p:txBody>
      </p:sp>
      <p:sp>
        <p:nvSpPr>
          <p:cNvPr name="TextBox 32" id="32"/>
          <p:cNvSpPr txBox="true"/>
          <p:nvPr/>
        </p:nvSpPr>
        <p:spPr>
          <a:xfrm rot="0">
            <a:off x="1181100" y="7651342"/>
            <a:ext cx="10439400" cy="314706"/>
          </a:xfrm>
          <a:prstGeom prst="rect">
            <a:avLst/>
          </a:prstGeom>
        </p:spPr>
        <p:txBody>
          <a:bodyPr anchor="t" rtlCol="false" tIns="0" lIns="0" bIns="0" rIns="0">
            <a:spAutoFit/>
          </a:bodyPr>
          <a:lstStyle/>
          <a:p>
            <a:pPr algn="l">
              <a:lnSpc>
                <a:spcPts val="2609"/>
              </a:lnSpc>
            </a:pPr>
            <a:r>
              <a:rPr lang="en-US" sz="1739">
                <a:solidFill>
                  <a:srgbClr val="1A1A2E"/>
                </a:solidFill>
                <a:latin typeface="Inter"/>
                <a:ea typeface="Inter"/>
                <a:cs typeface="Inter"/>
                <a:sym typeface="Inter"/>
              </a:rPr>
              <a:t>Have allergies </a:t>
            </a:r>
            <a:r>
              <a:rPr lang="en-US" sz="1739">
                <a:solidFill>
                  <a:srgbClr val="595959"/>
                </a:solidFill>
                <a:latin typeface="Inter"/>
                <a:ea typeface="Inter"/>
                <a:cs typeface="Inter"/>
                <a:sym typeface="Inter"/>
              </a:rPr>
              <a:t>(48.0%)</a:t>
            </a:r>
          </a:p>
        </p:txBody>
      </p:sp>
      <p:sp>
        <p:nvSpPr>
          <p:cNvPr name="TextBox 33" id="33"/>
          <p:cNvSpPr txBox="true"/>
          <p:nvPr/>
        </p:nvSpPr>
        <p:spPr>
          <a:xfrm rot="0">
            <a:off x="1181100" y="8461349"/>
            <a:ext cx="10439400" cy="314706"/>
          </a:xfrm>
          <a:prstGeom prst="rect">
            <a:avLst/>
          </a:prstGeom>
        </p:spPr>
        <p:txBody>
          <a:bodyPr anchor="t" rtlCol="false" tIns="0" lIns="0" bIns="0" rIns="0">
            <a:spAutoFit/>
          </a:bodyPr>
          <a:lstStyle/>
          <a:p>
            <a:pPr algn="l">
              <a:lnSpc>
                <a:spcPts val="2609"/>
              </a:lnSpc>
            </a:pPr>
            <a:r>
              <a:rPr lang="en-US" sz="1739">
                <a:solidFill>
                  <a:srgbClr val="1A1A2E"/>
                </a:solidFill>
                <a:latin typeface="Inter"/>
                <a:ea typeface="Inter"/>
                <a:cs typeface="Inter"/>
                <a:sym typeface="Inter"/>
              </a:rPr>
              <a:t>Have a chronic disease personally </a:t>
            </a:r>
            <a:r>
              <a:rPr lang="en-US" sz="1739">
                <a:solidFill>
                  <a:srgbClr val="6B7280"/>
                </a:solidFill>
                <a:latin typeface="Inter"/>
                <a:ea typeface="Inter"/>
                <a:cs typeface="Inter"/>
                <a:sym typeface="Inter"/>
              </a:rPr>
              <a:t>(23.5%)</a:t>
            </a:r>
          </a:p>
        </p:txBody>
      </p:sp>
      <p:grpSp>
        <p:nvGrpSpPr>
          <p:cNvPr name="Group 34" id="34"/>
          <p:cNvGrpSpPr/>
          <p:nvPr/>
        </p:nvGrpSpPr>
        <p:grpSpPr>
          <a:xfrm rot="0">
            <a:off x="12251084" y="4524080"/>
            <a:ext cx="5124450" cy="3313456"/>
            <a:chOff x="0" y="0"/>
            <a:chExt cx="6832600" cy="4417941"/>
          </a:xfrm>
        </p:grpSpPr>
        <p:sp>
          <p:nvSpPr>
            <p:cNvPr name="Freeform 35" id="35"/>
            <p:cNvSpPr/>
            <p:nvPr/>
          </p:nvSpPr>
          <p:spPr>
            <a:xfrm flipH="false" flipV="false" rot="0">
              <a:off x="0" y="0"/>
              <a:ext cx="6832600" cy="4417941"/>
            </a:xfrm>
            <a:custGeom>
              <a:avLst/>
              <a:gdLst/>
              <a:ahLst/>
              <a:cxnLst/>
              <a:rect r="r" b="b" t="t" l="l"/>
              <a:pathLst>
                <a:path h="4417941" w="6832600">
                  <a:moveTo>
                    <a:pt x="0" y="127876"/>
                  </a:moveTo>
                  <a:cubicBezTo>
                    <a:pt x="0" y="57278"/>
                    <a:pt x="65532" y="0"/>
                    <a:pt x="146304" y="0"/>
                  </a:cubicBezTo>
                  <a:lnTo>
                    <a:pt x="6686296" y="0"/>
                  </a:lnTo>
                  <a:cubicBezTo>
                    <a:pt x="6767068" y="0"/>
                    <a:pt x="6832600" y="57278"/>
                    <a:pt x="6832600" y="127876"/>
                  </a:cubicBezTo>
                  <a:lnTo>
                    <a:pt x="6832600" y="4290065"/>
                  </a:lnTo>
                  <a:cubicBezTo>
                    <a:pt x="6832600" y="4360663"/>
                    <a:pt x="6767068" y="4417941"/>
                    <a:pt x="6686296" y="4417941"/>
                  </a:cubicBezTo>
                  <a:lnTo>
                    <a:pt x="146304" y="4417941"/>
                  </a:lnTo>
                  <a:cubicBezTo>
                    <a:pt x="65532" y="4417941"/>
                    <a:pt x="0" y="4360663"/>
                    <a:pt x="0" y="4290065"/>
                  </a:cubicBezTo>
                  <a:close/>
                </a:path>
              </a:pathLst>
            </a:custGeom>
            <a:solidFill>
              <a:srgbClr val="31CE76">
                <a:alpha val="784"/>
              </a:srgbClr>
            </a:solidFill>
          </p:spPr>
        </p:sp>
      </p:grpSp>
      <p:sp>
        <p:nvSpPr>
          <p:cNvPr name="TextBox 36" id="36"/>
          <p:cNvSpPr txBox="true"/>
          <p:nvPr/>
        </p:nvSpPr>
        <p:spPr>
          <a:xfrm rot="0">
            <a:off x="12527309" y="4854281"/>
            <a:ext cx="4845101" cy="804259"/>
          </a:xfrm>
          <a:prstGeom prst="rect">
            <a:avLst/>
          </a:prstGeom>
        </p:spPr>
        <p:txBody>
          <a:bodyPr anchor="t" rtlCol="false" tIns="0" lIns="0" bIns="0" rIns="0">
            <a:spAutoFit/>
          </a:bodyPr>
          <a:lstStyle/>
          <a:p>
            <a:pPr algn="l">
              <a:lnSpc>
                <a:spcPts val="2163"/>
              </a:lnSpc>
            </a:pPr>
            <a:r>
              <a:rPr lang="en-US" sz="1580">
                <a:solidFill>
                  <a:srgbClr val="1A1A2E"/>
                </a:solidFill>
                <a:latin typeface="Arimo"/>
                <a:ea typeface="Arimo"/>
                <a:cs typeface="Arimo"/>
                <a:sym typeface="Arimo"/>
              </a:rPr>
              <a:t>“I don’t personally have a chronic disease, but my parents has asthma, diabetes, and high blood pressure.”</a:t>
            </a:r>
          </a:p>
        </p:txBody>
      </p:sp>
      <p:sp>
        <p:nvSpPr>
          <p:cNvPr name="TextBox 37" id="37"/>
          <p:cNvSpPr txBox="true"/>
          <p:nvPr/>
        </p:nvSpPr>
        <p:spPr>
          <a:xfrm rot="0">
            <a:off x="12527309" y="5685242"/>
            <a:ext cx="4638675" cy="228981"/>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Survey</a:t>
            </a:r>
            <a:r>
              <a:rPr lang="en-US" sz="1220">
                <a:solidFill>
                  <a:srgbClr val="6B7280"/>
                </a:solidFill>
                <a:latin typeface="Inter"/>
                <a:ea typeface="Inter"/>
                <a:cs typeface="Inter"/>
                <a:sym typeface="Inter"/>
              </a:rPr>
              <a:t> respondent, Kuwait</a:t>
            </a:r>
          </a:p>
        </p:txBody>
      </p:sp>
      <p:grpSp>
        <p:nvGrpSpPr>
          <p:cNvPr name="Group 38" id="38"/>
          <p:cNvGrpSpPr/>
          <p:nvPr/>
        </p:nvGrpSpPr>
        <p:grpSpPr>
          <a:xfrm rot="0">
            <a:off x="12251084" y="7942310"/>
            <a:ext cx="5129212" cy="1494212"/>
            <a:chOff x="0" y="0"/>
            <a:chExt cx="6838950" cy="1992283"/>
          </a:xfrm>
        </p:grpSpPr>
        <p:sp>
          <p:nvSpPr>
            <p:cNvPr name="Freeform 39" id="39"/>
            <p:cNvSpPr/>
            <p:nvPr/>
          </p:nvSpPr>
          <p:spPr>
            <a:xfrm flipH="false" flipV="false" rot="0">
              <a:off x="0" y="0"/>
              <a:ext cx="6838950" cy="1992283"/>
            </a:xfrm>
            <a:custGeom>
              <a:avLst/>
              <a:gdLst/>
              <a:ahLst/>
              <a:cxnLst/>
              <a:rect r="r" b="b" t="t" l="l"/>
              <a:pathLst>
                <a:path h="1992283" w="6838950">
                  <a:moveTo>
                    <a:pt x="0" y="291512"/>
                  </a:moveTo>
                  <a:cubicBezTo>
                    <a:pt x="0" y="130438"/>
                    <a:pt x="88056" y="0"/>
                    <a:pt x="196794" y="0"/>
                  </a:cubicBezTo>
                  <a:lnTo>
                    <a:pt x="6642156" y="0"/>
                  </a:lnTo>
                  <a:cubicBezTo>
                    <a:pt x="6750893" y="0"/>
                    <a:pt x="6838950" y="130438"/>
                    <a:pt x="6838950" y="291512"/>
                  </a:cubicBezTo>
                  <a:lnTo>
                    <a:pt x="6838950" y="1700770"/>
                  </a:lnTo>
                  <a:cubicBezTo>
                    <a:pt x="6838950" y="1861657"/>
                    <a:pt x="6750893" y="1992283"/>
                    <a:pt x="6642156" y="1992283"/>
                  </a:cubicBezTo>
                  <a:lnTo>
                    <a:pt x="196794" y="1992283"/>
                  </a:lnTo>
                  <a:cubicBezTo>
                    <a:pt x="88056" y="1992283"/>
                    <a:pt x="0" y="1861844"/>
                    <a:pt x="0" y="1700770"/>
                  </a:cubicBezTo>
                  <a:close/>
                </a:path>
              </a:pathLst>
            </a:custGeom>
            <a:solidFill>
              <a:srgbClr val="FFFFFF"/>
            </a:solidFill>
            <a:ln w="9526" cap="sq">
              <a:solidFill>
                <a:srgbClr val="E5E7EB"/>
              </a:solidFill>
              <a:prstDash val="solid"/>
              <a:miter/>
            </a:ln>
          </p:spPr>
        </p:sp>
      </p:grpSp>
      <p:sp>
        <p:nvSpPr>
          <p:cNvPr name="TextBox 40" id="40"/>
          <p:cNvSpPr txBox="true"/>
          <p:nvPr/>
        </p:nvSpPr>
        <p:spPr>
          <a:xfrm rot="0">
            <a:off x="12433697" y="8031522"/>
            <a:ext cx="1027957" cy="228981"/>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LEARNINGS</a:t>
            </a:r>
          </a:p>
        </p:txBody>
      </p:sp>
      <p:sp>
        <p:nvSpPr>
          <p:cNvPr name="TextBox 41" id="41"/>
          <p:cNvSpPr txBox="true"/>
          <p:nvPr/>
        </p:nvSpPr>
        <p:spPr>
          <a:xfrm rot="0">
            <a:off x="12433697" y="8279553"/>
            <a:ext cx="4938712" cy="1049655"/>
          </a:xfrm>
          <a:prstGeom prst="rect">
            <a:avLst/>
          </a:prstGeom>
        </p:spPr>
        <p:txBody>
          <a:bodyPr anchor="t" rtlCol="false" tIns="0" lIns="0" bIns="0" rIns="0">
            <a:spAutoFit/>
          </a:bodyPr>
          <a:lstStyle/>
          <a:p>
            <a:pPr algn="l">
              <a:lnSpc>
                <a:spcPts val="1650"/>
              </a:lnSpc>
            </a:pPr>
            <a:r>
              <a:rPr lang="en-US" sz="1200">
                <a:solidFill>
                  <a:srgbClr val="595959"/>
                </a:solidFill>
                <a:latin typeface="Inter"/>
                <a:ea typeface="Inter"/>
                <a:cs typeface="Inter"/>
                <a:sym typeface="Inter"/>
              </a:rPr>
              <a:t>The s</a:t>
            </a:r>
            <a:r>
              <a:rPr lang="en-US" sz="1200">
                <a:solidFill>
                  <a:srgbClr val="595959"/>
                </a:solidFill>
                <a:latin typeface="Inter"/>
                <a:ea typeface="Inter"/>
                <a:cs typeface="Inter"/>
                <a:sym typeface="Inter"/>
              </a:rPr>
              <a:t>urvey shows that medication-care needs often extend beyond the individual. Many respondents reported family chronic disease, multiple-medication use, and allergy concerns, supporting ISTSEH’s focus on reminders, safety warnings based on health. profiles, and caregiver support.</a:t>
            </a:r>
          </a:p>
        </p:txBody>
      </p:sp>
      <p:grpSp>
        <p:nvGrpSpPr>
          <p:cNvPr name="Group 42" id="42"/>
          <p:cNvGrpSpPr/>
          <p:nvPr/>
        </p:nvGrpSpPr>
        <p:grpSpPr>
          <a:xfrm rot="0">
            <a:off x="914400" y="9703222"/>
            <a:ext cx="16459200" cy="297293"/>
            <a:chOff x="0" y="0"/>
            <a:chExt cx="21945600" cy="396391"/>
          </a:xfrm>
        </p:grpSpPr>
        <p:sp>
          <p:nvSpPr>
            <p:cNvPr name="Freeform 43" id="43"/>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44" id="44"/>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45" id="45"/>
          <p:cNvGrpSpPr/>
          <p:nvPr/>
        </p:nvGrpSpPr>
        <p:grpSpPr>
          <a:xfrm rot="0">
            <a:off x="0" y="10247414"/>
            <a:ext cx="18288000" cy="38100"/>
            <a:chOff x="0" y="0"/>
            <a:chExt cx="24384000" cy="50800"/>
          </a:xfrm>
        </p:grpSpPr>
        <p:sp>
          <p:nvSpPr>
            <p:cNvPr name="Freeform 46" id="46"/>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47" id="47" descr="preencoded.png"/>
          <p:cNvSpPr/>
          <p:nvPr/>
        </p:nvSpPr>
        <p:spPr>
          <a:xfrm flipH="false" flipV="false" rot="0">
            <a:off x="12251084" y="4523403"/>
            <a:ext cx="4447464" cy="3290131"/>
          </a:xfrm>
          <a:custGeom>
            <a:avLst/>
            <a:gdLst/>
            <a:ahLst/>
            <a:cxnLst/>
            <a:rect r="r" b="b" t="t" l="l"/>
            <a:pathLst>
              <a:path h="3290131" w="4447464">
                <a:moveTo>
                  <a:pt x="0" y="0"/>
                </a:moveTo>
                <a:lnTo>
                  <a:pt x="4447463" y="0"/>
                </a:lnTo>
                <a:lnTo>
                  <a:pt x="4447463" y="3290132"/>
                </a:lnTo>
                <a:lnTo>
                  <a:pt x="0" y="3290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8" id="48"/>
          <p:cNvSpPr txBox="true"/>
          <p:nvPr/>
        </p:nvSpPr>
        <p:spPr>
          <a:xfrm rot="0">
            <a:off x="1130570" y="3203677"/>
            <a:ext cx="3432428" cy="313853"/>
          </a:xfrm>
          <a:prstGeom prst="rect">
            <a:avLst/>
          </a:prstGeom>
        </p:spPr>
        <p:txBody>
          <a:bodyPr anchor="t" rtlCol="false" tIns="0" lIns="0" bIns="0" rIns="0">
            <a:spAutoFit/>
          </a:bodyPr>
          <a:lstStyle/>
          <a:p>
            <a:pPr algn="l">
              <a:lnSpc>
                <a:spcPts val="2265"/>
              </a:lnSpc>
            </a:pPr>
            <a:r>
              <a:rPr lang="en-US" sz="2260" b="true">
                <a:solidFill>
                  <a:srgbClr val="1A1A2E"/>
                </a:solidFill>
                <a:latin typeface="Arimo Bold"/>
                <a:ea typeface="Arimo Bold"/>
                <a:cs typeface="Arimo Bold"/>
                <a:sym typeface="Arimo Bold"/>
              </a:rPr>
              <a:t>81</a:t>
            </a:r>
            <a:r>
              <a:rPr lang="en-US" sz="2260" b="true">
                <a:solidFill>
                  <a:srgbClr val="1A1A2E"/>
                </a:solidFill>
                <a:latin typeface="Arimo Bold"/>
                <a:ea typeface="Arimo Bold"/>
                <a:cs typeface="Arimo Bold"/>
                <a:sym typeface="Arimo Bold"/>
              </a:rPr>
              <a:t> </a:t>
            </a:r>
            <a:r>
              <a:rPr lang="en-US" sz="2260" b="true">
                <a:solidFill>
                  <a:srgbClr val="1A1A2E"/>
                </a:solidFill>
                <a:latin typeface="Arimo Bold"/>
                <a:ea typeface="Arimo Bold"/>
                <a:cs typeface="Arimo Bold"/>
                <a:sym typeface="Arimo Bold"/>
              </a:rPr>
              <a:t>collected / 150 target</a:t>
            </a:r>
          </a:p>
        </p:txBody>
      </p:sp>
      <p:sp>
        <p:nvSpPr>
          <p:cNvPr name="TextBox 49" id="49"/>
          <p:cNvSpPr txBox="true"/>
          <p:nvPr/>
        </p:nvSpPr>
        <p:spPr>
          <a:xfrm rot="0">
            <a:off x="1181100" y="5284079"/>
            <a:ext cx="10439400" cy="314706"/>
          </a:xfrm>
          <a:prstGeom prst="rect">
            <a:avLst/>
          </a:prstGeom>
        </p:spPr>
        <p:txBody>
          <a:bodyPr anchor="t" rtlCol="false" tIns="0" lIns="0" bIns="0" rIns="0">
            <a:spAutoFit/>
          </a:bodyPr>
          <a:lstStyle/>
          <a:p>
            <a:pPr algn="l">
              <a:lnSpc>
                <a:spcPts val="2609"/>
              </a:lnSpc>
            </a:pPr>
            <a:r>
              <a:rPr lang="en-US" sz="1739">
                <a:solidFill>
                  <a:srgbClr val="1A1A2E"/>
                </a:solidFill>
                <a:latin typeface="Inter"/>
                <a:ea typeface="Inter"/>
                <a:cs typeface="Inter"/>
                <a:sym typeface="Inter"/>
              </a:rPr>
              <a:t>Aged between 18-24 </a:t>
            </a:r>
            <a:r>
              <a:rPr lang="en-US" sz="1739">
                <a:solidFill>
                  <a:srgbClr val="6B7280"/>
                </a:solidFill>
                <a:latin typeface="Inter"/>
                <a:ea typeface="Inter"/>
                <a:cs typeface="Inter"/>
                <a:sym typeface="Inter"/>
              </a:rPr>
              <a:t>(87.7%)</a:t>
            </a:r>
          </a:p>
        </p:txBody>
      </p:sp>
      <p:sp>
        <p:nvSpPr>
          <p:cNvPr name="TextBox 50" id="50"/>
          <p:cNvSpPr txBox="true"/>
          <p:nvPr/>
        </p:nvSpPr>
        <p:spPr>
          <a:xfrm rot="0">
            <a:off x="12527309" y="4620187"/>
            <a:ext cx="3476625" cy="228981"/>
          </a:xfrm>
          <a:prstGeom prst="rect">
            <a:avLst/>
          </a:prstGeom>
        </p:spPr>
        <p:txBody>
          <a:bodyPr anchor="t" rtlCol="false" tIns="0" lIns="0" bIns="0" rIns="0">
            <a:spAutoFit/>
          </a:bodyPr>
          <a:lstStyle/>
          <a:p>
            <a:pPr algn="l">
              <a:lnSpc>
                <a:spcPts val="1836"/>
              </a:lnSpc>
            </a:pPr>
            <a:r>
              <a:rPr lang="en-US" sz="1220" spc="61">
                <a:solidFill>
                  <a:srgbClr val="6B7280"/>
                </a:solidFill>
                <a:latin typeface="Inter"/>
                <a:ea typeface="Inter"/>
                <a:cs typeface="Inter"/>
                <a:sym typeface="Inter"/>
              </a:rPr>
              <a:t>USER QUOTES </a:t>
            </a:r>
          </a:p>
        </p:txBody>
      </p:sp>
      <p:sp>
        <p:nvSpPr>
          <p:cNvPr name="TextBox 51" id="51"/>
          <p:cNvSpPr txBox="true"/>
          <p:nvPr/>
        </p:nvSpPr>
        <p:spPr>
          <a:xfrm rot="0">
            <a:off x="12527309" y="5933273"/>
            <a:ext cx="4731991" cy="270859"/>
          </a:xfrm>
          <a:prstGeom prst="rect">
            <a:avLst/>
          </a:prstGeom>
        </p:spPr>
        <p:txBody>
          <a:bodyPr anchor="t" rtlCol="false" tIns="0" lIns="0" bIns="0" rIns="0">
            <a:spAutoFit/>
          </a:bodyPr>
          <a:lstStyle/>
          <a:p>
            <a:pPr algn="l">
              <a:lnSpc>
                <a:spcPts val="2163"/>
              </a:lnSpc>
            </a:pPr>
            <a:r>
              <a:rPr lang="en-US" sz="1580">
                <a:solidFill>
                  <a:srgbClr val="1A1A2E"/>
                </a:solidFill>
                <a:latin typeface="Arimo"/>
                <a:ea typeface="Arimo"/>
                <a:cs typeface="Arimo"/>
                <a:sym typeface="Arimo"/>
              </a:rPr>
              <a:t>“My family member takes several medicines daily.”</a:t>
            </a:r>
          </a:p>
        </p:txBody>
      </p:sp>
      <p:sp>
        <p:nvSpPr>
          <p:cNvPr name="TextBox 52" id="52"/>
          <p:cNvSpPr txBox="true"/>
          <p:nvPr/>
        </p:nvSpPr>
        <p:spPr>
          <a:xfrm rot="0">
            <a:off x="12527309" y="6213657"/>
            <a:ext cx="4638675" cy="228981"/>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Survey</a:t>
            </a:r>
            <a:r>
              <a:rPr lang="en-US" sz="1220">
                <a:solidFill>
                  <a:srgbClr val="6B7280"/>
                </a:solidFill>
                <a:latin typeface="Inter"/>
                <a:ea typeface="Inter"/>
                <a:cs typeface="Inter"/>
                <a:sym typeface="Inter"/>
              </a:rPr>
              <a:t> respondent, Kuwait</a:t>
            </a:r>
          </a:p>
        </p:txBody>
      </p:sp>
      <p:sp>
        <p:nvSpPr>
          <p:cNvPr name="TextBox 53" id="53"/>
          <p:cNvSpPr txBox="true"/>
          <p:nvPr/>
        </p:nvSpPr>
        <p:spPr>
          <a:xfrm rot="0">
            <a:off x="12527309" y="6526693"/>
            <a:ext cx="4848225" cy="270859"/>
          </a:xfrm>
          <a:prstGeom prst="rect">
            <a:avLst/>
          </a:prstGeom>
        </p:spPr>
        <p:txBody>
          <a:bodyPr anchor="t" rtlCol="false" tIns="0" lIns="0" bIns="0" rIns="0">
            <a:spAutoFit/>
          </a:bodyPr>
          <a:lstStyle/>
          <a:p>
            <a:pPr algn="l">
              <a:lnSpc>
                <a:spcPts val="2163"/>
              </a:lnSpc>
            </a:pPr>
            <a:r>
              <a:rPr lang="en-US" sz="1580">
                <a:solidFill>
                  <a:srgbClr val="1A1A2E"/>
                </a:solidFill>
                <a:latin typeface="Arimo"/>
                <a:ea typeface="Arimo"/>
                <a:cs typeface="Arimo"/>
                <a:sym typeface="Arimo"/>
              </a:rPr>
              <a:t>“I have allergies to ibuprofen and certain foods.”</a:t>
            </a:r>
          </a:p>
        </p:txBody>
      </p:sp>
      <p:sp>
        <p:nvSpPr>
          <p:cNvPr name="TextBox 54" id="54"/>
          <p:cNvSpPr txBox="true"/>
          <p:nvPr/>
        </p:nvSpPr>
        <p:spPr>
          <a:xfrm rot="0">
            <a:off x="12573967" y="6789964"/>
            <a:ext cx="4638675" cy="228981"/>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Survey</a:t>
            </a:r>
            <a:r>
              <a:rPr lang="en-US" sz="1220">
                <a:solidFill>
                  <a:srgbClr val="6B7280"/>
                </a:solidFill>
                <a:latin typeface="Inter"/>
                <a:ea typeface="Inter"/>
                <a:cs typeface="Inter"/>
                <a:sym typeface="Inter"/>
              </a:rPr>
              <a:t> respondent, Kuwait</a:t>
            </a:r>
          </a:p>
        </p:txBody>
      </p:sp>
      <p:sp>
        <p:nvSpPr>
          <p:cNvPr name="TextBox 55" id="55"/>
          <p:cNvSpPr txBox="true"/>
          <p:nvPr/>
        </p:nvSpPr>
        <p:spPr>
          <a:xfrm rot="0">
            <a:off x="12532071" y="7057045"/>
            <a:ext cx="4848225" cy="270859"/>
          </a:xfrm>
          <a:prstGeom prst="rect">
            <a:avLst/>
          </a:prstGeom>
        </p:spPr>
        <p:txBody>
          <a:bodyPr anchor="t" rtlCol="false" tIns="0" lIns="0" bIns="0" rIns="0">
            <a:spAutoFit/>
          </a:bodyPr>
          <a:lstStyle/>
          <a:p>
            <a:pPr algn="l">
              <a:lnSpc>
                <a:spcPts val="2163"/>
              </a:lnSpc>
            </a:pPr>
            <a:r>
              <a:rPr lang="en-US" sz="1580">
                <a:solidFill>
                  <a:srgbClr val="1A1A2E"/>
                </a:solidFill>
                <a:latin typeface="Arimo"/>
                <a:ea typeface="Arimo"/>
                <a:cs typeface="Arimo"/>
                <a:sym typeface="Arimo"/>
              </a:rPr>
              <a:t>“Medication is part of our family’s daily routine.”</a:t>
            </a:r>
          </a:p>
        </p:txBody>
      </p:sp>
      <p:sp>
        <p:nvSpPr>
          <p:cNvPr name="TextBox 56" id="56"/>
          <p:cNvSpPr txBox="true"/>
          <p:nvPr/>
        </p:nvSpPr>
        <p:spPr>
          <a:xfrm rot="0">
            <a:off x="12583716" y="7337428"/>
            <a:ext cx="4638675" cy="228981"/>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Survey</a:t>
            </a:r>
            <a:r>
              <a:rPr lang="en-US" sz="1220">
                <a:solidFill>
                  <a:srgbClr val="6B7280"/>
                </a:solidFill>
                <a:latin typeface="Inter"/>
                <a:ea typeface="Inter"/>
                <a:cs typeface="Inter"/>
                <a:sym typeface="Inter"/>
              </a:rPr>
              <a:t> respondent, Kuwait</a:t>
            </a:r>
          </a:p>
        </p:txBody>
      </p:sp>
      <p:pic>
        <p:nvPicPr>
          <p:cNvPr name="Picture 57" id="57"/>
          <p:cNvPicPr>
            <a:picLocks noChangeAspect="true"/>
          </p:cNvPicPr>
          <p:nvPr/>
        </p:nvPicPr>
        <p:blipFill>
          <a:blip r:embed="rId6"/>
          <a:stretch>
            <a:fillRect/>
          </a:stretch>
        </p:blipFill>
        <p:spPr>
          <a:xfrm rot="0">
            <a:off x="137160" y="5421544"/>
            <a:ext cx="12527280" cy="2401062"/>
          </a:xfrm>
          <a:prstGeom prst="rect">
            <a:avLst/>
          </a:prstGeom>
        </p:spPr>
      </p:pic>
      <p:pic>
        <p:nvPicPr>
          <p:cNvPr name="Picture 58" id="58"/>
          <p:cNvPicPr>
            <a:picLocks noChangeAspect="true"/>
          </p:cNvPicPr>
          <p:nvPr/>
        </p:nvPicPr>
        <p:blipFill>
          <a:blip r:embed="rId7"/>
          <a:stretch>
            <a:fillRect/>
          </a:stretch>
        </p:blipFill>
        <p:spPr>
          <a:xfrm rot="0">
            <a:off x="137160" y="4650776"/>
            <a:ext cx="12527280" cy="2401062"/>
          </a:xfrm>
          <a:prstGeom prst="rect">
            <a:avLst/>
          </a:prstGeom>
        </p:spPr>
      </p:pic>
      <p:pic>
        <p:nvPicPr>
          <p:cNvPr name="Picture 59" id="59"/>
          <p:cNvPicPr>
            <a:picLocks noChangeAspect="true"/>
          </p:cNvPicPr>
          <p:nvPr/>
        </p:nvPicPr>
        <p:blipFill>
          <a:blip r:embed="rId8"/>
          <a:stretch>
            <a:fillRect/>
          </a:stretch>
        </p:blipFill>
        <p:spPr>
          <a:xfrm rot="0">
            <a:off x="145808" y="6236713"/>
            <a:ext cx="12517846" cy="2399254"/>
          </a:xfrm>
          <a:prstGeom prst="rect">
            <a:avLst/>
          </a:prstGeom>
        </p:spPr>
      </p:pic>
      <p:pic>
        <p:nvPicPr>
          <p:cNvPr name="Picture 60" id="60"/>
          <p:cNvPicPr>
            <a:picLocks noChangeAspect="true"/>
          </p:cNvPicPr>
          <p:nvPr/>
        </p:nvPicPr>
        <p:blipFill>
          <a:blip r:embed="rId9"/>
          <a:stretch>
            <a:fillRect/>
          </a:stretch>
        </p:blipFill>
        <p:spPr>
          <a:xfrm rot="0">
            <a:off x="145808" y="7046720"/>
            <a:ext cx="12517846" cy="2399254"/>
          </a:xfrm>
          <a:prstGeom prst="rect">
            <a:avLst/>
          </a:prstGeom>
        </p:spPr>
      </p:pic>
      <p:pic>
        <p:nvPicPr>
          <p:cNvPr name="Picture 61" id="61"/>
          <p:cNvPicPr>
            <a:picLocks noChangeAspect="true"/>
          </p:cNvPicPr>
          <p:nvPr/>
        </p:nvPicPr>
        <p:blipFill>
          <a:blip r:embed="rId10"/>
          <a:stretch>
            <a:fillRect/>
          </a:stretch>
        </p:blipFill>
        <p:spPr>
          <a:xfrm rot="0">
            <a:off x="145808" y="7856726"/>
            <a:ext cx="12517846" cy="2399254"/>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64088"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6837" y="352501"/>
            <a:ext cx="365760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10 · COMPETITOR ANALYSIS</a:t>
            </a:r>
          </a:p>
        </p:txBody>
      </p:sp>
      <p:sp>
        <p:nvSpPr>
          <p:cNvPr name="TextBox 8" id="8"/>
          <p:cNvSpPr txBox="true"/>
          <p:nvPr/>
        </p:nvSpPr>
        <p:spPr>
          <a:xfrm rot="0">
            <a:off x="16830151" y="352501"/>
            <a:ext cx="5429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12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Competitor Analysis</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9638" y="2668934"/>
            <a:ext cx="16468725" cy="6800850"/>
            <a:chOff x="0" y="0"/>
            <a:chExt cx="21958300" cy="9067800"/>
          </a:xfrm>
        </p:grpSpPr>
        <p:sp>
          <p:nvSpPr>
            <p:cNvPr name="Freeform 13" id="13"/>
            <p:cNvSpPr/>
            <p:nvPr/>
          </p:nvSpPr>
          <p:spPr>
            <a:xfrm flipH="false" flipV="false" rot="0">
              <a:off x="0" y="0"/>
              <a:ext cx="21958300" cy="9067800"/>
            </a:xfrm>
            <a:custGeom>
              <a:avLst/>
              <a:gdLst/>
              <a:ahLst/>
              <a:cxnLst/>
              <a:rect r="r" b="b" t="t" l="l"/>
              <a:pathLst>
                <a:path h="9067800" w="21958300">
                  <a:moveTo>
                    <a:pt x="0" y="244221"/>
                  </a:moveTo>
                  <a:cubicBezTo>
                    <a:pt x="0" y="109347"/>
                    <a:pt x="109347" y="0"/>
                    <a:pt x="244221" y="0"/>
                  </a:cubicBezTo>
                  <a:lnTo>
                    <a:pt x="21714079" y="0"/>
                  </a:lnTo>
                  <a:cubicBezTo>
                    <a:pt x="21848953" y="0"/>
                    <a:pt x="21958300" y="109347"/>
                    <a:pt x="21958300" y="244221"/>
                  </a:cubicBezTo>
                  <a:lnTo>
                    <a:pt x="21958300" y="8823579"/>
                  </a:lnTo>
                  <a:cubicBezTo>
                    <a:pt x="21958300" y="8958453"/>
                    <a:pt x="21848953" y="9067800"/>
                    <a:pt x="21714079" y="9067800"/>
                  </a:cubicBezTo>
                  <a:lnTo>
                    <a:pt x="244221" y="9067800"/>
                  </a:lnTo>
                  <a:cubicBezTo>
                    <a:pt x="109347" y="9067800"/>
                    <a:pt x="0" y="8958453"/>
                    <a:pt x="0" y="8823579"/>
                  </a:cubicBezTo>
                  <a:close/>
                </a:path>
              </a:pathLst>
            </a:custGeom>
            <a:solidFill>
              <a:srgbClr val="FFFFFF"/>
            </a:solidFill>
            <a:ln w="9526" cap="sq">
              <a:solidFill>
                <a:srgbClr val="E5E7EB"/>
              </a:solidFill>
              <a:prstDash val="solid"/>
              <a:miter/>
            </a:ln>
          </p:spPr>
        </p:sp>
      </p:grpSp>
      <p:grpSp>
        <p:nvGrpSpPr>
          <p:cNvPr name="Group 14" id="14"/>
          <p:cNvGrpSpPr/>
          <p:nvPr/>
        </p:nvGrpSpPr>
        <p:grpSpPr>
          <a:xfrm rot="0">
            <a:off x="923925" y="2686126"/>
            <a:ext cx="16440150" cy="623298"/>
            <a:chOff x="0" y="0"/>
            <a:chExt cx="21920200" cy="831064"/>
          </a:xfrm>
        </p:grpSpPr>
        <p:sp>
          <p:nvSpPr>
            <p:cNvPr name="Freeform 15" id="15"/>
            <p:cNvSpPr/>
            <p:nvPr/>
          </p:nvSpPr>
          <p:spPr>
            <a:xfrm flipH="false" flipV="false" rot="0">
              <a:off x="0" y="0"/>
              <a:ext cx="21920200" cy="831064"/>
            </a:xfrm>
            <a:custGeom>
              <a:avLst/>
              <a:gdLst/>
              <a:ahLst/>
              <a:cxnLst/>
              <a:rect r="r" b="b" t="t" l="l"/>
              <a:pathLst>
                <a:path h="831064" w="21920200">
                  <a:moveTo>
                    <a:pt x="0" y="0"/>
                  </a:moveTo>
                  <a:lnTo>
                    <a:pt x="21920200" y="0"/>
                  </a:lnTo>
                  <a:lnTo>
                    <a:pt x="21920200" y="831064"/>
                  </a:lnTo>
                  <a:lnTo>
                    <a:pt x="0" y="831064"/>
                  </a:lnTo>
                  <a:close/>
                </a:path>
              </a:pathLst>
            </a:custGeom>
            <a:solidFill>
              <a:srgbClr val="000000"/>
            </a:solidFill>
          </p:spPr>
        </p:sp>
      </p:grpSp>
      <p:sp>
        <p:nvSpPr>
          <p:cNvPr name="TextBox 16" id="16"/>
          <p:cNvSpPr txBox="true"/>
          <p:nvPr/>
        </p:nvSpPr>
        <p:spPr>
          <a:xfrm rot="0">
            <a:off x="1005783" y="2777234"/>
            <a:ext cx="1085850" cy="412202"/>
          </a:xfrm>
          <a:prstGeom prst="rect">
            <a:avLst/>
          </a:prstGeom>
        </p:spPr>
        <p:txBody>
          <a:bodyPr anchor="t" rtlCol="false" tIns="0" lIns="0" bIns="0" rIns="0">
            <a:spAutoFit/>
          </a:bodyPr>
          <a:lstStyle/>
          <a:p>
            <a:pPr algn="l">
              <a:lnSpc>
                <a:spcPts val="3342"/>
              </a:lnSpc>
            </a:pPr>
            <a:r>
              <a:rPr lang="en-US" b="true" sz="2240">
                <a:solidFill>
                  <a:srgbClr val="D0FAE5"/>
                </a:solidFill>
                <a:latin typeface="Arimo Bold"/>
                <a:ea typeface="Arimo Bold"/>
                <a:cs typeface="Arimo Bold"/>
                <a:sym typeface="Arimo Bold"/>
              </a:rPr>
              <a:t>Feature</a:t>
            </a:r>
          </a:p>
        </p:txBody>
      </p:sp>
      <p:grpSp>
        <p:nvGrpSpPr>
          <p:cNvPr name="Group 17" id="17"/>
          <p:cNvGrpSpPr/>
          <p:nvPr/>
        </p:nvGrpSpPr>
        <p:grpSpPr>
          <a:xfrm rot="0">
            <a:off x="4212803" y="2891046"/>
            <a:ext cx="1801635" cy="331756"/>
            <a:chOff x="0" y="0"/>
            <a:chExt cx="2402180" cy="442341"/>
          </a:xfrm>
        </p:grpSpPr>
        <p:sp>
          <p:nvSpPr>
            <p:cNvPr name="Freeform 18" id="18"/>
            <p:cNvSpPr/>
            <p:nvPr/>
          </p:nvSpPr>
          <p:spPr>
            <a:xfrm flipH="false" flipV="false" rot="0">
              <a:off x="0" y="0"/>
              <a:ext cx="2402180" cy="442341"/>
            </a:xfrm>
            <a:custGeom>
              <a:avLst/>
              <a:gdLst/>
              <a:ahLst/>
              <a:cxnLst/>
              <a:rect r="r" b="b" t="t" l="l"/>
              <a:pathLst>
                <a:path h="442341" w="2402180">
                  <a:moveTo>
                    <a:pt x="0" y="0"/>
                  </a:moveTo>
                  <a:lnTo>
                    <a:pt x="2402180" y="0"/>
                  </a:lnTo>
                  <a:lnTo>
                    <a:pt x="2402180" y="442341"/>
                  </a:lnTo>
                  <a:lnTo>
                    <a:pt x="0" y="442341"/>
                  </a:lnTo>
                  <a:close/>
                </a:path>
              </a:pathLst>
            </a:custGeom>
            <a:blipFill>
              <a:blip r:embed="rId3"/>
              <a:stretch>
                <a:fillRect l="0" t="-7268" r="0" b="-7268"/>
              </a:stretch>
            </a:blipFill>
          </p:spPr>
        </p:sp>
        <p:sp>
          <p:nvSpPr>
            <p:cNvPr name="TextBox 19" id="19"/>
            <p:cNvSpPr txBox="true"/>
            <p:nvPr/>
          </p:nvSpPr>
          <p:spPr>
            <a:xfrm>
              <a:off x="0" y="-57150"/>
              <a:ext cx="2402180" cy="499491"/>
            </a:xfrm>
            <a:prstGeom prst="rect">
              <a:avLst/>
            </a:prstGeom>
          </p:spPr>
          <p:txBody>
            <a:bodyPr anchor="t" rtlCol="false" tIns="50800" lIns="50800" bIns="50800" rIns="50800"/>
            <a:lstStyle/>
            <a:p>
              <a:pPr algn="l">
                <a:lnSpc>
                  <a:spcPts val="2268"/>
                </a:lnSpc>
              </a:pPr>
            </a:p>
          </p:txBody>
        </p:sp>
      </p:grpSp>
      <p:sp>
        <p:nvSpPr>
          <p:cNvPr name="TextBox 20" id="20"/>
          <p:cNvSpPr txBox="true"/>
          <p:nvPr/>
        </p:nvSpPr>
        <p:spPr>
          <a:xfrm rot="0">
            <a:off x="7578906" y="2790710"/>
            <a:ext cx="3286125" cy="412202"/>
          </a:xfrm>
          <a:prstGeom prst="rect">
            <a:avLst/>
          </a:prstGeom>
        </p:spPr>
        <p:txBody>
          <a:bodyPr anchor="t" rtlCol="false" tIns="0" lIns="0" bIns="0" rIns="0">
            <a:spAutoFit/>
          </a:bodyPr>
          <a:lstStyle/>
          <a:p>
            <a:pPr algn="l">
              <a:lnSpc>
                <a:spcPts val="3342"/>
              </a:lnSpc>
            </a:pPr>
            <a:r>
              <a:rPr lang="en-US" b="true" sz="2240">
                <a:solidFill>
                  <a:srgbClr val="D0FAE5"/>
                </a:solidFill>
                <a:latin typeface="Arimo Bold"/>
                <a:ea typeface="Arimo Bold"/>
                <a:cs typeface="Arimo Bold"/>
                <a:sym typeface="Arimo Bold"/>
              </a:rPr>
              <a:t>M</a:t>
            </a:r>
            <a:r>
              <a:rPr lang="en-US" b="true" sz="2240">
                <a:solidFill>
                  <a:srgbClr val="D0FAE5"/>
                </a:solidFill>
                <a:latin typeface="Arimo Bold"/>
                <a:ea typeface="Arimo Bold"/>
                <a:cs typeface="Arimo Bold"/>
                <a:sym typeface="Arimo Bold"/>
              </a:rPr>
              <a:t>edisafe</a:t>
            </a:r>
          </a:p>
        </p:txBody>
      </p:sp>
      <p:sp>
        <p:nvSpPr>
          <p:cNvPr name="TextBox 21" id="21"/>
          <p:cNvSpPr txBox="true"/>
          <p:nvPr/>
        </p:nvSpPr>
        <p:spPr>
          <a:xfrm rot="0">
            <a:off x="10865031" y="2790710"/>
            <a:ext cx="3286125" cy="412202"/>
          </a:xfrm>
          <a:prstGeom prst="rect">
            <a:avLst/>
          </a:prstGeom>
        </p:spPr>
        <p:txBody>
          <a:bodyPr anchor="t" rtlCol="false" tIns="0" lIns="0" bIns="0" rIns="0">
            <a:spAutoFit/>
          </a:bodyPr>
          <a:lstStyle/>
          <a:p>
            <a:pPr algn="l">
              <a:lnSpc>
                <a:spcPts val="3342"/>
              </a:lnSpc>
            </a:pPr>
            <a:r>
              <a:rPr lang="en-US" b="true" sz="2240">
                <a:solidFill>
                  <a:srgbClr val="D0FAE5"/>
                </a:solidFill>
                <a:latin typeface="Arimo Bold"/>
                <a:ea typeface="Arimo Bold"/>
                <a:cs typeface="Arimo Bold"/>
                <a:sym typeface="Arimo Bold"/>
              </a:rPr>
              <a:t>MyTherapy</a:t>
            </a:r>
          </a:p>
        </p:txBody>
      </p:sp>
      <p:sp>
        <p:nvSpPr>
          <p:cNvPr name="TextBox 22" id="22"/>
          <p:cNvSpPr txBox="true"/>
          <p:nvPr/>
        </p:nvSpPr>
        <p:spPr>
          <a:xfrm rot="0">
            <a:off x="14151156" y="2790710"/>
            <a:ext cx="3286125" cy="412202"/>
          </a:xfrm>
          <a:prstGeom prst="rect">
            <a:avLst/>
          </a:prstGeom>
        </p:spPr>
        <p:txBody>
          <a:bodyPr anchor="t" rtlCol="false" tIns="0" lIns="0" bIns="0" rIns="0">
            <a:spAutoFit/>
          </a:bodyPr>
          <a:lstStyle/>
          <a:p>
            <a:pPr algn="l">
              <a:lnSpc>
                <a:spcPts val="3342"/>
              </a:lnSpc>
            </a:pPr>
            <a:r>
              <a:rPr lang="en-US" b="true" sz="2240">
                <a:solidFill>
                  <a:srgbClr val="D0FAE5"/>
                </a:solidFill>
                <a:latin typeface="Arimo Bold"/>
                <a:ea typeface="Arimo Bold"/>
                <a:cs typeface="Arimo Bold"/>
                <a:sym typeface="Arimo Bold"/>
              </a:rPr>
              <a:t>DawaTime</a:t>
            </a:r>
          </a:p>
        </p:txBody>
      </p:sp>
      <p:sp>
        <p:nvSpPr>
          <p:cNvPr name="TextBox 23" id="23"/>
          <p:cNvSpPr txBox="true"/>
          <p:nvPr/>
        </p:nvSpPr>
        <p:spPr>
          <a:xfrm rot="0">
            <a:off x="924820" y="3446350"/>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[Medication reminders]</a:t>
            </a:r>
          </a:p>
        </p:txBody>
      </p:sp>
      <p:sp>
        <p:nvSpPr>
          <p:cNvPr name="TextBox 24" id="24"/>
          <p:cNvSpPr txBox="true"/>
          <p:nvPr/>
        </p:nvSpPr>
        <p:spPr>
          <a:xfrm rot="0">
            <a:off x="4212803" y="3446350"/>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25" id="25"/>
          <p:cNvSpPr txBox="true"/>
          <p:nvPr/>
        </p:nvSpPr>
        <p:spPr>
          <a:xfrm rot="0">
            <a:off x="7578906" y="3442779"/>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26" id="26"/>
          <p:cNvSpPr txBox="true"/>
          <p:nvPr/>
        </p:nvSpPr>
        <p:spPr>
          <a:xfrm rot="0">
            <a:off x="10865031" y="3442774"/>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27" id="27"/>
          <p:cNvSpPr txBox="true"/>
          <p:nvPr/>
        </p:nvSpPr>
        <p:spPr>
          <a:xfrm rot="0">
            <a:off x="14151156" y="3446350"/>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grpSp>
        <p:nvGrpSpPr>
          <p:cNvPr name="Group 28" id="28"/>
          <p:cNvGrpSpPr/>
          <p:nvPr/>
        </p:nvGrpSpPr>
        <p:grpSpPr>
          <a:xfrm rot="0">
            <a:off x="923925" y="4135275"/>
            <a:ext cx="16440150" cy="609600"/>
            <a:chOff x="0" y="0"/>
            <a:chExt cx="21920200" cy="812800"/>
          </a:xfrm>
        </p:grpSpPr>
        <p:sp>
          <p:nvSpPr>
            <p:cNvPr name="Freeform 29" id="29"/>
            <p:cNvSpPr/>
            <p:nvPr/>
          </p:nvSpPr>
          <p:spPr>
            <a:xfrm flipH="false" flipV="false" rot="0">
              <a:off x="0" y="0"/>
              <a:ext cx="21920200" cy="812800"/>
            </a:xfrm>
            <a:custGeom>
              <a:avLst/>
              <a:gdLst/>
              <a:ahLst/>
              <a:cxnLst/>
              <a:rect r="r" b="b" t="t" l="l"/>
              <a:pathLst>
                <a:path h="812800" w="21920200">
                  <a:moveTo>
                    <a:pt x="0" y="0"/>
                  </a:moveTo>
                  <a:lnTo>
                    <a:pt x="21920200" y="0"/>
                  </a:lnTo>
                  <a:lnTo>
                    <a:pt x="21920200" y="812800"/>
                  </a:lnTo>
                  <a:lnTo>
                    <a:pt x="0" y="812800"/>
                  </a:lnTo>
                  <a:close/>
                </a:path>
              </a:pathLst>
            </a:custGeom>
            <a:solidFill>
              <a:srgbClr val="F8F8FA">
                <a:alpha val="15686"/>
              </a:srgbClr>
            </a:solidFill>
          </p:spPr>
        </p:sp>
      </p:grpSp>
      <p:sp>
        <p:nvSpPr>
          <p:cNvPr name="TextBox 30" id="30"/>
          <p:cNvSpPr txBox="true"/>
          <p:nvPr/>
        </p:nvSpPr>
        <p:spPr>
          <a:xfrm rot="0">
            <a:off x="924820" y="4059075"/>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[Caregiver mode]</a:t>
            </a:r>
          </a:p>
        </p:txBody>
      </p:sp>
      <p:sp>
        <p:nvSpPr>
          <p:cNvPr name="TextBox 31" id="31"/>
          <p:cNvSpPr txBox="true"/>
          <p:nvPr/>
        </p:nvSpPr>
        <p:spPr>
          <a:xfrm rot="0">
            <a:off x="4212803" y="4059075"/>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32" id="32"/>
          <p:cNvSpPr txBox="true"/>
          <p:nvPr/>
        </p:nvSpPr>
        <p:spPr>
          <a:xfrm rot="0">
            <a:off x="7578906" y="4055503"/>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33" id="33"/>
          <p:cNvSpPr txBox="true"/>
          <p:nvPr/>
        </p:nvSpPr>
        <p:spPr>
          <a:xfrm rot="0">
            <a:off x="10865031" y="4055498"/>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34" id="34"/>
          <p:cNvSpPr txBox="true"/>
          <p:nvPr/>
        </p:nvSpPr>
        <p:spPr>
          <a:xfrm rot="0">
            <a:off x="14151156" y="4059075"/>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35" id="35"/>
          <p:cNvSpPr txBox="true"/>
          <p:nvPr/>
        </p:nvSpPr>
        <p:spPr>
          <a:xfrm rot="0">
            <a:off x="924820" y="5310426"/>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[Refill tracking]</a:t>
            </a:r>
          </a:p>
        </p:txBody>
      </p:sp>
      <p:sp>
        <p:nvSpPr>
          <p:cNvPr name="TextBox 36" id="36"/>
          <p:cNvSpPr txBox="true"/>
          <p:nvPr/>
        </p:nvSpPr>
        <p:spPr>
          <a:xfrm rot="0">
            <a:off x="4212803" y="5310426"/>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37" id="37"/>
          <p:cNvSpPr txBox="true"/>
          <p:nvPr/>
        </p:nvSpPr>
        <p:spPr>
          <a:xfrm rot="0">
            <a:off x="7578906" y="5306854"/>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38" id="38"/>
          <p:cNvSpPr txBox="true"/>
          <p:nvPr/>
        </p:nvSpPr>
        <p:spPr>
          <a:xfrm rot="0">
            <a:off x="10865031" y="5306850"/>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39" id="39"/>
          <p:cNvSpPr txBox="true"/>
          <p:nvPr/>
        </p:nvSpPr>
        <p:spPr>
          <a:xfrm rot="0">
            <a:off x="14151156" y="5310426"/>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grpSp>
        <p:nvGrpSpPr>
          <p:cNvPr name="Group 40" id="40"/>
          <p:cNvGrpSpPr/>
          <p:nvPr/>
        </p:nvGrpSpPr>
        <p:grpSpPr>
          <a:xfrm rot="0">
            <a:off x="923925" y="5999351"/>
            <a:ext cx="16440150" cy="609600"/>
            <a:chOff x="0" y="0"/>
            <a:chExt cx="21920200" cy="812800"/>
          </a:xfrm>
        </p:grpSpPr>
        <p:sp>
          <p:nvSpPr>
            <p:cNvPr name="Freeform 41" id="41"/>
            <p:cNvSpPr/>
            <p:nvPr/>
          </p:nvSpPr>
          <p:spPr>
            <a:xfrm flipH="false" flipV="false" rot="0">
              <a:off x="0" y="0"/>
              <a:ext cx="21920200" cy="812800"/>
            </a:xfrm>
            <a:custGeom>
              <a:avLst/>
              <a:gdLst/>
              <a:ahLst/>
              <a:cxnLst/>
              <a:rect r="r" b="b" t="t" l="l"/>
              <a:pathLst>
                <a:path h="812800" w="21920200">
                  <a:moveTo>
                    <a:pt x="0" y="0"/>
                  </a:moveTo>
                  <a:lnTo>
                    <a:pt x="21920200" y="0"/>
                  </a:lnTo>
                  <a:lnTo>
                    <a:pt x="21920200" y="812800"/>
                  </a:lnTo>
                  <a:lnTo>
                    <a:pt x="0" y="812800"/>
                  </a:lnTo>
                  <a:close/>
                </a:path>
              </a:pathLst>
            </a:custGeom>
            <a:solidFill>
              <a:srgbClr val="F8F8FA">
                <a:alpha val="15686"/>
              </a:srgbClr>
            </a:solidFill>
          </p:spPr>
        </p:sp>
      </p:grpSp>
      <p:sp>
        <p:nvSpPr>
          <p:cNvPr name="TextBox 42" id="42"/>
          <p:cNvSpPr txBox="true"/>
          <p:nvPr/>
        </p:nvSpPr>
        <p:spPr>
          <a:xfrm rot="0">
            <a:off x="924820" y="5923151"/>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[Drug interaction alerts]</a:t>
            </a:r>
          </a:p>
        </p:txBody>
      </p:sp>
      <p:sp>
        <p:nvSpPr>
          <p:cNvPr name="TextBox 43" id="43"/>
          <p:cNvSpPr txBox="true"/>
          <p:nvPr/>
        </p:nvSpPr>
        <p:spPr>
          <a:xfrm rot="0">
            <a:off x="4212803" y="5923151"/>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44" id="44"/>
          <p:cNvSpPr txBox="true"/>
          <p:nvPr/>
        </p:nvSpPr>
        <p:spPr>
          <a:xfrm rot="0">
            <a:off x="7578906" y="5919579"/>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45" id="45"/>
          <p:cNvSpPr txBox="true"/>
          <p:nvPr/>
        </p:nvSpPr>
        <p:spPr>
          <a:xfrm rot="0">
            <a:off x="10865031" y="5919574"/>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46" id="46"/>
          <p:cNvSpPr txBox="true"/>
          <p:nvPr/>
        </p:nvSpPr>
        <p:spPr>
          <a:xfrm rot="0">
            <a:off x="14151156" y="5923151"/>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47" id="47"/>
          <p:cNvSpPr txBox="true"/>
          <p:nvPr/>
        </p:nvSpPr>
        <p:spPr>
          <a:xfrm rot="0">
            <a:off x="924820" y="6535875"/>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[Offline access]</a:t>
            </a:r>
          </a:p>
        </p:txBody>
      </p:sp>
      <p:sp>
        <p:nvSpPr>
          <p:cNvPr name="TextBox 48" id="48"/>
          <p:cNvSpPr txBox="true"/>
          <p:nvPr/>
        </p:nvSpPr>
        <p:spPr>
          <a:xfrm rot="0">
            <a:off x="4212803" y="6535875"/>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49" id="49"/>
          <p:cNvSpPr txBox="true"/>
          <p:nvPr/>
        </p:nvSpPr>
        <p:spPr>
          <a:xfrm rot="0">
            <a:off x="7578906" y="6532303"/>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50" id="50"/>
          <p:cNvSpPr txBox="true"/>
          <p:nvPr/>
        </p:nvSpPr>
        <p:spPr>
          <a:xfrm rot="0">
            <a:off x="10865031" y="6532298"/>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LIMITED</a:t>
            </a:r>
          </a:p>
        </p:txBody>
      </p:sp>
      <p:sp>
        <p:nvSpPr>
          <p:cNvPr name="TextBox 51" id="51"/>
          <p:cNvSpPr txBox="true"/>
          <p:nvPr/>
        </p:nvSpPr>
        <p:spPr>
          <a:xfrm rot="0">
            <a:off x="14151156" y="6535875"/>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grpSp>
        <p:nvGrpSpPr>
          <p:cNvPr name="Group 52" id="52"/>
          <p:cNvGrpSpPr/>
          <p:nvPr/>
        </p:nvGrpSpPr>
        <p:grpSpPr>
          <a:xfrm rot="0">
            <a:off x="923925" y="7224799"/>
            <a:ext cx="16440150" cy="609600"/>
            <a:chOff x="0" y="0"/>
            <a:chExt cx="21920200" cy="812800"/>
          </a:xfrm>
        </p:grpSpPr>
        <p:sp>
          <p:nvSpPr>
            <p:cNvPr name="Freeform 53" id="53"/>
            <p:cNvSpPr/>
            <p:nvPr/>
          </p:nvSpPr>
          <p:spPr>
            <a:xfrm flipH="false" flipV="false" rot="0">
              <a:off x="0" y="0"/>
              <a:ext cx="21920200" cy="812800"/>
            </a:xfrm>
            <a:custGeom>
              <a:avLst/>
              <a:gdLst/>
              <a:ahLst/>
              <a:cxnLst/>
              <a:rect r="r" b="b" t="t" l="l"/>
              <a:pathLst>
                <a:path h="812800" w="21920200">
                  <a:moveTo>
                    <a:pt x="0" y="0"/>
                  </a:moveTo>
                  <a:lnTo>
                    <a:pt x="21920200" y="0"/>
                  </a:lnTo>
                  <a:lnTo>
                    <a:pt x="21920200" y="812800"/>
                  </a:lnTo>
                  <a:lnTo>
                    <a:pt x="0" y="812800"/>
                  </a:lnTo>
                  <a:close/>
                </a:path>
              </a:pathLst>
            </a:custGeom>
            <a:solidFill>
              <a:srgbClr val="F8F8FA">
                <a:alpha val="15686"/>
              </a:srgbClr>
            </a:solidFill>
          </p:spPr>
        </p:sp>
      </p:grpSp>
      <p:sp>
        <p:nvSpPr>
          <p:cNvPr name="TextBox 54" id="54"/>
          <p:cNvSpPr txBox="true"/>
          <p:nvPr/>
        </p:nvSpPr>
        <p:spPr>
          <a:xfrm rot="0">
            <a:off x="924820" y="7148599"/>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[Localization / Arabic]</a:t>
            </a:r>
          </a:p>
        </p:txBody>
      </p:sp>
      <p:sp>
        <p:nvSpPr>
          <p:cNvPr name="TextBox 55" id="55"/>
          <p:cNvSpPr txBox="true"/>
          <p:nvPr/>
        </p:nvSpPr>
        <p:spPr>
          <a:xfrm rot="0">
            <a:off x="4212803" y="7148599"/>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56" id="56"/>
          <p:cNvSpPr txBox="true"/>
          <p:nvPr/>
        </p:nvSpPr>
        <p:spPr>
          <a:xfrm rot="0">
            <a:off x="7578906" y="7145027"/>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57" id="57"/>
          <p:cNvSpPr txBox="true"/>
          <p:nvPr/>
        </p:nvSpPr>
        <p:spPr>
          <a:xfrm rot="0">
            <a:off x="10865031" y="7145022"/>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58" id="58"/>
          <p:cNvSpPr txBox="true"/>
          <p:nvPr/>
        </p:nvSpPr>
        <p:spPr>
          <a:xfrm rot="0">
            <a:off x="14151156" y="7148599"/>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59" id="59"/>
          <p:cNvSpPr txBox="true"/>
          <p:nvPr/>
        </p:nvSpPr>
        <p:spPr>
          <a:xfrm rot="0">
            <a:off x="924820" y="7761333"/>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[Pricing tier]</a:t>
            </a:r>
          </a:p>
        </p:txBody>
      </p:sp>
      <p:sp>
        <p:nvSpPr>
          <p:cNvPr name="TextBox 60" id="60"/>
          <p:cNvSpPr txBox="true"/>
          <p:nvPr/>
        </p:nvSpPr>
        <p:spPr>
          <a:xfrm rot="0">
            <a:off x="4212803" y="7761333"/>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Free + Premium</a:t>
            </a:r>
          </a:p>
        </p:txBody>
      </p:sp>
      <p:sp>
        <p:nvSpPr>
          <p:cNvPr name="TextBox 61" id="61"/>
          <p:cNvSpPr txBox="true"/>
          <p:nvPr/>
        </p:nvSpPr>
        <p:spPr>
          <a:xfrm rot="0">
            <a:off x="7578906" y="7757761"/>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Free + Premium</a:t>
            </a:r>
          </a:p>
        </p:txBody>
      </p:sp>
      <p:sp>
        <p:nvSpPr>
          <p:cNvPr name="TextBox 62" id="62"/>
          <p:cNvSpPr txBox="true"/>
          <p:nvPr/>
        </p:nvSpPr>
        <p:spPr>
          <a:xfrm rot="0">
            <a:off x="10865031" y="7757756"/>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Free</a:t>
            </a:r>
          </a:p>
        </p:txBody>
      </p:sp>
      <p:sp>
        <p:nvSpPr>
          <p:cNvPr name="TextBox 63" id="63"/>
          <p:cNvSpPr txBox="true"/>
          <p:nvPr/>
        </p:nvSpPr>
        <p:spPr>
          <a:xfrm rot="0">
            <a:off x="14151156" y="7761333"/>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Free</a:t>
            </a:r>
          </a:p>
        </p:txBody>
      </p:sp>
      <p:grpSp>
        <p:nvGrpSpPr>
          <p:cNvPr name="Group 64" id="64"/>
          <p:cNvGrpSpPr/>
          <p:nvPr/>
        </p:nvGrpSpPr>
        <p:grpSpPr>
          <a:xfrm rot="0">
            <a:off x="914400" y="9703222"/>
            <a:ext cx="16459200" cy="276225"/>
            <a:chOff x="0" y="0"/>
            <a:chExt cx="21945600" cy="368300"/>
          </a:xfrm>
        </p:grpSpPr>
        <p:sp>
          <p:nvSpPr>
            <p:cNvPr name="Freeform 65" id="65"/>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4">
                <a:alphaModFix amt="0"/>
              </a:blip>
              <a:stretch>
                <a:fillRect l="0" t="-1111035" r="0" b="-1111035"/>
              </a:stretch>
            </a:blipFill>
          </p:spPr>
        </p:sp>
        <p:sp>
          <p:nvSpPr>
            <p:cNvPr name="TextBox 66" id="66"/>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67" id="67"/>
          <p:cNvGrpSpPr/>
          <p:nvPr/>
        </p:nvGrpSpPr>
        <p:grpSpPr>
          <a:xfrm rot="0">
            <a:off x="0" y="10247414"/>
            <a:ext cx="18288000" cy="38100"/>
            <a:chOff x="0" y="0"/>
            <a:chExt cx="24384000" cy="50800"/>
          </a:xfrm>
        </p:grpSpPr>
        <p:sp>
          <p:nvSpPr>
            <p:cNvPr name="Freeform 68" id="68"/>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69" id="69"/>
          <p:cNvGrpSpPr/>
          <p:nvPr/>
        </p:nvGrpSpPr>
        <p:grpSpPr>
          <a:xfrm rot="0">
            <a:off x="938212" y="8237575"/>
            <a:ext cx="16440150" cy="761005"/>
            <a:chOff x="0" y="0"/>
            <a:chExt cx="21920200" cy="1014673"/>
          </a:xfrm>
        </p:grpSpPr>
        <p:sp>
          <p:nvSpPr>
            <p:cNvPr name="Freeform 70" id="70"/>
            <p:cNvSpPr/>
            <p:nvPr/>
          </p:nvSpPr>
          <p:spPr>
            <a:xfrm flipH="false" flipV="false" rot="0">
              <a:off x="0" y="0"/>
              <a:ext cx="21920200" cy="1014673"/>
            </a:xfrm>
            <a:custGeom>
              <a:avLst/>
              <a:gdLst/>
              <a:ahLst/>
              <a:cxnLst/>
              <a:rect r="r" b="b" t="t" l="l"/>
              <a:pathLst>
                <a:path h="1014673" w="21920200">
                  <a:moveTo>
                    <a:pt x="0" y="0"/>
                  </a:moveTo>
                  <a:lnTo>
                    <a:pt x="21920200" y="0"/>
                  </a:lnTo>
                  <a:lnTo>
                    <a:pt x="21920200" y="1014673"/>
                  </a:lnTo>
                  <a:lnTo>
                    <a:pt x="0" y="1014673"/>
                  </a:lnTo>
                  <a:close/>
                </a:path>
              </a:pathLst>
            </a:custGeom>
            <a:solidFill>
              <a:srgbClr val="F8F8FA">
                <a:alpha val="15686"/>
              </a:srgbClr>
            </a:solidFill>
          </p:spPr>
        </p:sp>
      </p:grpSp>
      <p:sp>
        <p:nvSpPr>
          <p:cNvPr name="TextBox 71" id="71"/>
          <p:cNvSpPr txBox="true"/>
          <p:nvPr/>
        </p:nvSpPr>
        <p:spPr>
          <a:xfrm rot="0">
            <a:off x="923925" y="8340974"/>
            <a:ext cx="2080093"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[User’s data security]</a:t>
            </a:r>
          </a:p>
        </p:txBody>
      </p:sp>
      <p:sp>
        <p:nvSpPr>
          <p:cNvPr name="TextBox 72" id="72"/>
          <p:cNvSpPr txBox="true"/>
          <p:nvPr/>
        </p:nvSpPr>
        <p:spPr>
          <a:xfrm rot="0">
            <a:off x="4224337" y="8251175"/>
            <a:ext cx="2050314" cy="65760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Fully encrypted and protected by policies </a:t>
            </a:r>
          </a:p>
        </p:txBody>
      </p:sp>
      <p:sp>
        <p:nvSpPr>
          <p:cNvPr name="TextBox 73" id="73"/>
          <p:cNvSpPr txBox="true"/>
          <p:nvPr/>
        </p:nvSpPr>
        <p:spPr>
          <a:xfrm rot="0">
            <a:off x="7578011" y="8337402"/>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Protected</a:t>
            </a:r>
          </a:p>
        </p:txBody>
      </p:sp>
      <p:sp>
        <p:nvSpPr>
          <p:cNvPr name="TextBox 74" id="74"/>
          <p:cNvSpPr txBox="true"/>
          <p:nvPr/>
        </p:nvSpPr>
        <p:spPr>
          <a:xfrm rot="0">
            <a:off x="10864136" y="8337397"/>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 clear policies</a:t>
            </a:r>
          </a:p>
        </p:txBody>
      </p:sp>
      <p:sp>
        <p:nvSpPr>
          <p:cNvPr name="TextBox 75" id="75"/>
          <p:cNvSpPr txBox="true"/>
          <p:nvPr/>
        </p:nvSpPr>
        <p:spPr>
          <a:xfrm rot="0">
            <a:off x="14150261" y="8340974"/>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 cl</a:t>
            </a:r>
            <a:r>
              <a:rPr lang="en-US" sz="1739">
                <a:solidFill>
                  <a:srgbClr val="595959"/>
                </a:solidFill>
                <a:latin typeface="Arimo"/>
                <a:ea typeface="Arimo"/>
                <a:cs typeface="Arimo"/>
                <a:sym typeface="Arimo"/>
              </a:rPr>
              <a:t>ear policies</a:t>
            </a:r>
          </a:p>
        </p:txBody>
      </p:sp>
      <p:sp>
        <p:nvSpPr>
          <p:cNvPr name="TextBox 76" id="76"/>
          <p:cNvSpPr txBox="true"/>
          <p:nvPr/>
        </p:nvSpPr>
        <p:spPr>
          <a:xfrm rot="0">
            <a:off x="938212" y="4696868"/>
            <a:ext cx="3286125" cy="333756"/>
          </a:xfrm>
          <a:prstGeom prst="rect">
            <a:avLst/>
          </a:prstGeom>
        </p:spPr>
        <p:txBody>
          <a:bodyPr anchor="t" rtlCol="false" tIns="0" lIns="0" bIns="0" rIns="0">
            <a:spAutoFit/>
          </a:bodyPr>
          <a:lstStyle/>
          <a:p>
            <a:pPr algn="l">
              <a:lnSpc>
                <a:spcPts val="2609"/>
              </a:lnSpc>
            </a:pPr>
            <a:r>
              <a:rPr lang="en-US" sz="1739">
                <a:solidFill>
                  <a:srgbClr val="1A1A2E"/>
                </a:solidFill>
                <a:latin typeface="Arimo"/>
                <a:ea typeface="Arimo"/>
                <a:cs typeface="Arimo"/>
                <a:sym typeface="Arimo"/>
              </a:rPr>
              <a:t>P</a:t>
            </a:r>
            <a:r>
              <a:rPr lang="en-US" sz="1739">
                <a:solidFill>
                  <a:srgbClr val="1A1A2E"/>
                </a:solidFill>
                <a:latin typeface="Arimo"/>
                <a:ea typeface="Arimo"/>
                <a:cs typeface="Arimo"/>
                <a:sym typeface="Arimo"/>
              </a:rPr>
              <a:t>ersonalized scheduling</a:t>
            </a:r>
          </a:p>
        </p:txBody>
      </p:sp>
      <p:sp>
        <p:nvSpPr>
          <p:cNvPr name="TextBox 77" id="77"/>
          <p:cNvSpPr txBox="true"/>
          <p:nvPr/>
        </p:nvSpPr>
        <p:spPr>
          <a:xfrm rot="0">
            <a:off x="4226195" y="4696868"/>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YES</a:t>
            </a:r>
          </a:p>
        </p:txBody>
      </p:sp>
      <p:sp>
        <p:nvSpPr>
          <p:cNvPr name="TextBox 78" id="78"/>
          <p:cNvSpPr txBox="true"/>
          <p:nvPr/>
        </p:nvSpPr>
        <p:spPr>
          <a:xfrm rot="0">
            <a:off x="7592299" y="4693297"/>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79" id="79"/>
          <p:cNvSpPr txBox="true"/>
          <p:nvPr/>
        </p:nvSpPr>
        <p:spPr>
          <a:xfrm rot="0">
            <a:off x="10878424" y="4693292"/>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
        <p:nvSpPr>
          <p:cNvPr name="TextBox 80" id="80"/>
          <p:cNvSpPr txBox="true"/>
          <p:nvPr/>
        </p:nvSpPr>
        <p:spPr>
          <a:xfrm rot="0">
            <a:off x="14164549" y="4696868"/>
            <a:ext cx="3286125" cy="333756"/>
          </a:xfrm>
          <a:prstGeom prst="rect">
            <a:avLst/>
          </a:prstGeom>
        </p:spPr>
        <p:txBody>
          <a:bodyPr anchor="t" rtlCol="false" tIns="0" lIns="0" bIns="0" rIns="0">
            <a:spAutoFit/>
          </a:bodyPr>
          <a:lstStyle/>
          <a:p>
            <a:pPr algn="l">
              <a:lnSpc>
                <a:spcPts val="2609"/>
              </a:lnSpc>
            </a:pPr>
            <a:r>
              <a:rPr lang="en-US" sz="1739">
                <a:solidFill>
                  <a:srgbClr val="595959"/>
                </a:solidFill>
                <a:latin typeface="Arimo"/>
                <a:ea typeface="Arimo"/>
                <a:cs typeface="Arimo"/>
                <a:sym typeface="Arimo"/>
              </a:rPr>
              <a:t>NO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49595"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6" id="6"/>
          <p:cNvGrpSpPr/>
          <p:nvPr/>
        </p:nvGrpSpPr>
        <p:grpSpPr>
          <a:xfrm rot="0">
            <a:off x="915295" y="1997497"/>
            <a:ext cx="1095375" cy="47625"/>
            <a:chOff x="0" y="0"/>
            <a:chExt cx="1460500" cy="63500"/>
          </a:xfrm>
        </p:grpSpPr>
        <p:sp>
          <p:nvSpPr>
            <p:cNvPr name="Freeform 7" id="7"/>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8" id="8"/>
          <p:cNvGrpSpPr/>
          <p:nvPr/>
        </p:nvGrpSpPr>
        <p:grpSpPr>
          <a:xfrm rot="0">
            <a:off x="914400" y="2673991"/>
            <a:ext cx="13215169" cy="2611565"/>
            <a:chOff x="0" y="0"/>
            <a:chExt cx="21945600" cy="4336862"/>
          </a:xfrm>
        </p:grpSpPr>
        <p:sp>
          <p:nvSpPr>
            <p:cNvPr name="Freeform 9" id="9"/>
            <p:cNvSpPr/>
            <p:nvPr/>
          </p:nvSpPr>
          <p:spPr>
            <a:xfrm flipH="false" flipV="false" rot="0">
              <a:off x="0" y="0"/>
              <a:ext cx="21945600" cy="4336862"/>
            </a:xfrm>
            <a:custGeom>
              <a:avLst/>
              <a:gdLst/>
              <a:ahLst/>
              <a:cxnLst/>
              <a:rect r="r" b="b" t="t" l="l"/>
              <a:pathLst>
                <a:path h="4336862" w="21945600">
                  <a:moveTo>
                    <a:pt x="0" y="414611"/>
                  </a:moveTo>
                  <a:cubicBezTo>
                    <a:pt x="0" y="185711"/>
                    <a:pt x="131064" y="0"/>
                    <a:pt x="292608" y="0"/>
                  </a:cubicBezTo>
                  <a:lnTo>
                    <a:pt x="21652992" y="0"/>
                  </a:lnTo>
                  <a:cubicBezTo>
                    <a:pt x="21814537" y="0"/>
                    <a:pt x="21945600" y="185711"/>
                    <a:pt x="21945600" y="414611"/>
                  </a:cubicBezTo>
                  <a:lnTo>
                    <a:pt x="21945600" y="3922251"/>
                  </a:lnTo>
                  <a:cubicBezTo>
                    <a:pt x="21945600" y="4151151"/>
                    <a:pt x="21814537" y="4336862"/>
                    <a:pt x="21652992" y="4336862"/>
                  </a:cubicBezTo>
                  <a:lnTo>
                    <a:pt x="292608" y="4336862"/>
                  </a:lnTo>
                  <a:cubicBezTo>
                    <a:pt x="131064" y="4336862"/>
                    <a:pt x="0" y="4151150"/>
                    <a:pt x="0" y="3922251"/>
                  </a:cubicBezTo>
                  <a:close/>
                </a:path>
              </a:pathLst>
            </a:custGeom>
            <a:solidFill>
              <a:srgbClr val="ECFAF2"/>
            </a:solidFill>
          </p:spPr>
        </p:sp>
      </p:grpSp>
      <p:grpSp>
        <p:nvGrpSpPr>
          <p:cNvPr name="Group 10" id="10"/>
          <p:cNvGrpSpPr/>
          <p:nvPr/>
        </p:nvGrpSpPr>
        <p:grpSpPr>
          <a:xfrm rot="0">
            <a:off x="911495" y="6165580"/>
            <a:ext cx="3914775" cy="3305175"/>
            <a:chOff x="0" y="0"/>
            <a:chExt cx="5219700" cy="4406900"/>
          </a:xfrm>
        </p:grpSpPr>
        <p:sp>
          <p:nvSpPr>
            <p:cNvPr name="Freeform 11" id="11"/>
            <p:cNvSpPr/>
            <p:nvPr/>
          </p:nvSpPr>
          <p:spPr>
            <a:xfrm flipH="false" flipV="false" rot="0">
              <a:off x="0" y="0"/>
              <a:ext cx="5219700" cy="4406900"/>
            </a:xfrm>
            <a:custGeom>
              <a:avLst/>
              <a:gdLst/>
              <a:ahLst/>
              <a:cxnLst/>
              <a:rect r="r" b="b" t="t" l="l"/>
              <a:pathLst>
                <a:path h="4406900" w="5219700">
                  <a:moveTo>
                    <a:pt x="0" y="195580"/>
                  </a:moveTo>
                  <a:cubicBezTo>
                    <a:pt x="0" y="87630"/>
                    <a:pt x="87630" y="0"/>
                    <a:pt x="195580" y="0"/>
                  </a:cubicBezTo>
                  <a:lnTo>
                    <a:pt x="5024120" y="0"/>
                  </a:lnTo>
                  <a:cubicBezTo>
                    <a:pt x="5132070" y="0"/>
                    <a:pt x="5219700" y="87630"/>
                    <a:pt x="5219700" y="195580"/>
                  </a:cubicBezTo>
                  <a:lnTo>
                    <a:pt x="5219700" y="4211320"/>
                  </a:lnTo>
                  <a:cubicBezTo>
                    <a:pt x="5219700" y="4319397"/>
                    <a:pt x="5132070" y="4406900"/>
                    <a:pt x="5024120" y="4406900"/>
                  </a:cubicBezTo>
                  <a:lnTo>
                    <a:pt x="195580" y="4406900"/>
                  </a:lnTo>
                  <a:cubicBezTo>
                    <a:pt x="87630" y="4406900"/>
                    <a:pt x="0" y="4319270"/>
                    <a:pt x="0" y="4211320"/>
                  </a:cubicBezTo>
                  <a:close/>
                </a:path>
              </a:pathLst>
            </a:custGeom>
            <a:solidFill>
              <a:srgbClr val="FFFFFF"/>
            </a:solidFill>
            <a:ln w="9526" cap="sq">
              <a:solidFill>
                <a:srgbClr val="E5E7EB"/>
              </a:solidFill>
              <a:prstDash val="solid"/>
              <a:miter/>
            </a:ln>
          </p:spPr>
        </p:sp>
      </p:grpSp>
      <p:grpSp>
        <p:nvGrpSpPr>
          <p:cNvPr name="Group 12" id="12"/>
          <p:cNvGrpSpPr/>
          <p:nvPr/>
        </p:nvGrpSpPr>
        <p:grpSpPr>
          <a:xfrm rot="0">
            <a:off x="5094837" y="6165580"/>
            <a:ext cx="3914775" cy="3305175"/>
            <a:chOff x="0" y="0"/>
            <a:chExt cx="5219700" cy="4406900"/>
          </a:xfrm>
        </p:grpSpPr>
        <p:sp>
          <p:nvSpPr>
            <p:cNvPr name="Freeform 13" id="13"/>
            <p:cNvSpPr/>
            <p:nvPr/>
          </p:nvSpPr>
          <p:spPr>
            <a:xfrm flipH="false" flipV="false" rot="0">
              <a:off x="0" y="0"/>
              <a:ext cx="5219700" cy="4406900"/>
            </a:xfrm>
            <a:custGeom>
              <a:avLst/>
              <a:gdLst/>
              <a:ahLst/>
              <a:cxnLst/>
              <a:rect r="r" b="b" t="t" l="l"/>
              <a:pathLst>
                <a:path h="4406900" w="5219700">
                  <a:moveTo>
                    <a:pt x="0" y="195580"/>
                  </a:moveTo>
                  <a:cubicBezTo>
                    <a:pt x="0" y="87630"/>
                    <a:pt x="87630" y="0"/>
                    <a:pt x="195580" y="0"/>
                  </a:cubicBezTo>
                  <a:lnTo>
                    <a:pt x="5024120" y="0"/>
                  </a:lnTo>
                  <a:cubicBezTo>
                    <a:pt x="5132070" y="0"/>
                    <a:pt x="5219700" y="87630"/>
                    <a:pt x="5219700" y="195580"/>
                  </a:cubicBezTo>
                  <a:lnTo>
                    <a:pt x="5219700" y="4211320"/>
                  </a:lnTo>
                  <a:cubicBezTo>
                    <a:pt x="5219700" y="4319397"/>
                    <a:pt x="5132070" y="4406900"/>
                    <a:pt x="5024120" y="4406900"/>
                  </a:cubicBezTo>
                  <a:lnTo>
                    <a:pt x="195580" y="4406900"/>
                  </a:lnTo>
                  <a:cubicBezTo>
                    <a:pt x="87630" y="4406900"/>
                    <a:pt x="0" y="4319270"/>
                    <a:pt x="0" y="4211320"/>
                  </a:cubicBezTo>
                  <a:close/>
                </a:path>
              </a:pathLst>
            </a:custGeom>
            <a:solidFill>
              <a:srgbClr val="FFFFFF"/>
            </a:solidFill>
            <a:ln w="9526" cap="sq">
              <a:solidFill>
                <a:srgbClr val="E5E7EB"/>
              </a:solidFill>
              <a:prstDash val="solid"/>
              <a:miter/>
            </a:ln>
          </p:spPr>
        </p:sp>
      </p:grpSp>
      <p:grpSp>
        <p:nvGrpSpPr>
          <p:cNvPr name="Group 14" id="14"/>
          <p:cNvGrpSpPr/>
          <p:nvPr/>
        </p:nvGrpSpPr>
        <p:grpSpPr>
          <a:xfrm rot="0">
            <a:off x="9278245" y="6165580"/>
            <a:ext cx="3914775" cy="3305175"/>
            <a:chOff x="0" y="0"/>
            <a:chExt cx="5219700" cy="4406900"/>
          </a:xfrm>
        </p:grpSpPr>
        <p:sp>
          <p:nvSpPr>
            <p:cNvPr name="Freeform 15" id="15"/>
            <p:cNvSpPr/>
            <p:nvPr/>
          </p:nvSpPr>
          <p:spPr>
            <a:xfrm flipH="false" flipV="false" rot="0">
              <a:off x="0" y="0"/>
              <a:ext cx="5219700" cy="4406900"/>
            </a:xfrm>
            <a:custGeom>
              <a:avLst/>
              <a:gdLst/>
              <a:ahLst/>
              <a:cxnLst/>
              <a:rect r="r" b="b" t="t" l="l"/>
              <a:pathLst>
                <a:path h="4406900" w="5219700">
                  <a:moveTo>
                    <a:pt x="0" y="195580"/>
                  </a:moveTo>
                  <a:cubicBezTo>
                    <a:pt x="0" y="87630"/>
                    <a:pt x="87630" y="0"/>
                    <a:pt x="195580" y="0"/>
                  </a:cubicBezTo>
                  <a:lnTo>
                    <a:pt x="5024120" y="0"/>
                  </a:lnTo>
                  <a:cubicBezTo>
                    <a:pt x="5132070" y="0"/>
                    <a:pt x="5219700" y="87630"/>
                    <a:pt x="5219700" y="195580"/>
                  </a:cubicBezTo>
                  <a:lnTo>
                    <a:pt x="5219700" y="4211320"/>
                  </a:lnTo>
                  <a:cubicBezTo>
                    <a:pt x="5219700" y="4319397"/>
                    <a:pt x="5132070" y="4406900"/>
                    <a:pt x="5024120" y="4406900"/>
                  </a:cubicBezTo>
                  <a:lnTo>
                    <a:pt x="195580" y="4406900"/>
                  </a:lnTo>
                  <a:cubicBezTo>
                    <a:pt x="87630" y="4406900"/>
                    <a:pt x="0" y="4319270"/>
                    <a:pt x="0" y="4211320"/>
                  </a:cubicBezTo>
                  <a:close/>
                </a:path>
              </a:pathLst>
            </a:custGeom>
            <a:solidFill>
              <a:srgbClr val="FFFFFF"/>
            </a:solidFill>
            <a:ln w="9526" cap="sq">
              <a:solidFill>
                <a:srgbClr val="E5E7EB"/>
              </a:solidFill>
              <a:prstDash val="solid"/>
              <a:miter/>
            </a:ln>
          </p:spPr>
        </p:sp>
      </p:grpSp>
      <p:grpSp>
        <p:nvGrpSpPr>
          <p:cNvPr name="Group 16" id="16"/>
          <p:cNvGrpSpPr/>
          <p:nvPr/>
        </p:nvGrpSpPr>
        <p:grpSpPr>
          <a:xfrm rot="0">
            <a:off x="13461654" y="6165580"/>
            <a:ext cx="3914775" cy="3305175"/>
            <a:chOff x="0" y="0"/>
            <a:chExt cx="5219700" cy="4406900"/>
          </a:xfrm>
        </p:grpSpPr>
        <p:sp>
          <p:nvSpPr>
            <p:cNvPr name="Freeform 17" id="17"/>
            <p:cNvSpPr/>
            <p:nvPr/>
          </p:nvSpPr>
          <p:spPr>
            <a:xfrm flipH="false" flipV="false" rot="0">
              <a:off x="0" y="0"/>
              <a:ext cx="5219700" cy="4406900"/>
            </a:xfrm>
            <a:custGeom>
              <a:avLst/>
              <a:gdLst/>
              <a:ahLst/>
              <a:cxnLst/>
              <a:rect r="r" b="b" t="t" l="l"/>
              <a:pathLst>
                <a:path h="4406900" w="5219700">
                  <a:moveTo>
                    <a:pt x="0" y="195580"/>
                  </a:moveTo>
                  <a:cubicBezTo>
                    <a:pt x="0" y="87630"/>
                    <a:pt x="87630" y="0"/>
                    <a:pt x="195580" y="0"/>
                  </a:cubicBezTo>
                  <a:lnTo>
                    <a:pt x="5024120" y="0"/>
                  </a:lnTo>
                  <a:cubicBezTo>
                    <a:pt x="5132070" y="0"/>
                    <a:pt x="5219700" y="87630"/>
                    <a:pt x="5219700" y="195580"/>
                  </a:cubicBezTo>
                  <a:lnTo>
                    <a:pt x="5219700" y="4211320"/>
                  </a:lnTo>
                  <a:cubicBezTo>
                    <a:pt x="5219700" y="4319397"/>
                    <a:pt x="5132070" y="4406900"/>
                    <a:pt x="5024120" y="4406900"/>
                  </a:cubicBezTo>
                  <a:lnTo>
                    <a:pt x="195580" y="4406900"/>
                  </a:lnTo>
                  <a:cubicBezTo>
                    <a:pt x="87630" y="4406900"/>
                    <a:pt x="0" y="4319270"/>
                    <a:pt x="0" y="4211320"/>
                  </a:cubicBezTo>
                  <a:close/>
                </a:path>
              </a:pathLst>
            </a:custGeom>
            <a:solidFill>
              <a:srgbClr val="FFFFFF"/>
            </a:solidFill>
            <a:ln w="9526" cap="sq">
              <a:solidFill>
                <a:srgbClr val="E5E7EB"/>
              </a:solidFill>
              <a:prstDash val="solid"/>
              <a:miter/>
            </a:ln>
          </p:spPr>
        </p:sp>
      </p:grpSp>
      <p:grpSp>
        <p:nvGrpSpPr>
          <p:cNvPr name="Group 18" id="18"/>
          <p:cNvGrpSpPr/>
          <p:nvPr/>
        </p:nvGrpSpPr>
        <p:grpSpPr>
          <a:xfrm rot="0">
            <a:off x="914400" y="9703222"/>
            <a:ext cx="16459200" cy="297293"/>
            <a:chOff x="0" y="0"/>
            <a:chExt cx="21945600" cy="396391"/>
          </a:xfrm>
        </p:grpSpPr>
        <p:sp>
          <p:nvSpPr>
            <p:cNvPr name="Freeform 19" id="19"/>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20" id="20"/>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21" id="21"/>
          <p:cNvGrpSpPr/>
          <p:nvPr/>
        </p:nvGrpSpPr>
        <p:grpSpPr>
          <a:xfrm rot="0">
            <a:off x="0" y="10247414"/>
            <a:ext cx="18288000" cy="38100"/>
            <a:chOff x="0" y="0"/>
            <a:chExt cx="24384000" cy="50800"/>
          </a:xfrm>
        </p:grpSpPr>
        <p:sp>
          <p:nvSpPr>
            <p:cNvPr name="Freeform 22" id="22"/>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23" id="23"/>
          <p:cNvGrpSpPr/>
          <p:nvPr/>
        </p:nvGrpSpPr>
        <p:grpSpPr>
          <a:xfrm rot="0">
            <a:off x="14574021" y="2315326"/>
            <a:ext cx="3173980" cy="317398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25" id="25"/>
          <p:cNvSpPr txBox="true"/>
          <p:nvPr/>
        </p:nvSpPr>
        <p:spPr>
          <a:xfrm rot="0">
            <a:off x="1244279" y="285826"/>
            <a:ext cx="880354"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26" id="26"/>
          <p:cNvSpPr txBox="true"/>
          <p:nvPr/>
        </p:nvSpPr>
        <p:spPr>
          <a:xfrm rot="0">
            <a:off x="2355875" y="352501"/>
            <a:ext cx="274320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11 · UNIQUE VALUE</a:t>
            </a:r>
          </a:p>
        </p:txBody>
      </p:sp>
      <p:sp>
        <p:nvSpPr>
          <p:cNvPr name="TextBox 27" id="27"/>
          <p:cNvSpPr txBox="true"/>
          <p:nvPr/>
        </p:nvSpPr>
        <p:spPr>
          <a:xfrm rot="0">
            <a:off x="16829189" y="352501"/>
            <a:ext cx="5429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13 / 31</a:t>
            </a:r>
          </a:p>
        </p:txBody>
      </p:sp>
      <p:sp>
        <p:nvSpPr>
          <p:cNvPr name="TextBox 28" id="28"/>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Unique Value Proposition</a:t>
            </a:r>
          </a:p>
        </p:txBody>
      </p:sp>
      <p:sp>
        <p:nvSpPr>
          <p:cNvPr name="TextBox 29" id="29"/>
          <p:cNvSpPr txBox="true"/>
          <p:nvPr/>
        </p:nvSpPr>
        <p:spPr>
          <a:xfrm rot="0">
            <a:off x="1323975" y="3049486"/>
            <a:ext cx="15640050" cy="295275"/>
          </a:xfrm>
          <a:prstGeom prst="rect">
            <a:avLst/>
          </a:prstGeom>
        </p:spPr>
        <p:txBody>
          <a:bodyPr anchor="t" rtlCol="false" tIns="0" lIns="0" bIns="0" rIns="0">
            <a:spAutoFit/>
          </a:bodyPr>
          <a:lstStyle/>
          <a:p>
            <a:pPr algn="l">
              <a:lnSpc>
                <a:spcPts val="2052"/>
              </a:lnSpc>
            </a:pPr>
            <a:r>
              <a:rPr lang="en-US" b="true" sz="1360" spc="68">
                <a:solidFill>
                  <a:srgbClr val="2ECC71"/>
                </a:solidFill>
                <a:latin typeface="Inter Bold"/>
                <a:ea typeface="Inter Bold"/>
                <a:cs typeface="Inter Bold"/>
                <a:sym typeface="Inter Bold"/>
              </a:rPr>
              <a:t>UVP STATEMENT</a:t>
            </a:r>
          </a:p>
        </p:txBody>
      </p:sp>
      <p:sp>
        <p:nvSpPr>
          <p:cNvPr name="TextBox 30" id="30"/>
          <p:cNvSpPr txBox="true"/>
          <p:nvPr/>
        </p:nvSpPr>
        <p:spPr>
          <a:xfrm rot="0">
            <a:off x="1309020" y="3417380"/>
            <a:ext cx="12614794" cy="1449186"/>
          </a:xfrm>
          <a:prstGeom prst="rect">
            <a:avLst/>
          </a:prstGeom>
        </p:spPr>
        <p:txBody>
          <a:bodyPr anchor="t" rtlCol="false" tIns="0" lIns="0" bIns="0" rIns="0">
            <a:spAutoFit/>
          </a:bodyPr>
          <a:lstStyle/>
          <a:p>
            <a:pPr algn="l">
              <a:lnSpc>
                <a:spcPts val="3815"/>
              </a:lnSpc>
            </a:pPr>
            <a:r>
              <a:rPr lang="en-US" sz="3044">
                <a:solidFill>
                  <a:srgbClr val="6B7280"/>
                </a:solidFill>
                <a:latin typeface="Arimo"/>
                <a:ea typeface="Arimo"/>
                <a:cs typeface="Arimo"/>
                <a:sym typeface="Arimo"/>
              </a:rPr>
              <a:t>I</a:t>
            </a:r>
            <a:r>
              <a:rPr lang="en-US" sz="3044">
                <a:solidFill>
                  <a:srgbClr val="6B7280"/>
                </a:solidFill>
                <a:latin typeface="Arimo"/>
                <a:ea typeface="Arimo"/>
                <a:cs typeface="Arimo"/>
                <a:sym typeface="Arimo"/>
              </a:rPr>
              <a:t>STSEH </a:t>
            </a:r>
            <a:r>
              <a:rPr lang="en-US" sz="3044">
                <a:solidFill>
                  <a:srgbClr val="6B7280"/>
                </a:solidFill>
                <a:latin typeface="Arimo"/>
                <a:ea typeface="Arimo"/>
                <a:cs typeface="Arimo"/>
                <a:sym typeface="Arimo"/>
              </a:rPr>
              <a:t>is not only a pill reminder. It is a medication-care assistant that combines personalized scheduling, safety warnings, caregiver support, and secure health profiles for Kuwait/GCC families.</a:t>
            </a:r>
          </a:p>
        </p:txBody>
      </p:sp>
      <p:sp>
        <p:nvSpPr>
          <p:cNvPr name="TextBox 31" id="31"/>
          <p:cNvSpPr txBox="true"/>
          <p:nvPr/>
        </p:nvSpPr>
        <p:spPr>
          <a:xfrm rot="0">
            <a:off x="1130570" y="6375130"/>
            <a:ext cx="3476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FOR WHOM</a:t>
            </a:r>
          </a:p>
        </p:txBody>
      </p:sp>
      <p:sp>
        <p:nvSpPr>
          <p:cNvPr name="TextBox 32" id="32"/>
          <p:cNvSpPr txBox="true"/>
          <p:nvPr/>
        </p:nvSpPr>
        <p:spPr>
          <a:xfrm rot="0">
            <a:off x="1130570" y="6822805"/>
            <a:ext cx="3583267" cy="2052293"/>
          </a:xfrm>
          <a:prstGeom prst="rect">
            <a:avLst/>
          </a:prstGeom>
        </p:spPr>
        <p:txBody>
          <a:bodyPr anchor="t" rtlCol="false" tIns="0" lIns="0" bIns="0" rIns="0">
            <a:spAutoFit/>
          </a:bodyPr>
          <a:lstStyle/>
          <a:p>
            <a:pPr algn="l">
              <a:lnSpc>
                <a:spcPts val="2764"/>
              </a:lnSpc>
            </a:pPr>
            <a:r>
              <a:rPr lang="en-US" sz="2019" spc="84">
                <a:solidFill>
                  <a:srgbClr val="595959"/>
                </a:solidFill>
                <a:latin typeface="Inter"/>
                <a:ea typeface="Inter"/>
                <a:cs typeface="Inter"/>
                <a:sym typeface="Inter"/>
              </a:rPr>
              <a:t>Patients, elderly users, and family caregivers who manage daily medications, chronic conditions, allergies, appointments, or multiple treatment routines.</a:t>
            </a:r>
          </a:p>
        </p:txBody>
      </p:sp>
      <p:sp>
        <p:nvSpPr>
          <p:cNvPr name="TextBox 33" id="33"/>
          <p:cNvSpPr txBox="true"/>
          <p:nvPr/>
        </p:nvSpPr>
        <p:spPr>
          <a:xfrm rot="0">
            <a:off x="5311083" y="6375130"/>
            <a:ext cx="3476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WHAT WE OFFER</a:t>
            </a:r>
          </a:p>
        </p:txBody>
      </p:sp>
      <p:sp>
        <p:nvSpPr>
          <p:cNvPr name="TextBox 34" id="34"/>
          <p:cNvSpPr txBox="true"/>
          <p:nvPr/>
        </p:nvSpPr>
        <p:spPr>
          <a:xfrm rot="0">
            <a:off x="5311083" y="6822805"/>
            <a:ext cx="3586162" cy="2052293"/>
          </a:xfrm>
          <a:prstGeom prst="rect">
            <a:avLst/>
          </a:prstGeom>
        </p:spPr>
        <p:txBody>
          <a:bodyPr anchor="t" rtlCol="false" tIns="0" lIns="0" bIns="0" rIns="0">
            <a:spAutoFit/>
          </a:bodyPr>
          <a:lstStyle/>
          <a:p>
            <a:pPr algn="l">
              <a:lnSpc>
                <a:spcPts val="2764"/>
              </a:lnSpc>
            </a:pPr>
            <a:r>
              <a:rPr lang="en-US" sz="2019" spc="40">
                <a:solidFill>
                  <a:srgbClr val="595959"/>
                </a:solidFill>
                <a:latin typeface="Inter"/>
                <a:ea typeface="Inter"/>
                <a:cs typeface="Inter"/>
                <a:sym typeface="Inter"/>
              </a:rPr>
              <a:t>A connected medication-care system that organizes dose schedules, reminders, medication details, medical profiles, safety checks, and caregiver access in on</a:t>
            </a:r>
            <a:r>
              <a:rPr lang="en-US" sz="2019" spc="40">
                <a:solidFill>
                  <a:srgbClr val="595959"/>
                </a:solidFill>
                <a:latin typeface="Inter"/>
                <a:ea typeface="Inter"/>
                <a:cs typeface="Inter"/>
                <a:sym typeface="Inter"/>
              </a:rPr>
              <a:t>e app.</a:t>
            </a:r>
          </a:p>
        </p:txBody>
      </p:sp>
      <p:sp>
        <p:nvSpPr>
          <p:cNvPr name="TextBox 35" id="35"/>
          <p:cNvSpPr txBox="true"/>
          <p:nvPr/>
        </p:nvSpPr>
        <p:spPr>
          <a:xfrm rot="0">
            <a:off x="9497320" y="6375130"/>
            <a:ext cx="3476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WHY IT MATTERS</a:t>
            </a:r>
          </a:p>
        </p:txBody>
      </p:sp>
      <p:sp>
        <p:nvSpPr>
          <p:cNvPr name="TextBox 36" id="36"/>
          <p:cNvSpPr txBox="true"/>
          <p:nvPr/>
        </p:nvSpPr>
        <p:spPr>
          <a:xfrm rot="0">
            <a:off x="9497320" y="6822805"/>
            <a:ext cx="3616637" cy="2052401"/>
          </a:xfrm>
          <a:prstGeom prst="rect">
            <a:avLst/>
          </a:prstGeom>
        </p:spPr>
        <p:txBody>
          <a:bodyPr anchor="t" rtlCol="false" tIns="0" lIns="0" bIns="0" rIns="0">
            <a:spAutoFit/>
          </a:bodyPr>
          <a:lstStyle/>
          <a:p>
            <a:pPr algn="l">
              <a:lnSpc>
                <a:spcPts val="2763"/>
              </a:lnSpc>
            </a:pPr>
            <a:r>
              <a:rPr lang="en-US" sz="2019" spc="28">
                <a:solidFill>
                  <a:srgbClr val="595959"/>
                </a:solidFill>
                <a:latin typeface="Inter"/>
                <a:ea typeface="Inter"/>
                <a:cs typeface="Inter"/>
                <a:sym typeface="Inter"/>
              </a:rPr>
              <a:t>Medication care becomes risky when users </a:t>
            </a:r>
            <a:r>
              <a:rPr lang="en-US" sz="2019" spc="28">
                <a:solidFill>
                  <a:srgbClr val="595959"/>
                </a:solidFill>
                <a:latin typeface="Inter"/>
                <a:ea typeface="Inter"/>
                <a:cs typeface="Inter"/>
                <a:sym typeface="Inter"/>
              </a:rPr>
              <a:t>forget doses, misunderstand instructions, take multiple medicines, or have allergies that affect safety.</a:t>
            </a:r>
          </a:p>
        </p:txBody>
      </p:sp>
      <p:sp>
        <p:nvSpPr>
          <p:cNvPr name="TextBox 37" id="37"/>
          <p:cNvSpPr txBox="true"/>
          <p:nvPr/>
        </p:nvSpPr>
        <p:spPr>
          <a:xfrm rot="0">
            <a:off x="13678795" y="6375130"/>
            <a:ext cx="2307812" cy="228981"/>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HOW WE ARE DIFFERENT</a:t>
            </a:r>
          </a:p>
        </p:txBody>
      </p:sp>
      <p:sp>
        <p:nvSpPr>
          <p:cNvPr name="TextBox 38" id="38"/>
          <p:cNvSpPr txBox="true"/>
          <p:nvPr/>
        </p:nvSpPr>
        <p:spPr>
          <a:xfrm rot="0">
            <a:off x="13678795" y="6832330"/>
            <a:ext cx="3421856" cy="2190019"/>
          </a:xfrm>
          <a:prstGeom prst="rect">
            <a:avLst/>
          </a:prstGeom>
        </p:spPr>
        <p:txBody>
          <a:bodyPr anchor="t" rtlCol="false" tIns="0" lIns="0" bIns="0" rIns="0">
            <a:spAutoFit/>
          </a:bodyPr>
          <a:lstStyle/>
          <a:p>
            <a:pPr algn="l">
              <a:lnSpc>
                <a:spcPts val="2489"/>
              </a:lnSpc>
            </a:pPr>
            <a:r>
              <a:rPr lang="en-US" sz="1819" spc="18">
                <a:solidFill>
                  <a:srgbClr val="595959"/>
                </a:solidFill>
                <a:latin typeface="Inter"/>
                <a:ea typeface="Inter"/>
                <a:cs typeface="Inter"/>
                <a:sym typeface="Inter"/>
              </a:rPr>
              <a:t>ISTSEH builds schedules around real routines, meals, food rules, dose spacing, and safety checks, with caregiver support, Arabic/GCC usability, and privacy-focused data management.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638"/>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99153"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63099"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237" y="352501"/>
            <a:ext cx="305752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12 · BUSINESS MODEL</a:t>
            </a:r>
          </a:p>
        </p:txBody>
      </p:sp>
      <p:sp>
        <p:nvSpPr>
          <p:cNvPr name="TextBox 8" id="8"/>
          <p:cNvSpPr txBox="true"/>
          <p:nvPr/>
        </p:nvSpPr>
        <p:spPr>
          <a:xfrm rot="0">
            <a:off x="16821750" y="352501"/>
            <a:ext cx="5524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14 / 31</a:t>
            </a:r>
          </a:p>
        </p:txBody>
      </p:sp>
      <p:sp>
        <p:nvSpPr>
          <p:cNvPr name="TextBox 9" id="9"/>
          <p:cNvSpPr txBox="true"/>
          <p:nvPr/>
        </p:nvSpPr>
        <p:spPr>
          <a:xfrm rot="0">
            <a:off x="914400" y="1198807"/>
            <a:ext cx="5193240" cy="721614"/>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Business Model</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5096770" y="2671391"/>
            <a:ext cx="3914775" cy="2292803"/>
            <a:chOff x="0" y="0"/>
            <a:chExt cx="5219700" cy="3057070"/>
          </a:xfrm>
        </p:grpSpPr>
        <p:sp>
          <p:nvSpPr>
            <p:cNvPr name="Freeform 13" id="13"/>
            <p:cNvSpPr/>
            <p:nvPr/>
          </p:nvSpPr>
          <p:spPr>
            <a:xfrm flipH="false" flipV="false" rot="0">
              <a:off x="0" y="0"/>
              <a:ext cx="5219700" cy="3057070"/>
            </a:xfrm>
            <a:custGeom>
              <a:avLst/>
              <a:gdLst/>
              <a:ahLst/>
              <a:cxnLst/>
              <a:rect r="r" b="b" t="t" l="l"/>
              <a:pathLst>
                <a:path h="3057070" w="5219700">
                  <a:moveTo>
                    <a:pt x="0" y="323924"/>
                  </a:moveTo>
                  <a:cubicBezTo>
                    <a:pt x="0" y="144897"/>
                    <a:pt x="87884" y="0"/>
                    <a:pt x="196469" y="0"/>
                  </a:cubicBezTo>
                  <a:lnTo>
                    <a:pt x="5023231" y="0"/>
                  </a:lnTo>
                  <a:cubicBezTo>
                    <a:pt x="5131816" y="0"/>
                    <a:pt x="5219700" y="144897"/>
                    <a:pt x="5219700" y="323924"/>
                  </a:cubicBezTo>
                  <a:lnTo>
                    <a:pt x="5219700" y="2733147"/>
                  </a:lnTo>
                  <a:cubicBezTo>
                    <a:pt x="5219700" y="2911964"/>
                    <a:pt x="5131816" y="3057070"/>
                    <a:pt x="5023231" y="3057070"/>
                  </a:cubicBezTo>
                  <a:lnTo>
                    <a:pt x="196469" y="3057070"/>
                  </a:lnTo>
                  <a:cubicBezTo>
                    <a:pt x="87884" y="3057070"/>
                    <a:pt x="0" y="2912174"/>
                    <a:pt x="0" y="2733147"/>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5274916" y="2844403"/>
            <a:ext cx="3476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STREAM 01</a:t>
            </a:r>
          </a:p>
        </p:txBody>
      </p:sp>
      <p:sp>
        <p:nvSpPr>
          <p:cNvPr name="TextBox 15" id="15"/>
          <p:cNvSpPr txBox="true"/>
          <p:nvPr/>
        </p:nvSpPr>
        <p:spPr>
          <a:xfrm rot="0">
            <a:off x="5274916" y="3169444"/>
            <a:ext cx="1458813"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Subscription</a:t>
            </a:r>
          </a:p>
        </p:txBody>
      </p:sp>
      <p:sp>
        <p:nvSpPr>
          <p:cNvPr name="TextBox 16" id="16"/>
          <p:cNvSpPr txBox="true"/>
          <p:nvPr/>
        </p:nvSpPr>
        <p:spPr>
          <a:xfrm rot="0">
            <a:off x="5294447" y="3653331"/>
            <a:ext cx="3519421" cy="940054"/>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Monthly paid plan</a:t>
            </a:r>
            <a:r>
              <a:rPr lang="en-US" sz="1360">
                <a:solidFill>
                  <a:srgbClr val="595959"/>
                </a:solidFill>
                <a:latin typeface="Inter"/>
                <a:ea typeface="Inter"/>
                <a:cs typeface="Inter"/>
                <a:sym typeface="Inter"/>
              </a:rPr>
              <a:t>s unlock personalized scheduling, medical profiles, safety warnings, refill reminders, and medication history.</a:t>
            </a:r>
          </a:p>
        </p:txBody>
      </p:sp>
      <p:grpSp>
        <p:nvGrpSpPr>
          <p:cNvPr name="Group 17" id="17"/>
          <p:cNvGrpSpPr/>
          <p:nvPr/>
        </p:nvGrpSpPr>
        <p:grpSpPr>
          <a:xfrm rot="0">
            <a:off x="915295" y="2653782"/>
            <a:ext cx="3914775" cy="2310411"/>
            <a:chOff x="0" y="0"/>
            <a:chExt cx="5219700" cy="3080548"/>
          </a:xfrm>
        </p:grpSpPr>
        <p:sp>
          <p:nvSpPr>
            <p:cNvPr name="Freeform 18" id="18"/>
            <p:cNvSpPr/>
            <p:nvPr/>
          </p:nvSpPr>
          <p:spPr>
            <a:xfrm flipH="false" flipV="false" rot="0">
              <a:off x="0" y="0"/>
              <a:ext cx="5219700" cy="3080548"/>
            </a:xfrm>
            <a:custGeom>
              <a:avLst/>
              <a:gdLst/>
              <a:ahLst/>
              <a:cxnLst/>
              <a:rect r="r" b="b" t="t" l="l"/>
              <a:pathLst>
                <a:path h="3080548" w="5219700">
                  <a:moveTo>
                    <a:pt x="0" y="326412"/>
                  </a:moveTo>
                  <a:cubicBezTo>
                    <a:pt x="0" y="146010"/>
                    <a:pt x="87884" y="0"/>
                    <a:pt x="196469" y="0"/>
                  </a:cubicBezTo>
                  <a:lnTo>
                    <a:pt x="5023231" y="0"/>
                  </a:lnTo>
                  <a:cubicBezTo>
                    <a:pt x="5131816" y="0"/>
                    <a:pt x="5219700" y="146010"/>
                    <a:pt x="5219700" y="326412"/>
                  </a:cubicBezTo>
                  <a:lnTo>
                    <a:pt x="5219700" y="2754137"/>
                  </a:lnTo>
                  <a:cubicBezTo>
                    <a:pt x="5219700" y="2934328"/>
                    <a:pt x="5131816" y="3080548"/>
                    <a:pt x="5023231" y="3080548"/>
                  </a:cubicBezTo>
                  <a:lnTo>
                    <a:pt x="196469" y="3080548"/>
                  </a:lnTo>
                  <a:cubicBezTo>
                    <a:pt x="87884" y="3080548"/>
                    <a:pt x="0" y="2934539"/>
                    <a:pt x="0" y="2754137"/>
                  </a:cubicBezTo>
                  <a:close/>
                </a:path>
              </a:pathLst>
            </a:custGeom>
            <a:solidFill>
              <a:srgbClr val="FFFFFF"/>
            </a:solidFill>
            <a:ln w="9526" cap="sq">
              <a:solidFill>
                <a:srgbClr val="E5E7EB"/>
              </a:solidFill>
              <a:prstDash val="solid"/>
              <a:miter/>
            </a:ln>
          </p:spPr>
        </p:sp>
      </p:grpSp>
      <p:sp>
        <p:nvSpPr>
          <p:cNvPr name="TextBox 19" id="19"/>
          <p:cNvSpPr txBox="true"/>
          <p:nvPr/>
        </p:nvSpPr>
        <p:spPr>
          <a:xfrm rot="0">
            <a:off x="1134370" y="2826795"/>
            <a:ext cx="3476625" cy="228981"/>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STREAM 02</a:t>
            </a:r>
          </a:p>
        </p:txBody>
      </p:sp>
      <p:sp>
        <p:nvSpPr>
          <p:cNvPr name="TextBox 20" id="20"/>
          <p:cNvSpPr txBox="true"/>
          <p:nvPr/>
        </p:nvSpPr>
        <p:spPr>
          <a:xfrm rot="0">
            <a:off x="1134370" y="3180410"/>
            <a:ext cx="1140916"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Freemium</a:t>
            </a:r>
          </a:p>
        </p:txBody>
      </p:sp>
      <p:sp>
        <p:nvSpPr>
          <p:cNvPr name="TextBox 21" id="21"/>
          <p:cNvSpPr txBox="true"/>
          <p:nvPr/>
        </p:nvSpPr>
        <p:spPr>
          <a:xfrm rot="0">
            <a:off x="1130570" y="3653331"/>
            <a:ext cx="3478559" cy="940054"/>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Fr</a:t>
            </a:r>
            <a:r>
              <a:rPr lang="en-US" sz="1360">
                <a:solidFill>
                  <a:srgbClr val="595959"/>
                </a:solidFill>
                <a:latin typeface="Inter"/>
                <a:ea typeface="Inter"/>
                <a:cs typeface="Inter"/>
                <a:sym typeface="Inter"/>
              </a:rPr>
              <a:t>ee users get basic medication reminders and basic medication search, helping ISTSEH attract users before converting them to paid plans.</a:t>
            </a:r>
          </a:p>
        </p:txBody>
      </p:sp>
      <p:grpSp>
        <p:nvGrpSpPr>
          <p:cNvPr name="Group 22" id="22"/>
          <p:cNvGrpSpPr/>
          <p:nvPr/>
        </p:nvGrpSpPr>
        <p:grpSpPr>
          <a:xfrm rot="0">
            <a:off x="9278245" y="2671391"/>
            <a:ext cx="3914775" cy="2292803"/>
            <a:chOff x="0" y="0"/>
            <a:chExt cx="5219700" cy="3057070"/>
          </a:xfrm>
        </p:grpSpPr>
        <p:sp>
          <p:nvSpPr>
            <p:cNvPr name="Freeform 23" id="23"/>
            <p:cNvSpPr/>
            <p:nvPr/>
          </p:nvSpPr>
          <p:spPr>
            <a:xfrm flipH="false" flipV="false" rot="0">
              <a:off x="0" y="0"/>
              <a:ext cx="5219700" cy="3057070"/>
            </a:xfrm>
            <a:custGeom>
              <a:avLst/>
              <a:gdLst/>
              <a:ahLst/>
              <a:cxnLst/>
              <a:rect r="r" b="b" t="t" l="l"/>
              <a:pathLst>
                <a:path h="3057070" w="5219700">
                  <a:moveTo>
                    <a:pt x="0" y="323924"/>
                  </a:moveTo>
                  <a:cubicBezTo>
                    <a:pt x="0" y="144897"/>
                    <a:pt x="87884" y="0"/>
                    <a:pt x="196469" y="0"/>
                  </a:cubicBezTo>
                  <a:lnTo>
                    <a:pt x="5023231" y="0"/>
                  </a:lnTo>
                  <a:cubicBezTo>
                    <a:pt x="5131816" y="0"/>
                    <a:pt x="5219700" y="144897"/>
                    <a:pt x="5219700" y="323924"/>
                  </a:cubicBezTo>
                  <a:lnTo>
                    <a:pt x="5219700" y="2733147"/>
                  </a:lnTo>
                  <a:cubicBezTo>
                    <a:pt x="5219700" y="2911964"/>
                    <a:pt x="5131816" y="3057070"/>
                    <a:pt x="5023231" y="3057070"/>
                  </a:cubicBezTo>
                  <a:lnTo>
                    <a:pt x="196469" y="3057070"/>
                  </a:lnTo>
                  <a:cubicBezTo>
                    <a:pt x="87884" y="3057070"/>
                    <a:pt x="0" y="2912174"/>
                    <a:pt x="0" y="2733147"/>
                  </a:cubicBezTo>
                  <a:close/>
                </a:path>
              </a:pathLst>
            </a:custGeom>
            <a:solidFill>
              <a:srgbClr val="FFFFFF"/>
            </a:solidFill>
            <a:ln w="9526" cap="sq">
              <a:solidFill>
                <a:srgbClr val="E5E7EB"/>
              </a:solidFill>
              <a:prstDash val="solid"/>
              <a:miter/>
            </a:ln>
          </p:spPr>
        </p:sp>
      </p:grpSp>
      <p:sp>
        <p:nvSpPr>
          <p:cNvPr name="TextBox 24" id="24"/>
          <p:cNvSpPr txBox="true"/>
          <p:nvPr/>
        </p:nvSpPr>
        <p:spPr>
          <a:xfrm rot="0">
            <a:off x="9459220" y="2845594"/>
            <a:ext cx="3476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STREAM 03</a:t>
            </a:r>
          </a:p>
        </p:txBody>
      </p:sp>
      <p:sp>
        <p:nvSpPr>
          <p:cNvPr name="TextBox 25" id="25"/>
          <p:cNvSpPr txBox="true"/>
          <p:nvPr/>
        </p:nvSpPr>
        <p:spPr>
          <a:xfrm rot="0">
            <a:off x="9459220" y="3198019"/>
            <a:ext cx="1459260"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Partnerships</a:t>
            </a:r>
          </a:p>
        </p:txBody>
      </p:sp>
      <p:sp>
        <p:nvSpPr>
          <p:cNvPr name="TextBox 26" id="26"/>
          <p:cNvSpPr txBox="true"/>
          <p:nvPr/>
        </p:nvSpPr>
        <p:spPr>
          <a:xfrm rot="0">
            <a:off x="9459220" y="3633584"/>
            <a:ext cx="3697634" cy="1178179"/>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Start with local pharmacies for refill support and trust</a:t>
            </a:r>
            <a:r>
              <a:rPr lang="en-US" sz="1360">
                <a:solidFill>
                  <a:srgbClr val="595959"/>
                </a:solidFill>
                <a:latin typeface="Inter"/>
                <a:ea typeface="Inter"/>
                <a:cs typeface="Inter"/>
                <a:sym typeface="Inter"/>
              </a:rPr>
              <a:t>ed service links, then expand to clinics, hospitals, and insurers for patient follow-up, adherence support, and care coordination.</a:t>
            </a:r>
          </a:p>
        </p:txBody>
      </p:sp>
      <p:grpSp>
        <p:nvGrpSpPr>
          <p:cNvPr name="Group 27" id="27"/>
          <p:cNvGrpSpPr/>
          <p:nvPr/>
        </p:nvGrpSpPr>
        <p:grpSpPr>
          <a:xfrm rot="0">
            <a:off x="13461654" y="2671391"/>
            <a:ext cx="3914775" cy="2292803"/>
            <a:chOff x="0" y="0"/>
            <a:chExt cx="5219700" cy="3057070"/>
          </a:xfrm>
        </p:grpSpPr>
        <p:sp>
          <p:nvSpPr>
            <p:cNvPr name="Freeform 28" id="28"/>
            <p:cNvSpPr/>
            <p:nvPr/>
          </p:nvSpPr>
          <p:spPr>
            <a:xfrm flipH="false" flipV="false" rot="0">
              <a:off x="0" y="0"/>
              <a:ext cx="5219700" cy="3057070"/>
            </a:xfrm>
            <a:custGeom>
              <a:avLst/>
              <a:gdLst/>
              <a:ahLst/>
              <a:cxnLst/>
              <a:rect r="r" b="b" t="t" l="l"/>
              <a:pathLst>
                <a:path h="3057070" w="5219700">
                  <a:moveTo>
                    <a:pt x="0" y="323924"/>
                  </a:moveTo>
                  <a:cubicBezTo>
                    <a:pt x="0" y="144897"/>
                    <a:pt x="87884" y="0"/>
                    <a:pt x="196469" y="0"/>
                  </a:cubicBezTo>
                  <a:lnTo>
                    <a:pt x="5023231" y="0"/>
                  </a:lnTo>
                  <a:cubicBezTo>
                    <a:pt x="5131816" y="0"/>
                    <a:pt x="5219700" y="144897"/>
                    <a:pt x="5219700" y="323924"/>
                  </a:cubicBezTo>
                  <a:lnTo>
                    <a:pt x="5219700" y="2733147"/>
                  </a:lnTo>
                  <a:cubicBezTo>
                    <a:pt x="5219700" y="2911964"/>
                    <a:pt x="5131816" y="3057070"/>
                    <a:pt x="5023231" y="3057070"/>
                  </a:cubicBezTo>
                  <a:lnTo>
                    <a:pt x="196469" y="3057070"/>
                  </a:lnTo>
                  <a:cubicBezTo>
                    <a:pt x="87884" y="3057070"/>
                    <a:pt x="0" y="2912174"/>
                    <a:pt x="0" y="2733147"/>
                  </a:cubicBezTo>
                  <a:close/>
                </a:path>
              </a:pathLst>
            </a:custGeom>
            <a:solidFill>
              <a:srgbClr val="FFFFFF"/>
            </a:solidFill>
            <a:ln w="9526" cap="sq">
              <a:solidFill>
                <a:srgbClr val="E5E7EB"/>
              </a:solidFill>
              <a:prstDash val="solid"/>
              <a:miter/>
            </a:ln>
          </p:spPr>
        </p:sp>
      </p:grpSp>
      <p:sp>
        <p:nvSpPr>
          <p:cNvPr name="TextBox 29" id="29"/>
          <p:cNvSpPr txBox="true"/>
          <p:nvPr/>
        </p:nvSpPr>
        <p:spPr>
          <a:xfrm rot="0">
            <a:off x="13680729" y="2844403"/>
            <a:ext cx="3476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STREAM 04</a:t>
            </a:r>
          </a:p>
        </p:txBody>
      </p:sp>
      <p:sp>
        <p:nvSpPr>
          <p:cNvPr name="TextBox 30" id="30"/>
          <p:cNvSpPr txBox="true"/>
          <p:nvPr/>
        </p:nvSpPr>
        <p:spPr>
          <a:xfrm rot="0">
            <a:off x="13680729" y="3198019"/>
            <a:ext cx="1578471" cy="313182"/>
          </a:xfrm>
          <a:prstGeom prst="rect">
            <a:avLst/>
          </a:prstGeom>
        </p:spPr>
        <p:txBody>
          <a:bodyPr anchor="t" rtlCol="false" tIns="0" lIns="0" bIns="0" rIns="0">
            <a:spAutoFit/>
          </a:bodyPr>
          <a:lstStyle/>
          <a:p>
            <a:pPr algn="l">
              <a:lnSpc>
                <a:spcPts val="2340"/>
              </a:lnSpc>
            </a:pPr>
            <a:r>
              <a:rPr lang="en-US" sz="1880" b="true">
                <a:solidFill>
                  <a:srgbClr val="1A1A2E"/>
                </a:solidFill>
                <a:latin typeface="Arimo Bold"/>
                <a:ea typeface="Arimo Bold"/>
                <a:cs typeface="Arimo Bold"/>
                <a:sym typeface="Arimo Bold"/>
              </a:rPr>
              <a:t>B2B licensing</a:t>
            </a:r>
          </a:p>
        </p:txBody>
      </p:sp>
      <p:sp>
        <p:nvSpPr>
          <p:cNvPr name="TextBox 31" id="31"/>
          <p:cNvSpPr txBox="true"/>
          <p:nvPr/>
        </p:nvSpPr>
        <p:spPr>
          <a:xfrm rot="0">
            <a:off x="13680729" y="3610477"/>
            <a:ext cx="3578571" cy="1178179"/>
          </a:xfrm>
          <a:prstGeom prst="rect">
            <a:avLst/>
          </a:prstGeom>
        </p:spPr>
        <p:txBody>
          <a:bodyPr anchor="t" rtlCol="false" tIns="0" lIns="0" bIns="0" rIns="0">
            <a:spAutoFit/>
          </a:bodyPr>
          <a:lstStyle/>
          <a:p>
            <a:pPr algn="l">
              <a:lnSpc>
                <a:spcPts val="1879"/>
              </a:lnSpc>
            </a:pPr>
            <a:r>
              <a:rPr lang="en-US" sz="1359">
                <a:solidFill>
                  <a:srgbClr val="595959"/>
                </a:solidFill>
                <a:latin typeface="Inter"/>
                <a:ea typeface="Inter"/>
                <a:cs typeface="Inter"/>
                <a:sym typeface="Inter"/>
              </a:rPr>
              <a:t>Off</a:t>
            </a:r>
            <a:r>
              <a:rPr lang="en-US" sz="1359">
                <a:solidFill>
                  <a:srgbClr val="595959"/>
                </a:solidFill>
                <a:latin typeface="Inter"/>
                <a:ea typeface="Inter"/>
                <a:cs typeface="Inter"/>
                <a:sym typeface="Inter"/>
              </a:rPr>
              <a:t>er ISTSEH as a paid medication-care platform for clinics, hospitals, elderly-care centers, and insurers to help them monitor patient adherence, manage follow-ups, and support caregivers.</a:t>
            </a:r>
          </a:p>
        </p:txBody>
      </p:sp>
      <p:sp>
        <p:nvSpPr>
          <p:cNvPr name="TextBox 32" id="32"/>
          <p:cNvSpPr txBox="true"/>
          <p:nvPr/>
        </p:nvSpPr>
        <p:spPr>
          <a:xfrm rot="0">
            <a:off x="914400" y="5107038"/>
            <a:ext cx="1645920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PRICING TIERS</a:t>
            </a:r>
          </a:p>
        </p:txBody>
      </p:sp>
      <p:grpSp>
        <p:nvGrpSpPr>
          <p:cNvPr name="Group 33" id="33"/>
          <p:cNvGrpSpPr/>
          <p:nvPr/>
        </p:nvGrpSpPr>
        <p:grpSpPr>
          <a:xfrm rot="0">
            <a:off x="908666" y="5555304"/>
            <a:ext cx="5314950" cy="3914775"/>
            <a:chOff x="0" y="0"/>
            <a:chExt cx="7086600" cy="5219700"/>
          </a:xfrm>
        </p:grpSpPr>
        <p:sp>
          <p:nvSpPr>
            <p:cNvPr name="Freeform 34" id="34"/>
            <p:cNvSpPr/>
            <p:nvPr/>
          </p:nvSpPr>
          <p:spPr>
            <a:xfrm flipH="false" flipV="false" rot="0">
              <a:off x="0" y="0"/>
              <a:ext cx="7086600" cy="5219700"/>
            </a:xfrm>
            <a:custGeom>
              <a:avLst/>
              <a:gdLst/>
              <a:ahLst/>
              <a:cxnLst/>
              <a:rect r="r" b="b" t="t" l="l"/>
              <a:pathLst>
                <a:path h="5219700" w="7086600">
                  <a:moveTo>
                    <a:pt x="0" y="244475"/>
                  </a:moveTo>
                  <a:cubicBezTo>
                    <a:pt x="0" y="109474"/>
                    <a:pt x="109474" y="0"/>
                    <a:pt x="244475" y="0"/>
                  </a:cubicBezTo>
                  <a:lnTo>
                    <a:pt x="6842125" y="0"/>
                  </a:lnTo>
                  <a:cubicBezTo>
                    <a:pt x="6977126" y="0"/>
                    <a:pt x="7086600" y="109474"/>
                    <a:pt x="7086600" y="244475"/>
                  </a:cubicBezTo>
                  <a:lnTo>
                    <a:pt x="7086600" y="4975225"/>
                  </a:lnTo>
                  <a:cubicBezTo>
                    <a:pt x="7086600" y="5110226"/>
                    <a:pt x="6977126" y="5219700"/>
                    <a:pt x="6842125" y="5219700"/>
                  </a:cubicBezTo>
                  <a:lnTo>
                    <a:pt x="244475" y="5219700"/>
                  </a:lnTo>
                  <a:cubicBezTo>
                    <a:pt x="109474" y="5219700"/>
                    <a:pt x="0" y="5110226"/>
                    <a:pt x="0" y="4975225"/>
                  </a:cubicBezTo>
                  <a:close/>
                </a:path>
              </a:pathLst>
            </a:custGeom>
            <a:solidFill>
              <a:srgbClr val="FFFFFF"/>
            </a:solidFill>
            <a:ln w="9526" cap="sq">
              <a:solidFill>
                <a:srgbClr val="E5E7EB"/>
              </a:solidFill>
              <a:prstDash val="solid"/>
              <a:miter/>
            </a:ln>
          </p:spPr>
        </p:sp>
      </p:grpSp>
      <p:sp>
        <p:nvSpPr>
          <p:cNvPr name="TextBox 35" id="35"/>
          <p:cNvSpPr txBox="true"/>
          <p:nvPr/>
        </p:nvSpPr>
        <p:spPr>
          <a:xfrm rot="0">
            <a:off x="1130570" y="5739479"/>
            <a:ext cx="4772025" cy="435483"/>
          </a:xfrm>
          <a:prstGeom prst="rect">
            <a:avLst/>
          </a:prstGeom>
        </p:spPr>
        <p:txBody>
          <a:bodyPr anchor="t" rtlCol="false" tIns="0" lIns="0" bIns="0" rIns="0">
            <a:spAutoFit/>
          </a:bodyPr>
          <a:lstStyle/>
          <a:p>
            <a:pPr algn="l">
              <a:lnSpc>
                <a:spcPts val="3456"/>
              </a:lnSpc>
            </a:pPr>
            <a:r>
              <a:rPr lang="en-US" sz="2300">
                <a:solidFill>
                  <a:srgbClr val="1A1A2E"/>
                </a:solidFill>
                <a:latin typeface="Arimo"/>
                <a:ea typeface="Arimo"/>
                <a:cs typeface="Arimo"/>
                <a:sym typeface="Arimo"/>
              </a:rPr>
              <a:t>Freemium</a:t>
            </a:r>
          </a:p>
        </p:txBody>
      </p:sp>
      <p:sp>
        <p:nvSpPr>
          <p:cNvPr name="TextBox 36" id="36"/>
          <p:cNvSpPr txBox="true"/>
          <p:nvPr/>
        </p:nvSpPr>
        <p:spPr>
          <a:xfrm rot="0">
            <a:off x="1130570" y="6308312"/>
            <a:ext cx="610344" cy="585978"/>
          </a:xfrm>
          <a:prstGeom prst="rect">
            <a:avLst/>
          </a:prstGeom>
        </p:spPr>
        <p:txBody>
          <a:bodyPr anchor="t" rtlCol="false" tIns="0" lIns="0" bIns="0" rIns="0">
            <a:spAutoFit/>
          </a:bodyPr>
          <a:lstStyle/>
          <a:p>
            <a:pPr algn="l">
              <a:lnSpc>
                <a:spcPts val="4320"/>
              </a:lnSpc>
            </a:pPr>
            <a:r>
              <a:rPr lang="en-US" sz="4320" b="true">
                <a:solidFill>
                  <a:srgbClr val="1A1A2E"/>
                </a:solidFill>
                <a:latin typeface="Arimo Bold"/>
                <a:ea typeface="Arimo Bold"/>
                <a:cs typeface="Arimo Bold"/>
                <a:sym typeface="Arimo Bold"/>
              </a:rPr>
              <a:t>$0</a:t>
            </a:r>
          </a:p>
        </p:txBody>
      </p:sp>
      <p:sp>
        <p:nvSpPr>
          <p:cNvPr name="TextBox 37" id="37"/>
          <p:cNvSpPr txBox="true"/>
          <p:nvPr/>
        </p:nvSpPr>
        <p:spPr>
          <a:xfrm rot="0">
            <a:off x="1180128" y="6896957"/>
            <a:ext cx="4772025" cy="285750"/>
          </a:xfrm>
          <a:prstGeom prst="rect">
            <a:avLst/>
          </a:prstGeom>
        </p:spPr>
        <p:txBody>
          <a:bodyPr anchor="t" rtlCol="false" tIns="0" lIns="0" bIns="0" rIns="0">
            <a:spAutoFit/>
          </a:bodyPr>
          <a:lstStyle/>
          <a:p>
            <a:pPr algn="l">
              <a:lnSpc>
                <a:spcPts val="1944"/>
              </a:lnSpc>
            </a:pPr>
            <a:r>
              <a:rPr lang="en-US" sz="1300">
                <a:solidFill>
                  <a:srgbClr val="6B7280"/>
                </a:solidFill>
                <a:latin typeface="Inter"/>
                <a:ea typeface="Inter"/>
                <a:cs typeface="Inter"/>
                <a:sym typeface="Inter"/>
              </a:rPr>
              <a:t>per month</a:t>
            </a:r>
          </a:p>
        </p:txBody>
      </p:sp>
      <p:sp>
        <p:nvSpPr>
          <p:cNvPr name="TextBox 38" id="38"/>
          <p:cNvSpPr txBox="true"/>
          <p:nvPr/>
        </p:nvSpPr>
        <p:spPr>
          <a:xfrm rot="0">
            <a:off x="1181024" y="7248601"/>
            <a:ext cx="4772025" cy="1528191"/>
          </a:xfrm>
          <a:prstGeom prst="rect">
            <a:avLst/>
          </a:prstGeom>
        </p:spPr>
        <p:txBody>
          <a:bodyPr anchor="t" rtlCol="false" tIns="0" lIns="0" bIns="0" rIns="0">
            <a:spAutoFit/>
          </a:bodyPr>
          <a:lstStyle/>
          <a:p>
            <a:pPr algn="l" marL="354075" indent="-177037" lvl="1">
              <a:lnSpc>
                <a:spcPts val="2459"/>
              </a:lnSpc>
              <a:buFont typeface="Arial"/>
              <a:buChar char="•"/>
            </a:pPr>
            <a:r>
              <a:rPr lang="en-US" sz="1639">
                <a:solidFill>
                  <a:srgbClr val="595959"/>
                </a:solidFill>
                <a:latin typeface="Arimo"/>
                <a:ea typeface="Arimo"/>
                <a:cs typeface="Arimo"/>
                <a:sym typeface="Arimo"/>
              </a:rPr>
              <a:t>Basic m</a:t>
            </a:r>
            <a:r>
              <a:rPr lang="en-US" sz="1639">
                <a:solidFill>
                  <a:srgbClr val="595959"/>
                </a:solidFill>
                <a:latin typeface="Arimo"/>
                <a:ea typeface="Arimo"/>
                <a:cs typeface="Arimo"/>
                <a:sym typeface="Arimo"/>
              </a:rPr>
              <a:t>edication reminders</a:t>
            </a:r>
          </a:p>
          <a:p>
            <a:pPr algn="l" marL="354075" indent="-177037" lvl="1">
              <a:lnSpc>
                <a:spcPts val="2459"/>
              </a:lnSpc>
              <a:buFont typeface="Arial"/>
              <a:buChar char="•"/>
            </a:pPr>
            <a:r>
              <a:rPr lang="en-US" sz="1639">
                <a:solidFill>
                  <a:srgbClr val="595959"/>
                </a:solidFill>
                <a:latin typeface="Arimo"/>
                <a:ea typeface="Arimo"/>
                <a:cs typeface="Arimo"/>
                <a:sym typeface="Arimo"/>
              </a:rPr>
              <a:t>Basic medication search</a:t>
            </a:r>
          </a:p>
          <a:p>
            <a:pPr algn="l" marL="354075" indent="-177037" lvl="1">
              <a:lnSpc>
                <a:spcPts val="2459"/>
              </a:lnSpc>
              <a:buFont typeface="Arial"/>
              <a:buChar char="•"/>
            </a:pPr>
            <a:r>
              <a:rPr lang="en-US" sz="1639">
                <a:solidFill>
                  <a:srgbClr val="595959"/>
                </a:solidFill>
                <a:latin typeface="Arimo"/>
                <a:ea typeface="Arimo"/>
                <a:cs typeface="Arimo"/>
                <a:sym typeface="Arimo"/>
              </a:rPr>
              <a:t>Simple daily medication list</a:t>
            </a:r>
          </a:p>
          <a:p>
            <a:pPr algn="l" marL="354075" indent="-177037" lvl="1">
              <a:lnSpc>
                <a:spcPts val="2459"/>
              </a:lnSpc>
              <a:buFont typeface="Arial"/>
              <a:buChar char="•"/>
            </a:pPr>
            <a:r>
              <a:rPr lang="en-US" sz="1639">
                <a:solidFill>
                  <a:srgbClr val="595959"/>
                </a:solidFill>
                <a:latin typeface="Arimo"/>
                <a:ea typeface="Arimo"/>
                <a:cs typeface="Arimo"/>
                <a:sym typeface="Arimo"/>
              </a:rPr>
              <a:t>Limited saved medications</a:t>
            </a:r>
          </a:p>
          <a:p>
            <a:pPr algn="l">
              <a:lnSpc>
                <a:spcPts val="2459"/>
              </a:lnSpc>
            </a:pPr>
          </a:p>
        </p:txBody>
      </p:sp>
      <p:grpSp>
        <p:nvGrpSpPr>
          <p:cNvPr name="Group 39" id="39"/>
          <p:cNvGrpSpPr/>
          <p:nvPr/>
        </p:nvGrpSpPr>
        <p:grpSpPr>
          <a:xfrm rot="0">
            <a:off x="6486449" y="5555304"/>
            <a:ext cx="5314950" cy="3914775"/>
            <a:chOff x="0" y="0"/>
            <a:chExt cx="7086600" cy="5219700"/>
          </a:xfrm>
        </p:grpSpPr>
        <p:sp>
          <p:nvSpPr>
            <p:cNvPr name="Freeform 40" id="40"/>
            <p:cNvSpPr/>
            <p:nvPr/>
          </p:nvSpPr>
          <p:spPr>
            <a:xfrm flipH="false" flipV="false" rot="0">
              <a:off x="0" y="0"/>
              <a:ext cx="7086600" cy="5219700"/>
            </a:xfrm>
            <a:custGeom>
              <a:avLst/>
              <a:gdLst/>
              <a:ahLst/>
              <a:cxnLst/>
              <a:rect r="r" b="b" t="t" l="l"/>
              <a:pathLst>
                <a:path h="5219700" w="7086600">
                  <a:moveTo>
                    <a:pt x="0" y="244475"/>
                  </a:moveTo>
                  <a:cubicBezTo>
                    <a:pt x="0" y="109474"/>
                    <a:pt x="109474" y="0"/>
                    <a:pt x="244475" y="0"/>
                  </a:cubicBezTo>
                  <a:lnTo>
                    <a:pt x="6842125" y="0"/>
                  </a:lnTo>
                  <a:cubicBezTo>
                    <a:pt x="6977126" y="0"/>
                    <a:pt x="7086600" y="109474"/>
                    <a:pt x="7086600" y="244475"/>
                  </a:cubicBezTo>
                  <a:lnTo>
                    <a:pt x="7086600" y="4975225"/>
                  </a:lnTo>
                  <a:cubicBezTo>
                    <a:pt x="7086600" y="5110226"/>
                    <a:pt x="6977126" y="5219700"/>
                    <a:pt x="6842125" y="5219700"/>
                  </a:cubicBezTo>
                  <a:lnTo>
                    <a:pt x="244475" y="5219700"/>
                  </a:lnTo>
                  <a:cubicBezTo>
                    <a:pt x="109474" y="5219700"/>
                    <a:pt x="0" y="5110226"/>
                    <a:pt x="0" y="4975225"/>
                  </a:cubicBezTo>
                  <a:close/>
                </a:path>
              </a:pathLst>
            </a:custGeom>
            <a:solidFill>
              <a:srgbClr val="ECFAF2"/>
            </a:solidFill>
            <a:ln w="9526" cap="sq">
              <a:solidFill>
                <a:srgbClr val="ECFAF2"/>
              </a:solidFill>
              <a:prstDash val="solid"/>
              <a:miter/>
            </a:ln>
          </p:spPr>
        </p:sp>
      </p:grpSp>
      <p:grpSp>
        <p:nvGrpSpPr>
          <p:cNvPr name="Group 41" id="41"/>
          <p:cNvGrpSpPr/>
          <p:nvPr/>
        </p:nvGrpSpPr>
        <p:grpSpPr>
          <a:xfrm rot="0">
            <a:off x="9875415" y="5424192"/>
            <a:ext cx="1704975" cy="329957"/>
            <a:chOff x="0" y="0"/>
            <a:chExt cx="2273300" cy="439943"/>
          </a:xfrm>
        </p:grpSpPr>
        <p:sp>
          <p:nvSpPr>
            <p:cNvPr name="Freeform 42" id="42"/>
            <p:cNvSpPr/>
            <p:nvPr/>
          </p:nvSpPr>
          <p:spPr>
            <a:xfrm flipH="false" flipV="false" rot="0">
              <a:off x="0" y="0"/>
              <a:ext cx="2273300" cy="439943"/>
            </a:xfrm>
            <a:custGeom>
              <a:avLst/>
              <a:gdLst/>
              <a:ahLst/>
              <a:cxnLst/>
              <a:rect r="r" b="b" t="t" l="l"/>
              <a:pathLst>
                <a:path h="439943" w="2273300">
                  <a:moveTo>
                    <a:pt x="0" y="219971"/>
                  </a:moveTo>
                  <a:cubicBezTo>
                    <a:pt x="0" y="98521"/>
                    <a:pt x="93853" y="0"/>
                    <a:pt x="209550" y="0"/>
                  </a:cubicBezTo>
                  <a:lnTo>
                    <a:pt x="2063750" y="0"/>
                  </a:lnTo>
                  <a:cubicBezTo>
                    <a:pt x="2179447" y="0"/>
                    <a:pt x="2273300" y="98521"/>
                    <a:pt x="2273300" y="219971"/>
                  </a:cubicBezTo>
                  <a:cubicBezTo>
                    <a:pt x="2273300" y="341422"/>
                    <a:pt x="2179447" y="439943"/>
                    <a:pt x="2063750" y="439943"/>
                  </a:cubicBezTo>
                  <a:lnTo>
                    <a:pt x="209550" y="439943"/>
                  </a:lnTo>
                  <a:cubicBezTo>
                    <a:pt x="93853" y="439943"/>
                    <a:pt x="0" y="341422"/>
                    <a:pt x="0" y="219971"/>
                  </a:cubicBezTo>
                  <a:close/>
                </a:path>
              </a:pathLst>
            </a:custGeom>
            <a:solidFill>
              <a:srgbClr val="2ECC71"/>
            </a:solidFill>
          </p:spPr>
        </p:sp>
        <p:sp>
          <p:nvSpPr>
            <p:cNvPr name="TextBox 43" id="43"/>
            <p:cNvSpPr txBox="true"/>
            <p:nvPr/>
          </p:nvSpPr>
          <p:spPr>
            <a:xfrm>
              <a:off x="0" y="-47625"/>
              <a:ext cx="2273300" cy="487568"/>
            </a:xfrm>
            <a:prstGeom prst="rect">
              <a:avLst/>
            </a:prstGeom>
          </p:spPr>
          <p:txBody>
            <a:bodyPr anchor="t" rtlCol="false" tIns="50800" lIns="50800" bIns="50800" rIns="50800"/>
            <a:lstStyle/>
            <a:p>
              <a:pPr algn="ctr">
                <a:lnSpc>
                  <a:spcPts val="1836"/>
                </a:lnSpc>
              </a:pPr>
              <a:r>
                <a:rPr lang="en-US" b="true" sz="1220" spc="61">
                  <a:solidFill>
                    <a:srgbClr val="1A1A2E"/>
                  </a:solidFill>
                  <a:latin typeface="Inter Bold"/>
                  <a:ea typeface="Inter Bold"/>
                  <a:cs typeface="Inter Bold"/>
                  <a:sym typeface="Inter Bold"/>
                </a:rPr>
                <a:t>MOST POPULAR</a:t>
              </a:r>
            </a:p>
          </p:txBody>
        </p:sp>
      </p:grpSp>
      <p:sp>
        <p:nvSpPr>
          <p:cNvPr name="TextBox 44" id="44"/>
          <p:cNvSpPr txBox="true"/>
          <p:nvPr/>
        </p:nvSpPr>
        <p:spPr>
          <a:xfrm rot="0">
            <a:off x="6757911" y="5768054"/>
            <a:ext cx="821409" cy="435483"/>
          </a:xfrm>
          <a:prstGeom prst="rect">
            <a:avLst/>
          </a:prstGeom>
        </p:spPr>
        <p:txBody>
          <a:bodyPr anchor="t" rtlCol="false" tIns="0" lIns="0" bIns="0" rIns="0">
            <a:spAutoFit/>
          </a:bodyPr>
          <a:lstStyle/>
          <a:p>
            <a:pPr algn="l">
              <a:lnSpc>
                <a:spcPts val="3456"/>
              </a:lnSpc>
            </a:pPr>
            <a:r>
              <a:rPr lang="en-US" sz="2300">
                <a:solidFill>
                  <a:srgbClr val="595959"/>
                </a:solidFill>
                <a:latin typeface="Arimo"/>
                <a:ea typeface="Arimo"/>
                <a:cs typeface="Arimo"/>
                <a:sym typeface="Arimo"/>
              </a:rPr>
              <a:t>Care+</a:t>
            </a:r>
          </a:p>
        </p:txBody>
      </p:sp>
      <p:sp>
        <p:nvSpPr>
          <p:cNvPr name="TextBox 45" id="45"/>
          <p:cNvSpPr txBox="true"/>
          <p:nvPr/>
        </p:nvSpPr>
        <p:spPr>
          <a:xfrm rot="0">
            <a:off x="6757911" y="6308312"/>
            <a:ext cx="610344" cy="585978"/>
          </a:xfrm>
          <a:prstGeom prst="rect">
            <a:avLst/>
          </a:prstGeom>
        </p:spPr>
        <p:txBody>
          <a:bodyPr anchor="t" rtlCol="false" tIns="0" lIns="0" bIns="0" rIns="0">
            <a:spAutoFit/>
          </a:bodyPr>
          <a:lstStyle/>
          <a:p>
            <a:pPr algn="l">
              <a:lnSpc>
                <a:spcPts val="4320"/>
              </a:lnSpc>
            </a:pPr>
            <a:r>
              <a:rPr lang="en-US" sz="4320" b="true">
                <a:solidFill>
                  <a:srgbClr val="2ECC71"/>
                </a:solidFill>
                <a:latin typeface="Arimo Bold"/>
                <a:ea typeface="Arimo Bold"/>
                <a:cs typeface="Arimo Bold"/>
                <a:sym typeface="Arimo Bold"/>
              </a:rPr>
              <a:t>$6</a:t>
            </a:r>
          </a:p>
        </p:txBody>
      </p:sp>
      <p:sp>
        <p:nvSpPr>
          <p:cNvPr name="TextBox 46" id="46"/>
          <p:cNvSpPr txBox="true"/>
          <p:nvPr/>
        </p:nvSpPr>
        <p:spPr>
          <a:xfrm rot="0">
            <a:off x="6757911" y="6877907"/>
            <a:ext cx="4772025" cy="246507"/>
          </a:xfrm>
          <a:prstGeom prst="rect">
            <a:avLst/>
          </a:prstGeom>
        </p:spPr>
        <p:txBody>
          <a:bodyPr anchor="t" rtlCol="false" tIns="0" lIns="0" bIns="0" rIns="0">
            <a:spAutoFit/>
          </a:bodyPr>
          <a:lstStyle/>
          <a:p>
            <a:pPr algn="l">
              <a:lnSpc>
                <a:spcPts val="1944"/>
              </a:lnSpc>
            </a:pPr>
            <a:r>
              <a:rPr lang="en-US" sz="1300">
                <a:solidFill>
                  <a:srgbClr val="6B7280"/>
                </a:solidFill>
                <a:latin typeface="Arimo"/>
                <a:ea typeface="Arimo"/>
                <a:cs typeface="Arimo"/>
                <a:sym typeface="Arimo"/>
              </a:rPr>
              <a:t>per month</a:t>
            </a:r>
          </a:p>
        </p:txBody>
      </p:sp>
      <p:sp>
        <p:nvSpPr>
          <p:cNvPr name="TextBox 47" id="47"/>
          <p:cNvSpPr txBox="true"/>
          <p:nvPr/>
        </p:nvSpPr>
        <p:spPr>
          <a:xfrm rot="0">
            <a:off x="6757911" y="7175364"/>
            <a:ext cx="4772025" cy="1832991"/>
          </a:xfrm>
          <a:prstGeom prst="rect">
            <a:avLst/>
          </a:prstGeom>
        </p:spPr>
        <p:txBody>
          <a:bodyPr anchor="t" rtlCol="false" tIns="0" lIns="0" bIns="0" rIns="0">
            <a:spAutoFit/>
          </a:bodyPr>
          <a:lstStyle/>
          <a:p>
            <a:pPr algn="l" marL="354077" indent="-177038" lvl="1">
              <a:lnSpc>
                <a:spcPts val="2460"/>
              </a:lnSpc>
              <a:buFont typeface="Arial"/>
              <a:buChar char="•"/>
            </a:pPr>
            <a:r>
              <a:rPr lang="en-US" sz="1640">
                <a:solidFill>
                  <a:srgbClr val="595959"/>
                </a:solidFill>
                <a:latin typeface="Arimo"/>
                <a:ea typeface="Arimo"/>
                <a:cs typeface="Arimo"/>
                <a:sym typeface="Arimo"/>
              </a:rPr>
              <a:t>P</a:t>
            </a:r>
            <a:r>
              <a:rPr lang="en-US" sz="1640">
                <a:solidFill>
                  <a:srgbClr val="595959"/>
                </a:solidFill>
                <a:latin typeface="Arimo"/>
                <a:ea typeface="Arimo"/>
                <a:cs typeface="Arimo"/>
                <a:sym typeface="Arimo"/>
              </a:rPr>
              <a:t>ersonalized medication scheduling</a:t>
            </a:r>
          </a:p>
          <a:p>
            <a:pPr algn="l" marL="354077" indent="-177038" lvl="1">
              <a:lnSpc>
                <a:spcPts val="2460"/>
              </a:lnSpc>
              <a:buFont typeface="Arial"/>
              <a:buChar char="•"/>
            </a:pPr>
            <a:r>
              <a:rPr lang="en-US" sz="1640">
                <a:solidFill>
                  <a:srgbClr val="595959"/>
                </a:solidFill>
                <a:latin typeface="Arimo"/>
                <a:ea typeface="Arimo"/>
                <a:cs typeface="Arimo"/>
                <a:sym typeface="Arimo"/>
              </a:rPr>
              <a:t>Medical profile for allergies and conditions</a:t>
            </a:r>
          </a:p>
          <a:p>
            <a:pPr algn="l" marL="354077" indent="-177038" lvl="1">
              <a:lnSpc>
                <a:spcPts val="2460"/>
              </a:lnSpc>
              <a:buFont typeface="Arial"/>
              <a:buChar char="•"/>
            </a:pPr>
            <a:r>
              <a:rPr lang="en-US" sz="1640">
                <a:solidFill>
                  <a:srgbClr val="595959"/>
                </a:solidFill>
                <a:latin typeface="Arimo"/>
                <a:ea typeface="Arimo"/>
                <a:cs typeface="Arimo"/>
                <a:sym typeface="Arimo"/>
              </a:rPr>
              <a:t>Safety warnings before adding medications</a:t>
            </a:r>
          </a:p>
          <a:p>
            <a:pPr algn="l" marL="354077" indent="-177038" lvl="1">
              <a:lnSpc>
                <a:spcPts val="2460"/>
              </a:lnSpc>
              <a:buFont typeface="Arial"/>
              <a:buChar char="•"/>
            </a:pPr>
            <a:r>
              <a:rPr lang="en-US" sz="1640">
                <a:solidFill>
                  <a:srgbClr val="595959"/>
                </a:solidFill>
                <a:latin typeface="Arimo"/>
                <a:ea typeface="Arimo"/>
                <a:cs typeface="Arimo"/>
                <a:sym typeface="Arimo"/>
              </a:rPr>
              <a:t>Refill reminders</a:t>
            </a:r>
          </a:p>
          <a:p>
            <a:pPr algn="l" marL="354077" indent="-177038" lvl="1">
              <a:lnSpc>
                <a:spcPts val="2460"/>
              </a:lnSpc>
              <a:buFont typeface="Arial"/>
              <a:buChar char="•"/>
            </a:pPr>
            <a:r>
              <a:rPr lang="en-US" sz="1640">
                <a:solidFill>
                  <a:srgbClr val="595959"/>
                </a:solidFill>
                <a:latin typeface="Arimo"/>
                <a:ea typeface="Arimo"/>
                <a:cs typeface="Arimo"/>
                <a:sym typeface="Arimo"/>
              </a:rPr>
              <a:t>Medication history</a:t>
            </a:r>
          </a:p>
          <a:p>
            <a:pPr algn="l">
              <a:lnSpc>
                <a:spcPts val="2460"/>
              </a:lnSpc>
            </a:pPr>
          </a:p>
        </p:txBody>
      </p:sp>
      <p:grpSp>
        <p:nvGrpSpPr>
          <p:cNvPr name="Group 48" id="48"/>
          <p:cNvGrpSpPr/>
          <p:nvPr/>
        </p:nvGrpSpPr>
        <p:grpSpPr>
          <a:xfrm rot="0">
            <a:off x="12064232" y="5555304"/>
            <a:ext cx="5314950" cy="3914775"/>
            <a:chOff x="0" y="0"/>
            <a:chExt cx="7086600" cy="5219700"/>
          </a:xfrm>
        </p:grpSpPr>
        <p:sp>
          <p:nvSpPr>
            <p:cNvPr name="Freeform 49" id="49"/>
            <p:cNvSpPr/>
            <p:nvPr/>
          </p:nvSpPr>
          <p:spPr>
            <a:xfrm flipH="false" flipV="false" rot="0">
              <a:off x="0" y="0"/>
              <a:ext cx="7086600" cy="5219700"/>
            </a:xfrm>
            <a:custGeom>
              <a:avLst/>
              <a:gdLst/>
              <a:ahLst/>
              <a:cxnLst/>
              <a:rect r="r" b="b" t="t" l="l"/>
              <a:pathLst>
                <a:path h="5219700" w="7086600">
                  <a:moveTo>
                    <a:pt x="0" y="244475"/>
                  </a:moveTo>
                  <a:cubicBezTo>
                    <a:pt x="0" y="109474"/>
                    <a:pt x="109474" y="0"/>
                    <a:pt x="244475" y="0"/>
                  </a:cubicBezTo>
                  <a:lnTo>
                    <a:pt x="6842125" y="0"/>
                  </a:lnTo>
                  <a:cubicBezTo>
                    <a:pt x="6977126" y="0"/>
                    <a:pt x="7086600" y="109474"/>
                    <a:pt x="7086600" y="244475"/>
                  </a:cubicBezTo>
                  <a:lnTo>
                    <a:pt x="7086600" y="4975225"/>
                  </a:lnTo>
                  <a:cubicBezTo>
                    <a:pt x="7086600" y="5110226"/>
                    <a:pt x="6977126" y="5219700"/>
                    <a:pt x="6842125" y="5219700"/>
                  </a:cubicBezTo>
                  <a:lnTo>
                    <a:pt x="244475" y="5219700"/>
                  </a:lnTo>
                  <a:cubicBezTo>
                    <a:pt x="109474" y="5219700"/>
                    <a:pt x="0" y="5110226"/>
                    <a:pt x="0" y="4975225"/>
                  </a:cubicBezTo>
                  <a:close/>
                </a:path>
              </a:pathLst>
            </a:custGeom>
            <a:solidFill>
              <a:srgbClr val="FFFFFF"/>
            </a:solidFill>
            <a:ln w="9526" cap="sq">
              <a:solidFill>
                <a:srgbClr val="E5E7EB"/>
              </a:solidFill>
              <a:prstDash val="solid"/>
              <a:miter/>
            </a:ln>
          </p:spPr>
        </p:sp>
      </p:grpSp>
      <p:sp>
        <p:nvSpPr>
          <p:cNvPr name="TextBox 50" id="50"/>
          <p:cNvSpPr txBox="true"/>
          <p:nvPr/>
        </p:nvSpPr>
        <p:spPr>
          <a:xfrm rot="0">
            <a:off x="12335694" y="5739479"/>
            <a:ext cx="4772025" cy="435483"/>
          </a:xfrm>
          <a:prstGeom prst="rect">
            <a:avLst/>
          </a:prstGeom>
        </p:spPr>
        <p:txBody>
          <a:bodyPr anchor="t" rtlCol="false" tIns="0" lIns="0" bIns="0" rIns="0">
            <a:spAutoFit/>
          </a:bodyPr>
          <a:lstStyle/>
          <a:p>
            <a:pPr algn="l">
              <a:lnSpc>
                <a:spcPts val="3456"/>
              </a:lnSpc>
            </a:pPr>
            <a:r>
              <a:rPr lang="en-US" sz="2300">
                <a:solidFill>
                  <a:srgbClr val="1A1A2E"/>
                </a:solidFill>
                <a:latin typeface="Arimo"/>
                <a:ea typeface="Arimo"/>
                <a:cs typeface="Arimo"/>
                <a:sym typeface="Arimo"/>
              </a:rPr>
              <a:t>Family</a:t>
            </a:r>
          </a:p>
        </p:txBody>
      </p:sp>
      <p:sp>
        <p:nvSpPr>
          <p:cNvPr name="TextBox 51" id="51"/>
          <p:cNvSpPr txBox="true"/>
          <p:nvPr/>
        </p:nvSpPr>
        <p:spPr>
          <a:xfrm rot="0">
            <a:off x="12334799" y="6308312"/>
            <a:ext cx="610344" cy="585978"/>
          </a:xfrm>
          <a:prstGeom prst="rect">
            <a:avLst/>
          </a:prstGeom>
        </p:spPr>
        <p:txBody>
          <a:bodyPr anchor="t" rtlCol="false" tIns="0" lIns="0" bIns="0" rIns="0">
            <a:spAutoFit/>
          </a:bodyPr>
          <a:lstStyle/>
          <a:p>
            <a:pPr algn="l">
              <a:lnSpc>
                <a:spcPts val="4320"/>
              </a:lnSpc>
            </a:pPr>
            <a:r>
              <a:rPr lang="en-US" sz="4320" b="true">
                <a:solidFill>
                  <a:srgbClr val="1A1A2E"/>
                </a:solidFill>
                <a:latin typeface="Arimo Bold"/>
                <a:ea typeface="Arimo Bold"/>
                <a:cs typeface="Arimo Bold"/>
                <a:sym typeface="Arimo Bold"/>
              </a:rPr>
              <a:t>$8</a:t>
            </a:r>
          </a:p>
        </p:txBody>
      </p:sp>
      <p:sp>
        <p:nvSpPr>
          <p:cNvPr name="TextBox 52" id="52"/>
          <p:cNvSpPr txBox="true"/>
          <p:nvPr/>
        </p:nvSpPr>
        <p:spPr>
          <a:xfrm rot="0">
            <a:off x="12335694" y="6876679"/>
            <a:ext cx="4772025" cy="285750"/>
          </a:xfrm>
          <a:prstGeom prst="rect">
            <a:avLst/>
          </a:prstGeom>
        </p:spPr>
        <p:txBody>
          <a:bodyPr anchor="t" rtlCol="false" tIns="0" lIns="0" bIns="0" rIns="0">
            <a:spAutoFit/>
          </a:bodyPr>
          <a:lstStyle/>
          <a:p>
            <a:pPr algn="l">
              <a:lnSpc>
                <a:spcPts val="1944"/>
              </a:lnSpc>
            </a:pPr>
            <a:r>
              <a:rPr lang="en-US" sz="1300">
                <a:solidFill>
                  <a:srgbClr val="6B7280"/>
                </a:solidFill>
                <a:latin typeface="Inter"/>
                <a:ea typeface="Inter"/>
                <a:cs typeface="Inter"/>
                <a:sym typeface="Inter"/>
              </a:rPr>
              <a:t>per month</a:t>
            </a:r>
          </a:p>
        </p:txBody>
      </p:sp>
      <p:sp>
        <p:nvSpPr>
          <p:cNvPr name="TextBox 53" id="53"/>
          <p:cNvSpPr txBox="true"/>
          <p:nvPr/>
        </p:nvSpPr>
        <p:spPr>
          <a:xfrm rot="0">
            <a:off x="12487275" y="7162429"/>
            <a:ext cx="4772025" cy="2137791"/>
          </a:xfrm>
          <a:prstGeom prst="rect">
            <a:avLst/>
          </a:prstGeom>
        </p:spPr>
        <p:txBody>
          <a:bodyPr anchor="t" rtlCol="false" tIns="0" lIns="0" bIns="0" rIns="0">
            <a:spAutoFit/>
          </a:bodyPr>
          <a:lstStyle/>
          <a:p>
            <a:pPr algn="l" marL="354075" indent="-177037" lvl="1">
              <a:lnSpc>
                <a:spcPts val="2459"/>
              </a:lnSpc>
              <a:buFont typeface="Arial"/>
              <a:buChar char="•"/>
            </a:pPr>
            <a:r>
              <a:rPr lang="en-US" sz="1639">
                <a:solidFill>
                  <a:srgbClr val="595959"/>
                </a:solidFill>
                <a:latin typeface="Arimo"/>
                <a:ea typeface="Arimo"/>
                <a:cs typeface="Arimo"/>
                <a:sym typeface="Arimo"/>
              </a:rPr>
              <a:t>Care+ f</a:t>
            </a:r>
            <a:r>
              <a:rPr lang="en-US" sz="1639">
                <a:solidFill>
                  <a:srgbClr val="595959"/>
                </a:solidFill>
                <a:latin typeface="Arimo"/>
                <a:ea typeface="Arimo"/>
                <a:cs typeface="Arimo"/>
                <a:sym typeface="Arimo"/>
              </a:rPr>
              <a:t>eatures for main user</a:t>
            </a:r>
          </a:p>
          <a:p>
            <a:pPr algn="l" marL="354075" indent="-177037" lvl="1">
              <a:lnSpc>
                <a:spcPts val="2459"/>
              </a:lnSpc>
              <a:buFont typeface="Arial"/>
              <a:buChar char="•"/>
            </a:pPr>
            <a:r>
              <a:rPr lang="en-US" sz="1639">
                <a:solidFill>
                  <a:srgbClr val="595959"/>
                </a:solidFill>
                <a:latin typeface="Arimo"/>
                <a:ea typeface="Arimo"/>
                <a:cs typeface="Arimo"/>
                <a:sym typeface="Arimo"/>
              </a:rPr>
              <a:t>Add up to 2 family members</a:t>
            </a:r>
          </a:p>
          <a:p>
            <a:pPr algn="l" marL="354075" indent="-177037" lvl="1">
              <a:lnSpc>
                <a:spcPts val="2459"/>
              </a:lnSpc>
              <a:buFont typeface="Arial"/>
              <a:buChar char="•"/>
            </a:pPr>
            <a:r>
              <a:rPr lang="en-US" sz="1639">
                <a:solidFill>
                  <a:srgbClr val="595959"/>
                </a:solidFill>
                <a:latin typeface="Arimo"/>
                <a:ea typeface="Arimo"/>
                <a:cs typeface="Arimo"/>
                <a:sym typeface="Arimo"/>
              </a:rPr>
              <a:t>Caregiver access and permissions</a:t>
            </a:r>
          </a:p>
          <a:p>
            <a:pPr algn="l" marL="354075" indent="-177037" lvl="1">
              <a:lnSpc>
                <a:spcPts val="2459"/>
              </a:lnSpc>
              <a:buFont typeface="Arial"/>
              <a:buChar char="•"/>
            </a:pPr>
            <a:r>
              <a:rPr lang="en-US" sz="1639">
                <a:solidFill>
                  <a:srgbClr val="595959"/>
                </a:solidFill>
                <a:latin typeface="Arimo"/>
                <a:ea typeface="Arimo"/>
                <a:cs typeface="Arimo"/>
                <a:sym typeface="Arimo"/>
              </a:rPr>
              <a:t>Shared medication schedules</a:t>
            </a:r>
          </a:p>
          <a:p>
            <a:pPr algn="l" marL="354075" indent="-177037" lvl="1">
              <a:lnSpc>
                <a:spcPts val="2459"/>
              </a:lnSpc>
              <a:buFont typeface="Arial"/>
              <a:buChar char="•"/>
            </a:pPr>
            <a:r>
              <a:rPr lang="en-US" sz="1639">
                <a:solidFill>
                  <a:srgbClr val="595959"/>
                </a:solidFill>
                <a:latin typeface="Arimo"/>
                <a:ea typeface="Arimo"/>
                <a:cs typeface="Arimo"/>
                <a:sym typeface="Arimo"/>
              </a:rPr>
              <a:t>Family safety support</a:t>
            </a:r>
          </a:p>
          <a:p>
            <a:pPr algn="l" marL="354075" indent="-177037" lvl="1">
              <a:lnSpc>
                <a:spcPts val="2459"/>
              </a:lnSpc>
              <a:buFont typeface="Arial"/>
              <a:buChar char="•"/>
            </a:pPr>
            <a:r>
              <a:rPr lang="en-US" sz="1639">
                <a:solidFill>
                  <a:srgbClr val="595959"/>
                </a:solidFill>
                <a:latin typeface="Arimo"/>
                <a:ea typeface="Arimo"/>
                <a:cs typeface="Arimo"/>
                <a:sym typeface="Arimo"/>
              </a:rPr>
              <a:t>2$ per additional family member</a:t>
            </a:r>
          </a:p>
          <a:p>
            <a:pPr algn="l">
              <a:lnSpc>
                <a:spcPts val="2459"/>
              </a:lnSpc>
            </a:pPr>
          </a:p>
        </p:txBody>
      </p:sp>
      <p:grpSp>
        <p:nvGrpSpPr>
          <p:cNvPr name="Group 54" id="54"/>
          <p:cNvGrpSpPr/>
          <p:nvPr/>
        </p:nvGrpSpPr>
        <p:grpSpPr>
          <a:xfrm rot="0">
            <a:off x="914400" y="9703222"/>
            <a:ext cx="16459200" cy="297293"/>
            <a:chOff x="0" y="0"/>
            <a:chExt cx="21945600" cy="396391"/>
          </a:xfrm>
        </p:grpSpPr>
        <p:sp>
          <p:nvSpPr>
            <p:cNvPr name="Freeform 55" id="55"/>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56" id="56"/>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57" id="57"/>
          <p:cNvGrpSpPr/>
          <p:nvPr/>
        </p:nvGrpSpPr>
        <p:grpSpPr>
          <a:xfrm rot="0">
            <a:off x="0" y="10247414"/>
            <a:ext cx="18288000" cy="38100"/>
            <a:chOff x="0" y="0"/>
            <a:chExt cx="24384000" cy="50800"/>
          </a:xfrm>
        </p:grpSpPr>
        <p:sp>
          <p:nvSpPr>
            <p:cNvPr name="Freeform 58" id="58"/>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47738"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63847"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980" y="352501"/>
            <a:ext cx="357187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13 · COMPANY STRUCTURE</a:t>
            </a:r>
          </a:p>
        </p:txBody>
      </p:sp>
      <p:sp>
        <p:nvSpPr>
          <p:cNvPr name="TextBox 8" id="8"/>
          <p:cNvSpPr txBox="true"/>
          <p:nvPr/>
        </p:nvSpPr>
        <p:spPr>
          <a:xfrm rot="0">
            <a:off x="16831342" y="352501"/>
            <a:ext cx="5429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15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Company Structure</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7186536" y="2676373"/>
            <a:ext cx="3914775" cy="1047750"/>
            <a:chOff x="0" y="0"/>
            <a:chExt cx="5219700" cy="1397000"/>
          </a:xfrm>
        </p:grpSpPr>
        <p:sp>
          <p:nvSpPr>
            <p:cNvPr name="Freeform 13" id="13"/>
            <p:cNvSpPr/>
            <p:nvPr/>
          </p:nvSpPr>
          <p:spPr>
            <a:xfrm flipH="false" flipV="false" rot="0">
              <a:off x="0" y="0"/>
              <a:ext cx="5219700" cy="1397000"/>
            </a:xfrm>
            <a:custGeom>
              <a:avLst/>
              <a:gdLst/>
              <a:ahLst/>
              <a:cxnLst/>
              <a:rect r="r" b="b" t="t" l="l"/>
              <a:pathLst>
                <a:path h="1397000" w="5219700">
                  <a:moveTo>
                    <a:pt x="0" y="243840"/>
                  </a:moveTo>
                  <a:cubicBezTo>
                    <a:pt x="0" y="109220"/>
                    <a:pt x="109220" y="0"/>
                    <a:pt x="243840" y="0"/>
                  </a:cubicBezTo>
                  <a:lnTo>
                    <a:pt x="4975860" y="0"/>
                  </a:lnTo>
                  <a:cubicBezTo>
                    <a:pt x="5110480" y="0"/>
                    <a:pt x="5219700" y="109220"/>
                    <a:pt x="5219700" y="243840"/>
                  </a:cubicBezTo>
                  <a:lnTo>
                    <a:pt x="5219700" y="1153160"/>
                  </a:lnTo>
                  <a:cubicBezTo>
                    <a:pt x="5219700" y="1287780"/>
                    <a:pt x="5110480" y="1397000"/>
                    <a:pt x="4975860" y="1397000"/>
                  </a:cubicBezTo>
                  <a:lnTo>
                    <a:pt x="243840" y="1397000"/>
                  </a:lnTo>
                  <a:cubicBezTo>
                    <a:pt x="109220" y="1397000"/>
                    <a:pt x="0" y="1287780"/>
                    <a:pt x="0" y="1153160"/>
                  </a:cubicBezTo>
                  <a:close/>
                </a:path>
              </a:pathLst>
            </a:custGeom>
            <a:solidFill>
              <a:srgbClr val="ECFAF2"/>
            </a:solidFill>
          </p:spPr>
        </p:sp>
      </p:grpSp>
      <p:grpSp>
        <p:nvGrpSpPr>
          <p:cNvPr name="Group 14" id="14"/>
          <p:cNvGrpSpPr/>
          <p:nvPr/>
        </p:nvGrpSpPr>
        <p:grpSpPr>
          <a:xfrm rot="0">
            <a:off x="7734300" y="2881160"/>
            <a:ext cx="638175" cy="638176"/>
            <a:chOff x="0" y="0"/>
            <a:chExt cx="850900" cy="850901"/>
          </a:xfrm>
        </p:grpSpPr>
        <p:sp>
          <p:nvSpPr>
            <p:cNvPr name="Freeform 15" id="15"/>
            <p:cNvSpPr/>
            <p:nvPr/>
          </p:nvSpPr>
          <p:spPr>
            <a:xfrm flipH="false" flipV="false" rot="0">
              <a:off x="0" y="0"/>
              <a:ext cx="850900" cy="850901"/>
            </a:xfrm>
            <a:custGeom>
              <a:avLst/>
              <a:gdLst/>
              <a:ahLst/>
              <a:cxnLst/>
              <a:rect r="r" b="b" t="t" l="l"/>
              <a:pathLst>
                <a:path h="850901" w="850900">
                  <a:moveTo>
                    <a:pt x="0" y="425451"/>
                  </a:moveTo>
                  <a:cubicBezTo>
                    <a:pt x="0" y="190500"/>
                    <a:pt x="190500" y="0"/>
                    <a:pt x="425450" y="0"/>
                  </a:cubicBezTo>
                  <a:cubicBezTo>
                    <a:pt x="660400" y="0"/>
                    <a:pt x="850900" y="190500"/>
                    <a:pt x="850900" y="425451"/>
                  </a:cubicBezTo>
                  <a:cubicBezTo>
                    <a:pt x="850900" y="660401"/>
                    <a:pt x="660400" y="850901"/>
                    <a:pt x="425450" y="850901"/>
                  </a:cubicBezTo>
                  <a:cubicBezTo>
                    <a:pt x="190500" y="850901"/>
                    <a:pt x="0" y="660401"/>
                    <a:pt x="0" y="425451"/>
                  </a:cubicBezTo>
                  <a:close/>
                </a:path>
              </a:pathLst>
            </a:custGeom>
            <a:solidFill>
              <a:srgbClr val="2ECC71"/>
            </a:solidFill>
          </p:spPr>
        </p:sp>
        <p:sp>
          <p:nvSpPr>
            <p:cNvPr name="TextBox 16" id="16"/>
            <p:cNvSpPr txBox="true"/>
            <p:nvPr/>
          </p:nvSpPr>
          <p:spPr>
            <a:xfrm>
              <a:off x="0" y="-57150"/>
              <a:ext cx="850900" cy="908051"/>
            </a:xfrm>
            <a:prstGeom prst="rect">
              <a:avLst/>
            </a:prstGeom>
          </p:spPr>
          <p:txBody>
            <a:bodyPr anchor="ctr" rtlCol="false" tIns="50800" lIns="50800" bIns="50800" rIns="50800"/>
            <a:lstStyle/>
            <a:p>
              <a:pPr algn="ctr">
                <a:lnSpc>
                  <a:spcPts val="2125"/>
                </a:lnSpc>
              </a:pPr>
              <a:r>
                <a:rPr lang="en-US" sz="1420" b="true">
                  <a:solidFill>
                    <a:srgbClr val="6B7280"/>
                  </a:solidFill>
                  <a:latin typeface="Arimo Bold"/>
                  <a:ea typeface="Arimo Bold"/>
                  <a:cs typeface="Arimo Bold"/>
                  <a:sym typeface="Arimo Bold"/>
                </a:rPr>
                <a:t>CEO</a:t>
              </a:r>
            </a:p>
          </p:txBody>
        </p:sp>
      </p:grpSp>
      <p:sp>
        <p:nvSpPr>
          <p:cNvPr name="TextBox 17" id="17"/>
          <p:cNvSpPr txBox="true"/>
          <p:nvPr/>
        </p:nvSpPr>
        <p:spPr>
          <a:xfrm rot="0">
            <a:off x="8555164" y="2878331"/>
            <a:ext cx="20002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CHIEF EXECUTIVE</a:t>
            </a:r>
          </a:p>
        </p:txBody>
      </p:sp>
      <p:sp>
        <p:nvSpPr>
          <p:cNvPr name="TextBox 18" id="18"/>
          <p:cNvSpPr txBox="true"/>
          <p:nvPr/>
        </p:nvSpPr>
        <p:spPr>
          <a:xfrm rot="0">
            <a:off x="8555164" y="3135811"/>
            <a:ext cx="2238226" cy="321183"/>
          </a:xfrm>
          <a:prstGeom prst="rect">
            <a:avLst/>
          </a:prstGeom>
        </p:spPr>
        <p:txBody>
          <a:bodyPr anchor="t" rtlCol="false" tIns="0" lIns="0" bIns="0" rIns="0">
            <a:spAutoFit/>
          </a:bodyPr>
          <a:lstStyle/>
          <a:p>
            <a:pPr algn="l">
              <a:lnSpc>
                <a:spcPts val="2519"/>
              </a:lnSpc>
            </a:pPr>
            <a:r>
              <a:rPr lang="en-US" b="true" sz="2019">
                <a:solidFill>
                  <a:srgbClr val="000000"/>
                </a:solidFill>
                <a:latin typeface="Arimo Bold"/>
                <a:ea typeface="Arimo Bold"/>
                <a:cs typeface="Arimo Bold"/>
                <a:sym typeface="Arimo Bold"/>
              </a:rPr>
              <a:t>Thamer Alrasheed</a:t>
            </a:r>
          </a:p>
        </p:txBody>
      </p:sp>
      <p:grpSp>
        <p:nvGrpSpPr>
          <p:cNvPr name="Group 19" id="19"/>
          <p:cNvGrpSpPr/>
          <p:nvPr/>
        </p:nvGrpSpPr>
        <p:grpSpPr>
          <a:xfrm rot="0">
            <a:off x="9124874" y="3726809"/>
            <a:ext cx="38100" cy="409575"/>
            <a:chOff x="0" y="0"/>
            <a:chExt cx="50800" cy="546100"/>
          </a:xfrm>
        </p:grpSpPr>
        <p:sp>
          <p:nvSpPr>
            <p:cNvPr name="Freeform 20" id="20"/>
            <p:cNvSpPr/>
            <p:nvPr/>
          </p:nvSpPr>
          <p:spPr>
            <a:xfrm flipH="false" flipV="false" rot="0">
              <a:off x="0" y="0"/>
              <a:ext cx="50800" cy="546100"/>
            </a:xfrm>
            <a:custGeom>
              <a:avLst/>
              <a:gdLst/>
              <a:ahLst/>
              <a:cxnLst/>
              <a:rect r="r" b="b" t="t" l="l"/>
              <a:pathLst>
                <a:path h="546100" w="50800">
                  <a:moveTo>
                    <a:pt x="0" y="0"/>
                  </a:moveTo>
                  <a:lnTo>
                    <a:pt x="50800" y="0"/>
                  </a:lnTo>
                  <a:lnTo>
                    <a:pt x="50800" y="546100"/>
                  </a:lnTo>
                  <a:lnTo>
                    <a:pt x="0" y="546100"/>
                  </a:lnTo>
                  <a:close/>
                </a:path>
              </a:pathLst>
            </a:custGeom>
            <a:solidFill>
              <a:srgbClr val="E5E7EB"/>
            </a:solidFill>
          </p:spPr>
        </p:sp>
      </p:grpSp>
      <p:grpSp>
        <p:nvGrpSpPr>
          <p:cNvPr name="Group 21" id="21"/>
          <p:cNvGrpSpPr/>
          <p:nvPr/>
        </p:nvGrpSpPr>
        <p:grpSpPr>
          <a:xfrm rot="0">
            <a:off x="12351868" y="4158186"/>
            <a:ext cx="38100" cy="304800"/>
            <a:chOff x="0" y="0"/>
            <a:chExt cx="50800" cy="406400"/>
          </a:xfrm>
        </p:grpSpPr>
        <p:sp>
          <p:nvSpPr>
            <p:cNvPr name="Freeform 22" id="22"/>
            <p:cNvSpPr/>
            <p:nvPr/>
          </p:nvSpPr>
          <p:spPr>
            <a:xfrm flipH="false" flipV="false" rot="0">
              <a:off x="0" y="0"/>
              <a:ext cx="50800" cy="406400"/>
            </a:xfrm>
            <a:custGeom>
              <a:avLst/>
              <a:gdLst/>
              <a:ahLst/>
              <a:cxnLst/>
              <a:rect r="r" b="b" t="t" l="l"/>
              <a:pathLst>
                <a:path h="406400" w="50800">
                  <a:moveTo>
                    <a:pt x="0" y="0"/>
                  </a:moveTo>
                  <a:lnTo>
                    <a:pt x="50800" y="0"/>
                  </a:lnTo>
                  <a:lnTo>
                    <a:pt x="50800" y="406400"/>
                  </a:lnTo>
                  <a:lnTo>
                    <a:pt x="0" y="406400"/>
                  </a:lnTo>
                  <a:close/>
                </a:path>
              </a:pathLst>
            </a:custGeom>
            <a:solidFill>
              <a:srgbClr val="E5E7EB"/>
            </a:solidFill>
          </p:spPr>
        </p:sp>
      </p:grpSp>
      <p:grpSp>
        <p:nvGrpSpPr>
          <p:cNvPr name="Group 23" id="23"/>
          <p:cNvGrpSpPr/>
          <p:nvPr/>
        </p:nvGrpSpPr>
        <p:grpSpPr>
          <a:xfrm rot="0">
            <a:off x="10726060" y="4459929"/>
            <a:ext cx="3574877" cy="2592233"/>
            <a:chOff x="0" y="0"/>
            <a:chExt cx="4766502" cy="3456310"/>
          </a:xfrm>
        </p:grpSpPr>
        <p:sp>
          <p:nvSpPr>
            <p:cNvPr name="Freeform 24" id="24"/>
            <p:cNvSpPr/>
            <p:nvPr/>
          </p:nvSpPr>
          <p:spPr>
            <a:xfrm flipH="false" flipV="false" rot="0">
              <a:off x="0" y="0"/>
              <a:ext cx="4766502" cy="3456310"/>
            </a:xfrm>
            <a:custGeom>
              <a:avLst/>
              <a:gdLst/>
              <a:ahLst/>
              <a:cxnLst/>
              <a:rect r="r" b="b" t="t" l="l"/>
              <a:pathLst>
                <a:path h="3456310" w="4766502">
                  <a:moveTo>
                    <a:pt x="0" y="296667"/>
                  </a:moveTo>
                  <a:cubicBezTo>
                    <a:pt x="0" y="132876"/>
                    <a:pt x="101803" y="0"/>
                    <a:pt x="227292" y="0"/>
                  </a:cubicBezTo>
                  <a:lnTo>
                    <a:pt x="4539210" y="0"/>
                  </a:lnTo>
                  <a:cubicBezTo>
                    <a:pt x="4664699" y="0"/>
                    <a:pt x="4766502" y="132876"/>
                    <a:pt x="4766502" y="296667"/>
                  </a:cubicBezTo>
                  <a:lnTo>
                    <a:pt x="4766502" y="3159644"/>
                  </a:lnTo>
                  <a:cubicBezTo>
                    <a:pt x="4766502" y="3323434"/>
                    <a:pt x="4664699" y="3456310"/>
                    <a:pt x="4539210" y="3456310"/>
                  </a:cubicBezTo>
                  <a:lnTo>
                    <a:pt x="227292" y="3456310"/>
                  </a:lnTo>
                  <a:cubicBezTo>
                    <a:pt x="101803" y="3456310"/>
                    <a:pt x="0" y="3323434"/>
                    <a:pt x="0" y="3159644"/>
                  </a:cubicBezTo>
                  <a:close/>
                </a:path>
              </a:pathLst>
            </a:custGeom>
            <a:solidFill>
              <a:srgbClr val="FFFFFF"/>
            </a:solidFill>
            <a:ln w="9526" cap="sq">
              <a:solidFill>
                <a:srgbClr val="E5E7EB"/>
              </a:solidFill>
              <a:prstDash val="solid"/>
              <a:miter/>
            </a:ln>
          </p:spPr>
        </p:sp>
      </p:grpSp>
      <p:grpSp>
        <p:nvGrpSpPr>
          <p:cNvPr name="Group 25" id="25"/>
          <p:cNvGrpSpPr/>
          <p:nvPr/>
        </p:nvGrpSpPr>
        <p:grpSpPr>
          <a:xfrm rot="0">
            <a:off x="12258106" y="4643160"/>
            <a:ext cx="510785" cy="503044"/>
            <a:chOff x="0" y="0"/>
            <a:chExt cx="681047" cy="670725"/>
          </a:xfrm>
        </p:grpSpPr>
        <p:sp>
          <p:nvSpPr>
            <p:cNvPr name="Freeform 26" id="26"/>
            <p:cNvSpPr/>
            <p:nvPr/>
          </p:nvSpPr>
          <p:spPr>
            <a:xfrm flipH="false" flipV="false" rot="0">
              <a:off x="0" y="0"/>
              <a:ext cx="681047" cy="670725"/>
            </a:xfrm>
            <a:custGeom>
              <a:avLst/>
              <a:gdLst/>
              <a:ahLst/>
              <a:cxnLst/>
              <a:rect r="r" b="b" t="t" l="l"/>
              <a:pathLst>
                <a:path h="670725" w="681047">
                  <a:moveTo>
                    <a:pt x="0" y="335363"/>
                  </a:moveTo>
                  <a:cubicBezTo>
                    <a:pt x="0" y="150214"/>
                    <a:pt x="152526" y="0"/>
                    <a:pt x="340523" y="0"/>
                  </a:cubicBezTo>
                  <a:cubicBezTo>
                    <a:pt x="528521" y="0"/>
                    <a:pt x="681047" y="150214"/>
                    <a:pt x="681047" y="335363"/>
                  </a:cubicBezTo>
                  <a:cubicBezTo>
                    <a:pt x="681047" y="520511"/>
                    <a:pt x="528521" y="670725"/>
                    <a:pt x="340523" y="670725"/>
                  </a:cubicBezTo>
                  <a:cubicBezTo>
                    <a:pt x="152526" y="670725"/>
                    <a:pt x="0" y="520511"/>
                    <a:pt x="0" y="335363"/>
                  </a:cubicBezTo>
                  <a:close/>
                </a:path>
              </a:pathLst>
            </a:custGeom>
            <a:solidFill>
              <a:srgbClr val="2FC972">
                <a:alpha val="1961"/>
              </a:srgbClr>
            </a:solidFill>
          </p:spPr>
        </p:sp>
        <p:sp>
          <p:nvSpPr>
            <p:cNvPr name="TextBox 27" id="27"/>
            <p:cNvSpPr txBox="true"/>
            <p:nvPr/>
          </p:nvSpPr>
          <p:spPr>
            <a:xfrm>
              <a:off x="0" y="-57150"/>
              <a:ext cx="681047" cy="727875"/>
            </a:xfrm>
            <a:prstGeom prst="rect">
              <a:avLst/>
            </a:prstGeom>
          </p:spPr>
          <p:txBody>
            <a:bodyPr anchor="ctr" rtlCol="false" tIns="50800" lIns="50800" bIns="50800" rIns="50800"/>
            <a:lstStyle/>
            <a:p>
              <a:pPr algn="ctr">
                <a:lnSpc>
                  <a:spcPts val="2052"/>
                </a:lnSpc>
              </a:pPr>
              <a:r>
                <a:rPr lang="en-US" sz="1360" b="true">
                  <a:solidFill>
                    <a:srgbClr val="2ECC71"/>
                  </a:solidFill>
                  <a:latin typeface="Arimo Bold"/>
                  <a:ea typeface="Arimo Bold"/>
                  <a:cs typeface="Arimo Bold"/>
                  <a:sym typeface="Arimo Bold"/>
                </a:rPr>
                <a:t>CTO</a:t>
              </a:r>
            </a:p>
          </p:txBody>
        </p:sp>
      </p:grpSp>
      <p:sp>
        <p:nvSpPr>
          <p:cNvPr name="TextBox 28" id="28"/>
          <p:cNvSpPr txBox="true"/>
          <p:nvPr/>
        </p:nvSpPr>
        <p:spPr>
          <a:xfrm rot="0">
            <a:off x="11170473" y="5261558"/>
            <a:ext cx="2686050" cy="257175"/>
          </a:xfrm>
          <a:prstGeom prst="rect">
            <a:avLst/>
          </a:prstGeom>
        </p:spPr>
        <p:txBody>
          <a:bodyPr anchor="t" rtlCol="false" tIns="0" lIns="0" bIns="0" rIns="0">
            <a:spAutoFit/>
          </a:bodyPr>
          <a:lstStyle/>
          <a:p>
            <a:pPr algn="ctr">
              <a:lnSpc>
                <a:spcPts val="1727"/>
              </a:lnSpc>
            </a:pPr>
            <a:r>
              <a:rPr lang="en-US" b="true" sz="1159" spc="57">
                <a:solidFill>
                  <a:srgbClr val="2ECC71"/>
                </a:solidFill>
                <a:latin typeface="Inter Bold"/>
                <a:ea typeface="Inter Bold"/>
                <a:cs typeface="Inter Bold"/>
                <a:sym typeface="Inter Bold"/>
              </a:rPr>
              <a:t>TECH</a:t>
            </a:r>
          </a:p>
        </p:txBody>
      </p:sp>
      <p:sp>
        <p:nvSpPr>
          <p:cNvPr name="TextBox 29" id="29"/>
          <p:cNvSpPr txBox="true"/>
          <p:nvPr/>
        </p:nvSpPr>
        <p:spPr>
          <a:xfrm rot="0">
            <a:off x="11722179" y="5532715"/>
            <a:ext cx="1582638" cy="256032"/>
          </a:xfrm>
          <a:prstGeom prst="rect">
            <a:avLst/>
          </a:prstGeom>
        </p:spPr>
        <p:txBody>
          <a:bodyPr anchor="t" rtlCol="false" tIns="0" lIns="0" bIns="0" rIns="0">
            <a:spAutoFit/>
          </a:bodyPr>
          <a:lstStyle/>
          <a:p>
            <a:pPr algn="ctr">
              <a:lnSpc>
                <a:spcPts val="1980"/>
              </a:lnSpc>
            </a:pPr>
            <a:r>
              <a:rPr lang="en-US" sz="1580" b="true">
                <a:solidFill>
                  <a:srgbClr val="1A1A2E"/>
                </a:solidFill>
                <a:latin typeface="Arimo Bold"/>
                <a:ea typeface="Arimo Bold"/>
                <a:cs typeface="Arimo Bold"/>
                <a:sym typeface="Arimo Bold"/>
              </a:rPr>
              <a:t>Aida Almashooq</a:t>
            </a:r>
          </a:p>
        </p:txBody>
      </p:sp>
      <p:sp>
        <p:nvSpPr>
          <p:cNvPr name="TextBox 30" id="30"/>
          <p:cNvSpPr txBox="true"/>
          <p:nvPr/>
        </p:nvSpPr>
        <p:spPr>
          <a:xfrm rot="0">
            <a:off x="10793391" y="5893522"/>
            <a:ext cx="3472993" cy="914781"/>
          </a:xfrm>
          <a:prstGeom prst="rect">
            <a:avLst/>
          </a:prstGeom>
        </p:spPr>
        <p:txBody>
          <a:bodyPr anchor="t" rtlCol="false" tIns="0" lIns="0" bIns="0" rIns="0">
            <a:spAutoFit/>
          </a:bodyPr>
          <a:lstStyle/>
          <a:p>
            <a:pPr algn="ctr">
              <a:lnSpc>
                <a:spcPts val="1836"/>
              </a:lnSpc>
            </a:pPr>
            <a:r>
              <a:rPr lang="en-US" sz="1220">
                <a:solidFill>
                  <a:srgbClr val="6B7280"/>
                </a:solidFill>
                <a:latin typeface="Inter"/>
                <a:ea typeface="Inter"/>
                <a:cs typeface="Inter"/>
                <a:sym typeface="Inter"/>
              </a:rPr>
              <a:t>Builds ISTSEH’s local m</a:t>
            </a:r>
            <a:r>
              <a:rPr lang="en-US" sz="1220">
                <a:solidFill>
                  <a:srgbClr val="6B7280"/>
                </a:solidFill>
                <a:latin typeface="Inter"/>
                <a:ea typeface="Inter"/>
                <a:cs typeface="Inter"/>
                <a:sym typeface="Inter"/>
              </a:rPr>
              <a:t>edication dataset, develops API infrastructure, and manages backend technology to reduce reliance on online sources and enable future B2B services.</a:t>
            </a:r>
          </a:p>
        </p:txBody>
      </p:sp>
      <p:grpSp>
        <p:nvGrpSpPr>
          <p:cNvPr name="Group 31" id="31"/>
          <p:cNvGrpSpPr/>
          <p:nvPr/>
        </p:nvGrpSpPr>
        <p:grpSpPr>
          <a:xfrm rot="0">
            <a:off x="5898204" y="4158186"/>
            <a:ext cx="38100" cy="304800"/>
            <a:chOff x="0" y="0"/>
            <a:chExt cx="50800" cy="406400"/>
          </a:xfrm>
        </p:grpSpPr>
        <p:sp>
          <p:nvSpPr>
            <p:cNvPr name="Freeform 32" id="32"/>
            <p:cNvSpPr/>
            <p:nvPr/>
          </p:nvSpPr>
          <p:spPr>
            <a:xfrm flipH="false" flipV="false" rot="0">
              <a:off x="0" y="0"/>
              <a:ext cx="50800" cy="406400"/>
            </a:xfrm>
            <a:custGeom>
              <a:avLst/>
              <a:gdLst/>
              <a:ahLst/>
              <a:cxnLst/>
              <a:rect r="r" b="b" t="t" l="l"/>
              <a:pathLst>
                <a:path h="406400" w="50800">
                  <a:moveTo>
                    <a:pt x="0" y="0"/>
                  </a:moveTo>
                  <a:lnTo>
                    <a:pt x="50800" y="0"/>
                  </a:lnTo>
                  <a:lnTo>
                    <a:pt x="50800" y="406400"/>
                  </a:lnTo>
                  <a:lnTo>
                    <a:pt x="0" y="406400"/>
                  </a:lnTo>
                  <a:close/>
                </a:path>
              </a:pathLst>
            </a:custGeom>
            <a:solidFill>
              <a:srgbClr val="E5E7EB"/>
            </a:solidFill>
          </p:spPr>
        </p:sp>
      </p:grpSp>
      <p:grpSp>
        <p:nvGrpSpPr>
          <p:cNvPr name="Group 33" id="33"/>
          <p:cNvGrpSpPr/>
          <p:nvPr/>
        </p:nvGrpSpPr>
        <p:grpSpPr>
          <a:xfrm rot="0">
            <a:off x="4041602" y="4471988"/>
            <a:ext cx="3751303" cy="2580174"/>
            <a:chOff x="0" y="0"/>
            <a:chExt cx="5001737" cy="3440232"/>
          </a:xfrm>
        </p:grpSpPr>
        <p:sp>
          <p:nvSpPr>
            <p:cNvPr name="Freeform 34" id="34"/>
            <p:cNvSpPr/>
            <p:nvPr/>
          </p:nvSpPr>
          <p:spPr>
            <a:xfrm flipH="false" flipV="false" rot="0">
              <a:off x="0" y="0"/>
              <a:ext cx="5001737" cy="3440232"/>
            </a:xfrm>
            <a:custGeom>
              <a:avLst/>
              <a:gdLst/>
              <a:ahLst/>
              <a:cxnLst/>
              <a:rect r="r" b="b" t="t" l="l"/>
              <a:pathLst>
                <a:path h="3440232" w="5001737">
                  <a:moveTo>
                    <a:pt x="0" y="295287"/>
                  </a:moveTo>
                  <a:cubicBezTo>
                    <a:pt x="0" y="132258"/>
                    <a:pt x="106827" y="0"/>
                    <a:pt x="238509" y="0"/>
                  </a:cubicBezTo>
                  <a:lnTo>
                    <a:pt x="4763228" y="0"/>
                  </a:lnTo>
                  <a:cubicBezTo>
                    <a:pt x="4894910" y="0"/>
                    <a:pt x="5001737" y="132258"/>
                    <a:pt x="5001737" y="295287"/>
                  </a:cubicBezTo>
                  <a:lnTo>
                    <a:pt x="5001737" y="3144946"/>
                  </a:lnTo>
                  <a:cubicBezTo>
                    <a:pt x="5001737" y="3307974"/>
                    <a:pt x="4894910" y="3440232"/>
                    <a:pt x="4763228" y="3440232"/>
                  </a:cubicBezTo>
                  <a:lnTo>
                    <a:pt x="238509" y="3440232"/>
                  </a:lnTo>
                  <a:cubicBezTo>
                    <a:pt x="106827" y="3440232"/>
                    <a:pt x="0" y="3307974"/>
                    <a:pt x="0" y="3144946"/>
                  </a:cubicBezTo>
                  <a:close/>
                </a:path>
              </a:pathLst>
            </a:custGeom>
            <a:solidFill>
              <a:srgbClr val="FFFFFF"/>
            </a:solidFill>
            <a:ln w="9526" cap="sq">
              <a:solidFill>
                <a:srgbClr val="E5E7EB"/>
              </a:solidFill>
              <a:prstDash val="solid"/>
              <a:miter/>
            </a:ln>
          </p:spPr>
        </p:sp>
      </p:grpSp>
      <p:grpSp>
        <p:nvGrpSpPr>
          <p:cNvPr name="Group 35" id="35"/>
          <p:cNvGrpSpPr/>
          <p:nvPr/>
        </p:nvGrpSpPr>
        <p:grpSpPr>
          <a:xfrm rot="0">
            <a:off x="4570173" y="4624551"/>
            <a:ext cx="561818" cy="547850"/>
            <a:chOff x="0" y="0"/>
            <a:chExt cx="658068" cy="641708"/>
          </a:xfrm>
        </p:grpSpPr>
        <p:sp>
          <p:nvSpPr>
            <p:cNvPr name="Freeform 36" id="36"/>
            <p:cNvSpPr/>
            <p:nvPr/>
          </p:nvSpPr>
          <p:spPr>
            <a:xfrm flipH="false" flipV="false" rot="0">
              <a:off x="0" y="0"/>
              <a:ext cx="658068" cy="641708"/>
            </a:xfrm>
            <a:custGeom>
              <a:avLst/>
              <a:gdLst/>
              <a:ahLst/>
              <a:cxnLst/>
              <a:rect r="r" b="b" t="t" l="l"/>
              <a:pathLst>
                <a:path h="641708" w="658068">
                  <a:moveTo>
                    <a:pt x="0" y="320854"/>
                  </a:moveTo>
                  <a:cubicBezTo>
                    <a:pt x="0" y="143716"/>
                    <a:pt x="147380" y="0"/>
                    <a:pt x="329034" y="0"/>
                  </a:cubicBezTo>
                  <a:cubicBezTo>
                    <a:pt x="510688" y="0"/>
                    <a:pt x="658068" y="143716"/>
                    <a:pt x="658068" y="320854"/>
                  </a:cubicBezTo>
                  <a:cubicBezTo>
                    <a:pt x="658068" y="497992"/>
                    <a:pt x="510688" y="641708"/>
                    <a:pt x="329034" y="641708"/>
                  </a:cubicBezTo>
                  <a:cubicBezTo>
                    <a:pt x="147380" y="641708"/>
                    <a:pt x="0" y="497992"/>
                    <a:pt x="0" y="320854"/>
                  </a:cubicBezTo>
                  <a:close/>
                </a:path>
              </a:pathLst>
            </a:custGeom>
            <a:solidFill>
              <a:srgbClr val="2FC972">
                <a:alpha val="1961"/>
              </a:srgbClr>
            </a:solidFill>
          </p:spPr>
        </p:sp>
        <p:sp>
          <p:nvSpPr>
            <p:cNvPr name="TextBox 37" id="37"/>
            <p:cNvSpPr txBox="true"/>
            <p:nvPr/>
          </p:nvSpPr>
          <p:spPr>
            <a:xfrm>
              <a:off x="0" y="-57150"/>
              <a:ext cx="658068" cy="698858"/>
            </a:xfrm>
            <a:prstGeom prst="rect">
              <a:avLst/>
            </a:prstGeom>
          </p:spPr>
          <p:txBody>
            <a:bodyPr anchor="ctr" rtlCol="false" tIns="50800" lIns="50800" bIns="50800" rIns="50800"/>
            <a:lstStyle/>
            <a:p>
              <a:pPr algn="ctr">
                <a:lnSpc>
                  <a:spcPts val="2052"/>
                </a:lnSpc>
              </a:pPr>
              <a:r>
                <a:rPr lang="en-US" sz="1360" b="true">
                  <a:solidFill>
                    <a:srgbClr val="2ECC71"/>
                  </a:solidFill>
                  <a:latin typeface="Arimo Bold"/>
                  <a:ea typeface="Arimo Bold"/>
                  <a:cs typeface="Arimo Bold"/>
                  <a:sym typeface="Arimo Bold"/>
                </a:rPr>
                <a:t>CMO</a:t>
              </a:r>
            </a:p>
          </p:txBody>
        </p:sp>
      </p:grpSp>
      <p:grpSp>
        <p:nvGrpSpPr>
          <p:cNvPr name="Group 38" id="38"/>
          <p:cNvGrpSpPr/>
          <p:nvPr/>
        </p:nvGrpSpPr>
        <p:grpSpPr>
          <a:xfrm rot="0">
            <a:off x="5294629" y="4621311"/>
            <a:ext cx="535275" cy="538243"/>
            <a:chOff x="0" y="0"/>
            <a:chExt cx="626978" cy="630454"/>
          </a:xfrm>
        </p:grpSpPr>
        <p:sp>
          <p:nvSpPr>
            <p:cNvPr name="Freeform 39" id="39"/>
            <p:cNvSpPr/>
            <p:nvPr/>
          </p:nvSpPr>
          <p:spPr>
            <a:xfrm flipH="false" flipV="false" rot="0">
              <a:off x="0" y="0"/>
              <a:ext cx="626978" cy="630454"/>
            </a:xfrm>
            <a:custGeom>
              <a:avLst/>
              <a:gdLst/>
              <a:ahLst/>
              <a:cxnLst/>
              <a:rect r="r" b="b" t="t" l="l"/>
              <a:pathLst>
                <a:path h="630454" w="626978">
                  <a:moveTo>
                    <a:pt x="0" y="315227"/>
                  </a:moveTo>
                  <a:cubicBezTo>
                    <a:pt x="0" y="141195"/>
                    <a:pt x="140417" y="0"/>
                    <a:pt x="313489" y="0"/>
                  </a:cubicBezTo>
                  <a:cubicBezTo>
                    <a:pt x="486561" y="0"/>
                    <a:pt x="626978" y="141195"/>
                    <a:pt x="626978" y="315227"/>
                  </a:cubicBezTo>
                  <a:cubicBezTo>
                    <a:pt x="626978" y="489259"/>
                    <a:pt x="486561" y="630454"/>
                    <a:pt x="313489" y="630454"/>
                  </a:cubicBezTo>
                  <a:cubicBezTo>
                    <a:pt x="140417" y="630454"/>
                    <a:pt x="0" y="489259"/>
                    <a:pt x="0" y="315227"/>
                  </a:cubicBezTo>
                  <a:close/>
                </a:path>
              </a:pathLst>
            </a:custGeom>
            <a:solidFill>
              <a:srgbClr val="2FC972">
                <a:alpha val="1961"/>
              </a:srgbClr>
            </a:solidFill>
          </p:spPr>
        </p:sp>
        <p:sp>
          <p:nvSpPr>
            <p:cNvPr name="TextBox 40" id="40"/>
            <p:cNvSpPr txBox="true"/>
            <p:nvPr/>
          </p:nvSpPr>
          <p:spPr>
            <a:xfrm>
              <a:off x="0" y="-57150"/>
              <a:ext cx="626978" cy="687604"/>
            </a:xfrm>
            <a:prstGeom prst="rect">
              <a:avLst/>
            </a:prstGeom>
          </p:spPr>
          <p:txBody>
            <a:bodyPr anchor="ctr" rtlCol="false" tIns="50800" lIns="50800" bIns="50800" rIns="50800"/>
            <a:lstStyle/>
            <a:p>
              <a:pPr algn="ctr">
                <a:lnSpc>
                  <a:spcPts val="2052"/>
                </a:lnSpc>
              </a:pPr>
              <a:r>
                <a:rPr lang="en-US" sz="1360" b="true">
                  <a:solidFill>
                    <a:srgbClr val="2ECC71"/>
                  </a:solidFill>
                  <a:latin typeface="Arimo Bold"/>
                  <a:ea typeface="Arimo Bold"/>
                  <a:cs typeface="Arimo Bold"/>
                  <a:sym typeface="Arimo Bold"/>
                </a:rPr>
                <a:t>CFO</a:t>
              </a:r>
            </a:p>
          </p:txBody>
        </p:sp>
      </p:grpSp>
      <p:grpSp>
        <p:nvGrpSpPr>
          <p:cNvPr name="Group 41" id="41"/>
          <p:cNvGrpSpPr/>
          <p:nvPr/>
        </p:nvGrpSpPr>
        <p:grpSpPr>
          <a:xfrm rot="0">
            <a:off x="6715583" y="4616963"/>
            <a:ext cx="548751" cy="555438"/>
            <a:chOff x="0" y="0"/>
            <a:chExt cx="642762" cy="650596"/>
          </a:xfrm>
        </p:grpSpPr>
        <p:sp>
          <p:nvSpPr>
            <p:cNvPr name="Freeform 42" id="42"/>
            <p:cNvSpPr/>
            <p:nvPr/>
          </p:nvSpPr>
          <p:spPr>
            <a:xfrm flipH="false" flipV="false" rot="0">
              <a:off x="0" y="0"/>
              <a:ext cx="642762" cy="650596"/>
            </a:xfrm>
            <a:custGeom>
              <a:avLst/>
              <a:gdLst/>
              <a:ahLst/>
              <a:cxnLst/>
              <a:rect r="r" b="b" t="t" l="l"/>
              <a:pathLst>
                <a:path h="650596" w="642762">
                  <a:moveTo>
                    <a:pt x="0" y="325298"/>
                  </a:moveTo>
                  <a:cubicBezTo>
                    <a:pt x="0" y="145706"/>
                    <a:pt x="143952" y="0"/>
                    <a:pt x="321381" y="0"/>
                  </a:cubicBezTo>
                  <a:cubicBezTo>
                    <a:pt x="498810" y="0"/>
                    <a:pt x="642762" y="145706"/>
                    <a:pt x="642762" y="325298"/>
                  </a:cubicBezTo>
                  <a:cubicBezTo>
                    <a:pt x="642762" y="504889"/>
                    <a:pt x="498810" y="650596"/>
                    <a:pt x="321381" y="650596"/>
                  </a:cubicBezTo>
                  <a:cubicBezTo>
                    <a:pt x="143952" y="650596"/>
                    <a:pt x="0" y="504889"/>
                    <a:pt x="0" y="325298"/>
                  </a:cubicBezTo>
                  <a:close/>
                </a:path>
              </a:pathLst>
            </a:custGeom>
            <a:solidFill>
              <a:srgbClr val="2FC972">
                <a:alpha val="1961"/>
              </a:srgbClr>
            </a:solidFill>
          </p:spPr>
        </p:sp>
        <p:sp>
          <p:nvSpPr>
            <p:cNvPr name="TextBox 43" id="43"/>
            <p:cNvSpPr txBox="true"/>
            <p:nvPr/>
          </p:nvSpPr>
          <p:spPr>
            <a:xfrm>
              <a:off x="0" y="-57150"/>
              <a:ext cx="642762" cy="707746"/>
            </a:xfrm>
            <a:prstGeom prst="rect">
              <a:avLst/>
            </a:prstGeom>
          </p:spPr>
          <p:txBody>
            <a:bodyPr anchor="ctr" rtlCol="false" tIns="50800" lIns="50800" bIns="50800" rIns="50800"/>
            <a:lstStyle/>
            <a:p>
              <a:pPr algn="ctr">
                <a:lnSpc>
                  <a:spcPts val="2052"/>
                </a:lnSpc>
              </a:pPr>
              <a:r>
                <a:rPr lang="en-US" sz="1360" b="true">
                  <a:solidFill>
                    <a:srgbClr val="2ECC71"/>
                  </a:solidFill>
                  <a:latin typeface="Arimo Bold"/>
                  <a:ea typeface="Arimo Bold"/>
                  <a:cs typeface="Arimo Bold"/>
                  <a:sym typeface="Arimo Bold"/>
                </a:rPr>
                <a:t>COO</a:t>
              </a:r>
            </a:p>
          </p:txBody>
        </p:sp>
      </p:grpSp>
      <p:grpSp>
        <p:nvGrpSpPr>
          <p:cNvPr name="Group 44" id="44"/>
          <p:cNvGrpSpPr/>
          <p:nvPr/>
        </p:nvGrpSpPr>
        <p:grpSpPr>
          <a:xfrm rot="0">
            <a:off x="5992541" y="4603811"/>
            <a:ext cx="555743" cy="555743"/>
            <a:chOff x="0" y="0"/>
            <a:chExt cx="650952" cy="650952"/>
          </a:xfrm>
        </p:grpSpPr>
        <p:sp>
          <p:nvSpPr>
            <p:cNvPr name="Freeform 45" id="45"/>
            <p:cNvSpPr/>
            <p:nvPr/>
          </p:nvSpPr>
          <p:spPr>
            <a:xfrm flipH="false" flipV="false" rot="0">
              <a:off x="0" y="0"/>
              <a:ext cx="650952" cy="650952"/>
            </a:xfrm>
            <a:custGeom>
              <a:avLst/>
              <a:gdLst/>
              <a:ahLst/>
              <a:cxnLst/>
              <a:rect r="r" b="b" t="t" l="l"/>
              <a:pathLst>
                <a:path h="650952" w="650952">
                  <a:moveTo>
                    <a:pt x="0" y="325476"/>
                  </a:moveTo>
                  <a:cubicBezTo>
                    <a:pt x="0" y="145786"/>
                    <a:pt x="145786" y="0"/>
                    <a:pt x="325476" y="0"/>
                  </a:cubicBezTo>
                  <a:cubicBezTo>
                    <a:pt x="505166" y="0"/>
                    <a:pt x="650952" y="145786"/>
                    <a:pt x="650952" y="325476"/>
                  </a:cubicBezTo>
                  <a:cubicBezTo>
                    <a:pt x="650952" y="505166"/>
                    <a:pt x="505166" y="650952"/>
                    <a:pt x="325476" y="650952"/>
                  </a:cubicBezTo>
                  <a:cubicBezTo>
                    <a:pt x="145786" y="650952"/>
                    <a:pt x="0" y="505166"/>
                    <a:pt x="0" y="325476"/>
                  </a:cubicBezTo>
                  <a:close/>
                </a:path>
              </a:pathLst>
            </a:custGeom>
            <a:solidFill>
              <a:srgbClr val="2FC972">
                <a:alpha val="1961"/>
              </a:srgbClr>
            </a:solidFill>
          </p:spPr>
        </p:sp>
        <p:sp>
          <p:nvSpPr>
            <p:cNvPr name="TextBox 46" id="46"/>
            <p:cNvSpPr txBox="true"/>
            <p:nvPr/>
          </p:nvSpPr>
          <p:spPr>
            <a:xfrm>
              <a:off x="0" y="-57150"/>
              <a:ext cx="650952" cy="708102"/>
            </a:xfrm>
            <a:prstGeom prst="rect">
              <a:avLst/>
            </a:prstGeom>
          </p:spPr>
          <p:txBody>
            <a:bodyPr anchor="ctr" rtlCol="false" tIns="50800" lIns="50800" bIns="50800" rIns="50800"/>
            <a:lstStyle/>
            <a:p>
              <a:pPr algn="ctr">
                <a:lnSpc>
                  <a:spcPts val="2052"/>
                </a:lnSpc>
              </a:pPr>
              <a:r>
                <a:rPr lang="en-US" sz="1360" b="true">
                  <a:solidFill>
                    <a:srgbClr val="2ECC71"/>
                  </a:solidFill>
                  <a:latin typeface="Arimo Bold"/>
                  <a:ea typeface="Arimo Bold"/>
                  <a:cs typeface="Arimo Bold"/>
                  <a:sym typeface="Arimo Bold"/>
                </a:rPr>
                <a:t>CDO</a:t>
              </a:r>
            </a:p>
          </p:txBody>
        </p:sp>
      </p:grpSp>
      <p:grpSp>
        <p:nvGrpSpPr>
          <p:cNvPr name="Group 47" id="47"/>
          <p:cNvGrpSpPr/>
          <p:nvPr/>
        </p:nvGrpSpPr>
        <p:grpSpPr>
          <a:xfrm rot="0">
            <a:off x="909638" y="8289427"/>
            <a:ext cx="16468725" cy="971550"/>
            <a:chOff x="0" y="0"/>
            <a:chExt cx="21958300" cy="1295400"/>
          </a:xfrm>
        </p:grpSpPr>
        <p:sp>
          <p:nvSpPr>
            <p:cNvPr name="Freeform 48" id="48"/>
            <p:cNvSpPr/>
            <p:nvPr/>
          </p:nvSpPr>
          <p:spPr>
            <a:xfrm flipH="false" flipV="false" rot="0">
              <a:off x="0" y="0"/>
              <a:ext cx="21958300" cy="1295400"/>
            </a:xfrm>
            <a:custGeom>
              <a:avLst/>
              <a:gdLst/>
              <a:ahLst/>
              <a:cxnLst/>
              <a:rect r="r" b="b" t="t" l="l"/>
              <a:pathLst>
                <a:path h="1295400" w="21958300">
                  <a:moveTo>
                    <a:pt x="0" y="196977"/>
                  </a:moveTo>
                  <a:cubicBezTo>
                    <a:pt x="0" y="88265"/>
                    <a:pt x="88265" y="0"/>
                    <a:pt x="196977" y="0"/>
                  </a:cubicBezTo>
                  <a:lnTo>
                    <a:pt x="21761323" y="0"/>
                  </a:lnTo>
                  <a:cubicBezTo>
                    <a:pt x="21870161" y="0"/>
                    <a:pt x="21958300" y="88265"/>
                    <a:pt x="21958300" y="196977"/>
                  </a:cubicBezTo>
                  <a:lnTo>
                    <a:pt x="21958300" y="1098423"/>
                  </a:lnTo>
                  <a:cubicBezTo>
                    <a:pt x="21958300" y="1207262"/>
                    <a:pt x="21870036" y="1295400"/>
                    <a:pt x="21761323" y="1295400"/>
                  </a:cubicBezTo>
                  <a:lnTo>
                    <a:pt x="196977" y="1295400"/>
                  </a:lnTo>
                  <a:cubicBezTo>
                    <a:pt x="88265" y="1295400"/>
                    <a:pt x="0" y="1207135"/>
                    <a:pt x="0" y="1098423"/>
                  </a:cubicBezTo>
                  <a:close/>
                </a:path>
              </a:pathLst>
            </a:custGeom>
            <a:solidFill>
              <a:srgbClr val="FFFFFF"/>
            </a:solidFill>
            <a:ln w="9526" cap="sq">
              <a:solidFill>
                <a:srgbClr val="E5E7EB"/>
              </a:solidFill>
              <a:prstDash val="solid"/>
              <a:miter/>
            </a:ln>
          </p:spPr>
        </p:sp>
      </p:grpSp>
      <p:sp>
        <p:nvSpPr>
          <p:cNvPr name="TextBox 49" id="49"/>
          <p:cNvSpPr txBox="true"/>
          <p:nvPr/>
        </p:nvSpPr>
        <p:spPr>
          <a:xfrm rot="0">
            <a:off x="1128636" y="8385892"/>
            <a:ext cx="1603057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ADVISORS AND MENTORS</a:t>
            </a:r>
          </a:p>
        </p:txBody>
      </p:sp>
      <p:sp>
        <p:nvSpPr>
          <p:cNvPr name="TextBox 50" id="50"/>
          <p:cNvSpPr txBox="true"/>
          <p:nvPr/>
        </p:nvSpPr>
        <p:spPr>
          <a:xfrm rot="0">
            <a:off x="1128636" y="8709574"/>
            <a:ext cx="16030575"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We </a:t>
            </a:r>
            <a:r>
              <a:rPr lang="en-US" sz="1439">
                <a:solidFill>
                  <a:srgbClr val="595959"/>
                </a:solidFill>
                <a:latin typeface="Inter"/>
                <a:ea typeface="Inter"/>
                <a:cs typeface="Inter"/>
                <a:sym typeface="Inter"/>
              </a:rPr>
              <a:t>sincerely thank Prof. Mohammad Samoui from Kuwait University for his valuable guidance and support, his feedback helped us refine ISTSEH’s direction and move forward with confidence.</a:t>
            </a:r>
          </a:p>
        </p:txBody>
      </p:sp>
      <p:grpSp>
        <p:nvGrpSpPr>
          <p:cNvPr name="Group 51" id="51"/>
          <p:cNvGrpSpPr/>
          <p:nvPr/>
        </p:nvGrpSpPr>
        <p:grpSpPr>
          <a:xfrm rot="0">
            <a:off x="914400" y="9703222"/>
            <a:ext cx="16459200" cy="297293"/>
            <a:chOff x="0" y="0"/>
            <a:chExt cx="21945600" cy="396391"/>
          </a:xfrm>
        </p:grpSpPr>
        <p:sp>
          <p:nvSpPr>
            <p:cNvPr name="Freeform 52" id="52"/>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53" id="53"/>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54" id="54"/>
          <p:cNvGrpSpPr/>
          <p:nvPr/>
        </p:nvGrpSpPr>
        <p:grpSpPr>
          <a:xfrm rot="0">
            <a:off x="0" y="10247414"/>
            <a:ext cx="18288000" cy="38100"/>
            <a:chOff x="0" y="0"/>
            <a:chExt cx="24384000" cy="50800"/>
          </a:xfrm>
        </p:grpSpPr>
        <p:sp>
          <p:nvSpPr>
            <p:cNvPr name="Freeform 55" id="55"/>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AutoShape 56" id="56"/>
          <p:cNvSpPr/>
          <p:nvPr/>
        </p:nvSpPr>
        <p:spPr>
          <a:xfrm>
            <a:off x="5897804" y="4158186"/>
            <a:ext cx="6492240" cy="0"/>
          </a:xfrm>
          <a:prstGeom prst="line">
            <a:avLst/>
          </a:prstGeom>
          <a:ln cap="flat" w="38100">
            <a:solidFill>
              <a:srgbClr val="E5E7EB"/>
            </a:solidFill>
            <a:prstDash val="solid"/>
            <a:headEnd type="none" len="sm" w="sm"/>
            <a:tailEnd type="none" len="sm" w="sm"/>
          </a:ln>
        </p:spPr>
      </p:sp>
      <p:sp>
        <p:nvSpPr>
          <p:cNvPr name="TextBox 57" id="57"/>
          <p:cNvSpPr txBox="true"/>
          <p:nvPr/>
        </p:nvSpPr>
        <p:spPr>
          <a:xfrm rot="0">
            <a:off x="4194263" y="5261558"/>
            <a:ext cx="3445982" cy="214503"/>
          </a:xfrm>
          <a:prstGeom prst="rect">
            <a:avLst/>
          </a:prstGeom>
        </p:spPr>
        <p:txBody>
          <a:bodyPr anchor="t" rtlCol="false" tIns="0" lIns="0" bIns="0" rIns="0">
            <a:spAutoFit/>
          </a:bodyPr>
          <a:lstStyle/>
          <a:p>
            <a:pPr algn="ctr">
              <a:lnSpc>
                <a:spcPts val="1727"/>
              </a:lnSpc>
            </a:pPr>
            <a:r>
              <a:rPr lang="en-US" b="true" sz="1159" spc="57">
                <a:solidFill>
                  <a:srgbClr val="2ECC71"/>
                </a:solidFill>
                <a:latin typeface="Inter Bold"/>
                <a:ea typeface="Inter Bold"/>
                <a:cs typeface="Inter Bold"/>
                <a:sym typeface="Inter Bold"/>
              </a:rPr>
              <a:t>Marketing - Finanace - Design - Operations</a:t>
            </a:r>
          </a:p>
        </p:txBody>
      </p:sp>
      <p:sp>
        <p:nvSpPr>
          <p:cNvPr name="TextBox 58" id="58"/>
          <p:cNvSpPr txBox="true"/>
          <p:nvPr/>
        </p:nvSpPr>
        <p:spPr>
          <a:xfrm rot="0">
            <a:off x="5022620" y="5532715"/>
            <a:ext cx="1750368" cy="256032"/>
          </a:xfrm>
          <a:prstGeom prst="rect">
            <a:avLst/>
          </a:prstGeom>
        </p:spPr>
        <p:txBody>
          <a:bodyPr anchor="t" rtlCol="false" tIns="0" lIns="0" bIns="0" rIns="0">
            <a:spAutoFit/>
          </a:bodyPr>
          <a:lstStyle/>
          <a:p>
            <a:pPr algn="ctr">
              <a:lnSpc>
                <a:spcPts val="1980"/>
              </a:lnSpc>
            </a:pPr>
            <a:r>
              <a:rPr lang="en-US" sz="1580" b="true">
                <a:solidFill>
                  <a:srgbClr val="1A1A2E"/>
                </a:solidFill>
                <a:latin typeface="Arimo Bold"/>
                <a:ea typeface="Arimo Bold"/>
                <a:cs typeface="Arimo Bold"/>
                <a:sym typeface="Arimo Bold"/>
              </a:rPr>
              <a:t>Thamer Alrasheed</a:t>
            </a:r>
          </a:p>
        </p:txBody>
      </p:sp>
      <p:sp>
        <p:nvSpPr>
          <p:cNvPr name="TextBox 59" id="59"/>
          <p:cNvSpPr txBox="true"/>
          <p:nvPr/>
        </p:nvSpPr>
        <p:spPr>
          <a:xfrm rot="0">
            <a:off x="3988315" y="5864947"/>
            <a:ext cx="3804590" cy="914781"/>
          </a:xfrm>
          <a:prstGeom prst="rect">
            <a:avLst/>
          </a:prstGeom>
        </p:spPr>
        <p:txBody>
          <a:bodyPr anchor="t" rtlCol="false" tIns="0" lIns="0" bIns="0" rIns="0">
            <a:spAutoFit/>
          </a:bodyPr>
          <a:lstStyle/>
          <a:p>
            <a:pPr algn="ctr">
              <a:lnSpc>
                <a:spcPts val="1836"/>
              </a:lnSpc>
            </a:pPr>
            <a:r>
              <a:rPr lang="en-US" sz="1220">
                <a:solidFill>
                  <a:srgbClr val="6B7280"/>
                </a:solidFill>
                <a:latin typeface="Inter"/>
                <a:ea typeface="Inter"/>
                <a:cs typeface="Inter"/>
                <a:sym typeface="Inter"/>
              </a:rPr>
              <a:t>L</a:t>
            </a:r>
            <a:r>
              <a:rPr lang="en-US" sz="1220">
                <a:solidFill>
                  <a:srgbClr val="6B7280"/>
                </a:solidFill>
                <a:latin typeface="Inter"/>
                <a:ea typeface="Inter"/>
                <a:cs typeface="Inter"/>
                <a:sym typeface="Inter"/>
              </a:rPr>
              <a:t>eads marketing strategy, financial planning, product design direction, and daily operations to ensure ISTSEH is well-positioned, financially realistic, and professionally executed.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38212"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39772"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390" y="352501"/>
            <a:ext cx="372427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14 · PROJECT MANAGEMENT</a:t>
            </a:r>
          </a:p>
        </p:txBody>
      </p:sp>
      <p:sp>
        <p:nvSpPr>
          <p:cNvPr name="TextBox 8" id="8"/>
          <p:cNvSpPr txBox="true"/>
          <p:nvPr/>
        </p:nvSpPr>
        <p:spPr>
          <a:xfrm rot="0">
            <a:off x="16828894" y="352501"/>
            <a:ext cx="5429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16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Project Management</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9638" y="2671467"/>
            <a:ext cx="16468725" cy="1704975"/>
            <a:chOff x="0" y="0"/>
            <a:chExt cx="21958300" cy="2273300"/>
          </a:xfrm>
        </p:grpSpPr>
        <p:sp>
          <p:nvSpPr>
            <p:cNvPr name="Freeform 13" id="13"/>
            <p:cNvSpPr/>
            <p:nvPr/>
          </p:nvSpPr>
          <p:spPr>
            <a:xfrm flipH="false" flipV="false" rot="0">
              <a:off x="0" y="0"/>
              <a:ext cx="21958300" cy="2273300"/>
            </a:xfrm>
            <a:custGeom>
              <a:avLst/>
              <a:gdLst/>
              <a:ahLst/>
              <a:cxnLst/>
              <a:rect r="r" b="b" t="t" l="l"/>
              <a:pathLst>
                <a:path h="2273300" w="21958300">
                  <a:moveTo>
                    <a:pt x="0" y="245237"/>
                  </a:moveTo>
                  <a:cubicBezTo>
                    <a:pt x="0" y="109728"/>
                    <a:pt x="109728" y="0"/>
                    <a:pt x="245237" y="0"/>
                  </a:cubicBezTo>
                  <a:lnTo>
                    <a:pt x="21713062" y="0"/>
                  </a:lnTo>
                  <a:cubicBezTo>
                    <a:pt x="21848572" y="0"/>
                    <a:pt x="21958300" y="109728"/>
                    <a:pt x="21958300" y="245237"/>
                  </a:cubicBezTo>
                  <a:lnTo>
                    <a:pt x="21958300" y="2028063"/>
                  </a:lnTo>
                  <a:cubicBezTo>
                    <a:pt x="21958300" y="2163445"/>
                    <a:pt x="21848572" y="2273300"/>
                    <a:pt x="21713064" y="2273300"/>
                  </a:cubicBezTo>
                  <a:lnTo>
                    <a:pt x="245237" y="2273300"/>
                  </a:lnTo>
                  <a:cubicBezTo>
                    <a:pt x="109728" y="2273300"/>
                    <a:pt x="0" y="2163572"/>
                    <a:pt x="0" y="2028063"/>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81100" y="2904830"/>
            <a:ext cx="1592580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PROGRAM TIMELINE · PLACEHOLDER</a:t>
            </a:r>
          </a:p>
        </p:txBody>
      </p:sp>
      <p:grpSp>
        <p:nvGrpSpPr>
          <p:cNvPr name="Group 15" id="15"/>
          <p:cNvGrpSpPr/>
          <p:nvPr/>
        </p:nvGrpSpPr>
        <p:grpSpPr>
          <a:xfrm rot="0">
            <a:off x="1181024" y="3406454"/>
            <a:ext cx="2181225" cy="104775"/>
            <a:chOff x="0" y="0"/>
            <a:chExt cx="2908300" cy="139700"/>
          </a:xfrm>
        </p:grpSpPr>
        <p:sp>
          <p:nvSpPr>
            <p:cNvPr name="Freeform 16" id="16"/>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2ECC71"/>
            </a:solidFill>
          </p:spPr>
        </p:sp>
      </p:grpSp>
      <p:sp>
        <p:nvSpPr>
          <p:cNvPr name="TextBox 17" id="17"/>
          <p:cNvSpPr txBox="true"/>
          <p:nvPr/>
        </p:nvSpPr>
        <p:spPr>
          <a:xfrm rot="0">
            <a:off x="2157336" y="3557588"/>
            <a:ext cx="267369"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M1</a:t>
            </a:r>
          </a:p>
        </p:txBody>
      </p:sp>
      <p:sp>
        <p:nvSpPr>
          <p:cNvPr name="TextBox 18" id="18"/>
          <p:cNvSpPr txBox="true"/>
          <p:nvPr/>
        </p:nvSpPr>
        <p:spPr>
          <a:xfrm rot="0">
            <a:off x="2027709" y="3818630"/>
            <a:ext cx="526625"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Kickoff</a:t>
            </a:r>
          </a:p>
        </p:txBody>
      </p:sp>
      <p:grpSp>
        <p:nvGrpSpPr>
          <p:cNvPr name="Group 19" id="19"/>
          <p:cNvGrpSpPr/>
          <p:nvPr/>
        </p:nvGrpSpPr>
        <p:grpSpPr>
          <a:xfrm rot="0">
            <a:off x="3471786" y="3406454"/>
            <a:ext cx="2181225" cy="104775"/>
            <a:chOff x="0" y="0"/>
            <a:chExt cx="2908300" cy="139700"/>
          </a:xfrm>
        </p:grpSpPr>
        <p:sp>
          <p:nvSpPr>
            <p:cNvPr name="Freeform 20" id="20"/>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2ECC71"/>
            </a:solidFill>
          </p:spPr>
        </p:sp>
      </p:grpSp>
      <p:sp>
        <p:nvSpPr>
          <p:cNvPr name="TextBox 21" id="21"/>
          <p:cNvSpPr txBox="true"/>
          <p:nvPr/>
        </p:nvSpPr>
        <p:spPr>
          <a:xfrm rot="0">
            <a:off x="4433811" y="3557588"/>
            <a:ext cx="271386"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M2</a:t>
            </a:r>
          </a:p>
        </p:txBody>
      </p:sp>
      <p:sp>
        <p:nvSpPr>
          <p:cNvPr name="TextBox 22" id="22"/>
          <p:cNvSpPr txBox="true"/>
          <p:nvPr/>
        </p:nvSpPr>
        <p:spPr>
          <a:xfrm rot="0">
            <a:off x="4207062" y="3818630"/>
            <a:ext cx="724886"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Research</a:t>
            </a:r>
          </a:p>
        </p:txBody>
      </p:sp>
      <p:grpSp>
        <p:nvGrpSpPr>
          <p:cNvPr name="Group 23" id="23"/>
          <p:cNvGrpSpPr/>
          <p:nvPr/>
        </p:nvGrpSpPr>
        <p:grpSpPr>
          <a:xfrm rot="0">
            <a:off x="5762549" y="3406454"/>
            <a:ext cx="2181225" cy="104775"/>
            <a:chOff x="0" y="0"/>
            <a:chExt cx="2908300" cy="139700"/>
          </a:xfrm>
        </p:grpSpPr>
        <p:sp>
          <p:nvSpPr>
            <p:cNvPr name="Freeform 24" id="24"/>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2ECC71"/>
            </a:solidFill>
          </p:spPr>
        </p:sp>
      </p:grpSp>
      <p:sp>
        <p:nvSpPr>
          <p:cNvPr name="TextBox 25" id="25"/>
          <p:cNvSpPr txBox="true"/>
          <p:nvPr/>
        </p:nvSpPr>
        <p:spPr>
          <a:xfrm rot="0">
            <a:off x="6724498" y="3557588"/>
            <a:ext cx="266700"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M3</a:t>
            </a:r>
          </a:p>
        </p:txBody>
      </p:sp>
      <p:sp>
        <p:nvSpPr>
          <p:cNvPr name="TextBox 26" id="26"/>
          <p:cNvSpPr txBox="true"/>
          <p:nvPr/>
        </p:nvSpPr>
        <p:spPr>
          <a:xfrm rot="0">
            <a:off x="6494021" y="3818630"/>
            <a:ext cx="718280"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Prototype</a:t>
            </a:r>
          </a:p>
        </p:txBody>
      </p:sp>
      <p:grpSp>
        <p:nvGrpSpPr>
          <p:cNvPr name="Group 27" id="27"/>
          <p:cNvGrpSpPr/>
          <p:nvPr/>
        </p:nvGrpSpPr>
        <p:grpSpPr>
          <a:xfrm rot="0">
            <a:off x="8053311" y="3406454"/>
            <a:ext cx="2181225" cy="104775"/>
            <a:chOff x="0" y="0"/>
            <a:chExt cx="2908300" cy="139700"/>
          </a:xfrm>
        </p:grpSpPr>
        <p:sp>
          <p:nvSpPr>
            <p:cNvPr name="Freeform 28" id="28"/>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2ECD71">
                <a:alpha val="35686"/>
              </a:srgbClr>
            </a:solidFill>
          </p:spPr>
        </p:sp>
      </p:grpSp>
      <p:sp>
        <p:nvSpPr>
          <p:cNvPr name="TextBox 29" id="29"/>
          <p:cNvSpPr txBox="true"/>
          <p:nvPr/>
        </p:nvSpPr>
        <p:spPr>
          <a:xfrm rot="0">
            <a:off x="9010498" y="3557588"/>
            <a:ext cx="266700"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M4</a:t>
            </a:r>
          </a:p>
        </p:txBody>
      </p:sp>
      <p:sp>
        <p:nvSpPr>
          <p:cNvPr name="TextBox 30" id="30"/>
          <p:cNvSpPr txBox="true"/>
          <p:nvPr/>
        </p:nvSpPr>
        <p:spPr>
          <a:xfrm rot="0">
            <a:off x="8942632" y="3818630"/>
            <a:ext cx="402431"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Build</a:t>
            </a:r>
          </a:p>
        </p:txBody>
      </p:sp>
      <p:grpSp>
        <p:nvGrpSpPr>
          <p:cNvPr name="Group 31" id="31"/>
          <p:cNvGrpSpPr/>
          <p:nvPr/>
        </p:nvGrpSpPr>
        <p:grpSpPr>
          <a:xfrm rot="0">
            <a:off x="10344074" y="3406454"/>
            <a:ext cx="2181225" cy="104775"/>
            <a:chOff x="0" y="0"/>
            <a:chExt cx="2908300" cy="139700"/>
          </a:xfrm>
        </p:grpSpPr>
        <p:sp>
          <p:nvSpPr>
            <p:cNvPr name="Freeform 32" id="32"/>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2ECD71">
                <a:alpha val="9020"/>
              </a:srgbClr>
            </a:solidFill>
          </p:spPr>
        </p:sp>
      </p:grpSp>
      <p:sp>
        <p:nvSpPr>
          <p:cNvPr name="TextBox 33" id="33"/>
          <p:cNvSpPr txBox="true"/>
          <p:nvPr/>
        </p:nvSpPr>
        <p:spPr>
          <a:xfrm rot="0">
            <a:off x="11301260" y="3557588"/>
            <a:ext cx="266700"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M5</a:t>
            </a:r>
          </a:p>
        </p:txBody>
      </p:sp>
      <p:sp>
        <p:nvSpPr>
          <p:cNvPr name="TextBox 34" id="34"/>
          <p:cNvSpPr txBox="true"/>
          <p:nvPr/>
        </p:nvSpPr>
        <p:spPr>
          <a:xfrm rot="0">
            <a:off x="11260855" y="3818630"/>
            <a:ext cx="347662"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Test</a:t>
            </a:r>
          </a:p>
        </p:txBody>
      </p:sp>
      <p:grpSp>
        <p:nvGrpSpPr>
          <p:cNvPr name="Group 35" id="35"/>
          <p:cNvGrpSpPr/>
          <p:nvPr/>
        </p:nvGrpSpPr>
        <p:grpSpPr>
          <a:xfrm rot="0">
            <a:off x="12634836" y="3406454"/>
            <a:ext cx="2181225" cy="104775"/>
            <a:chOff x="0" y="0"/>
            <a:chExt cx="2908300" cy="139700"/>
          </a:xfrm>
        </p:grpSpPr>
        <p:sp>
          <p:nvSpPr>
            <p:cNvPr name="Freeform 36" id="36"/>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E5E7EB"/>
            </a:solidFill>
          </p:spPr>
        </p:sp>
      </p:grpSp>
      <p:sp>
        <p:nvSpPr>
          <p:cNvPr name="TextBox 37" id="37"/>
          <p:cNvSpPr txBox="true"/>
          <p:nvPr/>
        </p:nvSpPr>
        <p:spPr>
          <a:xfrm rot="0">
            <a:off x="13596861" y="3557588"/>
            <a:ext cx="274953"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M6</a:t>
            </a:r>
          </a:p>
        </p:txBody>
      </p:sp>
      <p:sp>
        <p:nvSpPr>
          <p:cNvPr name="TextBox 38" id="38"/>
          <p:cNvSpPr txBox="true"/>
          <p:nvPr/>
        </p:nvSpPr>
        <p:spPr>
          <a:xfrm rot="0">
            <a:off x="13570032" y="3818630"/>
            <a:ext cx="328612"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Pilot</a:t>
            </a:r>
          </a:p>
        </p:txBody>
      </p:sp>
      <p:grpSp>
        <p:nvGrpSpPr>
          <p:cNvPr name="Group 39" id="39"/>
          <p:cNvGrpSpPr/>
          <p:nvPr/>
        </p:nvGrpSpPr>
        <p:grpSpPr>
          <a:xfrm rot="0">
            <a:off x="14925599" y="3406454"/>
            <a:ext cx="2181225" cy="104775"/>
            <a:chOff x="0" y="0"/>
            <a:chExt cx="2908300" cy="139700"/>
          </a:xfrm>
        </p:grpSpPr>
        <p:sp>
          <p:nvSpPr>
            <p:cNvPr name="Freeform 40" id="40"/>
            <p:cNvSpPr/>
            <p:nvPr/>
          </p:nvSpPr>
          <p:spPr>
            <a:xfrm flipH="false" flipV="false" rot="0">
              <a:off x="0" y="0"/>
              <a:ext cx="2908300" cy="139700"/>
            </a:xfrm>
            <a:custGeom>
              <a:avLst/>
              <a:gdLst/>
              <a:ahLst/>
              <a:cxnLst/>
              <a:rect r="r" b="b" t="t" l="l"/>
              <a:pathLst>
                <a:path h="139700" w="2908300">
                  <a:moveTo>
                    <a:pt x="0" y="69850"/>
                  </a:moveTo>
                  <a:cubicBezTo>
                    <a:pt x="0" y="31242"/>
                    <a:pt x="31242" y="0"/>
                    <a:pt x="69850" y="0"/>
                  </a:cubicBezTo>
                  <a:lnTo>
                    <a:pt x="2838450" y="0"/>
                  </a:lnTo>
                  <a:cubicBezTo>
                    <a:pt x="2877058" y="0"/>
                    <a:pt x="2908300" y="31242"/>
                    <a:pt x="2908300" y="69850"/>
                  </a:cubicBezTo>
                  <a:cubicBezTo>
                    <a:pt x="2908300" y="108458"/>
                    <a:pt x="2877058" y="139700"/>
                    <a:pt x="2838450" y="139700"/>
                  </a:cubicBezTo>
                  <a:lnTo>
                    <a:pt x="69850" y="139700"/>
                  </a:lnTo>
                  <a:cubicBezTo>
                    <a:pt x="31242" y="139700"/>
                    <a:pt x="0" y="108458"/>
                    <a:pt x="0" y="69850"/>
                  </a:cubicBezTo>
                  <a:close/>
                </a:path>
              </a:pathLst>
            </a:custGeom>
            <a:solidFill>
              <a:srgbClr val="E5E7EB"/>
            </a:solidFill>
          </p:spPr>
        </p:sp>
      </p:grpSp>
      <p:sp>
        <p:nvSpPr>
          <p:cNvPr name="TextBox 41" id="41"/>
          <p:cNvSpPr txBox="true"/>
          <p:nvPr/>
        </p:nvSpPr>
        <p:spPr>
          <a:xfrm rot="0">
            <a:off x="15892386" y="3557588"/>
            <a:ext cx="283408" cy="276113"/>
          </a:xfrm>
          <a:prstGeom prst="rect">
            <a:avLst/>
          </a:prstGeom>
        </p:spPr>
        <p:txBody>
          <a:bodyPr anchor="t" rtlCol="false" tIns="0" lIns="0" bIns="0" rIns="0">
            <a:spAutoFit/>
          </a:bodyPr>
          <a:lstStyle/>
          <a:p>
            <a:pPr algn="l">
              <a:lnSpc>
                <a:spcPts val="2202"/>
              </a:lnSpc>
            </a:pPr>
            <a:r>
              <a:rPr lang="en-US" sz="1460" b="true">
                <a:solidFill>
                  <a:srgbClr val="1A1A2E"/>
                </a:solidFill>
                <a:latin typeface="Arimo Bold"/>
                <a:ea typeface="Arimo Bold"/>
                <a:cs typeface="Arimo Bold"/>
                <a:sym typeface="Arimo Bold"/>
              </a:rPr>
              <a:t>M7</a:t>
            </a:r>
          </a:p>
        </p:txBody>
      </p:sp>
      <p:sp>
        <p:nvSpPr>
          <p:cNvPr name="TextBox 42" id="42"/>
          <p:cNvSpPr txBox="true"/>
          <p:nvPr/>
        </p:nvSpPr>
        <p:spPr>
          <a:xfrm rot="0">
            <a:off x="15538175" y="3818630"/>
            <a:ext cx="991829" cy="253684"/>
          </a:xfrm>
          <a:prstGeom prst="rect">
            <a:avLst/>
          </a:prstGeom>
        </p:spPr>
        <p:txBody>
          <a:bodyPr anchor="t" rtlCol="false" tIns="0" lIns="0" bIns="0" rIns="0">
            <a:spAutoFit/>
          </a:bodyPr>
          <a:lstStyle/>
          <a:p>
            <a:pPr algn="l">
              <a:lnSpc>
                <a:spcPts val="1986"/>
              </a:lnSpc>
            </a:pPr>
            <a:r>
              <a:rPr lang="en-US" sz="1320">
                <a:solidFill>
                  <a:srgbClr val="6B7280"/>
                </a:solidFill>
                <a:latin typeface="Arimo"/>
                <a:ea typeface="Arimo"/>
                <a:cs typeface="Arimo"/>
                <a:sym typeface="Arimo"/>
              </a:rPr>
              <a:t>Launch Prep</a:t>
            </a:r>
          </a:p>
        </p:txBody>
      </p:sp>
      <p:sp>
        <p:nvSpPr>
          <p:cNvPr name="TextBox 43" id="43"/>
          <p:cNvSpPr txBox="true"/>
          <p:nvPr/>
        </p:nvSpPr>
        <p:spPr>
          <a:xfrm rot="0">
            <a:off x="938212" y="5103543"/>
            <a:ext cx="10791825"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WORKSTREAMS</a:t>
            </a:r>
          </a:p>
        </p:txBody>
      </p:sp>
      <p:grpSp>
        <p:nvGrpSpPr>
          <p:cNvPr name="Group 44" id="44"/>
          <p:cNvGrpSpPr/>
          <p:nvPr/>
        </p:nvGrpSpPr>
        <p:grpSpPr>
          <a:xfrm rot="0">
            <a:off x="909638" y="5551884"/>
            <a:ext cx="5267325" cy="1592980"/>
            <a:chOff x="0" y="0"/>
            <a:chExt cx="7023100" cy="2123973"/>
          </a:xfrm>
        </p:grpSpPr>
        <p:sp>
          <p:nvSpPr>
            <p:cNvPr name="Freeform 45" id="45"/>
            <p:cNvSpPr/>
            <p:nvPr/>
          </p:nvSpPr>
          <p:spPr>
            <a:xfrm flipH="false" flipV="false" rot="0">
              <a:off x="0" y="0"/>
              <a:ext cx="7023100" cy="2123973"/>
            </a:xfrm>
            <a:custGeom>
              <a:avLst/>
              <a:gdLst/>
              <a:ahLst/>
              <a:cxnLst/>
              <a:rect r="r" b="b" t="t" l="l"/>
              <a:pathLst>
                <a:path h="2123973" w="7023100">
                  <a:moveTo>
                    <a:pt x="0" y="319833"/>
                  </a:moveTo>
                  <a:cubicBezTo>
                    <a:pt x="0" y="143110"/>
                    <a:pt x="88138" y="0"/>
                    <a:pt x="196977" y="0"/>
                  </a:cubicBezTo>
                  <a:lnTo>
                    <a:pt x="6826123" y="0"/>
                  </a:lnTo>
                  <a:cubicBezTo>
                    <a:pt x="6934962" y="0"/>
                    <a:pt x="7023100" y="143110"/>
                    <a:pt x="7023100" y="319833"/>
                  </a:cubicBezTo>
                  <a:lnTo>
                    <a:pt x="7023100" y="1804140"/>
                  </a:lnTo>
                  <a:cubicBezTo>
                    <a:pt x="7023100" y="1980863"/>
                    <a:pt x="6934962" y="2123973"/>
                    <a:pt x="6826123" y="2123973"/>
                  </a:cubicBezTo>
                  <a:lnTo>
                    <a:pt x="196977" y="2123973"/>
                  </a:lnTo>
                  <a:cubicBezTo>
                    <a:pt x="88138" y="2123973"/>
                    <a:pt x="0" y="1980863"/>
                    <a:pt x="0" y="1804140"/>
                  </a:cubicBezTo>
                  <a:close/>
                </a:path>
              </a:pathLst>
            </a:custGeom>
            <a:solidFill>
              <a:srgbClr val="FFFFFF"/>
            </a:solidFill>
            <a:ln w="9526" cap="sq">
              <a:solidFill>
                <a:srgbClr val="E5E7EB"/>
              </a:solidFill>
              <a:prstDash val="solid"/>
              <a:miter/>
            </a:ln>
          </p:spPr>
        </p:sp>
      </p:grpSp>
      <p:sp>
        <p:nvSpPr>
          <p:cNvPr name="TextBox 46" id="46"/>
          <p:cNvSpPr txBox="true"/>
          <p:nvPr/>
        </p:nvSpPr>
        <p:spPr>
          <a:xfrm rot="0">
            <a:off x="1109662" y="5663636"/>
            <a:ext cx="4867275" cy="286512"/>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Product</a:t>
            </a:r>
          </a:p>
        </p:txBody>
      </p:sp>
      <p:sp>
        <p:nvSpPr>
          <p:cNvPr name="TextBox 47" id="47"/>
          <p:cNvSpPr txBox="true"/>
          <p:nvPr/>
        </p:nvSpPr>
        <p:spPr>
          <a:xfrm rot="0">
            <a:off x="1109662" y="5981207"/>
            <a:ext cx="4867275" cy="260985"/>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Owner: Tech / Product team</a:t>
            </a:r>
          </a:p>
        </p:txBody>
      </p:sp>
      <p:grpSp>
        <p:nvGrpSpPr>
          <p:cNvPr name="Group 48" id="48"/>
          <p:cNvGrpSpPr/>
          <p:nvPr/>
        </p:nvGrpSpPr>
        <p:grpSpPr>
          <a:xfrm rot="0">
            <a:off x="6441805" y="5551884"/>
            <a:ext cx="5267325" cy="1592980"/>
            <a:chOff x="0" y="0"/>
            <a:chExt cx="7023100" cy="2123973"/>
          </a:xfrm>
        </p:grpSpPr>
        <p:sp>
          <p:nvSpPr>
            <p:cNvPr name="Freeform 49" id="49"/>
            <p:cNvSpPr/>
            <p:nvPr/>
          </p:nvSpPr>
          <p:spPr>
            <a:xfrm flipH="false" flipV="false" rot="0">
              <a:off x="0" y="0"/>
              <a:ext cx="7023100" cy="2123973"/>
            </a:xfrm>
            <a:custGeom>
              <a:avLst/>
              <a:gdLst/>
              <a:ahLst/>
              <a:cxnLst/>
              <a:rect r="r" b="b" t="t" l="l"/>
              <a:pathLst>
                <a:path h="2123973" w="7023100">
                  <a:moveTo>
                    <a:pt x="0" y="319833"/>
                  </a:moveTo>
                  <a:cubicBezTo>
                    <a:pt x="0" y="143110"/>
                    <a:pt x="88138" y="0"/>
                    <a:pt x="196977" y="0"/>
                  </a:cubicBezTo>
                  <a:lnTo>
                    <a:pt x="6826123" y="0"/>
                  </a:lnTo>
                  <a:cubicBezTo>
                    <a:pt x="6934962" y="0"/>
                    <a:pt x="7023100" y="143110"/>
                    <a:pt x="7023100" y="319833"/>
                  </a:cubicBezTo>
                  <a:lnTo>
                    <a:pt x="7023100" y="1804140"/>
                  </a:lnTo>
                  <a:cubicBezTo>
                    <a:pt x="7023100" y="1980863"/>
                    <a:pt x="6934962" y="2123973"/>
                    <a:pt x="6826123" y="2123973"/>
                  </a:cubicBezTo>
                  <a:lnTo>
                    <a:pt x="196977" y="2123973"/>
                  </a:lnTo>
                  <a:cubicBezTo>
                    <a:pt x="88138" y="2123973"/>
                    <a:pt x="0" y="1980863"/>
                    <a:pt x="0" y="1804140"/>
                  </a:cubicBezTo>
                  <a:close/>
                </a:path>
              </a:pathLst>
            </a:custGeom>
            <a:solidFill>
              <a:srgbClr val="FFFFFF"/>
            </a:solidFill>
            <a:ln w="9526" cap="sq">
              <a:solidFill>
                <a:srgbClr val="E5E7EB"/>
              </a:solidFill>
              <a:prstDash val="solid"/>
              <a:miter/>
            </a:ln>
          </p:spPr>
        </p:sp>
      </p:grpSp>
      <p:sp>
        <p:nvSpPr>
          <p:cNvPr name="TextBox 50" id="50"/>
          <p:cNvSpPr txBox="true"/>
          <p:nvPr/>
        </p:nvSpPr>
        <p:spPr>
          <a:xfrm rot="0">
            <a:off x="6641830" y="5635061"/>
            <a:ext cx="4867275" cy="286512"/>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Marketing</a:t>
            </a:r>
          </a:p>
        </p:txBody>
      </p:sp>
      <p:sp>
        <p:nvSpPr>
          <p:cNvPr name="TextBox 51" id="51"/>
          <p:cNvSpPr txBox="true"/>
          <p:nvPr/>
        </p:nvSpPr>
        <p:spPr>
          <a:xfrm rot="0">
            <a:off x="6641830" y="5955116"/>
            <a:ext cx="4867275" cy="260985"/>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Owner: Marketing team</a:t>
            </a:r>
          </a:p>
        </p:txBody>
      </p:sp>
      <p:grpSp>
        <p:nvGrpSpPr>
          <p:cNvPr name="Group 52" id="52"/>
          <p:cNvGrpSpPr/>
          <p:nvPr/>
        </p:nvGrpSpPr>
        <p:grpSpPr>
          <a:xfrm rot="0">
            <a:off x="938212" y="7456596"/>
            <a:ext cx="5267325" cy="1592980"/>
            <a:chOff x="0" y="0"/>
            <a:chExt cx="7023100" cy="2123973"/>
          </a:xfrm>
        </p:grpSpPr>
        <p:sp>
          <p:nvSpPr>
            <p:cNvPr name="Freeform 53" id="53"/>
            <p:cNvSpPr/>
            <p:nvPr/>
          </p:nvSpPr>
          <p:spPr>
            <a:xfrm flipH="false" flipV="false" rot="0">
              <a:off x="0" y="0"/>
              <a:ext cx="7023100" cy="2123973"/>
            </a:xfrm>
            <a:custGeom>
              <a:avLst/>
              <a:gdLst/>
              <a:ahLst/>
              <a:cxnLst/>
              <a:rect r="r" b="b" t="t" l="l"/>
              <a:pathLst>
                <a:path h="2123973" w="7023100">
                  <a:moveTo>
                    <a:pt x="0" y="319833"/>
                  </a:moveTo>
                  <a:cubicBezTo>
                    <a:pt x="0" y="143110"/>
                    <a:pt x="88138" y="0"/>
                    <a:pt x="196977" y="0"/>
                  </a:cubicBezTo>
                  <a:lnTo>
                    <a:pt x="6826123" y="0"/>
                  </a:lnTo>
                  <a:cubicBezTo>
                    <a:pt x="6934962" y="0"/>
                    <a:pt x="7023100" y="143110"/>
                    <a:pt x="7023100" y="319833"/>
                  </a:cubicBezTo>
                  <a:lnTo>
                    <a:pt x="7023100" y="1804140"/>
                  </a:lnTo>
                  <a:cubicBezTo>
                    <a:pt x="7023100" y="1980863"/>
                    <a:pt x="6934962" y="2123973"/>
                    <a:pt x="6826123" y="2123973"/>
                  </a:cubicBezTo>
                  <a:lnTo>
                    <a:pt x="196977" y="2123973"/>
                  </a:lnTo>
                  <a:cubicBezTo>
                    <a:pt x="88138" y="2123973"/>
                    <a:pt x="0" y="1980863"/>
                    <a:pt x="0" y="1804140"/>
                  </a:cubicBezTo>
                  <a:close/>
                </a:path>
              </a:pathLst>
            </a:custGeom>
            <a:solidFill>
              <a:srgbClr val="FFFFFF"/>
            </a:solidFill>
            <a:ln w="9526" cap="sq">
              <a:solidFill>
                <a:srgbClr val="E5E7EB"/>
              </a:solidFill>
              <a:prstDash val="solid"/>
              <a:miter/>
            </a:ln>
          </p:spPr>
        </p:sp>
      </p:grpSp>
      <p:grpSp>
        <p:nvGrpSpPr>
          <p:cNvPr name="Group 54" id="54"/>
          <p:cNvGrpSpPr/>
          <p:nvPr/>
        </p:nvGrpSpPr>
        <p:grpSpPr>
          <a:xfrm rot="0">
            <a:off x="6462712" y="7456596"/>
            <a:ext cx="5267325" cy="1592980"/>
            <a:chOff x="0" y="0"/>
            <a:chExt cx="7023100" cy="2123973"/>
          </a:xfrm>
        </p:grpSpPr>
        <p:sp>
          <p:nvSpPr>
            <p:cNvPr name="Freeform 55" id="55"/>
            <p:cNvSpPr/>
            <p:nvPr/>
          </p:nvSpPr>
          <p:spPr>
            <a:xfrm flipH="false" flipV="false" rot="0">
              <a:off x="0" y="0"/>
              <a:ext cx="7023100" cy="2123973"/>
            </a:xfrm>
            <a:custGeom>
              <a:avLst/>
              <a:gdLst/>
              <a:ahLst/>
              <a:cxnLst/>
              <a:rect r="r" b="b" t="t" l="l"/>
              <a:pathLst>
                <a:path h="2123973" w="7023100">
                  <a:moveTo>
                    <a:pt x="0" y="319833"/>
                  </a:moveTo>
                  <a:cubicBezTo>
                    <a:pt x="0" y="143110"/>
                    <a:pt x="88138" y="0"/>
                    <a:pt x="196977" y="0"/>
                  </a:cubicBezTo>
                  <a:lnTo>
                    <a:pt x="6826123" y="0"/>
                  </a:lnTo>
                  <a:cubicBezTo>
                    <a:pt x="6934962" y="0"/>
                    <a:pt x="7023100" y="143110"/>
                    <a:pt x="7023100" y="319833"/>
                  </a:cubicBezTo>
                  <a:lnTo>
                    <a:pt x="7023100" y="1804140"/>
                  </a:lnTo>
                  <a:cubicBezTo>
                    <a:pt x="7023100" y="1980863"/>
                    <a:pt x="6934962" y="2123973"/>
                    <a:pt x="6826123" y="2123973"/>
                  </a:cubicBezTo>
                  <a:lnTo>
                    <a:pt x="196977" y="2123973"/>
                  </a:lnTo>
                  <a:cubicBezTo>
                    <a:pt x="88138" y="2123973"/>
                    <a:pt x="0" y="1980863"/>
                    <a:pt x="0" y="1804140"/>
                  </a:cubicBezTo>
                  <a:close/>
                </a:path>
              </a:pathLst>
            </a:custGeom>
            <a:solidFill>
              <a:srgbClr val="FFFFFF"/>
            </a:solidFill>
            <a:ln w="9526" cap="sq">
              <a:solidFill>
                <a:srgbClr val="E5E7EB"/>
              </a:solidFill>
              <a:prstDash val="solid"/>
              <a:miter/>
            </a:ln>
          </p:spPr>
        </p:sp>
      </p:grpSp>
      <p:sp>
        <p:nvSpPr>
          <p:cNvPr name="TextBox 56" id="56"/>
          <p:cNvSpPr txBox="true"/>
          <p:nvPr/>
        </p:nvSpPr>
        <p:spPr>
          <a:xfrm rot="0">
            <a:off x="1109662" y="7576976"/>
            <a:ext cx="4867275" cy="286512"/>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Finance</a:t>
            </a:r>
          </a:p>
        </p:txBody>
      </p:sp>
      <p:sp>
        <p:nvSpPr>
          <p:cNvPr name="TextBox 57" id="57"/>
          <p:cNvSpPr txBox="true"/>
          <p:nvPr/>
        </p:nvSpPr>
        <p:spPr>
          <a:xfrm rot="0">
            <a:off x="1109662" y="7882538"/>
            <a:ext cx="4867275" cy="260985"/>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Owner: Finance team</a:t>
            </a:r>
          </a:p>
        </p:txBody>
      </p:sp>
      <p:sp>
        <p:nvSpPr>
          <p:cNvPr name="TextBox 58" id="58"/>
          <p:cNvSpPr txBox="true"/>
          <p:nvPr/>
        </p:nvSpPr>
        <p:spPr>
          <a:xfrm rot="0">
            <a:off x="6641830" y="7576976"/>
            <a:ext cx="4867275" cy="286512"/>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Operations</a:t>
            </a:r>
          </a:p>
        </p:txBody>
      </p:sp>
      <p:sp>
        <p:nvSpPr>
          <p:cNvPr name="TextBox 59" id="59"/>
          <p:cNvSpPr txBox="true"/>
          <p:nvPr/>
        </p:nvSpPr>
        <p:spPr>
          <a:xfrm rot="0">
            <a:off x="6641830" y="7882538"/>
            <a:ext cx="4867275" cy="260985"/>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Owner: Operations team</a:t>
            </a:r>
          </a:p>
        </p:txBody>
      </p:sp>
      <p:grpSp>
        <p:nvGrpSpPr>
          <p:cNvPr name="Group 60" id="60"/>
          <p:cNvGrpSpPr/>
          <p:nvPr/>
        </p:nvGrpSpPr>
        <p:grpSpPr>
          <a:xfrm rot="0">
            <a:off x="12163349" y="5551884"/>
            <a:ext cx="5305425" cy="3497692"/>
            <a:chOff x="0" y="0"/>
            <a:chExt cx="7073900" cy="4663589"/>
          </a:xfrm>
        </p:grpSpPr>
        <p:sp>
          <p:nvSpPr>
            <p:cNvPr name="Freeform 61" id="61"/>
            <p:cNvSpPr/>
            <p:nvPr/>
          </p:nvSpPr>
          <p:spPr>
            <a:xfrm flipH="false" flipV="false" rot="0">
              <a:off x="0" y="0"/>
              <a:ext cx="7073900" cy="4663589"/>
            </a:xfrm>
            <a:custGeom>
              <a:avLst/>
              <a:gdLst/>
              <a:ahLst/>
              <a:cxnLst/>
              <a:rect r="r" b="b" t="t" l="l"/>
              <a:pathLst>
                <a:path h="4663589" w="7073900">
                  <a:moveTo>
                    <a:pt x="0" y="157781"/>
                  </a:moveTo>
                  <a:cubicBezTo>
                    <a:pt x="0" y="70673"/>
                    <a:pt x="87376" y="0"/>
                    <a:pt x="195072" y="0"/>
                  </a:cubicBezTo>
                  <a:lnTo>
                    <a:pt x="6878828" y="0"/>
                  </a:lnTo>
                  <a:cubicBezTo>
                    <a:pt x="6986524" y="0"/>
                    <a:pt x="7073900" y="70673"/>
                    <a:pt x="7073900" y="157781"/>
                  </a:cubicBezTo>
                  <a:lnTo>
                    <a:pt x="7073900" y="4505808"/>
                  </a:lnTo>
                  <a:cubicBezTo>
                    <a:pt x="7073900" y="4592917"/>
                    <a:pt x="6986524" y="4663589"/>
                    <a:pt x="6878828" y="4663589"/>
                  </a:cubicBezTo>
                  <a:lnTo>
                    <a:pt x="195072" y="4663589"/>
                  </a:lnTo>
                  <a:cubicBezTo>
                    <a:pt x="87376" y="4663589"/>
                    <a:pt x="0" y="4592916"/>
                    <a:pt x="0" y="4505808"/>
                  </a:cubicBezTo>
                  <a:close/>
                </a:path>
              </a:pathLst>
            </a:custGeom>
            <a:solidFill>
              <a:srgbClr val="ECFAF2"/>
            </a:solidFill>
          </p:spPr>
        </p:sp>
      </p:grpSp>
      <p:sp>
        <p:nvSpPr>
          <p:cNvPr name="TextBox 62" id="62"/>
          <p:cNvSpPr txBox="true"/>
          <p:nvPr/>
        </p:nvSpPr>
        <p:spPr>
          <a:xfrm rot="0">
            <a:off x="12368136" y="5666110"/>
            <a:ext cx="4895850" cy="284039"/>
          </a:xfrm>
          <a:prstGeom prst="rect">
            <a:avLst/>
          </a:prstGeom>
        </p:spPr>
        <p:txBody>
          <a:bodyPr anchor="t" rtlCol="false" tIns="0" lIns="0" bIns="0" rIns="0">
            <a:spAutoFit/>
          </a:bodyPr>
          <a:lstStyle/>
          <a:p>
            <a:pPr algn="l">
              <a:lnSpc>
                <a:spcPts val="2287"/>
              </a:lnSpc>
            </a:pPr>
            <a:r>
              <a:rPr lang="en-US" b="true" sz="1519" spc="77">
                <a:solidFill>
                  <a:srgbClr val="2ECC71"/>
                </a:solidFill>
                <a:latin typeface="Arimo Bold"/>
                <a:ea typeface="Arimo Bold"/>
                <a:cs typeface="Arimo Bold"/>
                <a:sym typeface="Arimo Bold"/>
              </a:rPr>
              <a:t>OPERATING SYSTEM</a:t>
            </a:r>
          </a:p>
        </p:txBody>
      </p:sp>
      <p:sp>
        <p:nvSpPr>
          <p:cNvPr name="TextBox 63" id="63"/>
          <p:cNvSpPr txBox="true"/>
          <p:nvPr/>
        </p:nvSpPr>
        <p:spPr>
          <a:xfrm rot="0">
            <a:off x="12368136" y="6356671"/>
            <a:ext cx="4895850" cy="308991"/>
          </a:xfrm>
          <a:prstGeom prst="rect">
            <a:avLst/>
          </a:prstGeom>
        </p:spPr>
        <p:txBody>
          <a:bodyPr anchor="t" rtlCol="false" tIns="0" lIns="0" bIns="0" rIns="0">
            <a:spAutoFit/>
          </a:bodyPr>
          <a:lstStyle/>
          <a:p>
            <a:pPr algn="l">
              <a:lnSpc>
                <a:spcPts val="2459"/>
              </a:lnSpc>
            </a:pPr>
            <a:r>
              <a:rPr lang="en-US" sz="1639" b="true">
                <a:solidFill>
                  <a:srgbClr val="595959"/>
                </a:solidFill>
                <a:latin typeface="Arimo Bold"/>
                <a:ea typeface="Arimo Bold"/>
                <a:cs typeface="Arimo Bold"/>
                <a:sym typeface="Arimo Bold"/>
              </a:rPr>
              <a:t>Plan:</a:t>
            </a:r>
            <a:r>
              <a:rPr lang="en-US" sz="1639">
                <a:solidFill>
                  <a:srgbClr val="595959"/>
                </a:solidFill>
                <a:latin typeface="Arimo"/>
                <a:ea typeface="Arimo"/>
                <a:cs typeface="Arimo"/>
                <a:sym typeface="Arimo"/>
              </a:rPr>
              <a:t> Weekly priorities and task ownership</a:t>
            </a:r>
          </a:p>
        </p:txBody>
      </p:sp>
      <p:sp>
        <p:nvSpPr>
          <p:cNvPr name="TextBox 64" id="64"/>
          <p:cNvSpPr txBox="true"/>
          <p:nvPr/>
        </p:nvSpPr>
        <p:spPr>
          <a:xfrm rot="0">
            <a:off x="12368136" y="6825482"/>
            <a:ext cx="4895850" cy="308991"/>
          </a:xfrm>
          <a:prstGeom prst="rect">
            <a:avLst/>
          </a:prstGeom>
        </p:spPr>
        <p:txBody>
          <a:bodyPr anchor="t" rtlCol="false" tIns="0" lIns="0" bIns="0" rIns="0">
            <a:spAutoFit/>
          </a:bodyPr>
          <a:lstStyle/>
          <a:p>
            <a:pPr algn="l">
              <a:lnSpc>
                <a:spcPts val="2459"/>
              </a:lnSpc>
            </a:pPr>
            <a:r>
              <a:rPr lang="en-US" sz="1639" b="true">
                <a:solidFill>
                  <a:srgbClr val="595959"/>
                </a:solidFill>
                <a:latin typeface="Arimo Bold"/>
                <a:ea typeface="Arimo Bold"/>
                <a:cs typeface="Arimo Bold"/>
                <a:sym typeface="Arimo Bold"/>
              </a:rPr>
              <a:t>Bu</a:t>
            </a:r>
            <a:r>
              <a:rPr lang="en-US" b="true" sz="1639">
                <a:solidFill>
                  <a:srgbClr val="595959"/>
                </a:solidFill>
                <a:latin typeface="Arimo Bold"/>
                <a:ea typeface="Arimo Bold"/>
                <a:cs typeface="Arimo Bold"/>
                <a:sym typeface="Arimo Bold"/>
              </a:rPr>
              <a:t>ild:</a:t>
            </a:r>
            <a:r>
              <a:rPr lang="en-US" sz="1639">
                <a:solidFill>
                  <a:srgbClr val="595959"/>
                </a:solidFill>
                <a:latin typeface="Arimo"/>
                <a:ea typeface="Arimo"/>
                <a:cs typeface="Arimo"/>
                <a:sym typeface="Arimo"/>
              </a:rPr>
              <a:t> Prototype, design, and backend progress</a:t>
            </a:r>
          </a:p>
        </p:txBody>
      </p:sp>
      <p:sp>
        <p:nvSpPr>
          <p:cNvPr name="TextBox 65" id="65"/>
          <p:cNvSpPr txBox="true"/>
          <p:nvPr/>
        </p:nvSpPr>
        <p:spPr>
          <a:xfrm rot="0">
            <a:off x="12368136" y="7294283"/>
            <a:ext cx="4895850" cy="613791"/>
          </a:xfrm>
          <a:prstGeom prst="rect">
            <a:avLst/>
          </a:prstGeom>
        </p:spPr>
        <p:txBody>
          <a:bodyPr anchor="t" rtlCol="false" tIns="0" lIns="0" bIns="0" rIns="0">
            <a:spAutoFit/>
          </a:bodyPr>
          <a:lstStyle/>
          <a:p>
            <a:pPr algn="l">
              <a:lnSpc>
                <a:spcPts val="2459"/>
              </a:lnSpc>
            </a:pPr>
            <a:r>
              <a:rPr lang="en-US" sz="1639" b="true">
                <a:solidFill>
                  <a:srgbClr val="595959"/>
                </a:solidFill>
                <a:latin typeface="Arimo Bold"/>
                <a:ea typeface="Arimo Bold"/>
                <a:cs typeface="Arimo Bold"/>
                <a:sym typeface="Arimo Bold"/>
              </a:rPr>
              <a:t>Review</a:t>
            </a:r>
            <a:r>
              <a:rPr lang="en-US" b="true" sz="1639">
                <a:solidFill>
                  <a:srgbClr val="595959"/>
                </a:solidFill>
                <a:latin typeface="Arimo Bold"/>
                <a:ea typeface="Arimo Bold"/>
                <a:cs typeface="Arimo Bold"/>
                <a:sym typeface="Arimo Bold"/>
              </a:rPr>
              <a:t>:</a:t>
            </a:r>
            <a:r>
              <a:rPr lang="en-US" sz="1639">
                <a:solidFill>
                  <a:srgbClr val="595959"/>
                </a:solidFill>
                <a:latin typeface="Arimo"/>
                <a:ea typeface="Arimo"/>
                <a:cs typeface="Arimo"/>
                <a:sym typeface="Arimo"/>
              </a:rPr>
              <a:t> Advisor feedback and quality checks when needed</a:t>
            </a:r>
          </a:p>
        </p:txBody>
      </p:sp>
      <p:sp>
        <p:nvSpPr>
          <p:cNvPr name="TextBox 66" id="66"/>
          <p:cNvSpPr txBox="true"/>
          <p:nvPr/>
        </p:nvSpPr>
        <p:spPr>
          <a:xfrm rot="0">
            <a:off x="12368136" y="8029994"/>
            <a:ext cx="4895850" cy="308991"/>
          </a:xfrm>
          <a:prstGeom prst="rect">
            <a:avLst/>
          </a:prstGeom>
        </p:spPr>
        <p:txBody>
          <a:bodyPr anchor="t" rtlCol="false" tIns="0" lIns="0" bIns="0" rIns="0">
            <a:spAutoFit/>
          </a:bodyPr>
          <a:lstStyle/>
          <a:p>
            <a:pPr algn="l">
              <a:lnSpc>
                <a:spcPts val="2459"/>
              </a:lnSpc>
            </a:pPr>
            <a:r>
              <a:rPr lang="en-US" sz="1639" b="true">
                <a:solidFill>
                  <a:srgbClr val="595959"/>
                </a:solidFill>
                <a:latin typeface="Arimo Bold"/>
                <a:ea typeface="Arimo Bold"/>
                <a:cs typeface="Arimo Bold"/>
                <a:sym typeface="Arimo Bold"/>
              </a:rPr>
              <a:t>Imp</a:t>
            </a:r>
            <a:r>
              <a:rPr lang="en-US" b="true" sz="1639">
                <a:solidFill>
                  <a:srgbClr val="595959"/>
                </a:solidFill>
                <a:latin typeface="Arimo Bold"/>
                <a:ea typeface="Arimo Bold"/>
                <a:cs typeface="Arimo Bold"/>
                <a:sym typeface="Arimo Bold"/>
              </a:rPr>
              <a:t>rove:</a:t>
            </a:r>
            <a:r>
              <a:rPr lang="en-US" sz="1639">
                <a:solidFill>
                  <a:srgbClr val="595959"/>
                </a:solidFill>
                <a:latin typeface="Arimo"/>
                <a:ea typeface="Arimo"/>
                <a:cs typeface="Arimo"/>
                <a:sym typeface="Arimo"/>
              </a:rPr>
              <a:t> User feedback, fixes, and next actions</a:t>
            </a:r>
          </a:p>
        </p:txBody>
      </p:sp>
      <p:grpSp>
        <p:nvGrpSpPr>
          <p:cNvPr name="Group 67" id="67"/>
          <p:cNvGrpSpPr/>
          <p:nvPr/>
        </p:nvGrpSpPr>
        <p:grpSpPr>
          <a:xfrm rot="0">
            <a:off x="914400" y="9703222"/>
            <a:ext cx="16459200" cy="297293"/>
            <a:chOff x="0" y="0"/>
            <a:chExt cx="21945600" cy="396391"/>
          </a:xfrm>
        </p:grpSpPr>
        <p:sp>
          <p:nvSpPr>
            <p:cNvPr name="Freeform 68" id="68"/>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69" id="69"/>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70" id="70"/>
          <p:cNvGrpSpPr/>
          <p:nvPr/>
        </p:nvGrpSpPr>
        <p:grpSpPr>
          <a:xfrm rot="0">
            <a:off x="0" y="10247414"/>
            <a:ext cx="18288000" cy="38100"/>
            <a:chOff x="0" y="0"/>
            <a:chExt cx="24384000" cy="50800"/>
          </a:xfrm>
        </p:grpSpPr>
        <p:sp>
          <p:nvSpPr>
            <p:cNvPr name="Freeform 71" id="71"/>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TextBox 72" id="72"/>
          <p:cNvSpPr txBox="true"/>
          <p:nvPr/>
        </p:nvSpPr>
        <p:spPr>
          <a:xfrm rot="0">
            <a:off x="1119188" y="6273251"/>
            <a:ext cx="4867275" cy="775335"/>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Status</a:t>
            </a:r>
            <a:r>
              <a:rPr lang="en-US" sz="1360">
                <a:solidFill>
                  <a:srgbClr val="595959"/>
                </a:solidFill>
                <a:latin typeface="Arimo"/>
                <a:ea typeface="Arimo"/>
                <a:cs typeface="Arimo"/>
                <a:sym typeface="Arimo"/>
              </a:rPr>
              <a:t>: Core app prototype built; medication reminders, scheduling, search, safety checks, and caregiver features are being refined.</a:t>
            </a:r>
          </a:p>
        </p:txBody>
      </p:sp>
      <p:sp>
        <p:nvSpPr>
          <p:cNvPr name="TextBox 73" id="73"/>
          <p:cNvSpPr txBox="true"/>
          <p:nvPr/>
        </p:nvSpPr>
        <p:spPr>
          <a:xfrm rot="0">
            <a:off x="6641830" y="6273251"/>
            <a:ext cx="5007092" cy="518160"/>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Status: Bra</a:t>
            </a:r>
            <a:r>
              <a:rPr lang="en-US" sz="1360">
                <a:solidFill>
                  <a:srgbClr val="595959"/>
                </a:solidFill>
                <a:latin typeface="Arimo"/>
                <a:ea typeface="Arimo"/>
                <a:cs typeface="Arimo"/>
                <a:sym typeface="Arimo"/>
              </a:rPr>
              <a:t>nding, competitor analysis, survey insights, pricing, and launch positioning prepared for Kuwait/GCC users.</a:t>
            </a:r>
          </a:p>
        </p:txBody>
      </p:sp>
      <p:sp>
        <p:nvSpPr>
          <p:cNvPr name="TextBox 74" id="74"/>
          <p:cNvSpPr txBox="true"/>
          <p:nvPr/>
        </p:nvSpPr>
        <p:spPr>
          <a:xfrm rot="0">
            <a:off x="1109662" y="8244811"/>
            <a:ext cx="5067300" cy="518160"/>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Status</a:t>
            </a:r>
            <a:r>
              <a:rPr lang="en-US" sz="1360">
                <a:solidFill>
                  <a:srgbClr val="595959"/>
                </a:solidFill>
                <a:latin typeface="Arimo"/>
                <a:ea typeface="Arimo"/>
                <a:cs typeface="Arimo"/>
                <a:sym typeface="Arimo"/>
              </a:rPr>
              <a:t>: Pricing model, early operating budget, cost assumptions, and break-even analysis developed.</a:t>
            </a:r>
          </a:p>
        </p:txBody>
      </p:sp>
      <p:sp>
        <p:nvSpPr>
          <p:cNvPr name="TextBox 75" id="75"/>
          <p:cNvSpPr txBox="true"/>
          <p:nvPr/>
        </p:nvSpPr>
        <p:spPr>
          <a:xfrm rot="0">
            <a:off x="6641830" y="8195936"/>
            <a:ext cx="5067300" cy="775335"/>
          </a:xfrm>
          <a:prstGeom prst="rect">
            <a:avLst/>
          </a:prstGeom>
        </p:spPr>
        <p:txBody>
          <a:bodyPr anchor="t" rtlCol="false" tIns="0" lIns="0" bIns="0" rIns="0">
            <a:spAutoFit/>
          </a:bodyPr>
          <a:lstStyle/>
          <a:p>
            <a:pPr algn="l">
              <a:lnSpc>
                <a:spcPts val="2052"/>
              </a:lnSpc>
            </a:pPr>
            <a:r>
              <a:rPr lang="en-US" sz="1360">
                <a:solidFill>
                  <a:srgbClr val="595959"/>
                </a:solidFill>
                <a:latin typeface="Arimo"/>
                <a:ea typeface="Arimo"/>
                <a:cs typeface="Arimo"/>
                <a:sym typeface="Arimo"/>
              </a:rPr>
              <a:t>Status</a:t>
            </a:r>
            <a:r>
              <a:rPr lang="en-US" sz="1360">
                <a:solidFill>
                  <a:srgbClr val="595959"/>
                </a:solidFill>
                <a:latin typeface="Arimo"/>
                <a:ea typeface="Arimo"/>
                <a:cs typeface="Arimo"/>
                <a:sym typeface="Arimo"/>
              </a:rPr>
              <a:t>: Manages internal workflows, team coordination, task tracking, documentation, quality control, and day-to-day execution to keep ISTSEH running efficiently.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grpSp>
        <p:nvGrpSpPr>
          <p:cNvPr name="Group 6" id="6"/>
          <p:cNvGrpSpPr/>
          <p:nvPr/>
        </p:nvGrpSpPr>
        <p:grpSpPr>
          <a:xfrm rot="0">
            <a:off x="915295" y="1997497"/>
            <a:ext cx="1095375" cy="47625"/>
            <a:chOff x="0" y="0"/>
            <a:chExt cx="1460500" cy="63500"/>
          </a:xfrm>
        </p:grpSpPr>
        <p:sp>
          <p:nvSpPr>
            <p:cNvPr name="Freeform 7" id="7"/>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8" id="8"/>
          <p:cNvGrpSpPr/>
          <p:nvPr/>
        </p:nvGrpSpPr>
        <p:grpSpPr>
          <a:xfrm rot="0">
            <a:off x="908742" y="2661047"/>
            <a:ext cx="10801350" cy="1037034"/>
            <a:chOff x="0" y="0"/>
            <a:chExt cx="14401800" cy="1382713"/>
          </a:xfrm>
        </p:grpSpPr>
        <p:sp>
          <p:nvSpPr>
            <p:cNvPr name="Freeform 9" id="9"/>
            <p:cNvSpPr/>
            <p:nvPr/>
          </p:nvSpPr>
          <p:spPr>
            <a:xfrm flipH="false" flipV="false" rot="0">
              <a:off x="0" y="0"/>
              <a:ext cx="14401800" cy="1382712"/>
            </a:xfrm>
            <a:custGeom>
              <a:avLst/>
              <a:gdLst/>
              <a:ahLst/>
              <a:cxnLst/>
              <a:rect r="r" b="b" t="t" l="l"/>
              <a:pathLst>
                <a:path h="1382712" w="14401800">
                  <a:moveTo>
                    <a:pt x="0" y="204246"/>
                  </a:moveTo>
                  <a:cubicBezTo>
                    <a:pt x="0" y="91391"/>
                    <a:pt x="88138" y="0"/>
                    <a:pt x="196977" y="0"/>
                  </a:cubicBezTo>
                  <a:lnTo>
                    <a:pt x="14204823" y="0"/>
                  </a:lnTo>
                  <a:cubicBezTo>
                    <a:pt x="14313536" y="0"/>
                    <a:pt x="14401800" y="91391"/>
                    <a:pt x="14401800" y="204246"/>
                  </a:cubicBezTo>
                  <a:lnTo>
                    <a:pt x="14401800" y="1178466"/>
                  </a:lnTo>
                  <a:cubicBezTo>
                    <a:pt x="14401800" y="1291190"/>
                    <a:pt x="14313663" y="1382712"/>
                    <a:pt x="14204823" y="1382712"/>
                  </a:cubicBezTo>
                  <a:lnTo>
                    <a:pt x="196977" y="1382712"/>
                  </a:lnTo>
                  <a:cubicBezTo>
                    <a:pt x="88138" y="1382712"/>
                    <a:pt x="0" y="1291322"/>
                    <a:pt x="0" y="1178466"/>
                  </a:cubicBezTo>
                  <a:close/>
                </a:path>
              </a:pathLst>
            </a:custGeom>
            <a:solidFill>
              <a:srgbClr val="FFFFFF"/>
            </a:solidFill>
            <a:ln w="9526" cap="sq">
              <a:solidFill>
                <a:srgbClr val="E5E7EB"/>
              </a:solidFill>
              <a:prstDash val="solid"/>
              <a:miter/>
            </a:ln>
          </p:spPr>
        </p:sp>
      </p:grpSp>
      <p:grpSp>
        <p:nvGrpSpPr>
          <p:cNvPr name="Group 10" id="10"/>
          <p:cNvGrpSpPr/>
          <p:nvPr/>
        </p:nvGrpSpPr>
        <p:grpSpPr>
          <a:xfrm rot="0">
            <a:off x="1127674" y="2880941"/>
            <a:ext cx="552450" cy="552450"/>
            <a:chOff x="0" y="0"/>
            <a:chExt cx="736600" cy="736600"/>
          </a:xfrm>
        </p:grpSpPr>
        <p:sp>
          <p:nvSpPr>
            <p:cNvPr name="Freeform 11" id="11"/>
            <p:cNvSpPr/>
            <p:nvPr/>
          </p:nvSpPr>
          <p:spPr>
            <a:xfrm flipH="false" flipV="false" rot="0">
              <a:off x="0" y="0"/>
              <a:ext cx="736600" cy="736600"/>
            </a:xfrm>
            <a:custGeom>
              <a:avLst/>
              <a:gdLst/>
              <a:ahLst/>
              <a:cxnLst/>
              <a:rect r="r" b="b" t="t" l="l"/>
              <a:pathLst>
                <a:path h="736600" w="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31CE76">
                <a:alpha val="784"/>
              </a:srgbClr>
            </a:solidFill>
          </p:spPr>
        </p:sp>
        <p:sp>
          <p:nvSpPr>
            <p:cNvPr name="TextBox 12" id="12"/>
            <p:cNvSpPr txBox="true"/>
            <p:nvPr/>
          </p:nvSpPr>
          <p:spPr>
            <a:xfrm>
              <a:off x="0" y="-66675"/>
              <a:ext cx="736600" cy="803275"/>
            </a:xfrm>
            <a:prstGeom prst="rect">
              <a:avLst/>
            </a:prstGeom>
          </p:spPr>
          <p:txBody>
            <a:bodyPr anchor="ctr" rtlCol="false" tIns="50800" lIns="50800" bIns="50800" rIns="50800"/>
            <a:lstStyle/>
            <a:p>
              <a:pPr algn="ctr">
                <a:lnSpc>
                  <a:spcPts val="2591"/>
                </a:lnSpc>
              </a:pPr>
              <a:r>
                <a:rPr lang="en-US" sz="1719" b="true">
                  <a:solidFill>
                    <a:srgbClr val="2ECC71"/>
                  </a:solidFill>
                  <a:latin typeface="Arimo Bold"/>
                  <a:ea typeface="Arimo Bold"/>
                  <a:cs typeface="Arimo Bold"/>
                  <a:sym typeface="Arimo Bold"/>
                </a:rPr>
                <a:t>01</a:t>
              </a:r>
            </a:p>
          </p:txBody>
        </p:sp>
      </p:grpSp>
      <p:grpSp>
        <p:nvGrpSpPr>
          <p:cNvPr name="Group 13" id="13"/>
          <p:cNvGrpSpPr/>
          <p:nvPr/>
        </p:nvGrpSpPr>
        <p:grpSpPr>
          <a:xfrm rot="0">
            <a:off x="908742" y="3781130"/>
            <a:ext cx="10801350" cy="1057275"/>
            <a:chOff x="0" y="0"/>
            <a:chExt cx="14401800" cy="1409700"/>
          </a:xfrm>
        </p:grpSpPr>
        <p:sp>
          <p:nvSpPr>
            <p:cNvPr name="Freeform 14" id="14"/>
            <p:cNvSpPr/>
            <p:nvPr/>
          </p:nvSpPr>
          <p:spPr>
            <a:xfrm flipH="false" flipV="false" rot="0">
              <a:off x="0" y="0"/>
              <a:ext cx="14401800" cy="1409700"/>
            </a:xfrm>
            <a:custGeom>
              <a:avLst/>
              <a:gdLst/>
              <a:ahLst/>
              <a:cxnLst/>
              <a:rect r="r" b="b" t="t" l="l"/>
              <a:pathLst>
                <a:path h="1409700" w="14401800">
                  <a:moveTo>
                    <a:pt x="0" y="208233"/>
                  </a:moveTo>
                  <a:cubicBezTo>
                    <a:pt x="0" y="93174"/>
                    <a:pt x="88138" y="0"/>
                    <a:pt x="196977" y="0"/>
                  </a:cubicBezTo>
                  <a:lnTo>
                    <a:pt x="14204823" y="0"/>
                  </a:lnTo>
                  <a:cubicBezTo>
                    <a:pt x="14313536" y="0"/>
                    <a:pt x="14401800" y="93174"/>
                    <a:pt x="14401800" y="208233"/>
                  </a:cubicBezTo>
                  <a:lnTo>
                    <a:pt x="14401800" y="1201467"/>
                  </a:lnTo>
                  <a:cubicBezTo>
                    <a:pt x="14401800" y="1316391"/>
                    <a:pt x="14313663" y="1409700"/>
                    <a:pt x="14204823" y="1409700"/>
                  </a:cubicBezTo>
                  <a:lnTo>
                    <a:pt x="196977" y="1409700"/>
                  </a:lnTo>
                  <a:cubicBezTo>
                    <a:pt x="88138" y="1409700"/>
                    <a:pt x="0" y="1316526"/>
                    <a:pt x="0" y="1201467"/>
                  </a:cubicBezTo>
                  <a:close/>
                </a:path>
              </a:pathLst>
            </a:custGeom>
            <a:solidFill>
              <a:srgbClr val="FFFFFF"/>
            </a:solidFill>
            <a:ln w="9526" cap="sq">
              <a:solidFill>
                <a:srgbClr val="E5E7EB"/>
              </a:solidFill>
              <a:prstDash val="solid"/>
              <a:miter/>
            </a:ln>
          </p:spPr>
        </p:sp>
      </p:grpSp>
      <p:grpSp>
        <p:nvGrpSpPr>
          <p:cNvPr name="Group 15" id="15"/>
          <p:cNvGrpSpPr/>
          <p:nvPr/>
        </p:nvGrpSpPr>
        <p:grpSpPr>
          <a:xfrm rot="0">
            <a:off x="1127674" y="4078205"/>
            <a:ext cx="552450" cy="552450"/>
            <a:chOff x="0" y="0"/>
            <a:chExt cx="736600" cy="736600"/>
          </a:xfrm>
        </p:grpSpPr>
        <p:sp>
          <p:nvSpPr>
            <p:cNvPr name="Freeform 16" id="16"/>
            <p:cNvSpPr/>
            <p:nvPr/>
          </p:nvSpPr>
          <p:spPr>
            <a:xfrm flipH="false" flipV="false" rot="0">
              <a:off x="0" y="0"/>
              <a:ext cx="736600" cy="736600"/>
            </a:xfrm>
            <a:custGeom>
              <a:avLst/>
              <a:gdLst/>
              <a:ahLst/>
              <a:cxnLst/>
              <a:rect r="r" b="b" t="t" l="l"/>
              <a:pathLst>
                <a:path h="736600" w="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31CE76">
                <a:alpha val="784"/>
              </a:srgbClr>
            </a:solidFill>
          </p:spPr>
        </p:sp>
        <p:sp>
          <p:nvSpPr>
            <p:cNvPr name="TextBox 17" id="17"/>
            <p:cNvSpPr txBox="true"/>
            <p:nvPr/>
          </p:nvSpPr>
          <p:spPr>
            <a:xfrm>
              <a:off x="0" y="-66675"/>
              <a:ext cx="736600" cy="803275"/>
            </a:xfrm>
            <a:prstGeom prst="rect">
              <a:avLst/>
            </a:prstGeom>
          </p:spPr>
          <p:txBody>
            <a:bodyPr anchor="ctr" rtlCol="false" tIns="50800" lIns="50800" bIns="50800" rIns="50800"/>
            <a:lstStyle/>
            <a:p>
              <a:pPr algn="ctr">
                <a:lnSpc>
                  <a:spcPts val="2591"/>
                </a:lnSpc>
              </a:pPr>
              <a:r>
                <a:rPr lang="en-US" sz="1719" b="true">
                  <a:solidFill>
                    <a:srgbClr val="2ECC71"/>
                  </a:solidFill>
                  <a:latin typeface="Arimo Bold"/>
                  <a:ea typeface="Arimo Bold"/>
                  <a:cs typeface="Arimo Bold"/>
                  <a:sym typeface="Arimo Bold"/>
                </a:rPr>
                <a:t>02</a:t>
              </a:r>
            </a:p>
          </p:txBody>
        </p:sp>
      </p:grpSp>
      <p:grpSp>
        <p:nvGrpSpPr>
          <p:cNvPr name="Group 18" id="18"/>
          <p:cNvGrpSpPr/>
          <p:nvPr/>
        </p:nvGrpSpPr>
        <p:grpSpPr>
          <a:xfrm rot="0">
            <a:off x="908742" y="4949095"/>
            <a:ext cx="10801350" cy="1066029"/>
            <a:chOff x="0" y="0"/>
            <a:chExt cx="14401800" cy="1421371"/>
          </a:xfrm>
        </p:grpSpPr>
        <p:sp>
          <p:nvSpPr>
            <p:cNvPr name="Freeform 19" id="19"/>
            <p:cNvSpPr/>
            <p:nvPr/>
          </p:nvSpPr>
          <p:spPr>
            <a:xfrm flipH="false" flipV="false" rot="0">
              <a:off x="0" y="0"/>
              <a:ext cx="14401800" cy="1421371"/>
            </a:xfrm>
            <a:custGeom>
              <a:avLst/>
              <a:gdLst/>
              <a:ahLst/>
              <a:cxnLst/>
              <a:rect r="r" b="b" t="t" l="l"/>
              <a:pathLst>
                <a:path h="1421371" w="14401800">
                  <a:moveTo>
                    <a:pt x="0" y="209957"/>
                  </a:moveTo>
                  <a:cubicBezTo>
                    <a:pt x="0" y="93946"/>
                    <a:pt x="88138" y="0"/>
                    <a:pt x="196977" y="0"/>
                  </a:cubicBezTo>
                  <a:lnTo>
                    <a:pt x="14204823" y="0"/>
                  </a:lnTo>
                  <a:cubicBezTo>
                    <a:pt x="14313536" y="0"/>
                    <a:pt x="14401800" y="93946"/>
                    <a:pt x="14401800" y="209957"/>
                  </a:cubicBezTo>
                  <a:lnTo>
                    <a:pt x="14401800" y="1211415"/>
                  </a:lnTo>
                  <a:cubicBezTo>
                    <a:pt x="14401800" y="1327290"/>
                    <a:pt x="14313663" y="1421371"/>
                    <a:pt x="14204823" y="1421371"/>
                  </a:cubicBezTo>
                  <a:lnTo>
                    <a:pt x="196977" y="1421371"/>
                  </a:lnTo>
                  <a:cubicBezTo>
                    <a:pt x="88138" y="1421371"/>
                    <a:pt x="0" y="1327425"/>
                    <a:pt x="0" y="1211415"/>
                  </a:cubicBezTo>
                  <a:close/>
                </a:path>
              </a:pathLst>
            </a:custGeom>
            <a:solidFill>
              <a:srgbClr val="FFFFFF"/>
            </a:solidFill>
            <a:ln w="9526" cap="sq">
              <a:solidFill>
                <a:srgbClr val="E5E7EB"/>
              </a:solidFill>
              <a:prstDash val="solid"/>
              <a:miter/>
            </a:ln>
          </p:spPr>
        </p:sp>
      </p:grpSp>
      <p:grpSp>
        <p:nvGrpSpPr>
          <p:cNvPr name="Group 20" id="20"/>
          <p:cNvGrpSpPr/>
          <p:nvPr/>
        </p:nvGrpSpPr>
        <p:grpSpPr>
          <a:xfrm rot="0">
            <a:off x="1127674" y="5168989"/>
            <a:ext cx="552450" cy="552450"/>
            <a:chOff x="0" y="0"/>
            <a:chExt cx="736600" cy="736600"/>
          </a:xfrm>
        </p:grpSpPr>
        <p:sp>
          <p:nvSpPr>
            <p:cNvPr name="Freeform 21" id="21"/>
            <p:cNvSpPr/>
            <p:nvPr/>
          </p:nvSpPr>
          <p:spPr>
            <a:xfrm flipH="false" flipV="false" rot="0">
              <a:off x="0" y="0"/>
              <a:ext cx="736600" cy="736600"/>
            </a:xfrm>
            <a:custGeom>
              <a:avLst/>
              <a:gdLst/>
              <a:ahLst/>
              <a:cxnLst/>
              <a:rect r="r" b="b" t="t" l="l"/>
              <a:pathLst>
                <a:path h="736600" w="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31CE76">
                <a:alpha val="784"/>
              </a:srgbClr>
            </a:solidFill>
          </p:spPr>
        </p:sp>
        <p:sp>
          <p:nvSpPr>
            <p:cNvPr name="TextBox 22" id="22"/>
            <p:cNvSpPr txBox="true"/>
            <p:nvPr/>
          </p:nvSpPr>
          <p:spPr>
            <a:xfrm>
              <a:off x="0" y="-66675"/>
              <a:ext cx="736600" cy="803275"/>
            </a:xfrm>
            <a:prstGeom prst="rect">
              <a:avLst/>
            </a:prstGeom>
          </p:spPr>
          <p:txBody>
            <a:bodyPr anchor="ctr" rtlCol="false" tIns="50800" lIns="50800" bIns="50800" rIns="50800"/>
            <a:lstStyle/>
            <a:p>
              <a:pPr algn="ctr">
                <a:lnSpc>
                  <a:spcPts val="2591"/>
                </a:lnSpc>
              </a:pPr>
              <a:r>
                <a:rPr lang="en-US" sz="1719" b="true">
                  <a:solidFill>
                    <a:srgbClr val="2ECC71"/>
                  </a:solidFill>
                  <a:latin typeface="Arimo Bold"/>
                  <a:ea typeface="Arimo Bold"/>
                  <a:cs typeface="Arimo Bold"/>
                  <a:sym typeface="Arimo Bold"/>
                </a:rPr>
                <a:t>03</a:t>
              </a:r>
            </a:p>
          </p:txBody>
        </p:sp>
      </p:grpSp>
      <p:grpSp>
        <p:nvGrpSpPr>
          <p:cNvPr name="Group 23" id="23"/>
          <p:cNvGrpSpPr/>
          <p:nvPr/>
        </p:nvGrpSpPr>
        <p:grpSpPr>
          <a:xfrm rot="0">
            <a:off x="908742" y="6129423"/>
            <a:ext cx="10801350" cy="1059699"/>
            <a:chOff x="0" y="0"/>
            <a:chExt cx="14401800" cy="1412931"/>
          </a:xfrm>
        </p:grpSpPr>
        <p:sp>
          <p:nvSpPr>
            <p:cNvPr name="Freeform 24" id="24"/>
            <p:cNvSpPr/>
            <p:nvPr/>
          </p:nvSpPr>
          <p:spPr>
            <a:xfrm flipH="false" flipV="false" rot="0">
              <a:off x="0" y="0"/>
              <a:ext cx="14401800" cy="1412931"/>
            </a:xfrm>
            <a:custGeom>
              <a:avLst/>
              <a:gdLst/>
              <a:ahLst/>
              <a:cxnLst/>
              <a:rect r="r" b="b" t="t" l="l"/>
              <a:pathLst>
                <a:path h="1412931" w="14401800">
                  <a:moveTo>
                    <a:pt x="0" y="208710"/>
                  </a:moveTo>
                  <a:cubicBezTo>
                    <a:pt x="0" y="93388"/>
                    <a:pt x="88138" y="0"/>
                    <a:pt x="196977" y="0"/>
                  </a:cubicBezTo>
                  <a:lnTo>
                    <a:pt x="14204823" y="0"/>
                  </a:lnTo>
                  <a:cubicBezTo>
                    <a:pt x="14313536" y="0"/>
                    <a:pt x="14401800" y="93388"/>
                    <a:pt x="14401800" y="208710"/>
                  </a:cubicBezTo>
                  <a:lnTo>
                    <a:pt x="14401800" y="1204221"/>
                  </a:lnTo>
                  <a:cubicBezTo>
                    <a:pt x="14401800" y="1319409"/>
                    <a:pt x="14313663" y="1412931"/>
                    <a:pt x="14204823" y="1412931"/>
                  </a:cubicBezTo>
                  <a:lnTo>
                    <a:pt x="196977" y="1412931"/>
                  </a:lnTo>
                  <a:cubicBezTo>
                    <a:pt x="88138" y="1412931"/>
                    <a:pt x="0" y="1319543"/>
                    <a:pt x="0" y="1204221"/>
                  </a:cubicBezTo>
                  <a:close/>
                </a:path>
              </a:pathLst>
            </a:custGeom>
            <a:solidFill>
              <a:srgbClr val="FFFFFF"/>
            </a:solidFill>
            <a:ln w="9526" cap="sq">
              <a:solidFill>
                <a:srgbClr val="E5E7EB"/>
              </a:solidFill>
              <a:prstDash val="solid"/>
              <a:miter/>
            </a:ln>
          </p:spPr>
        </p:sp>
      </p:grpSp>
      <p:grpSp>
        <p:nvGrpSpPr>
          <p:cNvPr name="Group 25" id="25"/>
          <p:cNvGrpSpPr/>
          <p:nvPr/>
        </p:nvGrpSpPr>
        <p:grpSpPr>
          <a:xfrm rot="0">
            <a:off x="1127674" y="6349317"/>
            <a:ext cx="552450" cy="552450"/>
            <a:chOff x="0" y="0"/>
            <a:chExt cx="736600" cy="736600"/>
          </a:xfrm>
        </p:grpSpPr>
        <p:sp>
          <p:nvSpPr>
            <p:cNvPr name="Freeform 26" id="26"/>
            <p:cNvSpPr/>
            <p:nvPr/>
          </p:nvSpPr>
          <p:spPr>
            <a:xfrm flipH="false" flipV="false" rot="0">
              <a:off x="0" y="0"/>
              <a:ext cx="736600" cy="736600"/>
            </a:xfrm>
            <a:custGeom>
              <a:avLst/>
              <a:gdLst/>
              <a:ahLst/>
              <a:cxnLst/>
              <a:rect r="r" b="b" t="t" l="l"/>
              <a:pathLst>
                <a:path h="736600" w="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31CE76">
                <a:alpha val="784"/>
              </a:srgbClr>
            </a:solidFill>
          </p:spPr>
        </p:sp>
        <p:sp>
          <p:nvSpPr>
            <p:cNvPr name="TextBox 27" id="27"/>
            <p:cNvSpPr txBox="true"/>
            <p:nvPr/>
          </p:nvSpPr>
          <p:spPr>
            <a:xfrm>
              <a:off x="0" y="-66675"/>
              <a:ext cx="736600" cy="803275"/>
            </a:xfrm>
            <a:prstGeom prst="rect">
              <a:avLst/>
            </a:prstGeom>
          </p:spPr>
          <p:txBody>
            <a:bodyPr anchor="ctr" rtlCol="false" tIns="50800" lIns="50800" bIns="50800" rIns="50800"/>
            <a:lstStyle/>
            <a:p>
              <a:pPr algn="ctr">
                <a:lnSpc>
                  <a:spcPts val="2591"/>
                </a:lnSpc>
              </a:pPr>
              <a:r>
                <a:rPr lang="en-US" sz="1719" b="true">
                  <a:solidFill>
                    <a:srgbClr val="2ECC71"/>
                  </a:solidFill>
                  <a:latin typeface="Arimo Bold"/>
                  <a:ea typeface="Arimo Bold"/>
                  <a:cs typeface="Arimo Bold"/>
                  <a:sym typeface="Arimo Bold"/>
                </a:rPr>
                <a:t>04</a:t>
              </a:r>
            </a:p>
          </p:txBody>
        </p:sp>
      </p:grpSp>
      <p:grpSp>
        <p:nvGrpSpPr>
          <p:cNvPr name="Group 28" id="28"/>
          <p:cNvGrpSpPr/>
          <p:nvPr/>
        </p:nvGrpSpPr>
        <p:grpSpPr>
          <a:xfrm rot="0">
            <a:off x="12069147" y="2673925"/>
            <a:ext cx="5305425" cy="2057400"/>
            <a:chOff x="0" y="0"/>
            <a:chExt cx="7073900" cy="2743200"/>
          </a:xfrm>
        </p:grpSpPr>
        <p:sp>
          <p:nvSpPr>
            <p:cNvPr name="Freeform 29" id="29"/>
            <p:cNvSpPr/>
            <p:nvPr/>
          </p:nvSpPr>
          <p:spPr>
            <a:xfrm flipH="false" flipV="false" rot="0">
              <a:off x="0" y="0"/>
              <a:ext cx="7073900" cy="2743200"/>
            </a:xfrm>
            <a:custGeom>
              <a:avLst/>
              <a:gdLst/>
              <a:ahLst/>
              <a:cxnLst/>
              <a:rect r="r" b="b" t="t" l="l"/>
              <a:pathLst>
                <a:path h="2743200" w="7073900">
                  <a:moveTo>
                    <a:pt x="0" y="195072"/>
                  </a:moveTo>
                  <a:cubicBezTo>
                    <a:pt x="0" y="87376"/>
                    <a:pt x="87376" y="0"/>
                    <a:pt x="195072" y="0"/>
                  </a:cubicBezTo>
                  <a:lnTo>
                    <a:pt x="6878828" y="0"/>
                  </a:lnTo>
                  <a:cubicBezTo>
                    <a:pt x="6986524" y="0"/>
                    <a:pt x="7073900" y="87376"/>
                    <a:pt x="7073900" y="195072"/>
                  </a:cubicBezTo>
                  <a:lnTo>
                    <a:pt x="7073900" y="2548128"/>
                  </a:lnTo>
                  <a:cubicBezTo>
                    <a:pt x="7073900" y="2655824"/>
                    <a:pt x="6986524" y="2743200"/>
                    <a:pt x="6878828" y="2743200"/>
                  </a:cubicBezTo>
                  <a:lnTo>
                    <a:pt x="195072" y="2743200"/>
                  </a:lnTo>
                  <a:cubicBezTo>
                    <a:pt x="87376" y="2743200"/>
                    <a:pt x="0" y="2655824"/>
                    <a:pt x="0" y="2548128"/>
                  </a:cubicBezTo>
                  <a:close/>
                </a:path>
              </a:pathLst>
            </a:custGeom>
            <a:solidFill>
              <a:srgbClr val="ECFAF2"/>
            </a:solidFill>
          </p:spPr>
        </p:sp>
      </p:grpSp>
      <p:grpSp>
        <p:nvGrpSpPr>
          <p:cNvPr name="Group 30" id="30"/>
          <p:cNvGrpSpPr/>
          <p:nvPr/>
        </p:nvGrpSpPr>
        <p:grpSpPr>
          <a:xfrm rot="0">
            <a:off x="12064375" y="4878953"/>
            <a:ext cx="5314950" cy="2242557"/>
            <a:chOff x="0" y="0"/>
            <a:chExt cx="7086600" cy="2990075"/>
          </a:xfrm>
        </p:grpSpPr>
        <p:sp>
          <p:nvSpPr>
            <p:cNvPr name="Freeform 31" id="31"/>
            <p:cNvSpPr/>
            <p:nvPr/>
          </p:nvSpPr>
          <p:spPr>
            <a:xfrm flipH="false" flipV="false" rot="0">
              <a:off x="0" y="0"/>
              <a:ext cx="7086600" cy="2990075"/>
            </a:xfrm>
            <a:custGeom>
              <a:avLst/>
              <a:gdLst/>
              <a:ahLst/>
              <a:cxnLst/>
              <a:rect r="r" b="b" t="t" l="l"/>
              <a:pathLst>
                <a:path h="2990075" w="7086600">
                  <a:moveTo>
                    <a:pt x="0" y="95471"/>
                  </a:moveTo>
                  <a:cubicBezTo>
                    <a:pt x="0" y="42742"/>
                    <a:pt x="87503" y="0"/>
                    <a:pt x="195453" y="0"/>
                  </a:cubicBezTo>
                  <a:lnTo>
                    <a:pt x="6891147" y="0"/>
                  </a:lnTo>
                  <a:cubicBezTo>
                    <a:pt x="6999097" y="0"/>
                    <a:pt x="7086600" y="42742"/>
                    <a:pt x="7086600" y="95471"/>
                  </a:cubicBezTo>
                  <a:lnTo>
                    <a:pt x="7086600" y="2894604"/>
                  </a:lnTo>
                  <a:cubicBezTo>
                    <a:pt x="7086600" y="2947333"/>
                    <a:pt x="6999097" y="2990075"/>
                    <a:pt x="6891147" y="2990075"/>
                  </a:cubicBezTo>
                  <a:lnTo>
                    <a:pt x="195453" y="2990075"/>
                  </a:lnTo>
                  <a:cubicBezTo>
                    <a:pt x="87503" y="2990075"/>
                    <a:pt x="0" y="2947333"/>
                    <a:pt x="0" y="2894604"/>
                  </a:cubicBezTo>
                  <a:close/>
                </a:path>
              </a:pathLst>
            </a:custGeom>
            <a:solidFill>
              <a:srgbClr val="FFFFFF"/>
            </a:solidFill>
            <a:ln w="9526" cap="sq">
              <a:solidFill>
                <a:srgbClr val="E5E7EB"/>
              </a:solidFill>
              <a:prstDash val="solid"/>
              <a:miter/>
            </a:ln>
          </p:spPr>
        </p:sp>
      </p:grpSp>
      <p:grpSp>
        <p:nvGrpSpPr>
          <p:cNvPr name="Group 32" id="32"/>
          <p:cNvGrpSpPr/>
          <p:nvPr/>
        </p:nvGrpSpPr>
        <p:grpSpPr>
          <a:xfrm rot="0">
            <a:off x="914400" y="9703222"/>
            <a:ext cx="16459200" cy="297293"/>
            <a:chOff x="0" y="0"/>
            <a:chExt cx="21945600" cy="396391"/>
          </a:xfrm>
        </p:grpSpPr>
        <p:sp>
          <p:nvSpPr>
            <p:cNvPr name="Freeform 33" id="33"/>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34" id="34"/>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35" id="35"/>
          <p:cNvGrpSpPr/>
          <p:nvPr/>
        </p:nvGrpSpPr>
        <p:grpSpPr>
          <a:xfrm rot="0">
            <a:off x="0" y="10247414"/>
            <a:ext cx="18288000" cy="38100"/>
            <a:chOff x="0" y="0"/>
            <a:chExt cx="24384000" cy="50800"/>
          </a:xfrm>
        </p:grpSpPr>
        <p:sp>
          <p:nvSpPr>
            <p:cNvPr name="Freeform 36" id="36"/>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grpSp>
        <p:nvGrpSpPr>
          <p:cNvPr name="Group 37" id="37"/>
          <p:cNvGrpSpPr/>
          <p:nvPr/>
        </p:nvGrpSpPr>
        <p:grpSpPr>
          <a:xfrm rot="0">
            <a:off x="915295" y="7274847"/>
            <a:ext cx="10801350" cy="1059699"/>
            <a:chOff x="0" y="0"/>
            <a:chExt cx="14401800" cy="1412931"/>
          </a:xfrm>
        </p:grpSpPr>
        <p:sp>
          <p:nvSpPr>
            <p:cNvPr name="Freeform 38" id="38"/>
            <p:cNvSpPr/>
            <p:nvPr/>
          </p:nvSpPr>
          <p:spPr>
            <a:xfrm flipH="false" flipV="false" rot="0">
              <a:off x="0" y="0"/>
              <a:ext cx="14401800" cy="1412931"/>
            </a:xfrm>
            <a:custGeom>
              <a:avLst/>
              <a:gdLst/>
              <a:ahLst/>
              <a:cxnLst/>
              <a:rect r="r" b="b" t="t" l="l"/>
              <a:pathLst>
                <a:path h="1412931" w="14401800">
                  <a:moveTo>
                    <a:pt x="0" y="208710"/>
                  </a:moveTo>
                  <a:cubicBezTo>
                    <a:pt x="0" y="93388"/>
                    <a:pt x="88138" y="0"/>
                    <a:pt x="196977" y="0"/>
                  </a:cubicBezTo>
                  <a:lnTo>
                    <a:pt x="14204823" y="0"/>
                  </a:lnTo>
                  <a:cubicBezTo>
                    <a:pt x="14313536" y="0"/>
                    <a:pt x="14401800" y="93388"/>
                    <a:pt x="14401800" y="208710"/>
                  </a:cubicBezTo>
                  <a:lnTo>
                    <a:pt x="14401800" y="1204221"/>
                  </a:lnTo>
                  <a:cubicBezTo>
                    <a:pt x="14401800" y="1319409"/>
                    <a:pt x="14313663" y="1412931"/>
                    <a:pt x="14204823" y="1412931"/>
                  </a:cubicBezTo>
                  <a:lnTo>
                    <a:pt x="196977" y="1412931"/>
                  </a:lnTo>
                  <a:cubicBezTo>
                    <a:pt x="88138" y="1412931"/>
                    <a:pt x="0" y="1319543"/>
                    <a:pt x="0" y="1204221"/>
                  </a:cubicBezTo>
                  <a:close/>
                </a:path>
              </a:pathLst>
            </a:custGeom>
            <a:solidFill>
              <a:srgbClr val="FFFFFF"/>
            </a:solidFill>
            <a:ln w="9526" cap="sq">
              <a:solidFill>
                <a:srgbClr val="E5E7EB"/>
              </a:solidFill>
              <a:prstDash val="solid"/>
              <a:miter/>
            </a:ln>
          </p:spPr>
        </p:sp>
      </p:grpSp>
      <p:grpSp>
        <p:nvGrpSpPr>
          <p:cNvPr name="Group 39" id="39"/>
          <p:cNvGrpSpPr/>
          <p:nvPr/>
        </p:nvGrpSpPr>
        <p:grpSpPr>
          <a:xfrm rot="0">
            <a:off x="1134227" y="7494741"/>
            <a:ext cx="552450" cy="552450"/>
            <a:chOff x="0" y="0"/>
            <a:chExt cx="736600" cy="736600"/>
          </a:xfrm>
        </p:grpSpPr>
        <p:sp>
          <p:nvSpPr>
            <p:cNvPr name="Freeform 40" id="40"/>
            <p:cNvSpPr/>
            <p:nvPr/>
          </p:nvSpPr>
          <p:spPr>
            <a:xfrm flipH="false" flipV="false" rot="0">
              <a:off x="0" y="0"/>
              <a:ext cx="736600" cy="736600"/>
            </a:xfrm>
            <a:custGeom>
              <a:avLst/>
              <a:gdLst/>
              <a:ahLst/>
              <a:cxnLst/>
              <a:rect r="r" b="b" t="t" l="l"/>
              <a:pathLst>
                <a:path h="736600" w="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31CE76">
                <a:alpha val="784"/>
              </a:srgbClr>
            </a:solidFill>
          </p:spPr>
        </p:sp>
        <p:sp>
          <p:nvSpPr>
            <p:cNvPr name="TextBox 41" id="41"/>
            <p:cNvSpPr txBox="true"/>
            <p:nvPr/>
          </p:nvSpPr>
          <p:spPr>
            <a:xfrm>
              <a:off x="0" y="-66675"/>
              <a:ext cx="736600" cy="803275"/>
            </a:xfrm>
            <a:prstGeom prst="rect">
              <a:avLst/>
            </a:prstGeom>
          </p:spPr>
          <p:txBody>
            <a:bodyPr anchor="ctr" rtlCol="false" tIns="50800" lIns="50800" bIns="50800" rIns="50800"/>
            <a:lstStyle/>
            <a:p>
              <a:pPr algn="ctr">
                <a:lnSpc>
                  <a:spcPts val="2591"/>
                </a:lnSpc>
              </a:pPr>
              <a:r>
                <a:rPr lang="en-US" sz="1719" b="true">
                  <a:solidFill>
                    <a:srgbClr val="2ECC71"/>
                  </a:solidFill>
                  <a:latin typeface="Arimo Bold"/>
                  <a:ea typeface="Arimo Bold"/>
                  <a:cs typeface="Arimo Bold"/>
                  <a:sym typeface="Arimo Bold"/>
                </a:rPr>
                <a:t>05</a:t>
              </a:r>
            </a:p>
          </p:txBody>
        </p:sp>
      </p:grpSp>
      <p:grpSp>
        <p:nvGrpSpPr>
          <p:cNvPr name="Group 42" id="42"/>
          <p:cNvGrpSpPr/>
          <p:nvPr/>
        </p:nvGrpSpPr>
        <p:grpSpPr>
          <a:xfrm rot="0">
            <a:off x="915295" y="8448845"/>
            <a:ext cx="10801350" cy="1059699"/>
            <a:chOff x="0" y="0"/>
            <a:chExt cx="14401800" cy="1412931"/>
          </a:xfrm>
        </p:grpSpPr>
        <p:sp>
          <p:nvSpPr>
            <p:cNvPr name="Freeform 43" id="43"/>
            <p:cNvSpPr/>
            <p:nvPr/>
          </p:nvSpPr>
          <p:spPr>
            <a:xfrm flipH="false" flipV="false" rot="0">
              <a:off x="0" y="0"/>
              <a:ext cx="14401800" cy="1412931"/>
            </a:xfrm>
            <a:custGeom>
              <a:avLst/>
              <a:gdLst/>
              <a:ahLst/>
              <a:cxnLst/>
              <a:rect r="r" b="b" t="t" l="l"/>
              <a:pathLst>
                <a:path h="1412931" w="14401800">
                  <a:moveTo>
                    <a:pt x="0" y="208710"/>
                  </a:moveTo>
                  <a:cubicBezTo>
                    <a:pt x="0" y="93388"/>
                    <a:pt x="88138" y="0"/>
                    <a:pt x="196977" y="0"/>
                  </a:cubicBezTo>
                  <a:lnTo>
                    <a:pt x="14204823" y="0"/>
                  </a:lnTo>
                  <a:cubicBezTo>
                    <a:pt x="14313536" y="0"/>
                    <a:pt x="14401800" y="93388"/>
                    <a:pt x="14401800" y="208710"/>
                  </a:cubicBezTo>
                  <a:lnTo>
                    <a:pt x="14401800" y="1204221"/>
                  </a:lnTo>
                  <a:cubicBezTo>
                    <a:pt x="14401800" y="1319409"/>
                    <a:pt x="14313663" y="1412931"/>
                    <a:pt x="14204823" y="1412931"/>
                  </a:cubicBezTo>
                  <a:lnTo>
                    <a:pt x="196977" y="1412931"/>
                  </a:lnTo>
                  <a:cubicBezTo>
                    <a:pt x="88138" y="1412931"/>
                    <a:pt x="0" y="1319543"/>
                    <a:pt x="0" y="1204221"/>
                  </a:cubicBezTo>
                  <a:close/>
                </a:path>
              </a:pathLst>
            </a:custGeom>
            <a:solidFill>
              <a:srgbClr val="FFFFFF"/>
            </a:solidFill>
            <a:ln w="9526" cap="sq">
              <a:solidFill>
                <a:srgbClr val="E5E7EB"/>
              </a:solidFill>
              <a:prstDash val="solid"/>
              <a:miter/>
            </a:ln>
          </p:spPr>
        </p:sp>
      </p:grpSp>
      <p:grpSp>
        <p:nvGrpSpPr>
          <p:cNvPr name="Group 44" id="44"/>
          <p:cNvGrpSpPr/>
          <p:nvPr/>
        </p:nvGrpSpPr>
        <p:grpSpPr>
          <a:xfrm rot="0">
            <a:off x="1134227" y="8668740"/>
            <a:ext cx="552450" cy="552450"/>
            <a:chOff x="0" y="0"/>
            <a:chExt cx="736600" cy="736600"/>
          </a:xfrm>
        </p:grpSpPr>
        <p:sp>
          <p:nvSpPr>
            <p:cNvPr name="Freeform 45" id="45"/>
            <p:cNvSpPr/>
            <p:nvPr/>
          </p:nvSpPr>
          <p:spPr>
            <a:xfrm flipH="false" flipV="false" rot="0">
              <a:off x="0" y="0"/>
              <a:ext cx="736600" cy="736600"/>
            </a:xfrm>
            <a:custGeom>
              <a:avLst/>
              <a:gdLst/>
              <a:ahLst/>
              <a:cxnLst/>
              <a:rect r="r" b="b" t="t" l="l"/>
              <a:pathLst>
                <a:path h="736600" w="736600">
                  <a:moveTo>
                    <a:pt x="0" y="368300"/>
                  </a:moveTo>
                  <a:cubicBezTo>
                    <a:pt x="0" y="164846"/>
                    <a:pt x="164846" y="0"/>
                    <a:pt x="368300" y="0"/>
                  </a:cubicBezTo>
                  <a:cubicBezTo>
                    <a:pt x="571754" y="0"/>
                    <a:pt x="736600" y="164846"/>
                    <a:pt x="736600" y="368300"/>
                  </a:cubicBezTo>
                  <a:cubicBezTo>
                    <a:pt x="736600" y="571754"/>
                    <a:pt x="571754" y="736600"/>
                    <a:pt x="368300" y="736600"/>
                  </a:cubicBezTo>
                  <a:cubicBezTo>
                    <a:pt x="164846" y="736600"/>
                    <a:pt x="0" y="571754"/>
                    <a:pt x="0" y="368300"/>
                  </a:cubicBezTo>
                  <a:close/>
                </a:path>
              </a:pathLst>
            </a:custGeom>
            <a:solidFill>
              <a:srgbClr val="31CE76">
                <a:alpha val="784"/>
              </a:srgbClr>
            </a:solidFill>
          </p:spPr>
        </p:sp>
        <p:sp>
          <p:nvSpPr>
            <p:cNvPr name="TextBox 46" id="46"/>
            <p:cNvSpPr txBox="true"/>
            <p:nvPr/>
          </p:nvSpPr>
          <p:spPr>
            <a:xfrm>
              <a:off x="0" y="-66675"/>
              <a:ext cx="736600" cy="803275"/>
            </a:xfrm>
            <a:prstGeom prst="rect">
              <a:avLst/>
            </a:prstGeom>
          </p:spPr>
          <p:txBody>
            <a:bodyPr anchor="ctr" rtlCol="false" tIns="50800" lIns="50800" bIns="50800" rIns="50800"/>
            <a:lstStyle/>
            <a:p>
              <a:pPr algn="ctr">
                <a:lnSpc>
                  <a:spcPts val="2591"/>
                </a:lnSpc>
              </a:pPr>
              <a:r>
                <a:rPr lang="en-US" sz="1719" b="true">
                  <a:solidFill>
                    <a:srgbClr val="2ECC71"/>
                  </a:solidFill>
                  <a:latin typeface="Arimo Bold"/>
                  <a:ea typeface="Arimo Bold"/>
                  <a:cs typeface="Arimo Bold"/>
                  <a:sym typeface="Arimo Bold"/>
                </a:rPr>
                <a:t>06</a:t>
              </a:r>
            </a:p>
          </p:txBody>
        </p:sp>
      </p:grpSp>
      <p:sp>
        <p:nvSpPr>
          <p:cNvPr name="Freeform 47" id="47"/>
          <p:cNvSpPr/>
          <p:nvPr/>
        </p:nvSpPr>
        <p:spPr>
          <a:xfrm flipH="false" flipV="false" rot="0">
            <a:off x="12717305" y="7181103"/>
            <a:ext cx="3990057" cy="2755181"/>
          </a:xfrm>
          <a:custGeom>
            <a:avLst/>
            <a:gdLst/>
            <a:ahLst/>
            <a:cxnLst/>
            <a:rect r="r" b="b" t="t" l="l"/>
            <a:pathLst>
              <a:path h="2755181" w="3990057">
                <a:moveTo>
                  <a:pt x="0" y="0"/>
                </a:moveTo>
                <a:lnTo>
                  <a:pt x="3990058" y="0"/>
                </a:lnTo>
                <a:lnTo>
                  <a:pt x="3990058" y="2755181"/>
                </a:lnTo>
                <a:lnTo>
                  <a:pt x="0" y="2755181"/>
                </a:lnTo>
                <a:lnTo>
                  <a:pt x="0" y="0"/>
                </a:lnTo>
                <a:close/>
              </a:path>
            </a:pathLst>
          </a:custGeom>
          <a:blipFill>
            <a:blip r:embed="rId4"/>
            <a:stretch>
              <a:fillRect l="-6422" t="0" r="-6119" b="-15310"/>
            </a:stretch>
          </a:blipFill>
        </p:spPr>
      </p:sp>
      <p:sp>
        <p:nvSpPr>
          <p:cNvPr name="TextBox 48" id="48"/>
          <p:cNvSpPr txBox="true"/>
          <p:nvPr/>
        </p:nvSpPr>
        <p:spPr>
          <a:xfrm rot="0">
            <a:off x="1244279" y="285826"/>
            <a:ext cx="856560"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49" id="49"/>
          <p:cNvSpPr txBox="true"/>
          <p:nvPr/>
        </p:nvSpPr>
        <p:spPr>
          <a:xfrm rot="0">
            <a:off x="2354237" y="352501"/>
            <a:ext cx="279082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15 · DEVELOPMENT</a:t>
            </a:r>
          </a:p>
        </p:txBody>
      </p:sp>
      <p:sp>
        <p:nvSpPr>
          <p:cNvPr name="TextBox 50" id="50"/>
          <p:cNvSpPr txBox="true"/>
          <p:nvPr/>
        </p:nvSpPr>
        <p:spPr>
          <a:xfrm rot="0">
            <a:off x="16839009" y="352501"/>
            <a:ext cx="53340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17 / 31</a:t>
            </a:r>
          </a:p>
        </p:txBody>
      </p:sp>
      <p:sp>
        <p:nvSpPr>
          <p:cNvPr name="TextBox 51" id="51"/>
          <p:cNvSpPr txBox="true"/>
          <p:nvPr/>
        </p:nvSpPr>
        <p:spPr>
          <a:xfrm rot="0">
            <a:off x="914400" y="1198807"/>
            <a:ext cx="8707636" cy="721614"/>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Production and Development</a:t>
            </a:r>
          </a:p>
        </p:txBody>
      </p:sp>
      <p:sp>
        <p:nvSpPr>
          <p:cNvPr name="TextBox 52" id="52"/>
          <p:cNvSpPr txBox="true"/>
          <p:nvPr/>
        </p:nvSpPr>
        <p:spPr>
          <a:xfrm rot="0">
            <a:off x="913505" y="2216572"/>
            <a:ext cx="10791825"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BUILD PROCESS</a:t>
            </a:r>
          </a:p>
        </p:txBody>
      </p:sp>
      <p:sp>
        <p:nvSpPr>
          <p:cNvPr name="TextBox 53" id="53"/>
          <p:cNvSpPr txBox="true"/>
          <p:nvPr/>
        </p:nvSpPr>
        <p:spPr>
          <a:xfrm rot="0">
            <a:off x="1950910" y="2714254"/>
            <a:ext cx="3333750" cy="304800"/>
          </a:xfrm>
          <a:prstGeom prst="rect">
            <a:avLst/>
          </a:prstGeom>
        </p:spPr>
        <p:txBody>
          <a:bodyPr anchor="t" rtlCol="false" tIns="0" lIns="0" bIns="0" rIns="0">
            <a:spAutoFit/>
          </a:bodyPr>
          <a:lstStyle/>
          <a:p>
            <a:pPr algn="l">
              <a:lnSpc>
                <a:spcPts val="2160"/>
              </a:lnSpc>
            </a:pPr>
            <a:r>
              <a:rPr lang="en-US" sz="1719" b="true">
                <a:solidFill>
                  <a:srgbClr val="1A1A2E"/>
                </a:solidFill>
                <a:latin typeface="Arimo Bold"/>
                <a:ea typeface="Arimo Bold"/>
                <a:cs typeface="Arimo Bold"/>
                <a:sym typeface="Arimo Bold"/>
              </a:rPr>
              <a:t>Discovery and research</a:t>
            </a:r>
          </a:p>
        </p:txBody>
      </p:sp>
      <p:sp>
        <p:nvSpPr>
          <p:cNvPr name="TextBox 54" id="54"/>
          <p:cNvSpPr txBox="true"/>
          <p:nvPr/>
        </p:nvSpPr>
        <p:spPr>
          <a:xfrm rot="0">
            <a:off x="1950910" y="3128591"/>
            <a:ext cx="9300526"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Identified the m</a:t>
            </a:r>
            <a:r>
              <a:rPr lang="en-US" sz="1439">
                <a:solidFill>
                  <a:srgbClr val="595959"/>
                </a:solidFill>
                <a:latin typeface="Inter"/>
                <a:ea typeface="Inter"/>
                <a:cs typeface="Inter"/>
                <a:sym typeface="Inter"/>
              </a:rPr>
              <a:t>edication-care problem, reviewed chronic disease and medication safety needs, and studied existing solutions in Kuwait, GCC, and global markets.</a:t>
            </a:r>
          </a:p>
        </p:txBody>
      </p:sp>
      <p:sp>
        <p:nvSpPr>
          <p:cNvPr name="TextBox 55" id="55"/>
          <p:cNvSpPr txBox="true"/>
          <p:nvPr/>
        </p:nvSpPr>
        <p:spPr>
          <a:xfrm rot="0">
            <a:off x="1950910" y="3847719"/>
            <a:ext cx="2828330" cy="283083"/>
          </a:xfrm>
          <a:prstGeom prst="rect">
            <a:avLst/>
          </a:prstGeom>
        </p:spPr>
        <p:txBody>
          <a:bodyPr anchor="t" rtlCol="false" tIns="0" lIns="0" bIns="0" rIns="0">
            <a:spAutoFit/>
          </a:bodyPr>
          <a:lstStyle/>
          <a:p>
            <a:pPr algn="l">
              <a:lnSpc>
                <a:spcPts val="2160"/>
              </a:lnSpc>
            </a:pPr>
            <a:r>
              <a:rPr lang="en-US" sz="1719" b="true">
                <a:solidFill>
                  <a:srgbClr val="1A1A2E"/>
                </a:solidFill>
                <a:latin typeface="Arimo Bold"/>
                <a:ea typeface="Arimo Bold"/>
                <a:cs typeface="Arimo Bold"/>
                <a:sym typeface="Arimo Bold"/>
              </a:rPr>
              <a:t>User Surv</a:t>
            </a:r>
            <a:r>
              <a:rPr lang="en-US" sz="1719" b="true">
                <a:solidFill>
                  <a:srgbClr val="1A1A2E"/>
                </a:solidFill>
                <a:latin typeface="Arimo Bold"/>
                <a:ea typeface="Arimo Bold"/>
                <a:cs typeface="Arimo Bold"/>
                <a:sym typeface="Arimo Bold"/>
              </a:rPr>
              <a:t>ey and Validation</a:t>
            </a:r>
          </a:p>
        </p:txBody>
      </p:sp>
      <p:sp>
        <p:nvSpPr>
          <p:cNvPr name="TextBox 56" id="56"/>
          <p:cNvSpPr txBox="true"/>
          <p:nvPr/>
        </p:nvSpPr>
        <p:spPr>
          <a:xfrm rot="0">
            <a:off x="1950911" y="4281345"/>
            <a:ext cx="9300526"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Collect</a:t>
            </a:r>
            <a:r>
              <a:rPr lang="en-US" sz="1439">
                <a:solidFill>
                  <a:srgbClr val="595959"/>
                </a:solidFill>
                <a:latin typeface="Inter"/>
                <a:ea typeface="Inter"/>
                <a:cs typeface="Inter"/>
                <a:sym typeface="Inter"/>
              </a:rPr>
              <a:t>ed user feedback to understand medication habits, family health needs, allergy concerns, and demand for caregiver-supported medication management.</a:t>
            </a:r>
          </a:p>
        </p:txBody>
      </p:sp>
      <p:sp>
        <p:nvSpPr>
          <p:cNvPr name="TextBox 57" id="57"/>
          <p:cNvSpPr txBox="true"/>
          <p:nvPr/>
        </p:nvSpPr>
        <p:spPr>
          <a:xfrm rot="0">
            <a:off x="1950911" y="5038430"/>
            <a:ext cx="2706142" cy="283083"/>
          </a:xfrm>
          <a:prstGeom prst="rect">
            <a:avLst/>
          </a:prstGeom>
        </p:spPr>
        <p:txBody>
          <a:bodyPr anchor="t" rtlCol="false" tIns="0" lIns="0" bIns="0" rIns="0">
            <a:spAutoFit/>
          </a:bodyPr>
          <a:lstStyle/>
          <a:p>
            <a:pPr algn="l">
              <a:lnSpc>
                <a:spcPts val="2160"/>
              </a:lnSpc>
            </a:pPr>
            <a:r>
              <a:rPr lang="en-US" sz="1719" b="true">
                <a:solidFill>
                  <a:srgbClr val="1A1A2E"/>
                </a:solidFill>
                <a:latin typeface="Arimo Bold"/>
                <a:ea typeface="Arimo Bold"/>
                <a:cs typeface="Arimo Bold"/>
                <a:sym typeface="Arimo Bold"/>
              </a:rPr>
              <a:t>Brand</a:t>
            </a:r>
            <a:r>
              <a:rPr lang="en-US" sz="1719" b="true">
                <a:solidFill>
                  <a:srgbClr val="1A1A2E"/>
                </a:solidFill>
                <a:latin typeface="Arimo Bold"/>
                <a:ea typeface="Arimo Bold"/>
                <a:cs typeface="Arimo Bold"/>
                <a:sym typeface="Arimo Bold"/>
              </a:rPr>
              <a:t> and Identity Design</a:t>
            </a:r>
          </a:p>
        </p:txBody>
      </p:sp>
      <p:sp>
        <p:nvSpPr>
          <p:cNvPr name="TextBox 58" id="58"/>
          <p:cNvSpPr txBox="true"/>
          <p:nvPr/>
        </p:nvSpPr>
        <p:spPr>
          <a:xfrm rot="0">
            <a:off x="1950911" y="5449300"/>
            <a:ext cx="9300526"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Developed ISTSEH’s name, visual identity, colors, app tone, and Arabic-friendly healthcare design to build trust with patients and families.</a:t>
            </a:r>
          </a:p>
        </p:txBody>
      </p:sp>
      <p:sp>
        <p:nvSpPr>
          <p:cNvPr name="TextBox 59" id="59"/>
          <p:cNvSpPr txBox="true"/>
          <p:nvPr/>
        </p:nvSpPr>
        <p:spPr>
          <a:xfrm rot="0">
            <a:off x="1950911" y="6215148"/>
            <a:ext cx="3992761" cy="283083"/>
          </a:xfrm>
          <a:prstGeom prst="rect">
            <a:avLst/>
          </a:prstGeom>
        </p:spPr>
        <p:txBody>
          <a:bodyPr anchor="t" rtlCol="false" tIns="0" lIns="0" bIns="0" rIns="0">
            <a:spAutoFit/>
          </a:bodyPr>
          <a:lstStyle/>
          <a:p>
            <a:pPr algn="l">
              <a:lnSpc>
                <a:spcPts val="2160"/>
              </a:lnSpc>
            </a:pPr>
            <a:r>
              <a:rPr lang="en-US" sz="1719" b="true">
                <a:solidFill>
                  <a:srgbClr val="1A1A2E"/>
                </a:solidFill>
                <a:latin typeface="Arimo Bold"/>
                <a:ea typeface="Arimo Bold"/>
                <a:cs typeface="Arimo Bold"/>
                <a:sym typeface="Arimo Bold"/>
              </a:rPr>
              <a:t>R</a:t>
            </a:r>
            <a:r>
              <a:rPr lang="en-US" sz="1719" b="true">
                <a:solidFill>
                  <a:srgbClr val="1A1A2E"/>
                </a:solidFill>
                <a:latin typeface="Arimo Bold"/>
                <a:ea typeface="Arimo Bold"/>
                <a:cs typeface="Arimo Bold"/>
                <a:sym typeface="Arimo Bold"/>
              </a:rPr>
              <a:t>equirements and App’s Initial Design</a:t>
            </a:r>
          </a:p>
        </p:txBody>
      </p:sp>
      <p:sp>
        <p:nvSpPr>
          <p:cNvPr name="TextBox 60" id="60"/>
          <p:cNvSpPr txBox="true"/>
          <p:nvPr/>
        </p:nvSpPr>
        <p:spPr>
          <a:xfrm rot="0">
            <a:off x="1950911" y="6629638"/>
            <a:ext cx="9300526"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Defined the app’s core requirements, user flows, screen structure, medication entry process, reminder logic, safety-warning experience, and caregiver journey.</a:t>
            </a:r>
          </a:p>
        </p:txBody>
      </p:sp>
      <p:sp>
        <p:nvSpPr>
          <p:cNvPr name="TextBox 61" id="61"/>
          <p:cNvSpPr txBox="true"/>
          <p:nvPr/>
        </p:nvSpPr>
        <p:spPr>
          <a:xfrm rot="0">
            <a:off x="12273934" y="2834878"/>
            <a:ext cx="4895850" cy="259336"/>
          </a:xfrm>
          <a:prstGeom prst="rect">
            <a:avLst/>
          </a:prstGeom>
        </p:spPr>
        <p:txBody>
          <a:bodyPr anchor="t" rtlCol="false" tIns="0" lIns="0" bIns="0" rIns="0">
            <a:spAutoFit/>
          </a:bodyPr>
          <a:lstStyle/>
          <a:p>
            <a:pPr algn="l">
              <a:lnSpc>
                <a:spcPts val="2136"/>
              </a:lnSpc>
            </a:pPr>
            <a:r>
              <a:rPr lang="en-US" b="true" sz="1419" spc="72">
                <a:solidFill>
                  <a:srgbClr val="2ECC71"/>
                </a:solidFill>
                <a:latin typeface="Inter Bold"/>
                <a:ea typeface="Inter Bold"/>
                <a:cs typeface="Inter Bold"/>
                <a:sym typeface="Inter Bold"/>
              </a:rPr>
              <a:t>Medication Data</a:t>
            </a:r>
            <a:r>
              <a:rPr lang="en-US" b="true" sz="1419" spc="72">
                <a:solidFill>
                  <a:srgbClr val="2ECC71"/>
                </a:solidFill>
                <a:latin typeface="Inter Bold"/>
                <a:ea typeface="Inter Bold"/>
                <a:cs typeface="Inter Bold"/>
                <a:sym typeface="Inter Bold"/>
              </a:rPr>
              <a:t> Strategy</a:t>
            </a:r>
          </a:p>
        </p:txBody>
      </p:sp>
      <p:sp>
        <p:nvSpPr>
          <p:cNvPr name="TextBox 62" id="62"/>
          <p:cNvSpPr txBox="true"/>
          <p:nvPr/>
        </p:nvSpPr>
        <p:spPr>
          <a:xfrm rot="0">
            <a:off x="12273934" y="3180007"/>
            <a:ext cx="4895850" cy="1270635"/>
          </a:xfrm>
          <a:prstGeom prst="rect">
            <a:avLst/>
          </a:prstGeom>
        </p:spPr>
        <p:txBody>
          <a:bodyPr anchor="t" rtlCol="false" tIns="0" lIns="0" bIns="0" rIns="0">
            <a:spAutoFit/>
          </a:bodyPr>
          <a:lstStyle/>
          <a:p>
            <a:pPr algn="l">
              <a:lnSpc>
                <a:spcPts val="2052"/>
              </a:lnSpc>
            </a:pPr>
            <a:r>
              <a:rPr lang="en-US" sz="1360">
                <a:solidFill>
                  <a:srgbClr val="6B7280"/>
                </a:solidFill>
                <a:latin typeface="Inter"/>
                <a:ea typeface="Inter"/>
                <a:cs typeface="Inter"/>
                <a:sym typeface="Inter"/>
              </a:rPr>
              <a:t>I</a:t>
            </a:r>
            <a:r>
              <a:rPr lang="en-US" sz="1360">
                <a:solidFill>
                  <a:srgbClr val="6B7280"/>
                </a:solidFill>
                <a:latin typeface="Inter"/>
                <a:ea typeface="Inter"/>
                <a:cs typeface="Inter"/>
                <a:sym typeface="Inter"/>
              </a:rPr>
              <a:t>STSEH is building a local medication dataset and future API infrastructure to reduce reliance on online sources. This positions ISTSEH not only as a medication-care app, but also as a trusted medication information service provider for future B2B opportunities.</a:t>
            </a:r>
          </a:p>
        </p:txBody>
      </p:sp>
      <p:sp>
        <p:nvSpPr>
          <p:cNvPr name="TextBox 63" id="63"/>
          <p:cNvSpPr txBox="true"/>
          <p:nvPr/>
        </p:nvSpPr>
        <p:spPr>
          <a:xfrm rot="0">
            <a:off x="12273934" y="5045288"/>
            <a:ext cx="48768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QUALITY AND TESTING</a:t>
            </a:r>
          </a:p>
        </p:txBody>
      </p:sp>
      <p:sp>
        <p:nvSpPr>
          <p:cNvPr name="TextBox 64" id="64"/>
          <p:cNvSpPr txBox="true"/>
          <p:nvPr/>
        </p:nvSpPr>
        <p:spPr>
          <a:xfrm rot="0">
            <a:off x="12283450" y="5387502"/>
            <a:ext cx="4876800" cy="14824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IST</a:t>
            </a:r>
            <a:r>
              <a:rPr lang="en-US" sz="1439">
                <a:solidFill>
                  <a:srgbClr val="595959"/>
                </a:solidFill>
                <a:latin typeface="Inter"/>
                <a:ea typeface="Inter"/>
                <a:cs typeface="Inter"/>
                <a:sym typeface="Inter"/>
              </a:rPr>
              <a:t>SEH is tested through manual app testing, simulator checks, user-flow reviews, and feedback cycles. Testing focuses on reminders, schedule accuracy, safety warnings, caregiver access, search quality, data syncing, and early hands-on user feedback to ensure the app matches real user needs</a:t>
            </a:r>
          </a:p>
        </p:txBody>
      </p:sp>
      <p:sp>
        <p:nvSpPr>
          <p:cNvPr name="TextBox 65" id="65"/>
          <p:cNvSpPr txBox="true"/>
          <p:nvPr/>
        </p:nvSpPr>
        <p:spPr>
          <a:xfrm rot="0">
            <a:off x="1957464" y="7360572"/>
            <a:ext cx="2439739" cy="283083"/>
          </a:xfrm>
          <a:prstGeom prst="rect">
            <a:avLst/>
          </a:prstGeom>
        </p:spPr>
        <p:txBody>
          <a:bodyPr anchor="t" rtlCol="false" tIns="0" lIns="0" bIns="0" rIns="0">
            <a:spAutoFit/>
          </a:bodyPr>
          <a:lstStyle/>
          <a:p>
            <a:pPr algn="l">
              <a:lnSpc>
                <a:spcPts val="2160"/>
              </a:lnSpc>
            </a:pPr>
            <a:r>
              <a:rPr lang="en-US" sz="1719" b="true">
                <a:solidFill>
                  <a:srgbClr val="1A1A2E"/>
                </a:solidFill>
                <a:latin typeface="Arimo Bold"/>
                <a:ea typeface="Arimo Bold"/>
                <a:cs typeface="Arimo Bold"/>
                <a:sym typeface="Arimo Bold"/>
              </a:rPr>
              <a:t>T</a:t>
            </a:r>
            <a:r>
              <a:rPr lang="en-US" sz="1719" b="true">
                <a:solidFill>
                  <a:srgbClr val="1A1A2E"/>
                </a:solidFill>
                <a:latin typeface="Arimo Bold"/>
                <a:ea typeface="Arimo Bold"/>
                <a:cs typeface="Arimo Bold"/>
                <a:sym typeface="Arimo Bold"/>
              </a:rPr>
              <a:t>echnical Development</a:t>
            </a:r>
          </a:p>
        </p:txBody>
      </p:sp>
      <p:sp>
        <p:nvSpPr>
          <p:cNvPr name="TextBox 66" id="66"/>
          <p:cNvSpPr txBox="true"/>
          <p:nvPr/>
        </p:nvSpPr>
        <p:spPr>
          <a:xfrm rot="0">
            <a:off x="1957464" y="7775062"/>
            <a:ext cx="9300526"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Bu</a:t>
            </a:r>
            <a:r>
              <a:rPr lang="en-US" sz="1439">
                <a:solidFill>
                  <a:srgbClr val="595959"/>
                </a:solidFill>
                <a:latin typeface="Inter"/>
                <a:ea typeface="Inter"/>
                <a:cs typeface="Inter"/>
                <a:sym typeface="Inter"/>
              </a:rPr>
              <a:t>ilt the SwiftUI iOS app with backend support, including medication reminders, personalized scheduling, search, medical profiles, caregiver access, and safety checks.</a:t>
            </a:r>
          </a:p>
        </p:txBody>
      </p:sp>
      <p:sp>
        <p:nvSpPr>
          <p:cNvPr name="TextBox 67" id="67"/>
          <p:cNvSpPr txBox="true"/>
          <p:nvPr/>
        </p:nvSpPr>
        <p:spPr>
          <a:xfrm rot="0">
            <a:off x="1957464" y="8534570"/>
            <a:ext cx="3386584" cy="283083"/>
          </a:xfrm>
          <a:prstGeom prst="rect">
            <a:avLst/>
          </a:prstGeom>
        </p:spPr>
        <p:txBody>
          <a:bodyPr anchor="t" rtlCol="false" tIns="0" lIns="0" bIns="0" rIns="0">
            <a:spAutoFit/>
          </a:bodyPr>
          <a:lstStyle/>
          <a:p>
            <a:pPr algn="l">
              <a:lnSpc>
                <a:spcPts val="2160"/>
              </a:lnSpc>
            </a:pPr>
            <a:r>
              <a:rPr lang="en-US" sz="1719" b="true">
                <a:solidFill>
                  <a:srgbClr val="1A1A2E"/>
                </a:solidFill>
                <a:latin typeface="Arimo Bold"/>
                <a:ea typeface="Arimo Bold"/>
                <a:cs typeface="Arimo Bold"/>
                <a:sym typeface="Arimo Bold"/>
              </a:rPr>
              <a:t>T</a:t>
            </a:r>
            <a:r>
              <a:rPr lang="en-US" sz="1719" b="true">
                <a:solidFill>
                  <a:srgbClr val="1A1A2E"/>
                </a:solidFill>
                <a:latin typeface="Arimo Bold"/>
                <a:ea typeface="Arimo Bold"/>
                <a:cs typeface="Arimo Bold"/>
                <a:sym typeface="Arimo Bold"/>
              </a:rPr>
              <a:t>esting and Release Preparation</a:t>
            </a:r>
          </a:p>
        </p:txBody>
      </p:sp>
      <p:sp>
        <p:nvSpPr>
          <p:cNvPr name="TextBox 68" id="68"/>
          <p:cNvSpPr txBox="true"/>
          <p:nvPr/>
        </p:nvSpPr>
        <p:spPr>
          <a:xfrm rot="0">
            <a:off x="1957464" y="8949060"/>
            <a:ext cx="9300526" cy="491871"/>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T</a:t>
            </a:r>
            <a:r>
              <a:rPr lang="en-US" sz="1439">
                <a:solidFill>
                  <a:srgbClr val="595959"/>
                </a:solidFill>
                <a:latin typeface="Inter"/>
                <a:ea typeface="Inter"/>
                <a:cs typeface="Inter"/>
                <a:sym typeface="Inter"/>
              </a:rPr>
              <a:t>ested core flows, reminders, data syncing, family profiles, safety warnings, and UI consistency before preparing the product for pilot users.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38212"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94315"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5952" y="352501"/>
            <a:ext cx="248602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17 · MARKETING</a:t>
            </a:r>
          </a:p>
        </p:txBody>
      </p:sp>
      <p:sp>
        <p:nvSpPr>
          <p:cNvPr name="TextBox 8" id="8"/>
          <p:cNvSpPr txBox="true"/>
          <p:nvPr/>
        </p:nvSpPr>
        <p:spPr>
          <a:xfrm rot="0">
            <a:off x="16828894" y="352501"/>
            <a:ext cx="5429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19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Marketing Report</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9638" y="2669457"/>
            <a:ext cx="16468725" cy="2319785"/>
            <a:chOff x="0" y="0"/>
            <a:chExt cx="21958300" cy="3093047"/>
          </a:xfrm>
        </p:grpSpPr>
        <p:sp>
          <p:nvSpPr>
            <p:cNvPr name="Freeform 13" id="13"/>
            <p:cNvSpPr/>
            <p:nvPr/>
          </p:nvSpPr>
          <p:spPr>
            <a:xfrm flipH="false" flipV="false" rot="0">
              <a:off x="0" y="0"/>
              <a:ext cx="21958300" cy="3093047"/>
            </a:xfrm>
            <a:custGeom>
              <a:avLst/>
              <a:gdLst/>
              <a:ahLst/>
              <a:cxnLst/>
              <a:rect r="r" b="b" t="t" l="l"/>
              <a:pathLst>
                <a:path h="3093047" w="21958300">
                  <a:moveTo>
                    <a:pt x="0" y="421264"/>
                  </a:moveTo>
                  <a:cubicBezTo>
                    <a:pt x="0" y="188632"/>
                    <a:pt x="109982" y="0"/>
                    <a:pt x="245618" y="0"/>
                  </a:cubicBezTo>
                  <a:lnTo>
                    <a:pt x="21712682" y="0"/>
                  </a:lnTo>
                  <a:cubicBezTo>
                    <a:pt x="21848318" y="0"/>
                    <a:pt x="21958300" y="188632"/>
                    <a:pt x="21958300" y="421264"/>
                  </a:cubicBezTo>
                  <a:lnTo>
                    <a:pt x="21958300" y="2671783"/>
                  </a:lnTo>
                  <a:cubicBezTo>
                    <a:pt x="21958300" y="2904415"/>
                    <a:pt x="21848318" y="3093047"/>
                    <a:pt x="21712682" y="3093047"/>
                  </a:cubicBezTo>
                  <a:lnTo>
                    <a:pt x="245618" y="3093047"/>
                  </a:lnTo>
                  <a:cubicBezTo>
                    <a:pt x="109982" y="3093047"/>
                    <a:pt x="0" y="2904415"/>
                    <a:pt x="0" y="2671783"/>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81100" y="2904830"/>
            <a:ext cx="1592580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POSITIONING STATEMENT</a:t>
            </a:r>
          </a:p>
        </p:txBody>
      </p:sp>
      <p:sp>
        <p:nvSpPr>
          <p:cNvPr name="TextBox 15" id="15"/>
          <p:cNvSpPr txBox="true"/>
          <p:nvPr/>
        </p:nvSpPr>
        <p:spPr>
          <a:xfrm rot="0">
            <a:off x="1181100" y="3162729"/>
            <a:ext cx="16078200" cy="1731264"/>
          </a:xfrm>
          <a:prstGeom prst="rect">
            <a:avLst/>
          </a:prstGeom>
        </p:spPr>
        <p:txBody>
          <a:bodyPr anchor="t" rtlCol="false" tIns="0" lIns="0" bIns="0" rIns="0">
            <a:spAutoFit/>
          </a:bodyPr>
          <a:lstStyle/>
          <a:p>
            <a:pPr algn="l">
              <a:lnSpc>
                <a:spcPts val="3510"/>
              </a:lnSpc>
            </a:pPr>
            <a:r>
              <a:rPr lang="en-US" sz="2160">
                <a:solidFill>
                  <a:srgbClr val="595959"/>
                </a:solidFill>
                <a:latin typeface="Inter"/>
                <a:ea typeface="Inter"/>
                <a:cs typeface="Inter"/>
                <a:sym typeface="Inter"/>
              </a:rPr>
              <a:t>For Kuwait/GCC patients and caregivers, ISTSEH makes medication care safer and easier through reminders, personalized scheduling, safety warnings, and family support. This is especially important in Kuwait, where chronic disease burden is high: diabetes affects about 25.6% of adults, and 73.3% of adults are overweight or obese, increasing the need for organized long-term medication care.</a:t>
            </a:r>
          </a:p>
        </p:txBody>
      </p:sp>
      <p:sp>
        <p:nvSpPr>
          <p:cNvPr name="TextBox 16" id="16"/>
          <p:cNvSpPr txBox="true"/>
          <p:nvPr/>
        </p:nvSpPr>
        <p:spPr>
          <a:xfrm rot="0">
            <a:off x="913505" y="5107038"/>
            <a:ext cx="10791825"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BRAND PILLARS</a:t>
            </a:r>
          </a:p>
        </p:txBody>
      </p:sp>
      <p:grpSp>
        <p:nvGrpSpPr>
          <p:cNvPr name="Group 17" id="17"/>
          <p:cNvGrpSpPr/>
          <p:nvPr/>
        </p:nvGrpSpPr>
        <p:grpSpPr>
          <a:xfrm rot="0">
            <a:off x="909638" y="5554408"/>
            <a:ext cx="5267325" cy="1590456"/>
            <a:chOff x="0" y="0"/>
            <a:chExt cx="7023100" cy="2120608"/>
          </a:xfrm>
        </p:grpSpPr>
        <p:sp>
          <p:nvSpPr>
            <p:cNvPr name="Freeform 18" id="18"/>
            <p:cNvSpPr/>
            <p:nvPr/>
          </p:nvSpPr>
          <p:spPr>
            <a:xfrm flipH="false" flipV="false" rot="0">
              <a:off x="0" y="0"/>
              <a:ext cx="7023100" cy="2120608"/>
            </a:xfrm>
            <a:custGeom>
              <a:avLst/>
              <a:gdLst/>
              <a:ahLst/>
              <a:cxnLst/>
              <a:rect r="r" b="b" t="t" l="l"/>
              <a:pathLst>
                <a:path h="2120608" w="7023100">
                  <a:moveTo>
                    <a:pt x="0" y="313244"/>
                  </a:moveTo>
                  <a:cubicBezTo>
                    <a:pt x="0" y="140162"/>
                    <a:pt x="88138" y="0"/>
                    <a:pt x="196977" y="0"/>
                  </a:cubicBezTo>
                  <a:lnTo>
                    <a:pt x="6826123" y="0"/>
                  </a:lnTo>
                  <a:cubicBezTo>
                    <a:pt x="6934962" y="0"/>
                    <a:pt x="7023100" y="140162"/>
                    <a:pt x="7023100" y="313244"/>
                  </a:cubicBezTo>
                  <a:lnTo>
                    <a:pt x="7023100" y="1807364"/>
                  </a:lnTo>
                  <a:cubicBezTo>
                    <a:pt x="7023100" y="1980244"/>
                    <a:pt x="6934962" y="2120608"/>
                    <a:pt x="6826123" y="2120608"/>
                  </a:cubicBezTo>
                  <a:lnTo>
                    <a:pt x="196977" y="2120608"/>
                  </a:lnTo>
                  <a:cubicBezTo>
                    <a:pt x="88138" y="2120608"/>
                    <a:pt x="0" y="1980446"/>
                    <a:pt x="0" y="1807364"/>
                  </a:cubicBezTo>
                  <a:close/>
                </a:path>
              </a:pathLst>
            </a:custGeom>
            <a:solidFill>
              <a:srgbClr val="FFFFFF"/>
            </a:solidFill>
            <a:ln w="9526" cap="sq">
              <a:solidFill>
                <a:srgbClr val="E5E7EB"/>
              </a:solidFill>
              <a:prstDash val="solid"/>
              <a:miter/>
            </a:ln>
          </p:spPr>
        </p:sp>
      </p:grpSp>
      <p:sp>
        <p:nvSpPr>
          <p:cNvPr name="TextBox 19" id="19"/>
          <p:cNvSpPr txBox="true"/>
          <p:nvPr/>
        </p:nvSpPr>
        <p:spPr>
          <a:xfrm rot="0">
            <a:off x="1109662" y="5627951"/>
            <a:ext cx="4867275"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Pillar 1</a:t>
            </a:r>
          </a:p>
        </p:txBody>
      </p:sp>
      <p:sp>
        <p:nvSpPr>
          <p:cNvPr name="TextBox 20" id="20"/>
          <p:cNvSpPr txBox="true"/>
          <p:nvPr/>
        </p:nvSpPr>
        <p:spPr>
          <a:xfrm rot="0">
            <a:off x="1109662" y="5963749"/>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Safety</a:t>
            </a:r>
          </a:p>
        </p:txBody>
      </p:sp>
      <p:grpSp>
        <p:nvGrpSpPr>
          <p:cNvPr name="Group 21" id="21"/>
          <p:cNvGrpSpPr/>
          <p:nvPr/>
        </p:nvGrpSpPr>
        <p:grpSpPr>
          <a:xfrm rot="0">
            <a:off x="6441805" y="5554408"/>
            <a:ext cx="5267325" cy="1590456"/>
            <a:chOff x="0" y="0"/>
            <a:chExt cx="7023100" cy="2120608"/>
          </a:xfrm>
        </p:grpSpPr>
        <p:sp>
          <p:nvSpPr>
            <p:cNvPr name="Freeform 22" id="22"/>
            <p:cNvSpPr/>
            <p:nvPr/>
          </p:nvSpPr>
          <p:spPr>
            <a:xfrm flipH="false" flipV="false" rot="0">
              <a:off x="0" y="0"/>
              <a:ext cx="7023100" cy="2120608"/>
            </a:xfrm>
            <a:custGeom>
              <a:avLst/>
              <a:gdLst/>
              <a:ahLst/>
              <a:cxnLst/>
              <a:rect r="r" b="b" t="t" l="l"/>
              <a:pathLst>
                <a:path h="2120608" w="7023100">
                  <a:moveTo>
                    <a:pt x="0" y="313244"/>
                  </a:moveTo>
                  <a:cubicBezTo>
                    <a:pt x="0" y="140162"/>
                    <a:pt x="88138" y="0"/>
                    <a:pt x="196977" y="0"/>
                  </a:cubicBezTo>
                  <a:lnTo>
                    <a:pt x="6826123" y="0"/>
                  </a:lnTo>
                  <a:cubicBezTo>
                    <a:pt x="6934962" y="0"/>
                    <a:pt x="7023100" y="140162"/>
                    <a:pt x="7023100" y="313244"/>
                  </a:cubicBezTo>
                  <a:lnTo>
                    <a:pt x="7023100" y="1807364"/>
                  </a:lnTo>
                  <a:cubicBezTo>
                    <a:pt x="7023100" y="1980244"/>
                    <a:pt x="6934962" y="2120608"/>
                    <a:pt x="6826123" y="2120608"/>
                  </a:cubicBezTo>
                  <a:lnTo>
                    <a:pt x="196977" y="2120608"/>
                  </a:lnTo>
                  <a:cubicBezTo>
                    <a:pt x="88138" y="2120608"/>
                    <a:pt x="0" y="1980446"/>
                    <a:pt x="0" y="1807364"/>
                  </a:cubicBezTo>
                  <a:close/>
                </a:path>
              </a:pathLst>
            </a:custGeom>
            <a:solidFill>
              <a:srgbClr val="FFFFFF"/>
            </a:solidFill>
            <a:ln w="9526" cap="sq">
              <a:solidFill>
                <a:srgbClr val="E5E7EB"/>
              </a:solidFill>
              <a:prstDash val="solid"/>
              <a:miter/>
            </a:ln>
          </p:spPr>
        </p:sp>
      </p:grpSp>
      <p:sp>
        <p:nvSpPr>
          <p:cNvPr name="TextBox 23" id="23"/>
          <p:cNvSpPr txBox="true"/>
          <p:nvPr/>
        </p:nvSpPr>
        <p:spPr>
          <a:xfrm rot="0">
            <a:off x="6641830" y="5627951"/>
            <a:ext cx="4867275"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Pillar 2</a:t>
            </a:r>
          </a:p>
        </p:txBody>
      </p:sp>
      <p:sp>
        <p:nvSpPr>
          <p:cNvPr name="TextBox 24" id="24"/>
          <p:cNvSpPr txBox="true"/>
          <p:nvPr/>
        </p:nvSpPr>
        <p:spPr>
          <a:xfrm rot="0">
            <a:off x="6641830" y="5965317"/>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Fam</a:t>
            </a:r>
            <a:r>
              <a:rPr lang="en-US" b="true" sz="1360">
                <a:solidFill>
                  <a:srgbClr val="33CC66"/>
                </a:solidFill>
                <a:latin typeface="Inter Bold"/>
                <a:ea typeface="Inter Bold"/>
                <a:cs typeface="Inter Bold"/>
                <a:sym typeface="Inter Bold"/>
              </a:rPr>
              <a:t>ily Care</a:t>
            </a:r>
          </a:p>
        </p:txBody>
      </p:sp>
      <p:grpSp>
        <p:nvGrpSpPr>
          <p:cNvPr name="Group 25" id="25"/>
          <p:cNvGrpSpPr/>
          <p:nvPr/>
        </p:nvGrpSpPr>
        <p:grpSpPr>
          <a:xfrm rot="0">
            <a:off x="12069147" y="5143500"/>
            <a:ext cx="5305425" cy="4922756"/>
            <a:chOff x="0" y="0"/>
            <a:chExt cx="7073900" cy="6563674"/>
          </a:xfrm>
        </p:grpSpPr>
        <p:sp>
          <p:nvSpPr>
            <p:cNvPr name="Freeform 26" id="26"/>
            <p:cNvSpPr/>
            <p:nvPr/>
          </p:nvSpPr>
          <p:spPr>
            <a:xfrm flipH="false" flipV="false" rot="0">
              <a:off x="0" y="0"/>
              <a:ext cx="7073900" cy="6563674"/>
            </a:xfrm>
            <a:custGeom>
              <a:avLst/>
              <a:gdLst/>
              <a:ahLst/>
              <a:cxnLst/>
              <a:rect r="r" b="b" t="t" l="l"/>
              <a:pathLst>
                <a:path h="6563674" w="7073900">
                  <a:moveTo>
                    <a:pt x="0" y="222066"/>
                  </a:moveTo>
                  <a:cubicBezTo>
                    <a:pt x="0" y="99467"/>
                    <a:pt x="87376" y="0"/>
                    <a:pt x="195072" y="0"/>
                  </a:cubicBezTo>
                  <a:lnTo>
                    <a:pt x="6878828" y="0"/>
                  </a:lnTo>
                  <a:cubicBezTo>
                    <a:pt x="6986524" y="0"/>
                    <a:pt x="7073900" y="99467"/>
                    <a:pt x="7073900" y="222066"/>
                  </a:cubicBezTo>
                  <a:lnTo>
                    <a:pt x="7073900" y="6341608"/>
                  </a:lnTo>
                  <a:cubicBezTo>
                    <a:pt x="7073900" y="6464207"/>
                    <a:pt x="6986524" y="6563674"/>
                    <a:pt x="6878828" y="6563674"/>
                  </a:cubicBezTo>
                  <a:lnTo>
                    <a:pt x="195072" y="6563674"/>
                  </a:lnTo>
                  <a:cubicBezTo>
                    <a:pt x="87376" y="6563674"/>
                    <a:pt x="0" y="6464207"/>
                    <a:pt x="0" y="6341608"/>
                  </a:cubicBezTo>
                  <a:close/>
                </a:path>
              </a:pathLst>
            </a:custGeom>
            <a:solidFill>
              <a:srgbClr val="ECFAF2"/>
            </a:solidFill>
          </p:spPr>
        </p:sp>
      </p:grpSp>
      <p:sp>
        <p:nvSpPr>
          <p:cNvPr name="TextBox 27" id="27"/>
          <p:cNvSpPr txBox="true"/>
          <p:nvPr/>
        </p:nvSpPr>
        <p:spPr>
          <a:xfrm rot="0">
            <a:off x="12273934" y="5278183"/>
            <a:ext cx="48958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CHANNELS AND TACTICS</a:t>
            </a:r>
          </a:p>
        </p:txBody>
      </p:sp>
      <p:sp>
        <p:nvSpPr>
          <p:cNvPr name="TextBox 28" id="28"/>
          <p:cNvSpPr txBox="true"/>
          <p:nvPr/>
        </p:nvSpPr>
        <p:spPr>
          <a:xfrm rot="0">
            <a:off x="12288222" y="5882259"/>
            <a:ext cx="4895850" cy="526161"/>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Instagram, TikTok, and short videos showing medication problems, caregiver stories, and app demos.</a:t>
            </a:r>
          </a:p>
        </p:txBody>
      </p:sp>
      <p:sp>
        <p:nvSpPr>
          <p:cNvPr name="TextBox 29" id="29"/>
          <p:cNvSpPr txBox="true"/>
          <p:nvPr/>
        </p:nvSpPr>
        <p:spPr>
          <a:xfrm rot="0">
            <a:off x="12302509" y="6797850"/>
            <a:ext cx="4895850" cy="526161"/>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Pharmac</a:t>
            </a:r>
            <a:r>
              <a:rPr lang="en-US" sz="1439">
                <a:solidFill>
                  <a:srgbClr val="6B7280"/>
                </a:solidFill>
                <a:latin typeface="Inter"/>
                <a:ea typeface="Inter"/>
                <a:cs typeface="Inter"/>
                <a:sym typeface="Inter"/>
              </a:rPr>
              <a:t>ists, health students, and educational content explaining reminders, safety warnings, and family care.</a:t>
            </a:r>
          </a:p>
        </p:txBody>
      </p:sp>
      <p:sp>
        <p:nvSpPr>
          <p:cNvPr name="TextBox 30" id="30"/>
          <p:cNvSpPr txBox="true"/>
          <p:nvPr/>
        </p:nvSpPr>
        <p:spPr>
          <a:xfrm rot="0">
            <a:off x="12302509" y="7714987"/>
            <a:ext cx="4956791" cy="1059561"/>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Users build a st</a:t>
            </a:r>
            <a:r>
              <a:rPr lang="en-US" sz="1439">
                <a:solidFill>
                  <a:srgbClr val="6B7280"/>
                </a:solidFill>
                <a:latin typeface="Inter"/>
                <a:ea typeface="Inter"/>
                <a:cs typeface="Inter"/>
                <a:sym typeface="Inter"/>
              </a:rPr>
              <a:t>reak by taking medications on time. Longer streaks unlock rewards such as pharmacy coupons, Care+ trial days, or subscription discounts through future partner offers.</a:t>
            </a:r>
          </a:p>
        </p:txBody>
      </p:sp>
      <p:grpSp>
        <p:nvGrpSpPr>
          <p:cNvPr name="Group 31" id="31"/>
          <p:cNvGrpSpPr/>
          <p:nvPr/>
        </p:nvGrpSpPr>
        <p:grpSpPr>
          <a:xfrm rot="0">
            <a:off x="914400" y="9703222"/>
            <a:ext cx="16459200" cy="276225"/>
            <a:chOff x="0" y="0"/>
            <a:chExt cx="21945600" cy="368300"/>
          </a:xfrm>
        </p:grpSpPr>
        <p:sp>
          <p:nvSpPr>
            <p:cNvPr name="Freeform 32" id="32"/>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33" id="33"/>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34" id="34"/>
          <p:cNvGrpSpPr/>
          <p:nvPr/>
        </p:nvGrpSpPr>
        <p:grpSpPr>
          <a:xfrm rot="0">
            <a:off x="0" y="10247414"/>
            <a:ext cx="18288000" cy="38100"/>
            <a:chOff x="0" y="0"/>
            <a:chExt cx="24384000" cy="50800"/>
          </a:xfrm>
        </p:grpSpPr>
        <p:sp>
          <p:nvSpPr>
            <p:cNvPr name="Freeform 35" id="35"/>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TextBox 36" id="36"/>
          <p:cNvSpPr txBox="true"/>
          <p:nvPr/>
        </p:nvSpPr>
        <p:spPr>
          <a:xfrm rot="0">
            <a:off x="1119188" y="6230968"/>
            <a:ext cx="4960668" cy="812419"/>
          </a:xfrm>
          <a:prstGeom prst="rect">
            <a:avLst/>
          </a:prstGeom>
        </p:spPr>
        <p:txBody>
          <a:bodyPr anchor="t" rtlCol="false" tIns="0" lIns="0" bIns="0" rIns="0">
            <a:spAutoFit/>
          </a:bodyPr>
          <a:lstStyle/>
          <a:p>
            <a:pPr algn="l">
              <a:lnSpc>
                <a:spcPts val="2209"/>
              </a:lnSpc>
            </a:pPr>
            <a:r>
              <a:rPr lang="en-US" sz="1359">
                <a:solidFill>
                  <a:srgbClr val="595959"/>
                </a:solidFill>
                <a:latin typeface="Inter"/>
                <a:ea typeface="Inter"/>
                <a:cs typeface="Inter"/>
                <a:sym typeface="Inter"/>
              </a:rPr>
              <a:t>Med</a:t>
            </a:r>
            <a:r>
              <a:rPr lang="en-US" sz="1359">
                <a:solidFill>
                  <a:srgbClr val="595959"/>
                </a:solidFill>
                <a:latin typeface="Inter"/>
                <a:ea typeface="Inter"/>
                <a:cs typeface="Inter"/>
                <a:sym typeface="Inter"/>
              </a:rPr>
              <a:t>ication reminders, allergy awareness, interaction warnings, and safer medication decisions before users save or take a medicine.</a:t>
            </a:r>
          </a:p>
        </p:txBody>
      </p:sp>
      <p:sp>
        <p:nvSpPr>
          <p:cNvPr name="TextBox 37" id="37"/>
          <p:cNvSpPr txBox="true"/>
          <p:nvPr/>
        </p:nvSpPr>
        <p:spPr>
          <a:xfrm rot="0">
            <a:off x="6641830" y="6241269"/>
            <a:ext cx="5002300" cy="812419"/>
          </a:xfrm>
          <a:prstGeom prst="rect">
            <a:avLst/>
          </a:prstGeom>
        </p:spPr>
        <p:txBody>
          <a:bodyPr anchor="t" rtlCol="false" tIns="0" lIns="0" bIns="0" rIns="0">
            <a:spAutoFit/>
          </a:bodyPr>
          <a:lstStyle/>
          <a:p>
            <a:pPr algn="l">
              <a:lnSpc>
                <a:spcPts val="2209"/>
              </a:lnSpc>
            </a:pPr>
            <a:r>
              <a:rPr lang="en-US" sz="1359">
                <a:solidFill>
                  <a:srgbClr val="595959"/>
                </a:solidFill>
                <a:latin typeface="Inter"/>
                <a:ea typeface="Inter"/>
                <a:cs typeface="Inter"/>
                <a:sym typeface="Inter"/>
              </a:rPr>
              <a:t>C</a:t>
            </a:r>
            <a:r>
              <a:rPr lang="en-US" sz="1359">
                <a:solidFill>
                  <a:srgbClr val="595959"/>
                </a:solidFill>
                <a:latin typeface="Inter"/>
                <a:ea typeface="Inter"/>
                <a:cs typeface="Inter"/>
                <a:sym typeface="Inter"/>
              </a:rPr>
              <a:t>aregiver support helps family members manage medicines, schedules, permissions, and patient profiles in one connected system.</a:t>
            </a:r>
          </a:p>
        </p:txBody>
      </p:sp>
      <p:grpSp>
        <p:nvGrpSpPr>
          <p:cNvPr name="Group 38" id="38"/>
          <p:cNvGrpSpPr/>
          <p:nvPr/>
        </p:nvGrpSpPr>
        <p:grpSpPr>
          <a:xfrm rot="0">
            <a:off x="909638" y="7354414"/>
            <a:ext cx="5267325" cy="1590456"/>
            <a:chOff x="0" y="0"/>
            <a:chExt cx="7023100" cy="2120608"/>
          </a:xfrm>
        </p:grpSpPr>
        <p:sp>
          <p:nvSpPr>
            <p:cNvPr name="Freeform 39" id="39"/>
            <p:cNvSpPr/>
            <p:nvPr/>
          </p:nvSpPr>
          <p:spPr>
            <a:xfrm flipH="false" flipV="false" rot="0">
              <a:off x="0" y="0"/>
              <a:ext cx="7023100" cy="2120608"/>
            </a:xfrm>
            <a:custGeom>
              <a:avLst/>
              <a:gdLst/>
              <a:ahLst/>
              <a:cxnLst/>
              <a:rect r="r" b="b" t="t" l="l"/>
              <a:pathLst>
                <a:path h="2120608" w="7023100">
                  <a:moveTo>
                    <a:pt x="0" y="313244"/>
                  </a:moveTo>
                  <a:cubicBezTo>
                    <a:pt x="0" y="140162"/>
                    <a:pt x="88138" y="0"/>
                    <a:pt x="196977" y="0"/>
                  </a:cubicBezTo>
                  <a:lnTo>
                    <a:pt x="6826123" y="0"/>
                  </a:lnTo>
                  <a:cubicBezTo>
                    <a:pt x="6934962" y="0"/>
                    <a:pt x="7023100" y="140162"/>
                    <a:pt x="7023100" y="313244"/>
                  </a:cubicBezTo>
                  <a:lnTo>
                    <a:pt x="7023100" y="1807364"/>
                  </a:lnTo>
                  <a:cubicBezTo>
                    <a:pt x="7023100" y="1980244"/>
                    <a:pt x="6934962" y="2120608"/>
                    <a:pt x="6826123" y="2120608"/>
                  </a:cubicBezTo>
                  <a:lnTo>
                    <a:pt x="196977" y="2120608"/>
                  </a:lnTo>
                  <a:cubicBezTo>
                    <a:pt x="88138" y="2120608"/>
                    <a:pt x="0" y="1980446"/>
                    <a:pt x="0" y="1807364"/>
                  </a:cubicBezTo>
                  <a:close/>
                </a:path>
              </a:pathLst>
            </a:custGeom>
            <a:solidFill>
              <a:srgbClr val="FFFFFF"/>
            </a:solidFill>
            <a:ln w="9526" cap="sq">
              <a:solidFill>
                <a:srgbClr val="E5E7EB"/>
              </a:solidFill>
              <a:prstDash val="solid"/>
              <a:miter/>
            </a:ln>
          </p:spPr>
        </p:sp>
      </p:grpSp>
      <p:sp>
        <p:nvSpPr>
          <p:cNvPr name="TextBox 40" id="40"/>
          <p:cNvSpPr txBox="true"/>
          <p:nvPr/>
        </p:nvSpPr>
        <p:spPr>
          <a:xfrm rot="0">
            <a:off x="1109662" y="7427957"/>
            <a:ext cx="4867275"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Pillar 3</a:t>
            </a:r>
          </a:p>
        </p:txBody>
      </p:sp>
      <p:sp>
        <p:nvSpPr>
          <p:cNvPr name="TextBox 41" id="41"/>
          <p:cNvSpPr txBox="true"/>
          <p:nvPr/>
        </p:nvSpPr>
        <p:spPr>
          <a:xfrm rot="0">
            <a:off x="1109662" y="7763755"/>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Simplicity</a:t>
            </a:r>
          </a:p>
        </p:txBody>
      </p:sp>
      <p:sp>
        <p:nvSpPr>
          <p:cNvPr name="TextBox 42" id="42"/>
          <p:cNvSpPr txBox="true"/>
          <p:nvPr/>
        </p:nvSpPr>
        <p:spPr>
          <a:xfrm rot="0">
            <a:off x="1119188" y="8030974"/>
            <a:ext cx="4960668" cy="812419"/>
          </a:xfrm>
          <a:prstGeom prst="rect">
            <a:avLst/>
          </a:prstGeom>
        </p:spPr>
        <p:txBody>
          <a:bodyPr anchor="t" rtlCol="false" tIns="0" lIns="0" bIns="0" rIns="0">
            <a:spAutoFit/>
          </a:bodyPr>
          <a:lstStyle/>
          <a:p>
            <a:pPr algn="l">
              <a:lnSpc>
                <a:spcPts val="2209"/>
              </a:lnSpc>
            </a:pPr>
            <a:r>
              <a:rPr lang="en-US" sz="1359">
                <a:solidFill>
                  <a:srgbClr val="595959"/>
                </a:solidFill>
                <a:latin typeface="Inter"/>
                <a:ea typeface="Inter"/>
                <a:cs typeface="Inter"/>
                <a:sym typeface="Inter"/>
              </a:rPr>
              <a:t>Cle</a:t>
            </a:r>
            <a:r>
              <a:rPr lang="en-US" sz="1359">
                <a:solidFill>
                  <a:srgbClr val="595959"/>
                </a:solidFill>
                <a:latin typeface="Inter"/>
                <a:ea typeface="Inter"/>
                <a:cs typeface="Inter"/>
                <a:sym typeface="Inter"/>
              </a:rPr>
              <a:t>an Arabic-friendly design, clear schedules, and easy medication search make the app easier for elderly users and families.</a:t>
            </a:r>
          </a:p>
        </p:txBody>
      </p:sp>
      <p:grpSp>
        <p:nvGrpSpPr>
          <p:cNvPr name="Group 43" id="43"/>
          <p:cNvGrpSpPr/>
          <p:nvPr/>
        </p:nvGrpSpPr>
        <p:grpSpPr>
          <a:xfrm rot="0">
            <a:off x="6441805" y="7354414"/>
            <a:ext cx="5267325" cy="1590456"/>
            <a:chOff x="0" y="0"/>
            <a:chExt cx="7023100" cy="2120608"/>
          </a:xfrm>
        </p:grpSpPr>
        <p:sp>
          <p:nvSpPr>
            <p:cNvPr name="Freeform 44" id="44"/>
            <p:cNvSpPr/>
            <p:nvPr/>
          </p:nvSpPr>
          <p:spPr>
            <a:xfrm flipH="false" flipV="false" rot="0">
              <a:off x="0" y="0"/>
              <a:ext cx="7023100" cy="2120608"/>
            </a:xfrm>
            <a:custGeom>
              <a:avLst/>
              <a:gdLst/>
              <a:ahLst/>
              <a:cxnLst/>
              <a:rect r="r" b="b" t="t" l="l"/>
              <a:pathLst>
                <a:path h="2120608" w="7023100">
                  <a:moveTo>
                    <a:pt x="0" y="313244"/>
                  </a:moveTo>
                  <a:cubicBezTo>
                    <a:pt x="0" y="140162"/>
                    <a:pt x="88138" y="0"/>
                    <a:pt x="196977" y="0"/>
                  </a:cubicBezTo>
                  <a:lnTo>
                    <a:pt x="6826123" y="0"/>
                  </a:lnTo>
                  <a:cubicBezTo>
                    <a:pt x="6934962" y="0"/>
                    <a:pt x="7023100" y="140162"/>
                    <a:pt x="7023100" y="313244"/>
                  </a:cubicBezTo>
                  <a:lnTo>
                    <a:pt x="7023100" y="1807364"/>
                  </a:lnTo>
                  <a:cubicBezTo>
                    <a:pt x="7023100" y="1980244"/>
                    <a:pt x="6934962" y="2120608"/>
                    <a:pt x="6826123" y="2120608"/>
                  </a:cubicBezTo>
                  <a:lnTo>
                    <a:pt x="196977" y="2120608"/>
                  </a:lnTo>
                  <a:cubicBezTo>
                    <a:pt x="88138" y="2120608"/>
                    <a:pt x="0" y="1980446"/>
                    <a:pt x="0" y="1807364"/>
                  </a:cubicBezTo>
                  <a:close/>
                </a:path>
              </a:pathLst>
            </a:custGeom>
            <a:solidFill>
              <a:srgbClr val="FFFFFF"/>
            </a:solidFill>
            <a:ln w="9526" cap="sq">
              <a:solidFill>
                <a:srgbClr val="E5E7EB"/>
              </a:solidFill>
              <a:prstDash val="solid"/>
              <a:miter/>
            </a:ln>
          </p:spPr>
        </p:sp>
      </p:grpSp>
      <p:sp>
        <p:nvSpPr>
          <p:cNvPr name="TextBox 45" id="45"/>
          <p:cNvSpPr txBox="true"/>
          <p:nvPr/>
        </p:nvSpPr>
        <p:spPr>
          <a:xfrm rot="0">
            <a:off x="6641830" y="7427957"/>
            <a:ext cx="4867275" cy="291465"/>
          </a:xfrm>
          <a:prstGeom prst="rect">
            <a:avLst/>
          </a:prstGeom>
        </p:spPr>
        <p:txBody>
          <a:bodyPr anchor="t" rtlCol="false" tIns="0" lIns="0" bIns="0" rIns="0">
            <a:spAutoFit/>
          </a:bodyPr>
          <a:lstStyle/>
          <a:p>
            <a:pPr algn="l">
              <a:lnSpc>
                <a:spcPts val="2376"/>
              </a:lnSpc>
            </a:pPr>
            <a:r>
              <a:rPr lang="en-US" sz="1580" b="true">
                <a:solidFill>
                  <a:srgbClr val="1A1A2E"/>
                </a:solidFill>
                <a:latin typeface="Arimo Bold"/>
                <a:ea typeface="Arimo Bold"/>
                <a:cs typeface="Arimo Bold"/>
                <a:sym typeface="Arimo Bold"/>
              </a:rPr>
              <a:t>Pillar 4</a:t>
            </a:r>
          </a:p>
        </p:txBody>
      </p:sp>
      <p:sp>
        <p:nvSpPr>
          <p:cNvPr name="TextBox 46" id="46"/>
          <p:cNvSpPr txBox="true"/>
          <p:nvPr/>
        </p:nvSpPr>
        <p:spPr>
          <a:xfrm rot="0">
            <a:off x="6641830" y="7763755"/>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Trust</a:t>
            </a:r>
          </a:p>
        </p:txBody>
      </p:sp>
      <p:sp>
        <p:nvSpPr>
          <p:cNvPr name="TextBox 47" id="47"/>
          <p:cNvSpPr txBox="true"/>
          <p:nvPr/>
        </p:nvSpPr>
        <p:spPr>
          <a:xfrm rot="0">
            <a:off x="6651355" y="8030974"/>
            <a:ext cx="4909445" cy="812419"/>
          </a:xfrm>
          <a:prstGeom prst="rect">
            <a:avLst/>
          </a:prstGeom>
        </p:spPr>
        <p:txBody>
          <a:bodyPr anchor="t" rtlCol="false" tIns="0" lIns="0" bIns="0" rIns="0">
            <a:spAutoFit/>
          </a:bodyPr>
          <a:lstStyle/>
          <a:p>
            <a:pPr algn="l">
              <a:lnSpc>
                <a:spcPts val="2209"/>
              </a:lnSpc>
            </a:pPr>
            <a:r>
              <a:rPr lang="en-US" sz="1359">
                <a:solidFill>
                  <a:srgbClr val="595959"/>
                </a:solidFill>
                <a:latin typeface="Inter"/>
                <a:ea typeface="Inter"/>
                <a:cs typeface="Inter"/>
                <a:sym typeface="Inter"/>
              </a:rPr>
              <a:t>Privacy-focused he</a:t>
            </a:r>
            <a:r>
              <a:rPr lang="en-US" sz="1359">
                <a:solidFill>
                  <a:srgbClr val="595959"/>
                </a:solidFill>
                <a:latin typeface="Inter"/>
                <a:ea typeface="Inter"/>
                <a:cs typeface="Inter"/>
                <a:sym typeface="Inter"/>
              </a:rPr>
              <a:t>alth profiles, secure caregiver access, and verified medication information help users feel confident using ISTSEH.</a:t>
            </a:r>
          </a:p>
        </p:txBody>
      </p:sp>
      <p:sp>
        <p:nvSpPr>
          <p:cNvPr name="TextBox 48" id="48"/>
          <p:cNvSpPr txBox="true"/>
          <p:nvPr/>
        </p:nvSpPr>
        <p:spPr>
          <a:xfrm rot="0">
            <a:off x="12288222" y="5663521"/>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Awareness</a:t>
            </a:r>
          </a:p>
        </p:txBody>
      </p:sp>
      <p:sp>
        <p:nvSpPr>
          <p:cNvPr name="TextBox 49" id="49"/>
          <p:cNvSpPr txBox="true"/>
          <p:nvPr/>
        </p:nvSpPr>
        <p:spPr>
          <a:xfrm rot="0">
            <a:off x="12288222" y="6567345"/>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Trust Building</a:t>
            </a:r>
          </a:p>
        </p:txBody>
      </p:sp>
      <p:sp>
        <p:nvSpPr>
          <p:cNvPr name="TextBox 50" id="50"/>
          <p:cNvSpPr txBox="true"/>
          <p:nvPr/>
        </p:nvSpPr>
        <p:spPr>
          <a:xfrm rot="0">
            <a:off x="12302509" y="7463527"/>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Medication Streak Rewards</a:t>
            </a:r>
          </a:p>
        </p:txBody>
      </p:sp>
      <p:sp>
        <p:nvSpPr>
          <p:cNvPr name="TextBox 51" id="51"/>
          <p:cNvSpPr txBox="true"/>
          <p:nvPr/>
        </p:nvSpPr>
        <p:spPr>
          <a:xfrm rot="0">
            <a:off x="12316797" y="8917423"/>
            <a:ext cx="4867275" cy="241935"/>
          </a:xfrm>
          <a:prstGeom prst="rect">
            <a:avLst/>
          </a:prstGeom>
        </p:spPr>
        <p:txBody>
          <a:bodyPr anchor="t" rtlCol="false" tIns="0" lIns="0" bIns="0" rIns="0">
            <a:spAutoFit/>
          </a:bodyPr>
          <a:lstStyle/>
          <a:p>
            <a:pPr algn="l">
              <a:lnSpc>
                <a:spcPts val="2052"/>
              </a:lnSpc>
            </a:pPr>
            <a:r>
              <a:rPr lang="en-US" sz="1360" b="true">
                <a:solidFill>
                  <a:srgbClr val="33CC66"/>
                </a:solidFill>
                <a:latin typeface="Inter Bold"/>
                <a:ea typeface="Inter Bold"/>
                <a:cs typeface="Inter Bold"/>
                <a:sym typeface="Inter Bold"/>
              </a:rPr>
              <a:t>Access</a:t>
            </a:r>
          </a:p>
        </p:txBody>
      </p:sp>
      <p:sp>
        <p:nvSpPr>
          <p:cNvPr name="TextBox 52" id="52"/>
          <p:cNvSpPr txBox="true"/>
          <p:nvPr/>
        </p:nvSpPr>
        <p:spPr>
          <a:xfrm rot="0">
            <a:off x="12332980" y="9186586"/>
            <a:ext cx="4895850" cy="792861"/>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Pharmacy QR code</a:t>
            </a:r>
            <a:r>
              <a:rPr lang="en-US" sz="1439">
                <a:solidFill>
                  <a:srgbClr val="6B7280"/>
                </a:solidFill>
                <a:latin typeface="Inter"/>
                <a:ea typeface="Inter"/>
                <a:cs typeface="Inter"/>
                <a:sym typeface="Inter"/>
              </a:rPr>
              <a:t>s, university pilots, and clinic introductions to reach users in real-life healthcare settings.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57262" y="417757"/>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80888"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5352" y="352501"/>
            <a:ext cx="332422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18 · DIGITAL MARKETING</a:t>
            </a:r>
          </a:p>
        </p:txBody>
      </p:sp>
      <p:sp>
        <p:nvSpPr>
          <p:cNvPr name="TextBox 8" id="8"/>
          <p:cNvSpPr txBox="true"/>
          <p:nvPr/>
        </p:nvSpPr>
        <p:spPr>
          <a:xfrm rot="0">
            <a:off x="16785279"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20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Digital Marketing</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TextBox 12" id="12"/>
          <p:cNvSpPr txBox="true"/>
          <p:nvPr/>
        </p:nvSpPr>
        <p:spPr>
          <a:xfrm rot="0">
            <a:off x="915372" y="2638130"/>
            <a:ext cx="11153775"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CONTENT CALENDAR · PLACEHOLDER</a:t>
            </a:r>
          </a:p>
        </p:txBody>
      </p:sp>
      <p:grpSp>
        <p:nvGrpSpPr>
          <p:cNvPr name="Group 13" id="13"/>
          <p:cNvGrpSpPr/>
          <p:nvPr/>
        </p:nvGrpSpPr>
        <p:grpSpPr>
          <a:xfrm rot="0">
            <a:off x="910609" y="3083566"/>
            <a:ext cx="11163300" cy="3205893"/>
            <a:chOff x="0" y="0"/>
            <a:chExt cx="14884400" cy="4274525"/>
          </a:xfrm>
        </p:grpSpPr>
        <p:sp>
          <p:nvSpPr>
            <p:cNvPr name="Freeform 14" id="14"/>
            <p:cNvSpPr/>
            <p:nvPr/>
          </p:nvSpPr>
          <p:spPr>
            <a:xfrm flipH="false" flipV="false" rot="0">
              <a:off x="0" y="0"/>
              <a:ext cx="14884400" cy="4274525"/>
            </a:xfrm>
            <a:custGeom>
              <a:avLst/>
              <a:gdLst/>
              <a:ahLst/>
              <a:cxnLst/>
              <a:rect r="r" b="b" t="t" l="l"/>
              <a:pathLst>
                <a:path h="4274525" w="14884400">
                  <a:moveTo>
                    <a:pt x="0" y="248723"/>
                  </a:moveTo>
                  <a:cubicBezTo>
                    <a:pt x="0" y="111318"/>
                    <a:pt x="109474" y="0"/>
                    <a:pt x="244602" y="0"/>
                  </a:cubicBezTo>
                  <a:lnTo>
                    <a:pt x="14639798" y="0"/>
                  </a:lnTo>
                  <a:cubicBezTo>
                    <a:pt x="14774926" y="0"/>
                    <a:pt x="14884400" y="111318"/>
                    <a:pt x="14884400" y="248723"/>
                  </a:cubicBezTo>
                  <a:lnTo>
                    <a:pt x="14884400" y="4025802"/>
                  </a:lnTo>
                  <a:cubicBezTo>
                    <a:pt x="14884400" y="4163206"/>
                    <a:pt x="14774926" y="4274525"/>
                    <a:pt x="14639798" y="4274525"/>
                  </a:cubicBezTo>
                  <a:lnTo>
                    <a:pt x="244602" y="4274525"/>
                  </a:lnTo>
                  <a:cubicBezTo>
                    <a:pt x="109474" y="4274525"/>
                    <a:pt x="0" y="4163206"/>
                    <a:pt x="0" y="4025802"/>
                  </a:cubicBezTo>
                  <a:close/>
                </a:path>
              </a:pathLst>
            </a:custGeom>
            <a:solidFill>
              <a:srgbClr val="FFFFFF"/>
            </a:solidFill>
            <a:ln w="9526" cap="sq">
              <a:solidFill>
                <a:srgbClr val="E5E7EB"/>
              </a:solidFill>
              <a:prstDash val="solid"/>
              <a:miter/>
            </a:ln>
          </p:spPr>
        </p:sp>
      </p:grpSp>
      <p:grpSp>
        <p:nvGrpSpPr>
          <p:cNvPr name="Group 15" id="15"/>
          <p:cNvGrpSpPr/>
          <p:nvPr/>
        </p:nvGrpSpPr>
        <p:grpSpPr>
          <a:xfrm rot="0">
            <a:off x="924897" y="3096663"/>
            <a:ext cx="11134725" cy="552450"/>
            <a:chOff x="0" y="0"/>
            <a:chExt cx="14846300" cy="736600"/>
          </a:xfrm>
        </p:grpSpPr>
        <p:sp>
          <p:nvSpPr>
            <p:cNvPr name="Freeform 16" id="16"/>
            <p:cNvSpPr/>
            <p:nvPr/>
          </p:nvSpPr>
          <p:spPr>
            <a:xfrm flipH="false" flipV="false" rot="0">
              <a:off x="0" y="0"/>
              <a:ext cx="14846300" cy="736600"/>
            </a:xfrm>
            <a:custGeom>
              <a:avLst/>
              <a:gdLst/>
              <a:ahLst/>
              <a:cxnLst/>
              <a:rect r="r" b="b" t="t" l="l"/>
              <a:pathLst>
                <a:path h="736600" w="14846300">
                  <a:moveTo>
                    <a:pt x="0" y="0"/>
                  </a:moveTo>
                  <a:lnTo>
                    <a:pt x="14846300" y="0"/>
                  </a:lnTo>
                  <a:lnTo>
                    <a:pt x="14846300" y="736600"/>
                  </a:lnTo>
                  <a:lnTo>
                    <a:pt x="0" y="736600"/>
                  </a:lnTo>
                  <a:close/>
                </a:path>
              </a:pathLst>
            </a:custGeom>
            <a:solidFill>
              <a:srgbClr val="ECFAF2"/>
            </a:solidFill>
          </p:spPr>
        </p:sp>
      </p:grpSp>
      <p:sp>
        <p:nvSpPr>
          <p:cNvPr name="TextBox 17" id="17"/>
          <p:cNvSpPr txBox="true"/>
          <p:nvPr/>
        </p:nvSpPr>
        <p:spPr>
          <a:xfrm rot="0">
            <a:off x="923106" y="3039513"/>
            <a:ext cx="2228850" cy="291241"/>
          </a:xfrm>
          <a:prstGeom prst="rect">
            <a:avLst/>
          </a:prstGeom>
        </p:spPr>
        <p:txBody>
          <a:bodyPr anchor="t" rtlCol="false" tIns="0" lIns="0" bIns="0" rIns="0">
            <a:spAutoFit/>
          </a:bodyPr>
          <a:lstStyle/>
          <a:p>
            <a:pPr algn="just">
              <a:lnSpc>
                <a:spcPts val="2353"/>
              </a:lnSpc>
            </a:pPr>
            <a:r>
              <a:rPr lang="en-US" b="true" sz="1560">
                <a:solidFill>
                  <a:srgbClr val="33CC66"/>
                </a:solidFill>
                <a:latin typeface="Arimo Bold"/>
                <a:ea typeface="Arimo Bold"/>
                <a:cs typeface="Arimo Bold"/>
                <a:sym typeface="Arimo Bold"/>
              </a:rPr>
              <a:t>Week</a:t>
            </a:r>
          </a:p>
        </p:txBody>
      </p:sp>
      <p:sp>
        <p:nvSpPr>
          <p:cNvPr name="TextBox 18" id="18"/>
          <p:cNvSpPr txBox="true"/>
          <p:nvPr/>
        </p:nvSpPr>
        <p:spPr>
          <a:xfrm rot="0">
            <a:off x="3150394" y="3039513"/>
            <a:ext cx="2228850" cy="291241"/>
          </a:xfrm>
          <a:prstGeom prst="rect">
            <a:avLst/>
          </a:prstGeom>
        </p:spPr>
        <p:txBody>
          <a:bodyPr anchor="t" rtlCol="false" tIns="0" lIns="0" bIns="0" rIns="0">
            <a:spAutoFit/>
          </a:bodyPr>
          <a:lstStyle/>
          <a:p>
            <a:pPr algn="just">
              <a:lnSpc>
                <a:spcPts val="2353"/>
              </a:lnSpc>
            </a:pPr>
            <a:r>
              <a:rPr lang="en-US" b="true" sz="1560">
                <a:solidFill>
                  <a:srgbClr val="33CC66"/>
                </a:solidFill>
                <a:latin typeface="Arimo Bold"/>
                <a:ea typeface="Arimo Bold"/>
                <a:cs typeface="Arimo Bold"/>
                <a:sym typeface="Arimo Bold"/>
              </a:rPr>
              <a:t>Platform</a:t>
            </a:r>
          </a:p>
        </p:txBody>
      </p:sp>
      <p:sp>
        <p:nvSpPr>
          <p:cNvPr name="TextBox 19" id="19"/>
          <p:cNvSpPr txBox="true"/>
          <p:nvPr/>
        </p:nvSpPr>
        <p:spPr>
          <a:xfrm rot="0">
            <a:off x="5377758" y="3039513"/>
            <a:ext cx="2228850" cy="291241"/>
          </a:xfrm>
          <a:prstGeom prst="rect">
            <a:avLst/>
          </a:prstGeom>
        </p:spPr>
        <p:txBody>
          <a:bodyPr anchor="t" rtlCol="false" tIns="0" lIns="0" bIns="0" rIns="0">
            <a:spAutoFit/>
          </a:bodyPr>
          <a:lstStyle/>
          <a:p>
            <a:pPr algn="just">
              <a:lnSpc>
                <a:spcPts val="2353"/>
              </a:lnSpc>
            </a:pPr>
            <a:r>
              <a:rPr lang="en-US" b="true" sz="1560">
                <a:solidFill>
                  <a:srgbClr val="33CC66"/>
                </a:solidFill>
                <a:latin typeface="Arimo Bold"/>
                <a:ea typeface="Arimo Bold"/>
                <a:cs typeface="Arimo Bold"/>
                <a:sym typeface="Arimo Bold"/>
              </a:rPr>
              <a:t>Format</a:t>
            </a:r>
          </a:p>
        </p:txBody>
      </p:sp>
      <p:sp>
        <p:nvSpPr>
          <p:cNvPr name="TextBox 20" id="20"/>
          <p:cNvSpPr txBox="true"/>
          <p:nvPr/>
        </p:nvSpPr>
        <p:spPr>
          <a:xfrm rot="0">
            <a:off x="7605122" y="3039513"/>
            <a:ext cx="2228850" cy="291241"/>
          </a:xfrm>
          <a:prstGeom prst="rect">
            <a:avLst/>
          </a:prstGeom>
        </p:spPr>
        <p:txBody>
          <a:bodyPr anchor="t" rtlCol="false" tIns="0" lIns="0" bIns="0" rIns="0">
            <a:spAutoFit/>
          </a:bodyPr>
          <a:lstStyle/>
          <a:p>
            <a:pPr algn="just">
              <a:lnSpc>
                <a:spcPts val="2353"/>
              </a:lnSpc>
            </a:pPr>
            <a:r>
              <a:rPr lang="en-US" b="true" sz="1560">
                <a:solidFill>
                  <a:srgbClr val="33CC66"/>
                </a:solidFill>
                <a:latin typeface="Arimo Bold"/>
                <a:ea typeface="Arimo Bold"/>
                <a:cs typeface="Arimo Bold"/>
                <a:sym typeface="Arimo Bold"/>
              </a:rPr>
              <a:t>Theme</a:t>
            </a:r>
          </a:p>
        </p:txBody>
      </p:sp>
      <p:sp>
        <p:nvSpPr>
          <p:cNvPr name="TextBox 21" id="21"/>
          <p:cNvSpPr txBox="true"/>
          <p:nvPr/>
        </p:nvSpPr>
        <p:spPr>
          <a:xfrm rot="0">
            <a:off x="9832400" y="3039513"/>
            <a:ext cx="2228850" cy="291241"/>
          </a:xfrm>
          <a:prstGeom prst="rect">
            <a:avLst/>
          </a:prstGeom>
        </p:spPr>
        <p:txBody>
          <a:bodyPr anchor="t" rtlCol="false" tIns="0" lIns="0" bIns="0" rIns="0">
            <a:spAutoFit/>
          </a:bodyPr>
          <a:lstStyle/>
          <a:p>
            <a:pPr algn="just">
              <a:lnSpc>
                <a:spcPts val="2353"/>
              </a:lnSpc>
            </a:pPr>
            <a:r>
              <a:rPr lang="en-US" b="true" sz="1560">
                <a:solidFill>
                  <a:srgbClr val="33CC66"/>
                </a:solidFill>
                <a:latin typeface="Arimo Bold"/>
                <a:ea typeface="Arimo Bold"/>
                <a:cs typeface="Arimo Bold"/>
                <a:sym typeface="Arimo Bold"/>
              </a:rPr>
              <a:t>CTA</a:t>
            </a:r>
          </a:p>
        </p:txBody>
      </p:sp>
      <p:sp>
        <p:nvSpPr>
          <p:cNvPr name="TextBox 22" id="22"/>
          <p:cNvSpPr txBox="true"/>
          <p:nvPr/>
        </p:nvSpPr>
        <p:spPr>
          <a:xfrm rot="0">
            <a:off x="923106" y="3610127"/>
            <a:ext cx="2228850" cy="54292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[W1]</a:t>
            </a:r>
          </a:p>
        </p:txBody>
      </p:sp>
      <p:sp>
        <p:nvSpPr>
          <p:cNvPr name="TextBox 23" id="23"/>
          <p:cNvSpPr txBox="true"/>
          <p:nvPr/>
        </p:nvSpPr>
        <p:spPr>
          <a:xfrm rot="0">
            <a:off x="3150394" y="3610127"/>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Instagram + TikTok</a:t>
            </a:r>
          </a:p>
        </p:txBody>
      </p:sp>
      <p:sp>
        <p:nvSpPr>
          <p:cNvPr name="TextBox 24" id="24"/>
          <p:cNvSpPr txBox="true"/>
          <p:nvPr/>
        </p:nvSpPr>
        <p:spPr>
          <a:xfrm rot="0">
            <a:off x="5377758" y="3610127"/>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Touching story video</a:t>
            </a:r>
          </a:p>
        </p:txBody>
      </p:sp>
      <p:sp>
        <p:nvSpPr>
          <p:cNvPr name="TextBox 25" id="25"/>
          <p:cNvSpPr txBox="true"/>
          <p:nvPr/>
        </p:nvSpPr>
        <p:spPr>
          <a:xfrm rot="0">
            <a:off x="7606608" y="3610127"/>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Awareness</a:t>
            </a:r>
          </a:p>
        </p:txBody>
      </p:sp>
      <p:sp>
        <p:nvSpPr>
          <p:cNvPr name="TextBox 26" id="26"/>
          <p:cNvSpPr txBox="true"/>
          <p:nvPr/>
        </p:nvSpPr>
        <p:spPr>
          <a:xfrm rot="0">
            <a:off x="9832400" y="3610127"/>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Follow</a:t>
            </a:r>
          </a:p>
        </p:txBody>
      </p:sp>
      <p:grpSp>
        <p:nvGrpSpPr>
          <p:cNvPr name="Group 27" id="27"/>
          <p:cNvGrpSpPr/>
          <p:nvPr/>
        </p:nvGrpSpPr>
        <p:grpSpPr>
          <a:xfrm rot="0">
            <a:off x="924897" y="4164959"/>
            <a:ext cx="11134725" cy="514350"/>
            <a:chOff x="0" y="0"/>
            <a:chExt cx="14846300" cy="685800"/>
          </a:xfrm>
        </p:grpSpPr>
        <p:sp>
          <p:nvSpPr>
            <p:cNvPr name="Freeform 28" id="28"/>
            <p:cNvSpPr/>
            <p:nvPr/>
          </p:nvSpPr>
          <p:spPr>
            <a:xfrm flipH="false" flipV="false" rot="0">
              <a:off x="0" y="0"/>
              <a:ext cx="14846300" cy="685800"/>
            </a:xfrm>
            <a:custGeom>
              <a:avLst/>
              <a:gdLst/>
              <a:ahLst/>
              <a:cxnLst/>
              <a:rect r="r" b="b" t="t" l="l"/>
              <a:pathLst>
                <a:path h="685800" w="14846300">
                  <a:moveTo>
                    <a:pt x="0" y="0"/>
                  </a:moveTo>
                  <a:lnTo>
                    <a:pt x="14846300" y="0"/>
                  </a:lnTo>
                  <a:lnTo>
                    <a:pt x="14846300" y="685800"/>
                  </a:lnTo>
                  <a:lnTo>
                    <a:pt x="0" y="685800"/>
                  </a:lnTo>
                  <a:close/>
                </a:path>
              </a:pathLst>
            </a:custGeom>
            <a:solidFill>
              <a:srgbClr val="F8F8FA">
                <a:alpha val="15686"/>
              </a:srgbClr>
            </a:solidFill>
          </p:spPr>
        </p:sp>
      </p:grpSp>
      <p:sp>
        <p:nvSpPr>
          <p:cNvPr name="TextBox 29" id="29"/>
          <p:cNvSpPr txBox="true"/>
          <p:nvPr/>
        </p:nvSpPr>
        <p:spPr>
          <a:xfrm rot="0">
            <a:off x="923106" y="4126859"/>
            <a:ext cx="2228850" cy="54292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[W2]</a:t>
            </a:r>
          </a:p>
        </p:txBody>
      </p:sp>
      <p:sp>
        <p:nvSpPr>
          <p:cNvPr name="TextBox 30" id="30"/>
          <p:cNvSpPr txBox="true"/>
          <p:nvPr/>
        </p:nvSpPr>
        <p:spPr>
          <a:xfrm rot="0">
            <a:off x="3150394" y="4126859"/>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Instagram</a:t>
            </a:r>
          </a:p>
        </p:txBody>
      </p:sp>
      <p:sp>
        <p:nvSpPr>
          <p:cNvPr name="TextBox 31" id="31"/>
          <p:cNvSpPr txBox="true"/>
          <p:nvPr/>
        </p:nvSpPr>
        <p:spPr>
          <a:xfrm rot="0">
            <a:off x="5377758" y="4126859"/>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Carousel</a:t>
            </a:r>
          </a:p>
        </p:txBody>
      </p:sp>
      <p:sp>
        <p:nvSpPr>
          <p:cNvPr name="TextBox 32" id="32"/>
          <p:cNvSpPr txBox="true"/>
          <p:nvPr/>
        </p:nvSpPr>
        <p:spPr>
          <a:xfrm rot="0">
            <a:off x="7605122" y="4126859"/>
            <a:ext cx="2228850" cy="499110"/>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Medication safety e</a:t>
            </a:r>
            <a:r>
              <a:rPr lang="en-US" sz="1360">
                <a:solidFill>
                  <a:srgbClr val="595959"/>
                </a:solidFill>
                <a:latin typeface="Inter"/>
                <a:ea typeface="Inter"/>
                <a:cs typeface="Inter"/>
                <a:sym typeface="Inter"/>
              </a:rPr>
              <a:t>ducation</a:t>
            </a:r>
          </a:p>
        </p:txBody>
      </p:sp>
      <p:sp>
        <p:nvSpPr>
          <p:cNvPr name="TextBox 33" id="33"/>
          <p:cNvSpPr txBox="true"/>
          <p:nvPr/>
        </p:nvSpPr>
        <p:spPr>
          <a:xfrm rot="0">
            <a:off x="9832400" y="4126859"/>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S</a:t>
            </a:r>
            <a:r>
              <a:rPr lang="en-US" sz="1360">
                <a:solidFill>
                  <a:srgbClr val="595959"/>
                </a:solidFill>
                <a:latin typeface="Inter"/>
                <a:ea typeface="Inter"/>
                <a:cs typeface="Inter"/>
                <a:sym typeface="Inter"/>
              </a:rPr>
              <a:t>ave / Share</a:t>
            </a:r>
          </a:p>
        </p:txBody>
      </p:sp>
      <p:sp>
        <p:nvSpPr>
          <p:cNvPr name="TextBox 34" id="34"/>
          <p:cNvSpPr txBox="true"/>
          <p:nvPr/>
        </p:nvSpPr>
        <p:spPr>
          <a:xfrm rot="0">
            <a:off x="923106" y="4643590"/>
            <a:ext cx="2228850" cy="54292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[W3]</a:t>
            </a:r>
          </a:p>
        </p:txBody>
      </p:sp>
      <p:sp>
        <p:nvSpPr>
          <p:cNvPr name="TextBox 35" id="35"/>
          <p:cNvSpPr txBox="true"/>
          <p:nvPr/>
        </p:nvSpPr>
        <p:spPr>
          <a:xfrm rot="0">
            <a:off x="3150394" y="4643590"/>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TikTok + Reel</a:t>
            </a:r>
            <a:r>
              <a:rPr lang="en-US" sz="1360">
                <a:solidFill>
                  <a:srgbClr val="595959"/>
                </a:solidFill>
                <a:latin typeface="Inter"/>
                <a:ea typeface="Inter"/>
                <a:cs typeface="Inter"/>
                <a:sym typeface="Inter"/>
              </a:rPr>
              <a:t>s</a:t>
            </a:r>
          </a:p>
        </p:txBody>
      </p:sp>
      <p:sp>
        <p:nvSpPr>
          <p:cNvPr name="TextBox 36" id="36"/>
          <p:cNvSpPr txBox="true"/>
          <p:nvPr/>
        </p:nvSpPr>
        <p:spPr>
          <a:xfrm rot="0">
            <a:off x="5377758" y="4643590"/>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App dem</a:t>
            </a:r>
            <a:r>
              <a:rPr lang="en-US" sz="1360">
                <a:solidFill>
                  <a:srgbClr val="595959"/>
                </a:solidFill>
                <a:latin typeface="Inter"/>
                <a:ea typeface="Inter"/>
                <a:cs typeface="Inter"/>
                <a:sym typeface="Inter"/>
              </a:rPr>
              <a:t>o</a:t>
            </a:r>
          </a:p>
        </p:txBody>
      </p:sp>
      <p:sp>
        <p:nvSpPr>
          <p:cNvPr name="TextBox 37" id="37"/>
          <p:cNvSpPr txBox="true"/>
          <p:nvPr/>
        </p:nvSpPr>
        <p:spPr>
          <a:xfrm rot="0">
            <a:off x="7603550" y="4643590"/>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How IS</a:t>
            </a:r>
            <a:r>
              <a:rPr lang="en-US" sz="1360">
                <a:solidFill>
                  <a:srgbClr val="595959"/>
                </a:solidFill>
                <a:latin typeface="Inter"/>
                <a:ea typeface="Inter"/>
                <a:cs typeface="Inter"/>
                <a:sym typeface="Inter"/>
              </a:rPr>
              <a:t>TSEH works</a:t>
            </a:r>
          </a:p>
        </p:txBody>
      </p:sp>
      <p:sp>
        <p:nvSpPr>
          <p:cNvPr name="TextBox 38" id="38"/>
          <p:cNvSpPr txBox="true"/>
          <p:nvPr/>
        </p:nvSpPr>
        <p:spPr>
          <a:xfrm rot="0">
            <a:off x="9832400" y="4643590"/>
            <a:ext cx="2228850" cy="499110"/>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Visit w</a:t>
            </a:r>
            <a:r>
              <a:rPr lang="en-US" sz="1360">
                <a:solidFill>
                  <a:srgbClr val="595959"/>
                </a:solidFill>
                <a:latin typeface="Inter"/>
                <a:ea typeface="Inter"/>
                <a:cs typeface="Inter"/>
                <a:sym typeface="Inter"/>
              </a:rPr>
              <a:t>ebsite for early discount code</a:t>
            </a:r>
          </a:p>
        </p:txBody>
      </p:sp>
      <p:grpSp>
        <p:nvGrpSpPr>
          <p:cNvPr name="Group 39" id="39"/>
          <p:cNvGrpSpPr/>
          <p:nvPr/>
        </p:nvGrpSpPr>
        <p:grpSpPr>
          <a:xfrm rot="0">
            <a:off x="924897" y="5198421"/>
            <a:ext cx="11134725" cy="514350"/>
            <a:chOff x="0" y="0"/>
            <a:chExt cx="14846300" cy="685800"/>
          </a:xfrm>
        </p:grpSpPr>
        <p:sp>
          <p:nvSpPr>
            <p:cNvPr name="Freeform 40" id="40"/>
            <p:cNvSpPr/>
            <p:nvPr/>
          </p:nvSpPr>
          <p:spPr>
            <a:xfrm flipH="false" flipV="false" rot="0">
              <a:off x="0" y="0"/>
              <a:ext cx="14846300" cy="685800"/>
            </a:xfrm>
            <a:custGeom>
              <a:avLst/>
              <a:gdLst/>
              <a:ahLst/>
              <a:cxnLst/>
              <a:rect r="r" b="b" t="t" l="l"/>
              <a:pathLst>
                <a:path h="685800" w="14846300">
                  <a:moveTo>
                    <a:pt x="0" y="0"/>
                  </a:moveTo>
                  <a:lnTo>
                    <a:pt x="14846300" y="0"/>
                  </a:lnTo>
                  <a:lnTo>
                    <a:pt x="14846300" y="685800"/>
                  </a:lnTo>
                  <a:lnTo>
                    <a:pt x="0" y="685800"/>
                  </a:lnTo>
                  <a:close/>
                </a:path>
              </a:pathLst>
            </a:custGeom>
            <a:solidFill>
              <a:srgbClr val="F8F8FA">
                <a:alpha val="15686"/>
              </a:srgbClr>
            </a:solidFill>
          </p:spPr>
        </p:sp>
      </p:grpSp>
      <p:sp>
        <p:nvSpPr>
          <p:cNvPr name="TextBox 41" id="41"/>
          <p:cNvSpPr txBox="true"/>
          <p:nvPr/>
        </p:nvSpPr>
        <p:spPr>
          <a:xfrm rot="0">
            <a:off x="923106" y="5160321"/>
            <a:ext cx="2228850" cy="54292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[W4]</a:t>
            </a:r>
          </a:p>
        </p:txBody>
      </p:sp>
      <p:sp>
        <p:nvSpPr>
          <p:cNvPr name="TextBox 42" id="42"/>
          <p:cNvSpPr txBox="true"/>
          <p:nvPr/>
        </p:nvSpPr>
        <p:spPr>
          <a:xfrm rot="0">
            <a:off x="3150394" y="5160321"/>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Instagram St</a:t>
            </a:r>
            <a:r>
              <a:rPr lang="en-US" sz="1360">
                <a:solidFill>
                  <a:srgbClr val="595959"/>
                </a:solidFill>
                <a:latin typeface="Inter"/>
                <a:ea typeface="Inter"/>
                <a:cs typeface="Inter"/>
                <a:sym typeface="Inter"/>
              </a:rPr>
              <a:t>ories</a:t>
            </a:r>
          </a:p>
        </p:txBody>
      </p:sp>
      <p:sp>
        <p:nvSpPr>
          <p:cNvPr name="TextBox 43" id="43"/>
          <p:cNvSpPr txBox="true"/>
          <p:nvPr/>
        </p:nvSpPr>
        <p:spPr>
          <a:xfrm rot="0">
            <a:off x="5377758" y="5160321"/>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P</a:t>
            </a:r>
            <a:r>
              <a:rPr lang="en-US" sz="1360">
                <a:solidFill>
                  <a:srgbClr val="595959"/>
                </a:solidFill>
                <a:latin typeface="Inter"/>
                <a:ea typeface="Inter"/>
                <a:cs typeface="Inter"/>
                <a:sym typeface="Inter"/>
              </a:rPr>
              <a:t>oll / Q&amp;A</a:t>
            </a:r>
          </a:p>
        </p:txBody>
      </p:sp>
      <p:sp>
        <p:nvSpPr>
          <p:cNvPr name="TextBox 44" id="44"/>
          <p:cNvSpPr txBox="true"/>
          <p:nvPr/>
        </p:nvSpPr>
        <p:spPr>
          <a:xfrm rot="0">
            <a:off x="7605122" y="5160321"/>
            <a:ext cx="1935366" cy="499110"/>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User needs + caregiver pr</a:t>
            </a:r>
            <a:r>
              <a:rPr lang="en-US" sz="1360">
                <a:solidFill>
                  <a:srgbClr val="595959"/>
                </a:solidFill>
                <a:latin typeface="Inter"/>
                <a:ea typeface="Inter"/>
                <a:cs typeface="Inter"/>
                <a:sym typeface="Inter"/>
              </a:rPr>
              <a:t>oblems</a:t>
            </a:r>
          </a:p>
        </p:txBody>
      </p:sp>
      <p:sp>
        <p:nvSpPr>
          <p:cNvPr name="TextBox 45" id="45"/>
          <p:cNvSpPr txBox="true"/>
          <p:nvPr/>
        </p:nvSpPr>
        <p:spPr>
          <a:xfrm rot="0">
            <a:off x="9832400" y="5160321"/>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An</a:t>
            </a:r>
            <a:r>
              <a:rPr lang="en-US" sz="1360">
                <a:solidFill>
                  <a:srgbClr val="595959"/>
                </a:solidFill>
                <a:latin typeface="Inter"/>
                <a:ea typeface="Inter"/>
                <a:cs typeface="Inter"/>
                <a:sym typeface="Inter"/>
              </a:rPr>
              <a:t>swer poll</a:t>
            </a:r>
          </a:p>
        </p:txBody>
      </p:sp>
      <p:sp>
        <p:nvSpPr>
          <p:cNvPr name="TextBox 46" id="46"/>
          <p:cNvSpPr txBox="true"/>
          <p:nvPr/>
        </p:nvSpPr>
        <p:spPr>
          <a:xfrm rot="0">
            <a:off x="923106" y="5677052"/>
            <a:ext cx="2228850" cy="54292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[W5]</a:t>
            </a:r>
          </a:p>
        </p:txBody>
      </p:sp>
      <p:sp>
        <p:nvSpPr>
          <p:cNvPr name="TextBox 47" id="47"/>
          <p:cNvSpPr txBox="true"/>
          <p:nvPr/>
        </p:nvSpPr>
        <p:spPr>
          <a:xfrm rot="0">
            <a:off x="3150394" y="5677052"/>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App Store</a:t>
            </a:r>
            <a:r>
              <a:rPr lang="en-US" sz="1360">
                <a:solidFill>
                  <a:srgbClr val="595959"/>
                </a:solidFill>
                <a:latin typeface="Inter"/>
                <a:ea typeface="Inter"/>
                <a:cs typeface="Inter"/>
                <a:sym typeface="Inter"/>
              </a:rPr>
              <a:t> / Website</a:t>
            </a:r>
          </a:p>
        </p:txBody>
      </p:sp>
      <p:sp>
        <p:nvSpPr>
          <p:cNvPr name="TextBox 48" id="48"/>
          <p:cNvSpPr txBox="true"/>
          <p:nvPr/>
        </p:nvSpPr>
        <p:spPr>
          <a:xfrm rot="0">
            <a:off x="5377758" y="5677052"/>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Launc</a:t>
            </a:r>
            <a:r>
              <a:rPr lang="en-US" sz="1360">
                <a:solidFill>
                  <a:srgbClr val="595959"/>
                </a:solidFill>
                <a:latin typeface="Inter"/>
                <a:ea typeface="Inter"/>
                <a:cs typeface="Inter"/>
                <a:sym typeface="Inter"/>
              </a:rPr>
              <a:t>h post</a:t>
            </a:r>
          </a:p>
        </p:txBody>
      </p:sp>
      <p:sp>
        <p:nvSpPr>
          <p:cNvPr name="TextBox 49" id="49"/>
          <p:cNvSpPr txBox="true"/>
          <p:nvPr/>
        </p:nvSpPr>
        <p:spPr>
          <a:xfrm rot="0">
            <a:off x="7605122" y="5677052"/>
            <a:ext cx="2228850" cy="24193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Bet</a:t>
            </a:r>
            <a:r>
              <a:rPr lang="en-US" sz="1360">
                <a:solidFill>
                  <a:srgbClr val="595959"/>
                </a:solidFill>
                <a:latin typeface="Inter"/>
                <a:ea typeface="Inter"/>
                <a:cs typeface="Inter"/>
                <a:sym typeface="Inter"/>
              </a:rPr>
              <a:t>a / pilot sign-up</a:t>
            </a:r>
          </a:p>
        </p:txBody>
      </p:sp>
      <p:sp>
        <p:nvSpPr>
          <p:cNvPr name="TextBox 50" id="50"/>
          <p:cNvSpPr txBox="true"/>
          <p:nvPr/>
        </p:nvSpPr>
        <p:spPr>
          <a:xfrm rot="0">
            <a:off x="9832400" y="5677052"/>
            <a:ext cx="2228850" cy="499181"/>
          </a:xfrm>
          <a:prstGeom prst="rect">
            <a:avLst/>
          </a:prstGeom>
        </p:spPr>
        <p:txBody>
          <a:bodyPr anchor="t" rtlCol="false" tIns="0" lIns="0" bIns="0" rIns="0">
            <a:spAutoFit/>
          </a:bodyPr>
          <a:lstStyle/>
          <a:p>
            <a:pPr algn="l">
              <a:lnSpc>
                <a:spcPts val="2050"/>
              </a:lnSpc>
            </a:pPr>
            <a:r>
              <a:rPr lang="en-US" sz="1359">
                <a:solidFill>
                  <a:srgbClr val="595959"/>
                </a:solidFill>
                <a:latin typeface="Inter"/>
                <a:ea typeface="Inter"/>
                <a:cs typeface="Inter"/>
                <a:sym typeface="Inter"/>
              </a:rPr>
              <a:t>Download / </a:t>
            </a:r>
            <a:r>
              <a:rPr lang="en-US" sz="1359">
                <a:solidFill>
                  <a:srgbClr val="595959"/>
                </a:solidFill>
                <a:latin typeface="Inter"/>
                <a:ea typeface="Inter"/>
                <a:cs typeface="Inter"/>
                <a:sym typeface="Inter"/>
              </a:rPr>
              <a:t>sign up</a:t>
            </a:r>
          </a:p>
          <a:p>
            <a:pPr algn="l">
              <a:lnSpc>
                <a:spcPts val="2052"/>
              </a:lnSpc>
            </a:pPr>
          </a:p>
        </p:txBody>
      </p:sp>
      <p:grpSp>
        <p:nvGrpSpPr>
          <p:cNvPr name="Group 51" id="51"/>
          <p:cNvGrpSpPr/>
          <p:nvPr/>
        </p:nvGrpSpPr>
        <p:grpSpPr>
          <a:xfrm rot="0">
            <a:off x="12437793" y="2675630"/>
            <a:ext cx="4933950" cy="5572125"/>
            <a:chOff x="0" y="0"/>
            <a:chExt cx="6578600" cy="7429500"/>
          </a:xfrm>
        </p:grpSpPr>
        <p:sp>
          <p:nvSpPr>
            <p:cNvPr name="Freeform 52" id="52"/>
            <p:cNvSpPr/>
            <p:nvPr/>
          </p:nvSpPr>
          <p:spPr>
            <a:xfrm flipH="false" flipV="false" rot="0">
              <a:off x="0" y="0"/>
              <a:ext cx="6578600" cy="7429500"/>
            </a:xfrm>
            <a:custGeom>
              <a:avLst/>
              <a:gdLst/>
              <a:ahLst/>
              <a:cxnLst/>
              <a:rect r="r" b="b" t="t" l="l"/>
              <a:pathLst>
                <a:path h="7429500" w="6578600">
                  <a:moveTo>
                    <a:pt x="0" y="243840"/>
                  </a:moveTo>
                  <a:cubicBezTo>
                    <a:pt x="0" y="109220"/>
                    <a:pt x="109220" y="0"/>
                    <a:pt x="243840" y="0"/>
                  </a:cubicBezTo>
                  <a:lnTo>
                    <a:pt x="6334760" y="0"/>
                  </a:lnTo>
                  <a:cubicBezTo>
                    <a:pt x="6469380" y="0"/>
                    <a:pt x="6578600" y="109220"/>
                    <a:pt x="6578600" y="243840"/>
                  </a:cubicBezTo>
                  <a:lnTo>
                    <a:pt x="6578600" y="7185660"/>
                  </a:lnTo>
                  <a:cubicBezTo>
                    <a:pt x="6578600" y="7320407"/>
                    <a:pt x="6469380" y="7429500"/>
                    <a:pt x="6334760" y="7429500"/>
                  </a:cubicBezTo>
                  <a:lnTo>
                    <a:pt x="243840" y="7429500"/>
                  </a:lnTo>
                  <a:cubicBezTo>
                    <a:pt x="109220" y="7429500"/>
                    <a:pt x="0" y="7320280"/>
                    <a:pt x="0" y="7185660"/>
                  </a:cubicBezTo>
                  <a:close/>
                </a:path>
              </a:pathLst>
            </a:custGeom>
            <a:solidFill>
              <a:srgbClr val="ECFAF2"/>
            </a:solidFill>
          </p:spPr>
        </p:sp>
      </p:grpSp>
      <p:sp>
        <p:nvSpPr>
          <p:cNvPr name="TextBox 53" id="53"/>
          <p:cNvSpPr txBox="true"/>
          <p:nvPr/>
        </p:nvSpPr>
        <p:spPr>
          <a:xfrm rot="0">
            <a:off x="12642580" y="2834878"/>
            <a:ext cx="452437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SAMPLE POST</a:t>
            </a:r>
          </a:p>
        </p:txBody>
      </p:sp>
      <p:grpSp>
        <p:nvGrpSpPr>
          <p:cNvPr name="Group 54" id="54"/>
          <p:cNvGrpSpPr/>
          <p:nvPr/>
        </p:nvGrpSpPr>
        <p:grpSpPr>
          <a:xfrm rot="0">
            <a:off x="12633055" y="3255693"/>
            <a:ext cx="4543425" cy="4457700"/>
            <a:chOff x="0" y="0"/>
            <a:chExt cx="6057900" cy="5943600"/>
          </a:xfrm>
        </p:grpSpPr>
        <p:sp>
          <p:nvSpPr>
            <p:cNvPr name="Freeform 55" id="55"/>
            <p:cNvSpPr/>
            <p:nvPr/>
          </p:nvSpPr>
          <p:spPr>
            <a:xfrm flipH="false" flipV="false" rot="0">
              <a:off x="0" y="0"/>
              <a:ext cx="6057900" cy="5943600"/>
            </a:xfrm>
            <a:custGeom>
              <a:avLst/>
              <a:gdLst/>
              <a:ahLst/>
              <a:cxnLst/>
              <a:rect r="r" b="b" t="t" l="l"/>
              <a:pathLst>
                <a:path h="5943600" w="6057900">
                  <a:moveTo>
                    <a:pt x="0" y="146939"/>
                  </a:moveTo>
                  <a:cubicBezTo>
                    <a:pt x="0" y="65786"/>
                    <a:pt x="65786" y="0"/>
                    <a:pt x="146939" y="0"/>
                  </a:cubicBezTo>
                  <a:lnTo>
                    <a:pt x="5910961" y="0"/>
                  </a:lnTo>
                  <a:cubicBezTo>
                    <a:pt x="5992114" y="0"/>
                    <a:pt x="6057900" y="65786"/>
                    <a:pt x="6057900" y="146939"/>
                  </a:cubicBezTo>
                  <a:lnTo>
                    <a:pt x="6057900" y="5796661"/>
                  </a:lnTo>
                  <a:cubicBezTo>
                    <a:pt x="6057900" y="5877814"/>
                    <a:pt x="5992114" y="5943600"/>
                    <a:pt x="5910961" y="5943600"/>
                  </a:cubicBezTo>
                  <a:lnTo>
                    <a:pt x="146939" y="5943600"/>
                  </a:lnTo>
                  <a:cubicBezTo>
                    <a:pt x="65786" y="5943600"/>
                    <a:pt x="0" y="5877814"/>
                    <a:pt x="0" y="5796661"/>
                  </a:cubicBezTo>
                  <a:close/>
                </a:path>
              </a:pathLst>
            </a:custGeom>
            <a:blipFill>
              <a:blip r:embed="rId3">
                <a:alphaModFix amt="0"/>
              </a:blip>
              <a:stretch>
                <a:fillRect l="-75882" t="0" r="-75882" b="0"/>
              </a:stretch>
            </a:blipFill>
            <a:ln w="19050" cap="sq">
              <a:solidFill>
                <a:srgbClr val="FFFFFF"/>
              </a:solidFill>
              <a:prstDash val="dash"/>
              <a:miter/>
            </a:ln>
          </p:spPr>
        </p:sp>
        <p:sp>
          <p:nvSpPr>
            <p:cNvPr name="TextBox 56" id="56"/>
            <p:cNvSpPr txBox="true"/>
            <p:nvPr/>
          </p:nvSpPr>
          <p:spPr>
            <a:xfrm>
              <a:off x="0" y="-38100"/>
              <a:ext cx="6057900" cy="5981700"/>
            </a:xfrm>
            <a:prstGeom prst="rect">
              <a:avLst/>
            </a:prstGeom>
          </p:spPr>
          <p:txBody>
            <a:bodyPr anchor="ctr" rtlCol="false" tIns="50800" lIns="50800" bIns="50800" rIns="50800"/>
            <a:lstStyle/>
            <a:p>
              <a:pPr algn="ctr">
                <a:lnSpc>
                  <a:spcPts val="2052"/>
                </a:lnSpc>
              </a:pPr>
              <a:r>
                <a:rPr lang="en-US" sz="1360">
                  <a:solidFill>
                    <a:srgbClr val="FFFFFF"/>
                  </a:solidFill>
                  <a:latin typeface="Inter"/>
                  <a:ea typeface="Inter"/>
                  <a:cs typeface="Inter"/>
                  <a:sym typeface="Inter"/>
                </a:rPr>
                <a:t>[Add a social media post mockup here]</a:t>
              </a:r>
            </a:p>
          </p:txBody>
        </p:sp>
      </p:grpSp>
      <p:sp>
        <p:nvSpPr>
          <p:cNvPr name="TextBox 57" id="57"/>
          <p:cNvSpPr txBox="true"/>
          <p:nvPr/>
        </p:nvSpPr>
        <p:spPr>
          <a:xfrm rot="0">
            <a:off x="12642580" y="7785649"/>
            <a:ext cx="4524375" cy="257175"/>
          </a:xfrm>
          <a:prstGeom prst="rect">
            <a:avLst/>
          </a:prstGeom>
        </p:spPr>
        <p:txBody>
          <a:bodyPr anchor="t" rtlCol="false" tIns="0" lIns="0" bIns="0" rIns="0">
            <a:spAutoFit/>
          </a:bodyPr>
          <a:lstStyle/>
          <a:p>
            <a:pPr algn="l">
              <a:lnSpc>
                <a:spcPts val="1880"/>
              </a:lnSpc>
            </a:pPr>
            <a:r>
              <a:rPr lang="en-US" sz="1360">
                <a:solidFill>
                  <a:srgbClr val="FFFFFF"/>
                </a:solidFill>
                <a:latin typeface="Inter"/>
                <a:ea typeface="Inter"/>
                <a:cs typeface="Inter"/>
                <a:sym typeface="Inter"/>
              </a:rPr>
              <a:t>"[Insert sample caption / hook line here.]"</a:t>
            </a:r>
          </a:p>
        </p:txBody>
      </p:sp>
      <p:grpSp>
        <p:nvGrpSpPr>
          <p:cNvPr name="Group 58" id="58"/>
          <p:cNvGrpSpPr/>
          <p:nvPr/>
        </p:nvGrpSpPr>
        <p:grpSpPr>
          <a:xfrm rot="0">
            <a:off x="12433030" y="8400155"/>
            <a:ext cx="4943475" cy="1218529"/>
            <a:chOff x="0" y="0"/>
            <a:chExt cx="6591300" cy="1624705"/>
          </a:xfrm>
        </p:grpSpPr>
        <p:sp>
          <p:nvSpPr>
            <p:cNvPr name="Freeform 59" id="59"/>
            <p:cNvSpPr/>
            <p:nvPr/>
          </p:nvSpPr>
          <p:spPr>
            <a:xfrm flipH="false" flipV="false" rot="0">
              <a:off x="0" y="0"/>
              <a:ext cx="6591300" cy="1624705"/>
            </a:xfrm>
            <a:custGeom>
              <a:avLst/>
              <a:gdLst/>
              <a:ahLst/>
              <a:cxnLst/>
              <a:rect r="r" b="b" t="t" l="l"/>
              <a:pathLst>
                <a:path h="1624705" w="6591300">
                  <a:moveTo>
                    <a:pt x="0" y="224848"/>
                  </a:moveTo>
                  <a:cubicBezTo>
                    <a:pt x="0" y="100674"/>
                    <a:pt x="88138" y="0"/>
                    <a:pt x="196850" y="0"/>
                  </a:cubicBezTo>
                  <a:lnTo>
                    <a:pt x="6394450" y="0"/>
                  </a:lnTo>
                  <a:cubicBezTo>
                    <a:pt x="6503162" y="0"/>
                    <a:pt x="6591300" y="100674"/>
                    <a:pt x="6591300" y="224848"/>
                  </a:cubicBezTo>
                  <a:lnTo>
                    <a:pt x="6591300" y="1399857"/>
                  </a:lnTo>
                  <a:cubicBezTo>
                    <a:pt x="6591300" y="1524031"/>
                    <a:pt x="6503162" y="1624705"/>
                    <a:pt x="6394450" y="1624705"/>
                  </a:cubicBezTo>
                  <a:lnTo>
                    <a:pt x="196850" y="1624705"/>
                  </a:lnTo>
                  <a:cubicBezTo>
                    <a:pt x="88138" y="1624705"/>
                    <a:pt x="0" y="1524031"/>
                    <a:pt x="0" y="1399857"/>
                  </a:cubicBezTo>
                  <a:close/>
                </a:path>
              </a:pathLst>
            </a:custGeom>
            <a:solidFill>
              <a:srgbClr val="FFFFFF"/>
            </a:solidFill>
            <a:ln w="9526" cap="sq">
              <a:solidFill>
                <a:srgbClr val="E5E7EB"/>
              </a:solidFill>
              <a:prstDash val="solid"/>
              <a:miter/>
            </a:ln>
          </p:spPr>
        </p:sp>
      </p:grpSp>
      <p:sp>
        <p:nvSpPr>
          <p:cNvPr name="TextBox 60" id="60"/>
          <p:cNvSpPr txBox="true"/>
          <p:nvPr/>
        </p:nvSpPr>
        <p:spPr>
          <a:xfrm rot="0">
            <a:off x="12650838" y="8580244"/>
            <a:ext cx="1381125" cy="257175"/>
          </a:xfrm>
          <a:prstGeom prst="rect">
            <a:avLst/>
          </a:prstGeom>
        </p:spPr>
        <p:txBody>
          <a:bodyPr anchor="t" rtlCol="false" tIns="0" lIns="0" bIns="0" rIns="0">
            <a:spAutoFit/>
          </a:bodyPr>
          <a:lstStyle/>
          <a:p>
            <a:pPr algn="l">
              <a:lnSpc>
                <a:spcPts val="1727"/>
              </a:lnSpc>
            </a:pPr>
            <a:r>
              <a:rPr lang="en-US" sz="1159">
                <a:solidFill>
                  <a:srgbClr val="6B7280"/>
                </a:solidFill>
                <a:latin typeface="Inter"/>
                <a:ea typeface="Inter"/>
                <a:cs typeface="Inter"/>
                <a:sym typeface="Inter"/>
              </a:rPr>
              <a:t>REACH</a:t>
            </a:r>
          </a:p>
        </p:txBody>
      </p:sp>
      <p:sp>
        <p:nvSpPr>
          <p:cNvPr name="TextBox 61" id="61"/>
          <p:cNvSpPr txBox="true"/>
          <p:nvPr/>
        </p:nvSpPr>
        <p:spPr>
          <a:xfrm rot="0">
            <a:off x="12650838" y="8762257"/>
            <a:ext cx="1381125" cy="403479"/>
          </a:xfrm>
          <a:prstGeom prst="rect">
            <a:avLst/>
          </a:prstGeom>
        </p:spPr>
        <p:txBody>
          <a:bodyPr anchor="t" rtlCol="false" tIns="0" lIns="0" bIns="0" rIns="0">
            <a:spAutoFit/>
          </a:bodyPr>
          <a:lstStyle/>
          <a:p>
            <a:pPr algn="l">
              <a:lnSpc>
                <a:spcPts val="3240"/>
              </a:lnSpc>
            </a:pPr>
            <a:r>
              <a:rPr lang="en-US" sz="2160" b="true">
                <a:solidFill>
                  <a:srgbClr val="1A1A2E"/>
                </a:solidFill>
                <a:latin typeface="Arimo Bold"/>
                <a:ea typeface="Arimo Bold"/>
                <a:cs typeface="Arimo Bold"/>
                <a:sym typeface="Arimo Bold"/>
              </a:rPr>
              <a:t>5 - 7k</a:t>
            </a:r>
          </a:p>
        </p:txBody>
      </p:sp>
      <p:sp>
        <p:nvSpPr>
          <p:cNvPr name="TextBox 62" id="62"/>
          <p:cNvSpPr txBox="true"/>
          <p:nvPr/>
        </p:nvSpPr>
        <p:spPr>
          <a:xfrm rot="0">
            <a:off x="14214129" y="8580244"/>
            <a:ext cx="1381125" cy="257175"/>
          </a:xfrm>
          <a:prstGeom prst="rect">
            <a:avLst/>
          </a:prstGeom>
        </p:spPr>
        <p:txBody>
          <a:bodyPr anchor="t" rtlCol="false" tIns="0" lIns="0" bIns="0" rIns="0">
            <a:spAutoFit/>
          </a:bodyPr>
          <a:lstStyle/>
          <a:p>
            <a:pPr algn="l">
              <a:lnSpc>
                <a:spcPts val="1727"/>
              </a:lnSpc>
            </a:pPr>
            <a:r>
              <a:rPr lang="en-US" sz="1159">
                <a:solidFill>
                  <a:srgbClr val="6B7280"/>
                </a:solidFill>
                <a:latin typeface="Inter"/>
                <a:ea typeface="Inter"/>
                <a:cs typeface="Inter"/>
                <a:sym typeface="Inter"/>
              </a:rPr>
              <a:t>ENGAGE</a:t>
            </a:r>
          </a:p>
        </p:txBody>
      </p:sp>
      <p:sp>
        <p:nvSpPr>
          <p:cNvPr name="TextBox 63" id="63"/>
          <p:cNvSpPr txBox="true"/>
          <p:nvPr/>
        </p:nvSpPr>
        <p:spPr>
          <a:xfrm rot="0">
            <a:off x="14214129" y="8762257"/>
            <a:ext cx="1381125" cy="403479"/>
          </a:xfrm>
          <a:prstGeom prst="rect">
            <a:avLst/>
          </a:prstGeom>
        </p:spPr>
        <p:txBody>
          <a:bodyPr anchor="t" rtlCol="false" tIns="0" lIns="0" bIns="0" rIns="0">
            <a:spAutoFit/>
          </a:bodyPr>
          <a:lstStyle/>
          <a:p>
            <a:pPr algn="l">
              <a:lnSpc>
                <a:spcPts val="3240"/>
              </a:lnSpc>
            </a:pPr>
            <a:r>
              <a:rPr lang="en-US" sz="2160" b="true">
                <a:solidFill>
                  <a:srgbClr val="1A1A2E"/>
                </a:solidFill>
                <a:latin typeface="Arimo Bold"/>
                <a:ea typeface="Arimo Bold"/>
                <a:cs typeface="Arimo Bold"/>
                <a:sym typeface="Arimo Bold"/>
              </a:rPr>
              <a:t>8–15</a:t>
            </a:r>
            <a:r>
              <a:rPr lang="en-US" sz="2160" b="true">
                <a:solidFill>
                  <a:srgbClr val="1A1A2E"/>
                </a:solidFill>
                <a:latin typeface="Arimo Bold"/>
                <a:ea typeface="Arimo Bold"/>
                <a:cs typeface="Arimo Bold"/>
                <a:sym typeface="Arimo Bold"/>
              </a:rPr>
              <a:t>%</a:t>
            </a:r>
          </a:p>
        </p:txBody>
      </p:sp>
      <p:sp>
        <p:nvSpPr>
          <p:cNvPr name="TextBox 64" id="64"/>
          <p:cNvSpPr txBox="true"/>
          <p:nvPr/>
        </p:nvSpPr>
        <p:spPr>
          <a:xfrm rot="0">
            <a:off x="15777420" y="8580244"/>
            <a:ext cx="1381125" cy="214503"/>
          </a:xfrm>
          <a:prstGeom prst="rect">
            <a:avLst/>
          </a:prstGeom>
        </p:spPr>
        <p:txBody>
          <a:bodyPr anchor="t" rtlCol="false" tIns="0" lIns="0" bIns="0" rIns="0">
            <a:spAutoFit/>
          </a:bodyPr>
          <a:lstStyle/>
          <a:p>
            <a:pPr algn="l">
              <a:lnSpc>
                <a:spcPts val="1727"/>
              </a:lnSpc>
            </a:pPr>
            <a:r>
              <a:rPr lang="en-US" sz="1159">
                <a:solidFill>
                  <a:srgbClr val="6B7280"/>
                </a:solidFill>
                <a:latin typeface="Inter"/>
                <a:ea typeface="Inter"/>
                <a:cs typeface="Inter"/>
                <a:sym typeface="Inter"/>
              </a:rPr>
              <a:t>Target Sign-ups</a:t>
            </a:r>
          </a:p>
        </p:txBody>
      </p:sp>
      <p:sp>
        <p:nvSpPr>
          <p:cNvPr name="TextBox 65" id="65"/>
          <p:cNvSpPr txBox="true"/>
          <p:nvPr/>
        </p:nvSpPr>
        <p:spPr>
          <a:xfrm rot="0">
            <a:off x="15777420" y="8762257"/>
            <a:ext cx="1381125" cy="403479"/>
          </a:xfrm>
          <a:prstGeom prst="rect">
            <a:avLst/>
          </a:prstGeom>
        </p:spPr>
        <p:txBody>
          <a:bodyPr anchor="t" rtlCol="false" tIns="0" lIns="0" bIns="0" rIns="0">
            <a:spAutoFit/>
          </a:bodyPr>
          <a:lstStyle/>
          <a:p>
            <a:pPr algn="l">
              <a:lnSpc>
                <a:spcPts val="3240"/>
              </a:lnSpc>
            </a:pPr>
            <a:r>
              <a:rPr lang="en-US" sz="2160" b="true">
                <a:solidFill>
                  <a:srgbClr val="1A1A2E"/>
                </a:solidFill>
                <a:latin typeface="Arimo Bold"/>
                <a:ea typeface="Arimo Bold"/>
                <a:cs typeface="Arimo Bold"/>
                <a:sym typeface="Arimo Bold"/>
              </a:rPr>
              <a:t>150</a:t>
            </a:r>
          </a:p>
        </p:txBody>
      </p:sp>
      <p:grpSp>
        <p:nvGrpSpPr>
          <p:cNvPr name="Group 66" id="66"/>
          <p:cNvGrpSpPr/>
          <p:nvPr/>
        </p:nvGrpSpPr>
        <p:grpSpPr>
          <a:xfrm rot="0">
            <a:off x="914400" y="9703222"/>
            <a:ext cx="16459200" cy="297293"/>
            <a:chOff x="0" y="0"/>
            <a:chExt cx="21945600" cy="396391"/>
          </a:xfrm>
        </p:grpSpPr>
        <p:sp>
          <p:nvSpPr>
            <p:cNvPr name="Freeform 67" id="67"/>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3">
                <a:alphaModFix amt="0"/>
              </a:blip>
              <a:stretch>
                <a:fillRect l="0" t="-1032300" r="0" b="-1025213"/>
              </a:stretch>
            </a:blipFill>
          </p:spPr>
        </p:sp>
        <p:sp>
          <p:nvSpPr>
            <p:cNvPr name="TextBox 68" id="68"/>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 ISTSEH</a:t>
              </a:r>
            </a:p>
          </p:txBody>
        </p:sp>
      </p:grpSp>
      <p:grpSp>
        <p:nvGrpSpPr>
          <p:cNvPr name="Group 69" id="69"/>
          <p:cNvGrpSpPr/>
          <p:nvPr/>
        </p:nvGrpSpPr>
        <p:grpSpPr>
          <a:xfrm rot="0">
            <a:off x="0" y="10247414"/>
            <a:ext cx="18288000" cy="38100"/>
            <a:chOff x="0" y="0"/>
            <a:chExt cx="24384000" cy="50800"/>
          </a:xfrm>
        </p:grpSpPr>
        <p:sp>
          <p:nvSpPr>
            <p:cNvPr name="Freeform 70" id="70"/>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71" id="71" descr="preencoded.png"/>
          <p:cNvSpPr/>
          <p:nvPr/>
        </p:nvSpPr>
        <p:spPr>
          <a:xfrm flipH="false" flipV="false" rot="0">
            <a:off x="957262" y="5705627"/>
            <a:ext cx="11134725" cy="514350"/>
          </a:xfrm>
          <a:custGeom>
            <a:avLst/>
            <a:gdLst/>
            <a:ahLst/>
            <a:cxnLst/>
            <a:rect r="r" b="b" t="t" l="l"/>
            <a:pathLst>
              <a:path h="514350" w="11134725">
                <a:moveTo>
                  <a:pt x="0" y="0"/>
                </a:moveTo>
                <a:lnTo>
                  <a:pt x="11134726" y="0"/>
                </a:lnTo>
                <a:lnTo>
                  <a:pt x="11134726" y="514350"/>
                </a:lnTo>
                <a:lnTo>
                  <a:pt x="0" y="514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2" id="72" descr="preencoded.png"/>
          <p:cNvSpPr/>
          <p:nvPr/>
        </p:nvSpPr>
        <p:spPr>
          <a:xfrm flipH="false" flipV="false" rot="0">
            <a:off x="924897" y="4153052"/>
            <a:ext cx="11134725" cy="514350"/>
          </a:xfrm>
          <a:custGeom>
            <a:avLst/>
            <a:gdLst/>
            <a:ahLst/>
            <a:cxnLst/>
            <a:rect r="r" b="b" t="t" l="l"/>
            <a:pathLst>
              <a:path h="514350" w="11134725">
                <a:moveTo>
                  <a:pt x="0" y="0"/>
                </a:moveTo>
                <a:lnTo>
                  <a:pt x="11134725" y="0"/>
                </a:lnTo>
                <a:lnTo>
                  <a:pt x="11134725" y="514350"/>
                </a:lnTo>
                <a:lnTo>
                  <a:pt x="0" y="514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3" id="73" descr="preencoded.png"/>
          <p:cNvSpPr/>
          <p:nvPr/>
        </p:nvSpPr>
        <p:spPr>
          <a:xfrm flipH="false" flipV="false" rot="0">
            <a:off x="924897" y="4669784"/>
            <a:ext cx="11134725" cy="514350"/>
          </a:xfrm>
          <a:custGeom>
            <a:avLst/>
            <a:gdLst/>
            <a:ahLst/>
            <a:cxnLst/>
            <a:rect r="r" b="b" t="t" l="l"/>
            <a:pathLst>
              <a:path h="514350" w="11134725">
                <a:moveTo>
                  <a:pt x="0" y="0"/>
                </a:moveTo>
                <a:lnTo>
                  <a:pt x="11134725" y="0"/>
                </a:lnTo>
                <a:lnTo>
                  <a:pt x="11134725" y="514350"/>
                </a:lnTo>
                <a:lnTo>
                  <a:pt x="0" y="514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4" id="74" descr="preencoded.png"/>
          <p:cNvSpPr/>
          <p:nvPr/>
        </p:nvSpPr>
        <p:spPr>
          <a:xfrm flipH="false" flipV="false" rot="0">
            <a:off x="924897" y="5186515"/>
            <a:ext cx="11134725" cy="514350"/>
          </a:xfrm>
          <a:custGeom>
            <a:avLst/>
            <a:gdLst/>
            <a:ahLst/>
            <a:cxnLst/>
            <a:rect r="r" b="b" t="t" l="l"/>
            <a:pathLst>
              <a:path h="514350" w="11134725">
                <a:moveTo>
                  <a:pt x="0" y="0"/>
                </a:moveTo>
                <a:lnTo>
                  <a:pt x="11134725" y="0"/>
                </a:lnTo>
                <a:lnTo>
                  <a:pt x="11134725" y="514350"/>
                </a:lnTo>
                <a:lnTo>
                  <a:pt x="0" y="514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5" id="75"/>
          <p:cNvSpPr txBox="true"/>
          <p:nvPr/>
        </p:nvSpPr>
        <p:spPr>
          <a:xfrm rot="0">
            <a:off x="12824746" y="9357756"/>
            <a:ext cx="4333799" cy="214503"/>
          </a:xfrm>
          <a:prstGeom prst="rect">
            <a:avLst/>
          </a:prstGeom>
        </p:spPr>
        <p:txBody>
          <a:bodyPr anchor="t" rtlCol="false" tIns="0" lIns="0" bIns="0" rIns="0">
            <a:spAutoFit/>
          </a:bodyPr>
          <a:lstStyle/>
          <a:p>
            <a:pPr algn="l">
              <a:lnSpc>
                <a:spcPts val="1727"/>
              </a:lnSpc>
            </a:pPr>
            <a:r>
              <a:rPr lang="en-US" sz="1159">
                <a:solidFill>
                  <a:srgbClr val="6B7280"/>
                </a:solidFill>
                <a:latin typeface="Inter"/>
                <a:ea typeface="Inter"/>
                <a:cs typeface="Inter"/>
                <a:sym typeface="Inter"/>
              </a:rPr>
              <a:t>Pre-launch targets for awareness and early-access validation.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781050" cy="428625"/>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6323" y="352501"/>
            <a:ext cx="194310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19 · SALES</a:t>
            </a:r>
          </a:p>
        </p:txBody>
      </p:sp>
      <p:sp>
        <p:nvSpPr>
          <p:cNvPr name="TextBox 8" id="8"/>
          <p:cNvSpPr txBox="true"/>
          <p:nvPr/>
        </p:nvSpPr>
        <p:spPr>
          <a:xfrm rot="0">
            <a:off x="16830151" y="352501"/>
            <a:ext cx="5429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21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Sales Strategy</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TextBox 12" id="12"/>
          <p:cNvSpPr txBox="true"/>
          <p:nvPr/>
        </p:nvSpPr>
        <p:spPr>
          <a:xfrm rot="0">
            <a:off x="916334" y="2638130"/>
            <a:ext cx="1042035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SALES FUNNEL</a:t>
            </a:r>
          </a:p>
        </p:txBody>
      </p:sp>
      <p:grpSp>
        <p:nvGrpSpPr>
          <p:cNvPr name="Group 13" id="13"/>
          <p:cNvGrpSpPr/>
          <p:nvPr/>
        </p:nvGrpSpPr>
        <p:grpSpPr>
          <a:xfrm rot="0">
            <a:off x="911571" y="3085509"/>
            <a:ext cx="10429875" cy="1000125"/>
            <a:chOff x="0" y="0"/>
            <a:chExt cx="13906500" cy="1333500"/>
          </a:xfrm>
        </p:grpSpPr>
        <p:sp>
          <p:nvSpPr>
            <p:cNvPr name="Freeform 14" id="14"/>
            <p:cNvSpPr/>
            <p:nvPr/>
          </p:nvSpPr>
          <p:spPr>
            <a:xfrm flipH="false" flipV="false" rot="0">
              <a:off x="0" y="0"/>
              <a:ext cx="13906500" cy="1333500"/>
            </a:xfrm>
            <a:custGeom>
              <a:avLst/>
              <a:gdLst/>
              <a:ahLst/>
              <a:cxnLst/>
              <a:rect r="r" b="b" t="t" l="l"/>
              <a:pathLst>
                <a:path h="1333500" w="13906500">
                  <a:moveTo>
                    <a:pt x="0" y="147701"/>
                  </a:moveTo>
                  <a:cubicBezTo>
                    <a:pt x="0" y="66167"/>
                    <a:pt x="66167" y="0"/>
                    <a:pt x="147701" y="0"/>
                  </a:cubicBezTo>
                  <a:lnTo>
                    <a:pt x="13758799" y="0"/>
                  </a:lnTo>
                  <a:cubicBezTo>
                    <a:pt x="13840333" y="0"/>
                    <a:pt x="13906500" y="66167"/>
                    <a:pt x="13906500" y="147701"/>
                  </a:cubicBezTo>
                  <a:lnTo>
                    <a:pt x="13906500" y="1185799"/>
                  </a:lnTo>
                  <a:cubicBezTo>
                    <a:pt x="13906500" y="1267333"/>
                    <a:pt x="13840333" y="1333500"/>
                    <a:pt x="13758799" y="1333500"/>
                  </a:cubicBezTo>
                  <a:lnTo>
                    <a:pt x="147701" y="1333500"/>
                  </a:lnTo>
                  <a:cubicBezTo>
                    <a:pt x="66167" y="1333500"/>
                    <a:pt x="0" y="1267333"/>
                    <a:pt x="0" y="1185799"/>
                  </a:cubicBezTo>
                  <a:close/>
                </a:path>
              </a:pathLst>
            </a:custGeom>
            <a:solidFill>
              <a:srgbClr val="2FC972">
                <a:alpha val="1961"/>
              </a:srgbClr>
            </a:solidFill>
            <a:ln w="9526" cap="sq">
              <a:solidFill>
                <a:srgbClr val="2DCD70"/>
              </a:solidFill>
              <a:prstDash val="solid"/>
              <a:miter/>
            </a:ln>
          </p:spPr>
        </p:sp>
      </p:grpSp>
      <p:sp>
        <p:nvSpPr>
          <p:cNvPr name="TextBox 15" id="15"/>
          <p:cNvSpPr txBox="true"/>
          <p:nvPr/>
        </p:nvSpPr>
        <p:spPr>
          <a:xfrm rot="0">
            <a:off x="1290857" y="3259036"/>
            <a:ext cx="981075" cy="276225"/>
          </a:xfrm>
          <a:prstGeom prst="rect">
            <a:avLst/>
          </a:prstGeom>
        </p:spPr>
        <p:txBody>
          <a:bodyPr anchor="t" rtlCol="false" tIns="0" lIns="0" bIns="0" rIns="0">
            <a:spAutoFit/>
          </a:bodyPr>
          <a:lstStyle/>
          <a:p>
            <a:pPr algn="l">
              <a:lnSpc>
                <a:spcPts val="1836"/>
              </a:lnSpc>
            </a:pPr>
            <a:r>
              <a:rPr lang="en-US" sz="1220" b="true">
                <a:solidFill>
                  <a:srgbClr val="2ECC71"/>
                </a:solidFill>
                <a:latin typeface="Inter Bold"/>
                <a:ea typeface="Inter Bold"/>
                <a:cs typeface="Inter Bold"/>
                <a:sym typeface="Inter Bold"/>
              </a:rPr>
              <a:t>AWARENESS</a:t>
            </a:r>
          </a:p>
        </p:txBody>
      </p:sp>
      <p:sp>
        <p:nvSpPr>
          <p:cNvPr name="TextBox 16" id="16"/>
          <p:cNvSpPr txBox="true"/>
          <p:nvPr/>
        </p:nvSpPr>
        <p:spPr>
          <a:xfrm rot="0">
            <a:off x="1290857" y="3468738"/>
            <a:ext cx="98107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[Reach]</a:t>
            </a:r>
          </a:p>
        </p:txBody>
      </p:sp>
      <p:sp>
        <p:nvSpPr>
          <p:cNvPr name="TextBox 17" id="17"/>
          <p:cNvSpPr txBox="true"/>
          <p:nvPr/>
        </p:nvSpPr>
        <p:spPr>
          <a:xfrm rot="0">
            <a:off x="9745485" y="3252197"/>
            <a:ext cx="1219200" cy="581025"/>
          </a:xfrm>
          <a:prstGeom prst="rect">
            <a:avLst/>
          </a:prstGeom>
        </p:spPr>
        <p:txBody>
          <a:bodyPr anchor="t" rtlCol="false" tIns="0" lIns="0" bIns="0" rIns="0">
            <a:spAutoFit/>
          </a:bodyPr>
          <a:lstStyle/>
          <a:p>
            <a:pPr algn="l">
              <a:lnSpc>
                <a:spcPts val="3888"/>
              </a:lnSpc>
            </a:pPr>
            <a:r>
              <a:rPr lang="en-US" sz="2600" b="true">
                <a:solidFill>
                  <a:srgbClr val="1A1A2E"/>
                </a:solidFill>
                <a:latin typeface="Arimo Bold"/>
                <a:ea typeface="Arimo Bold"/>
                <a:cs typeface="Arimo Bold"/>
                <a:sym typeface="Arimo Bold"/>
              </a:rPr>
              <a:t>[100%]</a:t>
            </a:r>
          </a:p>
        </p:txBody>
      </p:sp>
      <p:grpSp>
        <p:nvGrpSpPr>
          <p:cNvPr name="Group 18" id="18"/>
          <p:cNvGrpSpPr/>
          <p:nvPr/>
        </p:nvGrpSpPr>
        <p:grpSpPr>
          <a:xfrm rot="0">
            <a:off x="1535459" y="4181027"/>
            <a:ext cx="9182100" cy="1000125"/>
            <a:chOff x="0" y="0"/>
            <a:chExt cx="12242800" cy="1333500"/>
          </a:xfrm>
        </p:grpSpPr>
        <p:sp>
          <p:nvSpPr>
            <p:cNvPr name="Freeform 19" id="19"/>
            <p:cNvSpPr/>
            <p:nvPr/>
          </p:nvSpPr>
          <p:spPr>
            <a:xfrm flipH="false" flipV="false" rot="0">
              <a:off x="0" y="0"/>
              <a:ext cx="12242800" cy="1333500"/>
            </a:xfrm>
            <a:custGeom>
              <a:avLst/>
              <a:gdLst/>
              <a:ahLst/>
              <a:cxnLst/>
              <a:rect r="r" b="b" t="t" l="l"/>
              <a:pathLst>
                <a:path h="1333500" w="12242800">
                  <a:moveTo>
                    <a:pt x="0" y="147701"/>
                  </a:moveTo>
                  <a:cubicBezTo>
                    <a:pt x="0" y="66167"/>
                    <a:pt x="66167" y="0"/>
                    <a:pt x="147701" y="0"/>
                  </a:cubicBezTo>
                  <a:lnTo>
                    <a:pt x="12095099" y="0"/>
                  </a:lnTo>
                  <a:cubicBezTo>
                    <a:pt x="12176633" y="0"/>
                    <a:pt x="12242800" y="66167"/>
                    <a:pt x="12242800" y="147701"/>
                  </a:cubicBezTo>
                  <a:lnTo>
                    <a:pt x="12242800" y="1185799"/>
                  </a:lnTo>
                  <a:cubicBezTo>
                    <a:pt x="12242800" y="1267333"/>
                    <a:pt x="12176633" y="1333500"/>
                    <a:pt x="12095099" y="1333500"/>
                  </a:cubicBezTo>
                  <a:lnTo>
                    <a:pt x="147701" y="1333500"/>
                  </a:lnTo>
                  <a:cubicBezTo>
                    <a:pt x="66167" y="1333500"/>
                    <a:pt x="0" y="1267333"/>
                    <a:pt x="0" y="1185799"/>
                  </a:cubicBezTo>
                  <a:close/>
                </a:path>
              </a:pathLst>
            </a:custGeom>
            <a:solidFill>
              <a:srgbClr val="2ECD71">
                <a:alpha val="9020"/>
              </a:srgbClr>
            </a:solidFill>
            <a:ln w="9526" cap="sq">
              <a:solidFill>
                <a:srgbClr val="2ECB72"/>
              </a:solidFill>
              <a:prstDash val="solid"/>
              <a:miter/>
            </a:ln>
          </p:spPr>
        </p:sp>
      </p:grpSp>
      <p:sp>
        <p:nvSpPr>
          <p:cNvPr name="TextBox 20" id="20"/>
          <p:cNvSpPr txBox="true"/>
          <p:nvPr/>
        </p:nvSpPr>
        <p:spPr>
          <a:xfrm rot="0">
            <a:off x="1915192" y="4354563"/>
            <a:ext cx="762000" cy="276225"/>
          </a:xfrm>
          <a:prstGeom prst="rect">
            <a:avLst/>
          </a:prstGeom>
        </p:spPr>
        <p:txBody>
          <a:bodyPr anchor="t" rtlCol="false" tIns="0" lIns="0" bIns="0" rIns="0">
            <a:spAutoFit/>
          </a:bodyPr>
          <a:lstStyle/>
          <a:p>
            <a:pPr algn="l">
              <a:lnSpc>
                <a:spcPts val="1836"/>
              </a:lnSpc>
            </a:pPr>
            <a:r>
              <a:rPr lang="en-US" sz="1220" b="true">
                <a:solidFill>
                  <a:srgbClr val="2ECC71"/>
                </a:solidFill>
                <a:latin typeface="Inter Bold"/>
                <a:ea typeface="Inter Bold"/>
                <a:cs typeface="Inter Bold"/>
                <a:sym typeface="Inter Bold"/>
              </a:rPr>
              <a:t>INTEREST</a:t>
            </a:r>
          </a:p>
        </p:txBody>
      </p:sp>
      <p:sp>
        <p:nvSpPr>
          <p:cNvPr name="TextBox 21" id="21"/>
          <p:cNvSpPr txBox="true"/>
          <p:nvPr/>
        </p:nvSpPr>
        <p:spPr>
          <a:xfrm rot="0">
            <a:off x="1915192" y="4564266"/>
            <a:ext cx="762000"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[Visits]</a:t>
            </a:r>
          </a:p>
        </p:txBody>
      </p:sp>
      <p:sp>
        <p:nvSpPr>
          <p:cNvPr name="TextBox 22" id="22"/>
          <p:cNvSpPr txBox="true"/>
          <p:nvPr/>
        </p:nvSpPr>
        <p:spPr>
          <a:xfrm rot="0">
            <a:off x="9282713" y="4347715"/>
            <a:ext cx="1057275" cy="581025"/>
          </a:xfrm>
          <a:prstGeom prst="rect">
            <a:avLst/>
          </a:prstGeom>
        </p:spPr>
        <p:txBody>
          <a:bodyPr anchor="t" rtlCol="false" tIns="0" lIns="0" bIns="0" rIns="0">
            <a:spAutoFit/>
          </a:bodyPr>
          <a:lstStyle/>
          <a:p>
            <a:pPr algn="l">
              <a:lnSpc>
                <a:spcPts val="3888"/>
              </a:lnSpc>
            </a:pPr>
            <a:r>
              <a:rPr lang="en-US" sz="2600" b="true">
                <a:solidFill>
                  <a:srgbClr val="1A1A2E"/>
                </a:solidFill>
                <a:latin typeface="Arimo Bold"/>
                <a:ea typeface="Arimo Bold"/>
                <a:cs typeface="Arimo Bold"/>
                <a:sym typeface="Arimo Bold"/>
              </a:rPr>
              <a:t>[XX%]</a:t>
            </a:r>
          </a:p>
        </p:txBody>
      </p:sp>
      <p:grpSp>
        <p:nvGrpSpPr>
          <p:cNvPr name="Group 23" id="23"/>
          <p:cNvGrpSpPr/>
          <p:nvPr/>
        </p:nvGrpSpPr>
        <p:grpSpPr>
          <a:xfrm rot="0">
            <a:off x="2368896" y="5276555"/>
            <a:ext cx="7515225" cy="1000125"/>
            <a:chOff x="0" y="0"/>
            <a:chExt cx="10020300" cy="1333500"/>
          </a:xfrm>
        </p:grpSpPr>
        <p:sp>
          <p:nvSpPr>
            <p:cNvPr name="Freeform 24" id="24"/>
            <p:cNvSpPr/>
            <p:nvPr/>
          </p:nvSpPr>
          <p:spPr>
            <a:xfrm flipH="false" flipV="false" rot="0">
              <a:off x="0" y="0"/>
              <a:ext cx="10020300" cy="1333500"/>
            </a:xfrm>
            <a:custGeom>
              <a:avLst/>
              <a:gdLst/>
              <a:ahLst/>
              <a:cxnLst/>
              <a:rect r="r" b="b" t="t" l="l"/>
              <a:pathLst>
                <a:path h="1333500" w="10020300">
                  <a:moveTo>
                    <a:pt x="0" y="147701"/>
                  </a:moveTo>
                  <a:cubicBezTo>
                    <a:pt x="0" y="66167"/>
                    <a:pt x="66167" y="0"/>
                    <a:pt x="147701" y="0"/>
                  </a:cubicBezTo>
                  <a:lnTo>
                    <a:pt x="9872599" y="0"/>
                  </a:lnTo>
                  <a:cubicBezTo>
                    <a:pt x="9954133" y="0"/>
                    <a:pt x="10020300" y="66167"/>
                    <a:pt x="10020300" y="147701"/>
                  </a:cubicBezTo>
                  <a:lnTo>
                    <a:pt x="10020300" y="1185799"/>
                  </a:lnTo>
                  <a:cubicBezTo>
                    <a:pt x="10020300" y="1267333"/>
                    <a:pt x="9954133" y="1333500"/>
                    <a:pt x="9872599" y="1333500"/>
                  </a:cubicBezTo>
                  <a:lnTo>
                    <a:pt x="147701" y="1333500"/>
                  </a:lnTo>
                  <a:cubicBezTo>
                    <a:pt x="66167" y="1333500"/>
                    <a:pt x="0" y="1267333"/>
                    <a:pt x="0" y="1185799"/>
                  </a:cubicBezTo>
                  <a:close/>
                </a:path>
              </a:pathLst>
            </a:custGeom>
            <a:solidFill>
              <a:srgbClr val="2ECB72">
                <a:alpha val="25098"/>
              </a:srgbClr>
            </a:solidFill>
            <a:ln w="9526" cap="sq">
              <a:solidFill>
                <a:srgbClr val="2FCB71"/>
              </a:solidFill>
              <a:prstDash val="solid"/>
              <a:miter/>
            </a:ln>
          </p:spPr>
        </p:sp>
      </p:grpSp>
      <p:sp>
        <p:nvSpPr>
          <p:cNvPr name="TextBox 25" id="25"/>
          <p:cNvSpPr txBox="true"/>
          <p:nvPr/>
        </p:nvSpPr>
        <p:spPr>
          <a:xfrm rot="0">
            <a:off x="2751315" y="5450081"/>
            <a:ext cx="1390650" cy="276225"/>
          </a:xfrm>
          <a:prstGeom prst="rect">
            <a:avLst/>
          </a:prstGeom>
        </p:spPr>
        <p:txBody>
          <a:bodyPr anchor="t" rtlCol="false" tIns="0" lIns="0" bIns="0" rIns="0">
            <a:spAutoFit/>
          </a:bodyPr>
          <a:lstStyle/>
          <a:p>
            <a:pPr algn="l">
              <a:lnSpc>
                <a:spcPts val="1836"/>
              </a:lnSpc>
            </a:pPr>
            <a:r>
              <a:rPr lang="en-US" sz="1220" b="true">
                <a:solidFill>
                  <a:srgbClr val="2ECC71"/>
                </a:solidFill>
                <a:latin typeface="Inter Bold"/>
                <a:ea typeface="Inter Bold"/>
                <a:cs typeface="Inter Bold"/>
                <a:sym typeface="Inter Bold"/>
              </a:rPr>
              <a:t>TRIAL</a:t>
            </a:r>
          </a:p>
        </p:txBody>
      </p:sp>
      <p:sp>
        <p:nvSpPr>
          <p:cNvPr name="TextBox 26" id="26"/>
          <p:cNvSpPr txBox="true"/>
          <p:nvPr/>
        </p:nvSpPr>
        <p:spPr>
          <a:xfrm rot="0">
            <a:off x="2751315" y="5659784"/>
            <a:ext cx="1390650"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[Downloads]</a:t>
            </a:r>
          </a:p>
        </p:txBody>
      </p:sp>
      <p:sp>
        <p:nvSpPr>
          <p:cNvPr name="TextBox 27" id="27"/>
          <p:cNvSpPr txBox="true"/>
          <p:nvPr/>
        </p:nvSpPr>
        <p:spPr>
          <a:xfrm rot="0">
            <a:off x="8448827" y="5443242"/>
            <a:ext cx="1057275" cy="581025"/>
          </a:xfrm>
          <a:prstGeom prst="rect">
            <a:avLst/>
          </a:prstGeom>
        </p:spPr>
        <p:txBody>
          <a:bodyPr anchor="t" rtlCol="false" tIns="0" lIns="0" bIns="0" rIns="0">
            <a:spAutoFit/>
          </a:bodyPr>
          <a:lstStyle/>
          <a:p>
            <a:pPr algn="l">
              <a:lnSpc>
                <a:spcPts val="3888"/>
              </a:lnSpc>
            </a:pPr>
            <a:r>
              <a:rPr lang="en-US" sz="2600" b="true">
                <a:solidFill>
                  <a:srgbClr val="1A1A2E"/>
                </a:solidFill>
                <a:latin typeface="Arimo Bold"/>
                <a:ea typeface="Arimo Bold"/>
                <a:cs typeface="Arimo Bold"/>
                <a:sym typeface="Arimo Bold"/>
              </a:rPr>
              <a:t>[XX%]</a:t>
            </a:r>
          </a:p>
        </p:txBody>
      </p:sp>
      <p:grpSp>
        <p:nvGrpSpPr>
          <p:cNvPr name="Group 28" id="28"/>
          <p:cNvGrpSpPr/>
          <p:nvPr/>
        </p:nvGrpSpPr>
        <p:grpSpPr>
          <a:xfrm rot="0">
            <a:off x="3254645" y="6372073"/>
            <a:ext cx="5743575" cy="1000125"/>
            <a:chOff x="0" y="0"/>
            <a:chExt cx="7658100" cy="1333500"/>
          </a:xfrm>
        </p:grpSpPr>
        <p:sp>
          <p:nvSpPr>
            <p:cNvPr name="Freeform 29" id="29"/>
            <p:cNvSpPr/>
            <p:nvPr/>
          </p:nvSpPr>
          <p:spPr>
            <a:xfrm flipH="false" flipV="false" rot="0">
              <a:off x="0" y="0"/>
              <a:ext cx="7658100" cy="1333500"/>
            </a:xfrm>
            <a:custGeom>
              <a:avLst/>
              <a:gdLst/>
              <a:ahLst/>
              <a:cxnLst/>
              <a:rect r="r" b="b" t="t" l="l"/>
              <a:pathLst>
                <a:path h="1333500" w="7658100">
                  <a:moveTo>
                    <a:pt x="0" y="147701"/>
                  </a:moveTo>
                  <a:cubicBezTo>
                    <a:pt x="0" y="66167"/>
                    <a:pt x="66167" y="0"/>
                    <a:pt x="147701" y="0"/>
                  </a:cubicBezTo>
                  <a:lnTo>
                    <a:pt x="7510399" y="0"/>
                  </a:lnTo>
                  <a:cubicBezTo>
                    <a:pt x="7591933" y="0"/>
                    <a:pt x="7658100" y="66167"/>
                    <a:pt x="7658100" y="147701"/>
                  </a:cubicBezTo>
                  <a:lnTo>
                    <a:pt x="7658100" y="1185799"/>
                  </a:lnTo>
                  <a:cubicBezTo>
                    <a:pt x="7658100" y="1267333"/>
                    <a:pt x="7591933" y="1333500"/>
                    <a:pt x="7510399" y="1333500"/>
                  </a:cubicBezTo>
                  <a:lnTo>
                    <a:pt x="147701" y="1333500"/>
                  </a:lnTo>
                  <a:cubicBezTo>
                    <a:pt x="66167" y="1333500"/>
                    <a:pt x="0" y="1267333"/>
                    <a:pt x="0" y="1185799"/>
                  </a:cubicBezTo>
                  <a:close/>
                </a:path>
              </a:pathLst>
            </a:custGeom>
            <a:solidFill>
              <a:srgbClr val="2DCC71">
                <a:alpha val="56078"/>
              </a:srgbClr>
            </a:solidFill>
            <a:ln w="9526" cap="sq">
              <a:solidFill>
                <a:srgbClr val="2ECC71"/>
              </a:solidFill>
              <a:prstDash val="solid"/>
              <a:miter/>
            </a:ln>
          </p:spPr>
        </p:sp>
      </p:grpSp>
      <p:sp>
        <p:nvSpPr>
          <p:cNvPr name="TextBox 30" id="30"/>
          <p:cNvSpPr txBox="true"/>
          <p:nvPr/>
        </p:nvSpPr>
        <p:spPr>
          <a:xfrm rot="0">
            <a:off x="3636616" y="6545609"/>
            <a:ext cx="1171575" cy="276225"/>
          </a:xfrm>
          <a:prstGeom prst="rect">
            <a:avLst/>
          </a:prstGeom>
        </p:spPr>
        <p:txBody>
          <a:bodyPr anchor="t" rtlCol="false" tIns="0" lIns="0" bIns="0" rIns="0">
            <a:spAutoFit/>
          </a:bodyPr>
          <a:lstStyle/>
          <a:p>
            <a:pPr algn="l">
              <a:lnSpc>
                <a:spcPts val="1836"/>
              </a:lnSpc>
            </a:pPr>
            <a:r>
              <a:rPr lang="en-US" sz="1220" b="true">
                <a:solidFill>
                  <a:srgbClr val="1A1A2E"/>
                </a:solidFill>
                <a:latin typeface="Inter Bold"/>
                <a:ea typeface="Inter Bold"/>
                <a:cs typeface="Inter Bold"/>
                <a:sym typeface="Inter Bold"/>
              </a:rPr>
              <a:t>ACTIVATION</a:t>
            </a:r>
          </a:p>
        </p:txBody>
      </p:sp>
      <p:sp>
        <p:nvSpPr>
          <p:cNvPr name="TextBox 31" id="31"/>
          <p:cNvSpPr txBox="true"/>
          <p:nvPr/>
        </p:nvSpPr>
        <p:spPr>
          <a:xfrm rot="0">
            <a:off x="3636616" y="6755311"/>
            <a:ext cx="117157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[Sign-ups]</a:t>
            </a:r>
          </a:p>
        </p:txBody>
      </p:sp>
      <p:sp>
        <p:nvSpPr>
          <p:cNvPr name="TextBox 32" id="32"/>
          <p:cNvSpPr txBox="true"/>
          <p:nvPr/>
        </p:nvSpPr>
        <p:spPr>
          <a:xfrm rot="0">
            <a:off x="7562698" y="6538760"/>
            <a:ext cx="1057275" cy="581025"/>
          </a:xfrm>
          <a:prstGeom prst="rect">
            <a:avLst/>
          </a:prstGeom>
        </p:spPr>
        <p:txBody>
          <a:bodyPr anchor="t" rtlCol="false" tIns="0" lIns="0" bIns="0" rIns="0">
            <a:spAutoFit/>
          </a:bodyPr>
          <a:lstStyle/>
          <a:p>
            <a:pPr algn="l">
              <a:lnSpc>
                <a:spcPts val="3888"/>
              </a:lnSpc>
            </a:pPr>
            <a:r>
              <a:rPr lang="en-US" sz="2600" b="true">
                <a:solidFill>
                  <a:srgbClr val="1A1A2E"/>
                </a:solidFill>
                <a:latin typeface="Arimo Bold"/>
                <a:ea typeface="Arimo Bold"/>
                <a:cs typeface="Arimo Bold"/>
                <a:sym typeface="Arimo Bold"/>
              </a:rPr>
              <a:t>[XX%]</a:t>
            </a:r>
          </a:p>
        </p:txBody>
      </p:sp>
      <p:grpSp>
        <p:nvGrpSpPr>
          <p:cNvPr name="Group 33" id="33"/>
          <p:cNvGrpSpPr/>
          <p:nvPr/>
        </p:nvGrpSpPr>
        <p:grpSpPr>
          <a:xfrm rot="0">
            <a:off x="4140470" y="7467600"/>
            <a:ext cx="3971925" cy="1000125"/>
            <a:chOff x="0" y="0"/>
            <a:chExt cx="5295900" cy="1333500"/>
          </a:xfrm>
        </p:grpSpPr>
        <p:sp>
          <p:nvSpPr>
            <p:cNvPr name="Freeform 34" id="34"/>
            <p:cNvSpPr/>
            <p:nvPr/>
          </p:nvSpPr>
          <p:spPr>
            <a:xfrm flipH="false" flipV="false" rot="0">
              <a:off x="0" y="0"/>
              <a:ext cx="5295900" cy="1333500"/>
            </a:xfrm>
            <a:custGeom>
              <a:avLst/>
              <a:gdLst/>
              <a:ahLst/>
              <a:cxnLst/>
              <a:rect r="r" b="b" t="t" l="l"/>
              <a:pathLst>
                <a:path h="1333500" w="5295900">
                  <a:moveTo>
                    <a:pt x="0" y="147701"/>
                  </a:moveTo>
                  <a:cubicBezTo>
                    <a:pt x="0" y="66167"/>
                    <a:pt x="66167" y="0"/>
                    <a:pt x="147701" y="0"/>
                  </a:cubicBezTo>
                  <a:lnTo>
                    <a:pt x="5148199" y="0"/>
                  </a:lnTo>
                  <a:cubicBezTo>
                    <a:pt x="5229733" y="0"/>
                    <a:pt x="5295900" y="66167"/>
                    <a:pt x="5295900" y="147701"/>
                  </a:cubicBezTo>
                  <a:lnTo>
                    <a:pt x="5295900" y="1185799"/>
                  </a:lnTo>
                  <a:cubicBezTo>
                    <a:pt x="5295900" y="1267333"/>
                    <a:pt x="5229733" y="1333500"/>
                    <a:pt x="5148199" y="1333500"/>
                  </a:cubicBezTo>
                  <a:lnTo>
                    <a:pt x="147701" y="1333500"/>
                  </a:lnTo>
                  <a:cubicBezTo>
                    <a:pt x="66167" y="1333500"/>
                    <a:pt x="0" y="1267333"/>
                    <a:pt x="0" y="1185799"/>
                  </a:cubicBezTo>
                  <a:close/>
                </a:path>
              </a:pathLst>
            </a:custGeom>
            <a:solidFill>
              <a:srgbClr val="2ECC71"/>
            </a:solidFill>
            <a:ln w="9526" cap="sq">
              <a:solidFill>
                <a:srgbClr val="2ECC71"/>
              </a:solidFill>
              <a:prstDash val="solid"/>
              <a:miter/>
            </a:ln>
          </p:spPr>
        </p:sp>
      </p:grpSp>
      <p:sp>
        <p:nvSpPr>
          <p:cNvPr name="TextBox 35" id="35"/>
          <p:cNvSpPr txBox="true"/>
          <p:nvPr/>
        </p:nvSpPr>
        <p:spPr>
          <a:xfrm rot="0">
            <a:off x="4520508" y="7641136"/>
            <a:ext cx="1514475" cy="276225"/>
          </a:xfrm>
          <a:prstGeom prst="rect">
            <a:avLst/>
          </a:prstGeom>
        </p:spPr>
        <p:txBody>
          <a:bodyPr anchor="t" rtlCol="false" tIns="0" lIns="0" bIns="0" rIns="0">
            <a:spAutoFit/>
          </a:bodyPr>
          <a:lstStyle/>
          <a:p>
            <a:pPr algn="l">
              <a:lnSpc>
                <a:spcPts val="1836"/>
              </a:lnSpc>
            </a:pPr>
            <a:r>
              <a:rPr lang="en-US" sz="1220" b="true">
                <a:solidFill>
                  <a:srgbClr val="1A1A2E"/>
                </a:solidFill>
                <a:latin typeface="Inter Bold"/>
                <a:ea typeface="Inter Bold"/>
                <a:cs typeface="Inter Bold"/>
                <a:sym typeface="Inter Bold"/>
              </a:rPr>
              <a:t>PAID</a:t>
            </a:r>
          </a:p>
        </p:txBody>
      </p:sp>
      <p:sp>
        <p:nvSpPr>
          <p:cNvPr name="TextBox 36" id="36"/>
          <p:cNvSpPr txBox="true"/>
          <p:nvPr/>
        </p:nvSpPr>
        <p:spPr>
          <a:xfrm rot="0">
            <a:off x="4520508" y="7850829"/>
            <a:ext cx="151447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[Conversions]</a:t>
            </a:r>
          </a:p>
        </p:txBody>
      </p:sp>
      <p:sp>
        <p:nvSpPr>
          <p:cNvPr name="TextBox 37" id="37"/>
          <p:cNvSpPr txBox="true"/>
          <p:nvPr/>
        </p:nvSpPr>
        <p:spPr>
          <a:xfrm rot="0">
            <a:off x="6676577" y="7634287"/>
            <a:ext cx="1057275" cy="581025"/>
          </a:xfrm>
          <a:prstGeom prst="rect">
            <a:avLst/>
          </a:prstGeom>
        </p:spPr>
        <p:txBody>
          <a:bodyPr anchor="t" rtlCol="false" tIns="0" lIns="0" bIns="0" rIns="0">
            <a:spAutoFit/>
          </a:bodyPr>
          <a:lstStyle/>
          <a:p>
            <a:pPr algn="l">
              <a:lnSpc>
                <a:spcPts val="3888"/>
              </a:lnSpc>
            </a:pPr>
            <a:r>
              <a:rPr lang="en-US" sz="2600" b="true">
                <a:solidFill>
                  <a:srgbClr val="1A1A2E"/>
                </a:solidFill>
                <a:latin typeface="Arimo Bold"/>
                <a:ea typeface="Arimo Bold"/>
                <a:cs typeface="Arimo Bold"/>
                <a:sym typeface="Arimo Bold"/>
              </a:rPr>
              <a:t>[XX%]</a:t>
            </a:r>
          </a:p>
        </p:txBody>
      </p:sp>
      <p:grpSp>
        <p:nvGrpSpPr>
          <p:cNvPr name="Group 38" id="38"/>
          <p:cNvGrpSpPr/>
          <p:nvPr/>
        </p:nvGrpSpPr>
        <p:grpSpPr>
          <a:xfrm rot="0">
            <a:off x="11700567" y="2668934"/>
            <a:ext cx="5676900" cy="6800850"/>
            <a:chOff x="0" y="0"/>
            <a:chExt cx="7569200" cy="9067800"/>
          </a:xfrm>
        </p:grpSpPr>
        <p:sp>
          <p:nvSpPr>
            <p:cNvPr name="Freeform 39" id="39"/>
            <p:cNvSpPr/>
            <p:nvPr/>
          </p:nvSpPr>
          <p:spPr>
            <a:xfrm flipH="false" flipV="false" rot="0">
              <a:off x="0" y="0"/>
              <a:ext cx="7569200" cy="9067800"/>
            </a:xfrm>
            <a:custGeom>
              <a:avLst/>
              <a:gdLst/>
              <a:ahLst/>
              <a:cxnLst/>
              <a:rect r="r" b="b" t="t" l="l"/>
              <a:pathLst>
                <a:path h="9067800" w="7569200">
                  <a:moveTo>
                    <a:pt x="0" y="244221"/>
                  </a:moveTo>
                  <a:cubicBezTo>
                    <a:pt x="0" y="109347"/>
                    <a:pt x="109347" y="0"/>
                    <a:pt x="244221" y="0"/>
                  </a:cubicBezTo>
                  <a:lnTo>
                    <a:pt x="7324979" y="0"/>
                  </a:lnTo>
                  <a:cubicBezTo>
                    <a:pt x="7459853" y="0"/>
                    <a:pt x="7569200" y="109347"/>
                    <a:pt x="7569200" y="244221"/>
                  </a:cubicBezTo>
                  <a:lnTo>
                    <a:pt x="7569200" y="8823579"/>
                  </a:lnTo>
                  <a:cubicBezTo>
                    <a:pt x="7569200" y="8958453"/>
                    <a:pt x="7459853" y="9067800"/>
                    <a:pt x="7324979" y="9067800"/>
                  </a:cubicBezTo>
                  <a:lnTo>
                    <a:pt x="244221" y="9067800"/>
                  </a:lnTo>
                  <a:cubicBezTo>
                    <a:pt x="109347" y="9067800"/>
                    <a:pt x="0" y="8958453"/>
                    <a:pt x="0" y="8823579"/>
                  </a:cubicBezTo>
                  <a:close/>
                </a:path>
              </a:pathLst>
            </a:custGeom>
            <a:solidFill>
              <a:srgbClr val="FFFFFF"/>
            </a:solidFill>
            <a:ln w="9526" cap="sq">
              <a:solidFill>
                <a:srgbClr val="E5E7EB"/>
              </a:solidFill>
              <a:prstDash val="solid"/>
              <a:miter/>
            </a:ln>
          </p:spPr>
        </p:sp>
      </p:grpSp>
      <p:grpSp>
        <p:nvGrpSpPr>
          <p:cNvPr name="Group 40" id="40"/>
          <p:cNvGrpSpPr/>
          <p:nvPr/>
        </p:nvGrpSpPr>
        <p:grpSpPr>
          <a:xfrm rot="0">
            <a:off x="11714855" y="2683516"/>
            <a:ext cx="5648325" cy="590550"/>
            <a:chOff x="0" y="0"/>
            <a:chExt cx="7531100" cy="787400"/>
          </a:xfrm>
        </p:grpSpPr>
        <p:sp>
          <p:nvSpPr>
            <p:cNvPr name="Freeform 41" id="41"/>
            <p:cNvSpPr/>
            <p:nvPr/>
          </p:nvSpPr>
          <p:spPr>
            <a:xfrm flipH="false" flipV="false" rot="0">
              <a:off x="0" y="0"/>
              <a:ext cx="7531100" cy="787400"/>
            </a:xfrm>
            <a:custGeom>
              <a:avLst/>
              <a:gdLst/>
              <a:ahLst/>
              <a:cxnLst/>
              <a:rect r="r" b="b" t="t" l="l"/>
              <a:pathLst>
                <a:path h="787400" w="7531100">
                  <a:moveTo>
                    <a:pt x="0" y="0"/>
                  </a:moveTo>
                  <a:lnTo>
                    <a:pt x="7531100" y="0"/>
                  </a:lnTo>
                  <a:lnTo>
                    <a:pt x="7531100" y="787400"/>
                  </a:lnTo>
                  <a:lnTo>
                    <a:pt x="0" y="787400"/>
                  </a:lnTo>
                  <a:close/>
                </a:path>
              </a:pathLst>
            </a:custGeom>
            <a:solidFill>
              <a:srgbClr val="ECFAF2"/>
            </a:solidFill>
          </p:spPr>
        </p:sp>
        <p:sp>
          <p:nvSpPr>
            <p:cNvPr name="TextBox 42" id="42"/>
            <p:cNvSpPr txBox="true"/>
            <p:nvPr/>
          </p:nvSpPr>
          <p:spPr>
            <a:xfrm>
              <a:off x="0" y="-57150"/>
              <a:ext cx="7531100" cy="844550"/>
            </a:xfrm>
            <a:prstGeom prst="rect">
              <a:avLst/>
            </a:prstGeom>
          </p:spPr>
          <p:txBody>
            <a:bodyPr anchor="t" rtlCol="false" tIns="50800" lIns="50800" bIns="50800" rIns="50800"/>
            <a:lstStyle/>
            <a:p>
              <a:pPr algn="l">
                <a:lnSpc>
                  <a:spcPts val="2052"/>
                </a:lnSpc>
              </a:pPr>
              <a:r>
                <a:rPr lang="en-US" sz="1360" spc="68" b="true">
                  <a:solidFill>
                    <a:srgbClr val="FFFFFF"/>
                  </a:solidFill>
                  <a:latin typeface="Arimo Bold"/>
                  <a:ea typeface="Arimo Bold"/>
                  <a:cs typeface="Arimo Bold"/>
                  <a:sym typeface="Arimo Bold"/>
                </a:rPr>
                <a:t>PARTNERSHIP CHANNELS</a:t>
              </a:r>
            </a:p>
          </p:txBody>
        </p:sp>
      </p:grpSp>
      <p:sp>
        <p:nvSpPr>
          <p:cNvPr name="TextBox 43" id="43"/>
          <p:cNvSpPr txBox="true"/>
          <p:nvPr/>
        </p:nvSpPr>
        <p:spPr>
          <a:xfrm rot="0">
            <a:off x="11919642" y="3361353"/>
            <a:ext cx="5238750" cy="342900"/>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[Pharmacies]</a:t>
            </a:r>
          </a:p>
        </p:txBody>
      </p:sp>
      <p:sp>
        <p:nvSpPr>
          <p:cNvPr name="TextBox 44" id="44"/>
          <p:cNvSpPr txBox="true"/>
          <p:nvPr/>
        </p:nvSpPr>
        <p:spPr>
          <a:xfrm rot="0">
            <a:off x="11919642" y="3666906"/>
            <a:ext cx="5238750" cy="285750"/>
          </a:xfrm>
          <a:prstGeom prst="rect">
            <a:avLst/>
          </a:prstGeom>
        </p:spPr>
        <p:txBody>
          <a:bodyPr anchor="t" rtlCol="false" tIns="0" lIns="0" bIns="0" rIns="0">
            <a:spAutoFit/>
          </a:bodyPr>
          <a:lstStyle/>
          <a:p>
            <a:pPr algn="l">
              <a:lnSpc>
                <a:spcPts val="1944"/>
              </a:lnSpc>
            </a:pPr>
            <a:r>
              <a:rPr lang="en-US" sz="1300">
                <a:solidFill>
                  <a:srgbClr val="595959"/>
                </a:solidFill>
                <a:latin typeface="Inter"/>
                <a:ea typeface="Inter"/>
                <a:cs typeface="Inter"/>
                <a:sym typeface="Inter"/>
              </a:rPr>
              <a:t>[Owner · status · KPI]</a:t>
            </a:r>
          </a:p>
        </p:txBody>
      </p:sp>
      <p:sp>
        <p:nvSpPr>
          <p:cNvPr name="TextBox 45" id="45"/>
          <p:cNvSpPr txBox="true"/>
          <p:nvPr/>
        </p:nvSpPr>
        <p:spPr>
          <a:xfrm rot="0">
            <a:off x="11919642" y="4193600"/>
            <a:ext cx="5238750" cy="342900"/>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[Clinics]</a:t>
            </a:r>
          </a:p>
        </p:txBody>
      </p:sp>
      <p:sp>
        <p:nvSpPr>
          <p:cNvPr name="TextBox 46" id="46"/>
          <p:cNvSpPr txBox="true"/>
          <p:nvPr/>
        </p:nvSpPr>
        <p:spPr>
          <a:xfrm rot="0">
            <a:off x="11919642" y="4499143"/>
            <a:ext cx="5238750" cy="285750"/>
          </a:xfrm>
          <a:prstGeom prst="rect">
            <a:avLst/>
          </a:prstGeom>
        </p:spPr>
        <p:txBody>
          <a:bodyPr anchor="t" rtlCol="false" tIns="0" lIns="0" bIns="0" rIns="0">
            <a:spAutoFit/>
          </a:bodyPr>
          <a:lstStyle/>
          <a:p>
            <a:pPr algn="l">
              <a:lnSpc>
                <a:spcPts val="1944"/>
              </a:lnSpc>
            </a:pPr>
            <a:r>
              <a:rPr lang="en-US" sz="1300">
                <a:solidFill>
                  <a:srgbClr val="595959"/>
                </a:solidFill>
                <a:latin typeface="Inter"/>
                <a:ea typeface="Inter"/>
                <a:cs typeface="Inter"/>
                <a:sym typeface="Inter"/>
              </a:rPr>
              <a:t>[Owner · status · KPI]</a:t>
            </a:r>
          </a:p>
        </p:txBody>
      </p:sp>
      <p:sp>
        <p:nvSpPr>
          <p:cNvPr name="TextBox 47" id="47"/>
          <p:cNvSpPr txBox="true"/>
          <p:nvPr/>
        </p:nvSpPr>
        <p:spPr>
          <a:xfrm rot="0">
            <a:off x="11919642" y="5025857"/>
            <a:ext cx="5238750" cy="342900"/>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[Universities]</a:t>
            </a:r>
          </a:p>
        </p:txBody>
      </p:sp>
      <p:sp>
        <p:nvSpPr>
          <p:cNvPr name="TextBox 48" id="48"/>
          <p:cNvSpPr txBox="true"/>
          <p:nvPr/>
        </p:nvSpPr>
        <p:spPr>
          <a:xfrm rot="0">
            <a:off x="11919642" y="5331400"/>
            <a:ext cx="5238750" cy="285750"/>
          </a:xfrm>
          <a:prstGeom prst="rect">
            <a:avLst/>
          </a:prstGeom>
        </p:spPr>
        <p:txBody>
          <a:bodyPr anchor="t" rtlCol="false" tIns="0" lIns="0" bIns="0" rIns="0">
            <a:spAutoFit/>
          </a:bodyPr>
          <a:lstStyle/>
          <a:p>
            <a:pPr algn="l">
              <a:lnSpc>
                <a:spcPts val="1944"/>
              </a:lnSpc>
            </a:pPr>
            <a:r>
              <a:rPr lang="en-US" sz="1300">
                <a:solidFill>
                  <a:srgbClr val="595959"/>
                </a:solidFill>
                <a:latin typeface="Inter"/>
                <a:ea typeface="Inter"/>
                <a:cs typeface="Inter"/>
                <a:sym typeface="Inter"/>
              </a:rPr>
              <a:t>[Owner · status · KPI]</a:t>
            </a:r>
          </a:p>
        </p:txBody>
      </p:sp>
      <p:sp>
        <p:nvSpPr>
          <p:cNvPr name="TextBox 49" id="49"/>
          <p:cNvSpPr txBox="true"/>
          <p:nvPr/>
        </p:nvSpPr>
        <p:spPr>
          <a:xfrm rot="0">
            <a:off x="11919642" y="5858094"/>
            <a:ext cx="5238750" cy="342900"/>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[Insurance]</a:t>
            </a:r>
          </a:p>
        </p:txBody>
      </p:sp>
      <p:sp>
        <p:nvSpPr>
          <p:cNvPr name="TextBox 50" id="50"/>
          <p:cNvSpPr txBox="true"/>
          <p:nvPr/>
        </p:nvSpPr>
        <p:spPr>
          <a:xfrm rot="0">
            <a:off x="11919642" y="6163647"/>
            <a:ext cx="5238750" cy="285750"/>
          </a:xfrm>
          <a:prstGeom prst="rect">
            <a:avLst/>
          </a:prstGeom>
        </p:spPr>
        <p:txBody>
          <a:bodyPr anchor="t" rtlCol="false" tIns="0" lIns="0" bIns="0" rIns="0">
            <a:spAutoFit/>
          </a:bodyPr>
          <a:lstStyle/>
          <a:p>
            <a:pPr algn="l">
              <a:lnSpc>
                <a:spcPts val="1944"/>
              </a:lnSpc>
            </a:pPr>
            <a:r>
              <a:rPr lang="en-US" sz="1300">
                <a:solidFill>
                  <a:srgbClr val="595959"/>
                </a:solidFill>
                <a:latin typeface="Inter"/>
                <a:ea typeface="Inter"/>
                <a:cs typeface="Inter"/>
                <a:sym typeface="Inter"/>
              </a:rPr>
              <a:t>[Owner · status · KPI]</a:t>
            </a:r>
          </a:p>
        </p:txBody>
      </p:sp>
      <p:sp>
        <p:nvSpPr>
          <p:cNvPr name="TextBox 51" id="51"/>
          <p:cNvSpPr txBox="true"/>
          <p:nvPr/>
        </p:nvSpPr>
        <p:spPr>
          <a:xfrm rot="0">
            <a:off x="11919642" y="6690350"/>
            <a:ext cx="5238750" cy="342900"/>
          </a:xfrm>
          <a:prstGeom prst="rect">
            <a:avLst/>
          </a:prstGeom>
        </p:spPr>
        <p:txBody>
          <a:bodyPr anchor="t" rtlCol="false" tIns="0" lIns="0" bIns="0" rIns="0">
            <a:spAutoFit/>
          </a:bodyPr>
          <a:lstStyle/>
          <a:p>
            <a:pPr algn="l">
              <a:lnSpc>
                <a:spcPts val="2268"/>
              </a:lnSpc>
            </a:pPr>
            <a:r>
              <a:rPr lang="en-US" sz="1520" b="true">
                <a:solidFill>
                  <a:srgbClr val="1A1A2E"/>
                </a:solidFill>
                <a:latin typeface="Arimo Bold"/>
                <a:ea typeface="Arimo Bold"/>
                <a:cs typeface="Arimo Bold"/>
                <a:sym typeface="Arimo Bold"/>
              </a:rPr>
              <a:t>[App Store]</a:t>
            </a:r>
          </a:p>
        </p:txBody>
      </p:sp>
      <p:sp>
        <p:nvSpPr>
          <p:cNvPr name="TextBox 52" id="52"/>
          <p:cNvSpPr txBox="true"/>
          <p:nvPr/>
        </p:nvSpPr>
        <p:spPr>
          <a:xfrm rot="0">
            <a:off x="11919642" y="6995893"/>
            <a:ext cx="5238750" cy="285750"/>
          </a:xfrm>
          <a:prstGeom prst="rect">
            <a:avLst/>
          </a:prstGeom>
        </p:spPr>
        <p:txBody>
          <a:bodyPr anchor="t" rtlCol="false" tIns="0" lIns="0" bIns="0" rIns="0">
            <a:spAutoFit/>
          </a:bodyPr>
          <a:lstStyle/>
          <a:p>
            <a:pPr algn="l">
              <a:lnSpc>
                <a:spcPts val="1944"/>
              </a:lnSpc>
            </a:pPr>
            <a:r>
              <a:rPr lang="en-US" sz="1300">
                <a:solidFill>
                  <a:srgbClr val="595959"/>
                </a:solidFill>
                <a:latin typeface="Inter"/>
                <a:ea typeface="Inter"/>
                <a:cs typeface="Inter"/>
                <a:sym typeface="Inter"/>
              </a:rPr>
              <a:t>[Owner · status · KPI]</a:t>
            </a:r>
          </a:p>
        </p:txBody>
      </p:sp>
      <p:grpSp>
        <p:nvGrpSpPr>
          <p:cNvPr name="Group 53" id="53"/>
          <p:cNvGrpSpPr/>
          <p:nvPr/>
        </p:nvGrpSpPr>
        <p:grpSpPr>
          <a:xfrm rot="0">
            <a:off x="914400" y="9703222"/>
            <a:ext cx="16459200" cy="276225"/>
            <a:chOff x="0" y="0"/>
            <a:chExt cx="21945600" cy="368300"/>
          </a:xfrm>
        </p:grpSpPr>
        <p:sp>
          <p:nvSpPr>
            <p:cNvPr name="Freeform 54" id="54"/>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55" id="55"/>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56" id="56"/>
          <p:cNvGrpSpPr/>
          <p:nvPr/>
        </p:nvGrpSpPr>
        <p:grpSpPr>
          <a:xfrm rot="0">
            <a:off x="0" y="10247414"/>
            <a:ext cx="18288000" cy="38100"/>
            <a:chOff x="0" y="0"/>
            <a:chExt cx="24384000" cy="50800"/>
          </a:xfrm>
        </p:grpSpPr>
        <p:sp>
          <p:nvSpPr>
            <p:cNvPr name="Freeform 57" id="57"/>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58" id="58" descr="preencoded.png"/>
          <p:cNvSpPr/>
          <p:nvPr/>
        </p:nvSpPr>
        <p:spPr>
          <a:xfrm flipH="false" flipV="false" rot="0">
            <a:off x="11714855" y="3275257"/>
            <a:ext cx="5648325" cy="828675"/>
          </a:xfrm>
          <a:custGeom>
            <a:avLst/>
            <a:gdLst/>
            <a:ahLst/>
            <a:cxnLst/>
            <a:rect r="r" b="b" t="t" l="l"/>
            <a:pathLst>
              <a:path h="828675" w="5648325">
                <a:moveTo>
                  <a:pt x="0" y="0"/>
                </a:moveTo>
                <a:lnTo>
                  <a:pt x="5648325" y="0"/>
                </a:lnTo>
                <a:lnTo>
                  <a:pt x="5648325" y="828675"/>
                </a:lnTo>
                <a:lnTo>
                  <a:pt x="0" y="828675"/>
                </a:lnTo>
                <a:lnTo>
                  <a:pt x="0" y="0"/>
                </a:lnTo>
                <a:close/>
              </a:path>
            </a:pathLst>
          </a:custGeom>
          <a:blipFill>
            <a:blip r:embed="rId4">
              <a:extLst>
                <a:ext uri="{96DAC541-7B7A-43D3-8B79-37D633B846F1}">
                  <asvg:svgBlip xmlns:asvg="http://schemas.microsoft.com/office/drawing/2016/SVG/main" r:embed="rId5"/>
                </a:ext>
              </a:extLst>
            </a:blip>
            <a:stretch>
              <a:fillRect l="0" t="-489" r="0" b="-489"/>
            </a:stretch>
          </a:blipFill>
        </p:spPr>
      </p:sp>
      <p:sp>
        <p:nvSpPr>
          <p:cNvPr name="Freeform 59" id="59" descr="preencoded.png"/>
          <p:cNvSpPr/>
          <p:nvPr/>
        </p:nvSpPr>
        <p:spPr>
          <a:xfrm flipH="false" flipV="false" rot="0">
            <a:off x="11714855" y="4107504"/>
            <a:ext cx="5648325" cy="828675"/>
          </a:xfrm>
          <a:custGeom>
            <a:avLst/>
            <a:gdLst/>
            <a:ahLst/>
            <a:cxnLst/>
            <a:rect r="r" b="b" t="t" l="l"/>
            <a:pathLst>
              <a:path h="828675" w="5648325">
                <a:moveTo>
                  <a:pt x="0" y="0"/>
                </a:moveTo>
                <a:lnTo>
                  <a:pt x="5648325" y="0"/>
                </a:lnTo>
                <a:lnTo>
                  <a:pt x="5648325" y="828675"/>
                </a:lnTo>
                <a:lnTo>
                  <a:pt x="0" y="828675"/>
                </a:lnTo>
                <a:lnTo>
                  <a:pt x="0" y="0"/>
                </a:lnTo>
                <a:close/>
              </a:path>
            </a:pathLst>
          </a:custGeom>
          <a:blipFill>
            <a:blip r:embed="rId4">
              <a:extLst>
                <a:ext uri="{96DAC541-7B7A-43D3-8B79-37D633B846F1}">
                  <asvg:svgBlip xmlns:asvg="http://schemas.microsoft.com/office/drawing/2016/SVG/main" r:embed="rId5"/>
                </a:ext>
              </a:extLst>
            </a:blip>
            <a:stretch>
              <a:fillRect l="0" t="-489" r="0" b="-489"/>
            </a:stretch>
          </a:blipFill>
        </p:spPr>
      </p:sp>
      <p:sp>
        <p:nvSpPr>
          <p:cNvPr name="Freeform 60" id="60" descr="preencoded.png"/>
          <p:cNvSpPr/>
          <p:nvPr/>
        </p:nvSpPr>
        <p:spPr>
          <a:xfrm flipH="false" flipV="false" rot="0">
            <a:off x="11714855" y="4939751"/>
            <a:ext cx="5648325" cy="828675"/>
          </a:xfrm>
          <a:custGeom>
            <a:avLst/>
            <a:gdLst/>
            <a:ahLst/>
            <a:cxnLst/>
            <a:rect r="r" b="b" t="t" l="l"/>
            <a:pathLst>
              <a:path h="828675" w="5648325">
                <a:moveTo>
                  <a:pt x="0" y="0"/>
                </a:moveTo>
                <a:lnTo>
                  <a:pt x="5648325" y="0"/>
                </a:lnTo>
                <a:lnTo>
                  <a:pt x="5648325" y="828675"/>
                </a:lnTo>
                <a:lnTo>
                  <a:pt x="0" y="828675"/>
                </a:lnTo>
                <a:lnTo>
                  <a:pt x="0" y="0"/>
                </a:lnTo>
                <a:close/>
              </a:path>
            </a:pathLst>
          </a:custGeom>
          <a:blipFill>
            <a:blip r:embed="rId4">
              <a:extLst>
                <a:ext uri="{96DAC541-7B7A-43D3-8B79-37D633B846F1}">
                  <asvg:svgBlip xmlns:asvg="http://schemas.microsoft.com/office/drawing/2016/SVG/main" r:embed="rId5"/>
                </a:ext>
              </a:extLst>
            </a:blip>
            <a:stretch>
              <a:fillRect l="0" t="-489" r="0" b="-489"/>
            </a:stretch>
          </a:blipFill>
        </p:spPr>
      </p:sp>
      <p:sp>
        <p:nvSpPr>
          <p:cNvPr name="Freeform 61" id="61" descr="preencoded.png"/>
          <p:cNvSpPr/>
          <p:nvPr/>
        </p:nvSpPr>
        <p:spPr>
          <a:xfrm flipH="false" flipV="false" rot="0">
            <a:off x="11714855" y="5771998"/>
            <a:ext cx="5648325" cy="828675"/>
          </a:xfrm>
          <a:custGeom>
            <a:avLst/>
            <a:gdLst/>
            <a:ahLst/>
            <a:cxnLst/>
            <a:rect r="r" b="b" t="t" l="l"/>
            <a:pathLst>
              <a:path h="828675" w="5648325">
                <a:moveTo>
                  <a:pt x="0" y="0"/>
                </a:moveTo>
                <a:lnTo>
                  <a:pt x="5648325" y="0"/>
                </a:lnTo>
                <a:lnTo>
                  <a:pt x="5648325" y="828675"/>
                </a:lnTo>
                <a:lnTo>
                  <a:pt x="0" y="828675"/>
                </a:lnTo>
                <a:lnTo>
                  <a:pt x="0" y="0"/>
                </a:lnTo>
                <a:close/>
              </a:path>
            </a:pathLst>
          </a:custGeom>
          <a:blipFill>
            <a:blip r:embed="rId4">
              <a:extLst>
                <a:ext uri="{96DAC541-7B7A-43D3-8B79-37D633B846F1}">
                  <asvg:svgBlip xmlns:asvg="http://schemas.microsoft.com/office/drawing/2016/SVG/main" r:embed="rId5"/>
                </a:ext>
              </a:extLst>
            </a:blip>
            <a:stretch>
              <a:fillRect l="0" t="-489" r="0" b="-489"/>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781050" cy="428625"/>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3266" y="352501"/>
            <a:ext cx="271462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20 · NETWORKING</a:t>
            </a:r>
          </a:p>
        </p:txBody>
      </p:sp>
      <p:sp>
        <p:nvSpPr>
          <p:cNvPr name="TextBox 8" id="8"/>
          <p:cNvSpPr txBox="true"/>
          <p:nvPr/>
        </p:nvSpPr>
        <p:spPr>
          <a:xfrm rot="0">
            <a:off x="16792727"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22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Networking Strategy</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0609" y="2668934"/>
            <a:ext cx="11163300" cy="6800850"/>
            <a:chOff x="0" y="0"/>
            <a:chExt cx="14884400" cy="9067800"/>
          </a:xfrm>
        </p:grpSpPr>
        <p:sp>
          <p:nvSpPr>
            <p:cNvPr name="Freeform 13" id="13"/>
            <p:cNvSpPr/>
            <p:nvPr/>
          </p:nvSpPr>
          <p:spPr>
            <a:xfrm flipH="false" flipV="false" rot="0">
              <a:off x="0" y="0"/>
              <a:ext cx="14884400" cy="9067800"/>
            </a:xfrm>
            <a:custGeom>
              <a:avLst/>
              <a:gdLst/>
              <a:ahLst/>
              <a:cxnLst/>
              <a:rect r="r" b="b" t="t" l="l"/>
              <a:pathLst>
                <a:path h="9067800" w="14884400">
                  <a:moveTo>
                    <a:pt x="0" y="244221"/>
                  </a:moveTo>
                  <a:cubicBezTo>
                    <a:pt x="0" y="109347"/>
                    <a:pt x="109347" y="0"/>
                    <a:pt x="244221" y="0"/>
                  </a:cubicBezTo>
                  <a:lnTo>
                    <a:pt x="14640179" y="0"/>
                  </a:lnTo>
                  <a:cubicBezTo>
                    <a:pt x="14775053" y="0"/>
                    <a:pt x="14884400" y="109347"/>
                    <a:pt x="14884400" y="244221"/>
                  </a:cubicBezTo>
                  <a:lnTo>
                    <a:pt x="14884400" y="8823579"/>
                  </a:lnTo>
                  <a:cubicBezTo>
                    <a:pt x="14884400" y="8958453"/>
                    <a:pt x="14775053" y="9067800"/>
                    <a:pt x="14640179" y="9067800"/>
                  </a:cubicBezTo>
                  <a:lnTo>
                    <a:pt x="244221" y="9067800"/>
                  </a:lnTo>
                  <a:cubicBezTo>
                    <a:pt x="109347" y="9067800"/>
                    <a:pt x="0" y="8958453"/>
                    <a:pt x="0" y="8823579"/>
                  </a:cubicBezTo>
                  <a:close/>
                </a:path>
              </a:pathLst>
            </a:custGeom>
            <a:solidFill>
              <a:srgbClr val="FFFFFF"/>
            </a:solidFill>
            <a:ln w="9526" cap="sq">
              <a:solidFill>
                <a:srgbClr val="E5E7EB"/>
              </a:solidFill>
              <a:prstDash val="solid"/>
              <a:miter/>
            </a:ln>
          </p:spPr>
        </p:sp>
      </p:grpSp>
      <p:grpSp>
        <p:nvGrpSpPr>
          <p:cNvPr name="Group 14" id="14"/>
          <p:cNvGrpSpPr/>
          <p:nvPr/>
        </p:nvGrpSpPr>
        <p:grpSpPr>
          <a:xfrm rot="0">
            <a:off x="5577783" y="5154959"/>
            <a:ext cx="1828800" cy="1828800"/>
            <a:chOff x="0" y="0"/>
            <a:chExt cx="2438400" cy="2438400"/>
          </a:xfrm>
        </p:grpSpPr>
        <p:sp>
          <p:nvSpPr>
            <p:cNvPr name="Freeform 15" id="15"/>
            <p:cNvSpPr/>
            <p:nvPr/>
          </p:nvSpPr>
          <p:spPr>
            <a:xfrm flipH="false" flipV="false" rot="0">
              <a:off x="0" y="0"/>
              <a:ext cx="2438400" cy="2438400"/>
            </a:xfrm>
            <a:custGeom>
              <a:avLst/>
              <a:gdLst/>
              <a:ahLst/>
              <a:cxnLst/>
              <a:rect r="r" b="b" t="t" l="l"/>
              <a:pathLst>
                <a:path h="2438400" w="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ECFAF2"/>
            </a:solidFill>
          </p:spPr>
        </p:sp>
      </p:grpSp>
      <p:sp>
        <p:nvSpPr>
          <p:cNvPr name="TextBox 16" id="16"/>
          <p:cNvSpPr txBox="true"/>
          <p:nvPr/>
        </p:nvSpPr>
        <p:spPr>
          <a:xfrm rot="0">
            <a:off x="6049270" y="5715448"/>
            <a:ext cx="885825" cy="276225"/>
          </a:xfrm>
          <a:prstGeom prst="rect">
            <a:avLst/>
          </a:prstGeom>
        </p:spPr>
        <p:txBody>
          <a:bodyPr anchor="t" rtlCol="false" tIns="0" lIns="0" bIns="0" rIns="0">
            <a:spAutoFit/>
          </a:bodyPr>
          <a:lstStyle/>
          <a:p>
            <a:pPr algn="ctr">
              <a:lnSpc>
                <a:spcPts val="1836"/>
              </a:lnSpc>
            </a:pPr>
            <a:r>
              <a:rPr lang="en-US" b="true" sz="1220" spc="61">
                <a:solidFill>
                  <a:srgbClr val="2ECC71"/>
                </a:solidFill>
                <a:latin typeface="Inter Bold"/>
                <a:ea typeface="Inter Bold"/>
                <a:cs typeface="Inter Bold"/>
                <a:sym typeface="Inter Bold"/>
              </a:rPr>
              <a:t>CORE</a:t>
            </a:r>
          </a:p>
        </p:txBody>
      </p:sp>
      <p:sp>
        <p:nvSpPr>
          <p:cNvPr name="TextBox 17" id="17"/>
          <p:cNvSpPr txBox="true"/>
          <p:nvPr/>
        </p:nvSpPr>
        <p:spPr>
          <a:xfrm rot="0">
            <a:off x="6049270" y="5928712"/>
            <a:ext cx="885825" cy="447675"/>
          </a:xfrm>
          <a:prstGeom prst="rect">
            <a:avLst/>
          </a:prstGeom>
        </p:spPr>
        <p:txBody>
          <a:bodyPr anchor="t" rtlCol="false" tIns="0" lIns="0" bIns="0" rIns="0">
            <a:spAutoFit/>
          </a:bodyPr>
          <a:lstStyle/>
          <a:p>
            <a:pPr algn="ctr">
              <a:lnSpc>
                <a:spcPts val="3024"/>
              </a:lnSpc>
            </a:pPr>
            <a:r>
              <a:rPr lang="en-US" sz="2019" b="true">
                <a:solidFill>
                  <a:srgbClr val="FFFFFF"/>
                </a:solidFill>
                <a:latin typeface="Arimo Bold"/>
                <a:ea typeface="Arimo Bold"/>
                <a:cs typeface="Arimo Bold"/>
                <a:sym typeface="Arimo Bold"/>
              </a:rPr>
              <a:t>ISTSEH</a:t>
            </a:r>
          </a:p>
        </p:txBody>
      </p:sp>
      <p:grpSp>
        <p:nvGrpSpPr>
          <p:cNvPr name="Group 18" id="18"/>
          <p:cNvGrpSpPr/>
          <p:nvPr/>
        </p:nvGrpSpPr>
        <p:grpSpPr>
          <a:xfrm rot="0">
            <a:off x="2452764" y="3438973"/>
            <a:ext cx="2200275" cy="771525"/>
            <a:chOff x="0" y="0"/>
            <a:chExt cx="2933700" cy="1028700"/>
          </a:xfrm>
        </p:grpSpPr>
        <p:sp>
          <p:nvSpPr>
            <p:cNvPr name="Freeform 19" id="19"/>
            <p:cNvSpPr/>
            <p:nvPr/>
          </p:nvSpPr>
          <p:spPr>
            <a:xfrm flipH="false" flipV="false" rot="0">
              <a:off x="0" y="0"/>
              <a:ext cx="2933700" cy="1028700"/>
            </a:xfrm>
            <a:custGeom>
              <a:avLst/>
              <a:gdLst/>
              <a:ahLst/>
              <a:cxnLst/>
              <a:rect r="r" b="b" t="t" l="l"/>
              <a:pathLst>
                <a:path h="1028700" w="2933700">
                  <a:moveTo>
                    <a:pt x="0" y="148082"/>
                  </a:moveTo>
                  <a:cubicBezTo>
                    <a:pt x="0" y="66294"/>
                    <a:pt x="66294" y="0"/>
                    <a:pt x="148082" y="0"/>
                  </a:cubicBezTo>
                  <a:lnTo>
                    <a:pt x="2785618" y="0"/>
                  </a:lnTo>
                  <a:cubicBezTo>
                    <a:pt x="2867406" y="0"/>
                    <a:pt x="2933700" y="66294"/>
                    <a:pt x="2933700" y="148082"/>
                  </a:cubicBezTo>
                  <a:lnTo>
                    <a:pt x="2933700" y="880618"/>
                  </a:lnTo>
                  <a:cubicBezTo>
                    <a:pt x="2933700" y="962406"/>
                    <a:pt x="2867406" y="1028700"/>
                    <a:pt x="2785618" y="1028700"/>
                  </a:cubicBezTo>
                  <a:lnTo>
                    <a:pt x="148082" y="1028700"/>
                  </a:lnTo>
                  <a:cubicBezTo>
                    <a:pt x="66294" y="1028700"/>
                    <a:pt x="0" y="962406"/>
                    <a:pt x="0" y="880618"/>
                  </a:cubicBezTo>
                  <a:close/>
                </a:path>
              </a:pathLst>
            </a:custGeom>
            <a:solidFill>
              <a:srgbClr val="F7F8FA"/>
            </a:solidFill>
            <a:ln w="9526" cap="sq">
              <a:solidFill>
                <a:srgbClr val="E5E7EB"/>
              </a:solidFill>
              <a:prstDash val="solid"/>
              <a:miter/>
            </a:ln>
          </p:spPr>
        </p:sp>
      </p:grpSp>
      <p:sp>
        <p:nvSpPr>
          <p:cNvPr name="TextBox 20" id="20"/>
          <p:cNvSpPr txBox="true"/>
          <p:nvPr/>
        </p:nvSpPr>
        <p:spPr>
          <a:xfrm rot="0">
            <a:off x="2609926" y="3557140"/>
            <a:ext cx="1885950" cy="257175"/>
          </a:xfrm>
          <a:prstGeom prst="rect">
            <a:avLst/>
          </a:prstGeom>
        </p:spPr>
        <p:txBody>
          <a:bodyPr anchor="t" rtlCol="false" tIns="0" lIns="0" bIns="0" rIns="0">
            <a:spAutoFit/>
          </a:bodyPr>
          <a:lstStyle/>
          <a:p>
            <a:pPr algn="l">
              <a:lnSpc>
                <a:spcPts val="1727"/>
              </a:lnSpc>
            </a:pPr>
            <a:r>
              <a:rPr lang="en-US" sz="1159" b="true">
                <a:solidFill>
                  <a:srgbClr val="2ECC71"/>
                </a:solidFill>
                <a:latin typeface="Inter Bold"/>
                <a:ea typeface="Inter Bold"/>
                <a:cs typeface="Inter Bold"/>
                <a:sym typeface="Inter Bold"/>
              </a:rPr>
              <a:t>HEALTHCARE</a:t>
            </a:r>
          </a:p>
        </p:txBody>
      </p:sp>
      <p:sp>
        <p:nvSpPr>
          <p:cNvPr name="TextBox 21" id="21"/>
          <p:cNvSpPr txBox="true"/>
          <p:nvPr/>
        </p:nvSpPr>
        <p:spPr>
          <a:xfrm rot="0">
            <a:off x="2609926" y="3796313"/>
            <a:ext cx="1885950" cy="257175"/>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[Hospitals · Clinics]</a:t>
            </a:r>
          </a:p>
        </p:txBody>
      </p:sp>
      <p:grpSp>
        <p:nvGrpSpPr>
          <p:cNvPr name="Group 22" id="22"/>
          <p:cNvGrpSpPr/>
          <p:nvPr/>
        </p:nvGrpSpPr>
        <p:grpSpPr>
          <a:xfrm rot="0">
            <a:off x="8756380" y="3438973"/>
            <a:ext cx="2200275" cy="771525"/>
            <a:chOff x="0" y="0"/>
            <a:chExt cx="2933700" cy="1028700"/>
          </a:xfrm>
        </p:grpSpPr>
        <p:sp>
          <p:nvSpPr>
            <p:cNvPr name="Freeform 23" id="23"/>
            <p:cNvSpPr/>
            <p:nvPr/>
          </p:nvSpPr>
          <p:spPr>
            <a:xfrm flipH="false" flipV="false" rot="0">
              <a:off x="0" y="0"/>
              <a:ext cx="2933700" cy="1028700"/>
            </a:xfrm>
            <a:custGeom>
              <a:avLst/>
              <a:gdLst/>
              <a:ahLst/>
              <a:cxnLst/>
              <a:rect r="r" b="b" t="t" l="l"/>
              <a:pathLst>
                <a:path h="1028700" w="2933700">
                  <a:moveTo>
                    <a:pt x="0" y="148082"/>
                  </a:moveTo>
                  <a:cubicBezTo>
                    <a:pt x="0" y="66294"/>
                    <a:pt x="66294" y="0"/>
                    <a:pt x="148082" y="0"/>
                  </a:cubicBezTo>
                  <a:lnTo>
                    <a:pt x="2785618" y="0"/>
                  </a:lnTo>
                  <a:cubicBezTo>
                    <a:pt x="2867406" y="0"/>
                    <a:pt x="2933700" y="66294"/>
                    <a:pt x="2933700" y="148082"/>
                  </a:cubicBezTo>
                  <a:lnTo>
                    <a:pt x="2933700" y="880618"/>
                  </a:lnTo>
                  <a:cubicBezTo>
                    <a:pt x="2933700" y="962406"/>
                    <a:pt x="2867406" y="1028700"/>
                    <a:pt x="2785618" y="1028700"/>
                  </a:cubicBezTo>
                  <a:lnTo>
                    <a:pt x="148082" y="1028700"/>
                  </a:lnTo>
                  <a:cubicBezTo>
                    <a:pt x="66294" y="1028700"/>
                    <a:pt x="0" y="962406"/>
                    <a:pt x="0" y="880618"/>
                  </a:cubicBezTo>
                  <a:close/>
                </a:path>
              </a:pathLst>
            </a:custGeom>
            <a:solidFill>
              <a:srgbClr val="F7F8FA"/>
            </a:solidFill>
            <a:ln w="9526" cap="sq">
              <a:solidFill>
                <a:srgbClr val="E5E7EB"/>
              </a:solidFill>
              <a:prstDash val="solid"/>
              <a:miter/>
            </a:ln>
          </p:spPr>
        </p:sp>
      </p:grpSp>
      <p:sp>
        <p:nvSpPr>
          <p:cNvPr name="TextBox 24" id="24"/>
          <p:cNvSpPr txBox="true"/>
          <p:nvPr/>
        </p:nvSpPr>
        <p:spPr>
          <a:xfrm rot="0">
            <a:off x="8913543" y="3557140"/>
            <a:ext cx="1885950" cy="257175"/>
          </a:xfrm>
          <a:prstGeom prst="rect">
            <a:avLst/>
          </a:prstGeom>
        </p:spPr>
        <p:txBody>
          <a:bodyPr anchor="t" rtlCol="false" tIns="0" lIns="0" bIns="0" rIns="0">
            <a:spAutoFit/>
          </a:bodyPr>
          <a:lstStyle/>
          <a:p>
            <a:pPr algn="l">
              <a:lnSpc>
                <a:spcPts val="1727"/>
              </a:lnSpc>
            </a:pPr>
            <a:r>
              <a:rPr lang="en-US" sz="1159" b="true">
                <a:solidFill>
                  <a:srgbClr val="2ECC71"/>
                </a:solidFill>
                <a:latin typeface="Inter Bold"/>
                <a:ea typeface="Inter Bold"/>
                <a:cs typeface="Inter Bold"/>
                <a:sym typeface="Inter Bold"/>
              </a:rPr>
              <a:t>MENTORS</a:t>
            </a:r>
          </a:p>
        </p:txBody>
      </p:sp>
      <p:sp>
        <p:nvSpPr>
          <p:cNvPr name="TextBox 25" id="25"/>
          <p:cNvSpPr txBox="true"/>
          <p:nvPr/>
        </p:nvSpPr>
        <p:spPr>
          <a:xfrm rot="0">
            <a:off x="8913543" y="3796313"/>
            <a:ext cx="1885950" cy="257175"/>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[INJAZ · Faculty]</a:t>
            </a:r>
          </a:p>
        </p:txBody>
      </p:sp>
      <p:grpSp>
        <p:nvGrpSpPr>
          <p:cNvPr name="Group 26" id="26"/>
          <p:cNvGrpSpPr/>
          <p:nvPr/>
        </p:nvGrpSpPr>
        <p:grpSpPr>
          <a:xfrm rot="0">
            <a:off x="2452764" y="7684446"/>
            <a:ext cx="2200275" cy="1019175"/>
            <a:chOff x="0" y="0"/>
            <a:chExt cx="2933700" cy="1358900"/>
          </a:xfrm>
        </p:grpSpPr>
        <p:sp>
          <p:nvSpPr>
            <p:cNvPr name="Freeform 27" id="27"/>
            <p:cNvSpPr/>
            <p:nvPr/>
          </p:nvSpPr>
          <p:spPr>
            <a:xfrm flipH="false" flipV="false" rot="0">
              <a:off x="0" y="0"/>
              <a:ext cx="2933700" cy="1358900"/>
            </a:xfrm>
            <a:custGeom>
              <a:avLst/>
              <a:gdLst/>
              <a:ahLst/>
              <a:cxnLst/>
              <a:rect r="r" b="b" t="t" l="l"/>
              <a:pathLst>
                <a:path h="1358900" w="2933700">
                  <a:moveTo>
                    <a:pt x="0" y="147701"/>
                  </a:moveTo>
                  <a:cubicBezTo>
                    <a:pt x="0" y="66167"/>
                    <a:pt x="66167" y="0"/>
                    <a:pt x="147701" y="0"/>
                  </a:cubicBezTo>
                  <a:lnTo>
                    <a:pt x="2785999" y="0"/>
                  </a:lnTo>
                  <a:cubicBezTo>
                    <a:pt x="2867533" y="0"/>
                    <a:pt x="2933700" y="66167"/>
                    <a:pt x="2933700" y="147701"/>
                  </a:cubicBezTo>
                  <a:lnTo>
                    <a:pt x="2933700" y="1211199"/>
                  </a:lnTo>
                  <a:cubicBezTo>
                    <a:pt x="2933700" y="1292733"/>
                    <a:pt x="2867533" y="1358900"/>
                    <a:pt x="2785999" y="1358900"/>
                  </a:cubicBezTo>
                  <a:lnTo>
                    <a:pt x="147701" y="1358900"/>
                  </a:lnTo>
                  <a:cubicBezTo>
                    <a:pt x="66167" y="1358900"/>
                    <a:pt x="0" y="1292733"/>
                    <a:pt x="0" y="1211199"/>
                  </a:cubicBezTo>
                  <a:close/>
                </a:path>
              </a:pathLst>
            </a:custGeom>
            <a:solidFill>
              <a:srgbClr val="F7F8FA"/>
            </a:solidFill>
            <a:ln w="9526" cap="sq">
              <a:solidFill>
                <a:srgbClr val="E5E7EB"/>
              </a:solidFill>
              <a:prstDash val="solid"/>
              <a:miter/>
            </a:ln>
          </p:spPr>
        </p:sp>
      </p:grpSp>
      <p:sp>
        <p:nvSpPr>
          <p:cNvPr name="TextBox 28" id="28"/>
          <p:cNvSpPr txBox="true"/>
          <p:nvPr/>
        </p:nvSpPr>
        <p:spPr>
          <a:xfrm rot="0">
            <a:off x="2609926" y="7806480"/>
            <a:ext cx="1885950" cy="257175"/>
          </a:xfrm>
          <a:prstGeom prst="rect">
            <a:avLst/>
          </a:prstGeom>
        </p:spPr>
        <p:txBody>
          <a:bodyPr anchor="t" rtlCol="false" tIns="0" lIns="0" bIns="0" rIns="0">
            <a:spAutoFit/>
          </a:bodyPr>
          <a:lstStyle/>
          <a:p>
            <a:pPr algn="l">
              <a:lnSpc>
                <a:spcPts val="1727"/>
              </a:lnSpc>
            </a:pPr>
            <a:r>
              <a:rPr lang="en-US" sz="1159" b="true">
                <a:solidFill>
                  <a:srgbClr val="2ECC71"/>
                </a:solidFill>
                <a:latin typeface="Inter Bold"/>
                <a:ea typeface="Inter Bold"/>
                <a:cs typeface="Inter Bold"/>
                <a:sym typeface="Inter Bold"/>
              </a:rPr>
              <a:t>COMMUNITY</a:t>
            </a:r>
          </a:p>
        </p:txBody>
      </p:sp>
      <p:sp>
        <p:nvSpPr>
          <p:cNvPr name="TextBox 29" id="29"/>
          <p:cNvSpPr txBox="true"/>
          <p:nvPr/>
        </p:nvSpPr>
        <p:spPr>
          <a:xfrm rot="0">
            <a:off x="2609926" y="8046539"/>
            <a:ext cx="1885950" cy="495300"/>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[Patients · Caregivers]</a:t>
            </a:r>
          </a:p>
        </p:txBody>
      </p:sp>
      <p:grpSp>
        <p:nvGrpSpPr>
          <p:cNvPr name="Group 30" id="30"/>
          <p:cNvGrpSpPr/>
          <p:nvPr/>
        </p:nvGrpSpPr>
        <p:grpSpPr>
          <a:xfrm rot="0">
            <a:off x="8756380" y="7928219"/>
            <a:ext cx="2200275" cy="771525"/>
            <a:chOff x="0" y="0"/>
            <a:chExt cx="2933700" cy="1028700"/>
          </a:xfrm>
        </p:grpSpPr>
        <p:sp>
          <p:nvSpPr>
            <p:cNvPr name="Freeform 31" id="31"/>
            <p:cNvSpPr/>
            <p:nvPr/>
          </p:nvSpPr>
          <p:spPr>
            <a:xfrm flipH="false" flipV="false" rot="0">
              <a:off x="0" y="0"/>
              <a:ext cx="2933700" cy="1028700"/>
            </a:xfrm>
            <a:custGeom>
              <a:avLst/>
              <a:gdLst/>
              <a:ahLst/>
              <a:cxnLst/>
              <a:rect r="r" b="b" t="t" l="l"/>
              <a:pathLst>
                <a:path h="1028700" w="2933700">
                  <a:moveTo>
                    <a:pt x="0" y="148082"/>
                  </a:moveTo>
                  <a:cubicBezTo>
                    <a:pt x="0" y="66294"/>
                    <a:pt x="66294" y="0"/>
                    <a:pt x="148082" y="0"/>
                  </a:cubicBezTo>
                  <a:lnTo>
                    <a:pt x="2785618" y="0"/>
                  </a:lnTo>
                  <a:cubicBezTo>
                    <a:pt x="2867406" y="0"/>
                    <a:pt x="2933700" y="66294"/>
                    <a:pt x="2933700" y="148082"/>
                  </a:cubicBezTo>
                  <a:lnTo>
                    <a:pt x="2933700" y="880618"/>
                  </a:lnTo>
                  <a:cubicBezTo>
                    <a:pt x="2933700" y="962406"/>
                    <a:pt x="2867406" y="1028700"/>
                    <a:pt x="2785618" y="1028700"/>
                  </a:cubicBezTo>
                  <a:lnTo>
                    <a:pt x="148082" y="1028700"/>
                  </a:lnTo>
                  <a:cubicBezTo>
                    <a:pt x="66294" y="1028700"/>
                    <a:pt x="0" y="962406"/>
                    <a:pt x="0" y="880618"/>
                  </a:cubicBezTo>
                  <a:close/>
                </a:path>
              </a:pathLst>
            </a:custGeom>
            <a:solidFill>
              <a:srgbClr val="F7F8FA"/>
            </a:solidFill>
            <a:ln w="9526" cap="sq">
              <a:solidFill>
                <a:srgbClr val="E5E7EB"/>
              </a:solidFill>
              <a:prstDash val="solid"/>
              <a:miter/>
            </a:ln>
          </p:spPr>
        </p:sp>
      </p:grpSp>
      <p:sp>
        <p:nvSpPr>
          <p:cNvPr name="TextBox 32" id="32"/>
          <p:cNvSpPr txBox="true"/>
          <p:nvPr/>
        </p:nvSpPr>
        <p:spPr>
          <a:xfrm rot="0">
            <a:off x="8913543" y="8046396"/>
            <a:ext cx="1885950" cy="257175"/>
          </a:xfrm>
          <a:prstGeom prst="rect">
            <a:avLst/>
          </a:prstGeom>
        </p:spPr>
        <p:txBody>
          <a:bodyPr anchor="t" rtlCol="false" tIns="0" lIns="0" bIns="0" rIns="0">
            <a:spAutoFit/>
          </a:bodyPr>
          <a:lstStyle/>
          <a:p>
            <a:pPr algn="l">
              <a:lnSpc>
                <a:spcPts val="1727"/>
              </a:lnSpc>
            </a:pPr>
            <a:r>
              <a:rPr lang="en-US" sz="1159" b="true">
                <a:solidFill>
                  <a:srgbClr val="2ECC71"/>
                </a:solidFill>
                <a:latin typeface="Inter Bold"/>
                <a:ea typeface="Inter Bold"/>
                <a:cs typeface="Inter Bold"/>
                <a:sym typeface="Inter Bold"/>
              </a:rPr>
              <a:t>INVESTORS</a:t>
            </a:r>
          </a:p>
        </p:txBody>
      </p:sp>
      <p:sp>
        <p:nvSpPr>
          <p:cNvPr name="TextBox 33" id="33"/>
          <p:cNvSpPr txBox="true"/>
          <p:nvPr/>
        </p:nvSpPr>
        <p:spPr>
          <a:xfrm rot="0">
            <a:off x="8913543" y="8285559"/>
            <a:ext cx="1885950" cy="257175"/>
          </a:xfrm>
          <a:prstGeom prst="rect">
            <a:avLst/>
          </a:prstGeom>
        </p:spPr>
        <p:txBody>
          <a:bodyPr anchor="t" rtlCol="false" tIns="0" lIns="0" bIns="0" rIns="0">
            <a:spAutoFit/>
          </a:bodyPr>
          <a:lstStyle/>
          <a:p>
            <a:pPr algn="l">
              <a:lnSpc>
                <a:spcPts val="1890"/>
              </a:lnSpc>
            </a:pPr>
            <a:r>
              <a:rPr lang="en-US" sz="1520" b="true">
                <a:solidFill>
                  <a:srgbClr val="1A1A2E"/>
                </a:solidFill>
                <a:latin typeface="Arimo Bold"/>
                <a:ea typeface="Arimo Bold"/>
                <a:cs typeface="Arimo Bold"/>
                <a:sym typeface="Arimo Bold"/>
              </a:rPr>
              <a:t>[Programs · Funds]</a:t>
            </a:r>
          </a:p>
        </p:txBody>
      </p:sp>
      <p:grpSp>
        <p:nvGrpSpPr>
          <p:cNvPr name="Group 34" id="34"/>
          <p:cNvGrpSpPr/>
          <p:nvPr/>
        </p:nvGrpSpPr>
        <p:grpSpPr>
          <a:xfrm rot="0">
            <a:off x="5392045" y="3435106"/>
            <a:ext cx="2200275" cy="1019175"/>
            <a:chOff x="0" y="0"/>
            <a:chExt cx="2933700" cy="1358900"/>
          </a:xfrm>
        </p:grpSpPr>
        <p:sp>
          <p:nvSpPr>
            <p:cNvPr name="Freeform 35" id="35"/>
            <p:cNvSpPr/>
            <p:nvPr/>
          </p:nvSpPr>
          <p:spPr>
            <a:xfrm flipH="false" flipV="false" rot="0">
              <a:off x="0" y="0"/>
              <a:ext cx="2933700" cy="1358900"/>
            </a:xfrm>
            <a:custGeom>
              <a:avLst/>
              <a:gdLst/>
              <a:ahLst/>
              <a:cxnLst/>
              <a:rect r="r" b="b" t="t" l="l"/>
              <a:pathLst>
                <a:path h="1358900" w="2933700">
                  <a:moveTo>
                    <a:pt x="0" y="147701"/>
                  </a:moveTo>
                  <a:cubicBezTo>
                    <a:pt x="0" y="66167"/>
                    <a:pt x="66167" y="0"/>
                    <a:pt x="147701" y="0"/>
                  </a:cubicBezTo>
                  <a:lnTo>
                    <a:pt x="2785999" y="0"/>
                  </a:lnTo>
                  <a:cubicBezTo>
                    <a:pt x="2867533" y="0"/>
                    <a:pt x="2933700" y="66167"/>
                    <a:pt x="2933700" y="147701"/>
                  </a:cubicBezTo>
                  <a:lnTo>
                    <a:pt x="2933700" y="1211199"/>
                  </a:lnTo>
                  <a:cubicBezTo>
                    <a:pt x="2933700" y="1292733"/>
                    <a:pt x="2867533" y="1358900"/>
                    <a:pt x="2785999" y="1358900"/>
                  </a:cubicBezTo>
                  <a:lnTo>
                    <a:pt x="147701" y="1358900"/>
                  </a:lnTo>
                  <a:cubicBezTo>
                    <a:pt x="66167" y="1358900"/>
                    <a:pt x="0" y="1292733"/>
                    <a:pt x="0" y="1211199"/>
                  </a:cubicBezTo>
                  <a:close/>
                </a:path>
              </a:pathLst>
            </a:custGeom>
            <a:solidFill>
              <a:srgbClr val="F7F8FA"/>
            </a:solidFill>
            <a:ln w="9526" cap="sq">
              <a:solidFill>
                <a:srgbClr val="E5E7EB"/>
              </a:solidFill>
              <a:prstDash val="solid"/>
              <a:miter/>
            </a:ln>
          </p:spPr>
        </p:sp>
      </p:grpSp>
      <p:sp>
        <p:nvSpPr>
          <p:cNvPr name="TextBox 36" id="36"/>
          <p:cNvSpPr txBox="true"/>
          <p:nvPr/>
        </p:nvSpPr>
        <p:spPr>
          <a:xfrm rot="0">
            <a:off x="5549208" y="3557140"/>
            <a:ext cx="1885950" cy="257175"/>
          </a:xfrm>
          <a:prstGeom prst="rect">
            <a:avLst/>
          </a:prstGeom>
        </p:spPr>
        <p:txBody>
          <a:bodyPr anchor="t" rtlCol="false" tIns="0" lIns="0" bIns="0" rIns="0">
            <a:spAutoFit/>
          </a:bodyPr>
          <a:lstStyle/>
          <a:p>
            <a:pPr algn="ctr">
              <a:lnSpc>
                <a:spcPts val="1727"/>
              </a:lnSpc>
            </a:pPr>
            <a:r>
              <a:rPr lang="en-US" sz="1159" b="true">
                <a:solidFill>
                  <a:srgbClr val="2ECC71"/>
                </a:solidFill>
                <a:latin typeface="Inter Bold"/>
                <a:ea typeface="Inter Bold"/>
                <a:cs typeface="Inter Bold"/>
                <a:sym typeface="Inter Bold"/>
              </a:rPr>
              <a:t>PHARMACIES</a:t>
            </a:r>
          </a:p>
        </p:txBody>
      </p:sp>
      <p:sp>
        <p:nvSpPr>
          <p:cNvPr name="TextBox 37" id="37"/>
          <p:cNvSpPr txBox="true"/>
          <p:nvPr/>
        </p:nvSpPr>
        <p:spPr>
          <a:xfrm rot="0">
            <a:off x="5549208" y="3797198"/>
            <a:ext cx="1885950" cy="495300"/>
          </a:xfrm>
          <a:prstGeom prst="rect">
            <a:avLst/>
          </a:prstGeom>
        </p:spPr>
        <p:txBody>
          <a:bodyPr anchor="t" rtlCol="false" tIns="0" lIns="0" bIns="0" rIns="0">
            <a:spAutoFit/>
          </a:bodyPr>
          <a:lstStyle/>
          <a:p>
            <a:pPr algn="ctr">
              <a:lnSpc>
                <a:spcPts val="1890"/>
              </a:lnSpc>
            </a:pPr>
            <a:r>
              <a:rPr lang="en-US" sz="1520" b="true">
                <a:solidFill>
                  <a:srgbClr val="1A1A2E"/>
                </a:solidFill>
                <a:latin typeface="Arimo Bold"/>
                <a:ea typeface="Arimo Bold"/>
                <a:cs typeface="Arimo Bold"/>
                <a:sym typeface="Arimo Bold"/>
              </a:rPr>
              <a:t>[Chains · Independent]</a:t>
            </a:r>
          </a:p>
        </p:txBody>
      </p:sp>
      <p:grpSp>
        <p:nvGrpSpPr>
          <p:cNvPr name="Group 38" id="38"/>
          <p:cNvGrpSpPr/>
          <p:nvPr/>
        </p:nvGrpSpPr>
        <p:grpSpPr>
          <a:xfrm rot="0">
            <a:off x="5392045" y="7928219"/>
            <a:ext cx="2200275" cy="771525"/>
            <a:chOff x="0" y="0"/>
            <a:chExt cx="2933700" cy="1028700"/>
          </a:xfrm>
        </p:grpSpPr>
        <p:sp>
          <p:nvSpPr>
            <p:cNvPr name="Freeform 39" id="39"/>
            <p:cNvSpPr/>
            <p:nvPr/>
          </p:nvSpPr>
          <p:spPr>
            <a:xfrm flipH="false" flipV="false" rot="0">
              <a:off x="0" y="0"/>
              <a:ext cx="2933700" cy="1028700"/>
            </a:xfrm>
            <a:custGeom>
              <a:avLst/>
              <a:gdLst/>
              <a:ahLst/>
              <a:cxnLst/>
              <a:rect r="r" b="b" t="t" l="l"/>
              <a:pathLst>
                <a:path h="1028700" w="2933700">
                  <a:moveTo>
                    <a:pt x="0" y="148082"/>
                  </a:moveTo>
                  <a:cubicBezTo>
                    <a:pt x="0" y="66294"/>
                    <a:pt x="66294" y="0"/>
                    <a:pt x="148082" y="0"/>
                  </a:cubicBezTo>
                  <a:lnTo>
                    <a:pt x="2785618" y="0"/>
                  </a:lnTo>
                  <a:cubicBezTo>
                    <a:pt x="2867406" y="0"/>
                    <a:pt x="2933700" y="66294"/>
                    <a:pt x="2933700" y="148082"/>
                  </a:cubicBezTo>
                  <a:lnTo>
                    <a:pt x="2933700" y="880618"/>
                  </a:lnTo>
                  <a:cubicBezTo>
                    <a:pt x="2933700" y="962406"/>
                    <a:pt x="2867406" y="1028700"/>
                    <a:pt x="2785618" y="1028700"/>
                  </a:cubicBezTo>
                  <a:lnTo>
                    <a:pt x="148082" y="1028700"/>
                  </a:lnTo>
                  <a:cubicBezTo>
                    <a:pt x="66294" y="1028700"/>
                    <a:pt x="0" y="962406"/>
                    <a:pt x="0" y="880618"/>
                  </a:cubicBezTo>
                  <a:close/>
                </a:path>
              </a:pathLst>
            </a:custGeom>
            <a:solidFill>
              <a:srgbClr val="F7F8FA"/>
            </a:solidFill>
            <a:ln w="9526" cap="sq">
              <a:solidFill>
                <a:srgbClr val="E5E7EB"/>
              </a:solidFill>
              <a:prstDash val="solid"/>
              <a:miter/>
            </a:ln>
          </p:spPr>
        </p:sp>
      </p:grpSp>
      <p:sp>
        <p:nvSpPr>
          <p:cNvPr name="TextBox 40" id="40"/>
          <p:cNvSpPr txBox="true"/>
          <p:nvPr/>
        </p:nvSpPr>
        <p:spPr>
          <a:xfrm rot="0">
            <a:off x="5549208" y="8046396"/>
            <a:ext cx="1885950" cy="257175"/>
          </a:xfrm>
          <a:prstGeom prst="rect">
            <a:avLst/>
          </a:prstGeom>
        </p:spPr>
        <p:txBody>
          <a:bodyPr anchor="t" rtlCol="false" tIns="0" lIns="0" bIns="0" rIns="0">
            <a:spAutoFit/>
          </a:bodyPr>
          <a:lstStyle/>
          <a:p>
            <a:pPr algn="ctr">
              <a:lnSpc>
                <a:spcPts val="1727"/>
              </a:lnSpc>
            </a:pPr>
            <a:r>
              <a:rPr lang="en-US" sz="1159" b="true">
                <a:solidFill>
                  <a:srgbClr val="2ECC71"/>
                </a:solidFill>
                <a:latin typeface="Inter Bold"/>
                <a:ea typeface="Inter Bold"/>
                <a:cs typeface="Inter Bold"/>
                <a:sym typeface="Inter Bold"/>
              </a:rPr>
              <a:t>MEDIA</a:t>
            </a:r>
          </a:p>
        </p:txBody>
      </p:sp>
      <p:sp>
        <p:nvSpPr>
          <p:cNvPr name="TextBox 41" id="41"/>
          <p:cNvSpPr txBox="true"/>
          <p:nvPr/>
        </p:nvSpPr>
        <p:spPr>
          <a:xfrm rot="0">
            <a:off x="5549208" y="8285559"/>
            <a:ext cx="1885950" cy="257175"/>
          </a:xfrm>
          <a:prstGeom prst="rect">
            <a:avLst/>
          </a:prstGeom>
        </p:spPr>
        <p:txBody>
          <a:bodyPr anchor="t" rtlCol="false" tIns="0" lIns="0" bIns="0" rIns="0">
            <a:spAutoFit/>
          </a:bodyPr>
          <a:lstStyle/>
          <a:p>
            <a:pPr algn="ctr">
              <a:lnSpc>
                <a:spcPts val="1890"/>
              </a:lnSpc>
            </a:pPr>
            <a:r>
              <a:rPr lang="en-US" sz="1520" b="true">
                <a:solidFill>
                  <a:srgbClr val="1A1A2E"/>
                </a:solidFill>
                <a:latin typeface="Arimo Bold"/>
                <a:ea typeface="Arimo Bold"/>
                <a:cs typeface="Arimo Bold"/>
                <a:sym typeface="Arimo Bold"/>
              </a:rPr>
              <a:t>[Press · Influencers]</a:t>
            </a:r>
          </a:p>
        </p:txBody>
      </p:sp>
      <p:grpSp>
        <p:nvGrpSpPr>
          <p:cNvPr name="Group 42" id="42"/>
          <p:cNvGrpSpPr/>
          <p:nvPr/>
        </p:nvGrpSpPr>
        <p:grpSpPr>
          <a:xfrm rot="0">
            <a:off x="12437793" y="2673696"/>
            <a:ext cx="4933950" cy="6791325"/>
            <a:chOff x="0" y="0"/>
            <a:chExt cx="6578600" cy="9055100"/>
          </a:xfrm>
        </p:grpSpPr>
        <p:sp>
          <p:nvSpPr>
            <p:cNvPr name="Freeform 43" id="43"/>
            <p:cNvSpPr/>
            <p:nvPr/>
          </p:nvSpPr>
          <p:spPr>
            <a:xfrm flipH="false" flipV="false" rot="0">
              <a:off x="0" y="0"/>
              <a:ext cx="6578600" cy="9055100"/>
            </a:xfrm>
            <a:custGeom>
              <a:avLst/>
              <a:gdLst/>
              <a:ahLst/>
              <a:cxnLst/>
              <a:rect r="r" b="b" t="t" l="l"/>
              <a:pathLst>
                <a:path h="9055100" w="6578600">
                  <a:moveTo>
                    <a:pt x="0" y="195072"/>
                  </a:moveTo>
                  <a:cubicBezTo>
                    <a:pt x="0" y="87376"/>
                    <a:pt x="87376" y="0"/>
                    <a:pt x="195072" y="0"/>
                  </a:cubicBezTo>
                  <a:lnTo>
                    <a:pt x="6383528" y="0"/>
                  </a:lnTo>
                  <a:cubicBezTo>
                    <a:pt x="6491224" y="0"/>
                    <a:pt x="6578600" y="87376"/>
                    <a:pt x="6578600" y="195072"/>
                  </a:cubicBezTo>
                  <a:lnTo>
                    <a:pt x="6578600" y="8860028"/>
                  </a:lnTo>
                  <a:cubicBezTo>
                    <a:pt x="6578600" y="8967724"/>
                    <a:pt x="6491224" y="9055100"/>
                    <a:pt x="6383528" y="9055100"/>
                  </a:cubicBezTo>
                  <a:lnTo>
                    <a:pt x="195072" y="9055100"/>
                  </a:lnTo>
                  <a:cubicBezTo>
                    <a:pt x="87376" y="9055100"/>
                    <a:pt x="0" y="8967724"/>
                    <a:pt x="0" y="8860028"/>
                  </a:cubicBezTo>
                  <a:close/>
                </a:path>
              </a:pathLst>
            </a:custGeom>
            <a:solidFill>
              <a:srgbClr val="ECFAF2"/>
            </a:solidFill>
          </p:spPr>
        </p:sp>
      </p:grpSp>
      <p:sp>
        <p:nvSpPr>
          <p:cNvPr name="TextBox 44" id="44"/>
          <p:cNvSpPr txBox="true"/>
          <p:nvPr/>
        </p:nvSpPr>
        <p:spPr>
          <a:xfrm rot="0">
            <a:off x="12642580" y="2834878"/>
            <a:ext cx="452437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OUTREACH PLAN</a:t>
            </a:r>
          </a:p>
        </p:txBody>
      </p:sp>
      <p:sp>
        <p:nvSpPr>
          <p:cNvPr name="TextBox 45" id="45"/>
          <p:cNvSpPr txBox="true"/>
          <p:nvPr/>
        </p:nvSpPr>
        <p:spPr>
          <a:xfrm rot="0">
            <a:off x="12642580" y="3221907"/>
            <a:ext cx="4524375" cy="409575"/>
          </a:xfrm>
          <a:prstGeom prst="rect">
            <a:avLst/>
          </a:prstGeom>
        </p:spPr>
        <p:txBody>
          <a:bodyPr anchor="t" rtlCol="false" tIns="0" lIns="0" bIns="0" rIns="0">
            <a:spAutoFit/>
          </a:bodyPr>
          <a:lstStyle/>
          <a:p>
            <a:pPr algn="l">
              <a:lnSpc>
                <a:spcPts val="2160"/>
              </a:lnSpc>
            </a:pPr>
            <a:r>
              <a:rPr lang="en-US" sz="1439">
                <a:solidFill>
                  <a:srgbClr val="FFFFFF"/>
                </a:solidFill>
                <a:latin typeface="Inter"/>
                <a:ea typeface="Inter"/>
                <a:cs typeface="Inter"/>
                <a:sym typeface="Inter"/>
              </a:rPr>
              <a:t>[Stakeholder 01][Channel]</a:t>
            </a:r>
          </a:p>
        </p:txBody>
      </p:sp>
      <p:sp>
        <p:nvSpPr>
          <p:cNvPr name="TextBox 46" id="46"/>
          <p:cNvSpPr txBox="true"/>
          <p:nvPr/>
        </p:nvSpPr>
        <p:spPr>
          <a:xfrm rot="0">
            <a:off x="12642580" y="3690718"/>
            <a:ext cx="4524375" cy="409575"/>
          </a:xfrm>
          <a:prstGeom prst="rect">
            <a:avLst/>
          </a:prstGeom>
        </p:spPr>
        <p:txBody>
          <a:bodyPr anchor="t" rtlCol="false" tIns="0" lIns="0" bIns="0" rIns="0">
            <a:spAutoFit/>
          </a:bodyPr>
          <a:lstStyle/>
          <a:p>
            <a:pPr algn="l">
              <a:lnSpc>
                <a:spcPts val="2160"/>
              </a:lnSpc>
            </a:pPr>
            <a:r>
              <a:rPr lang="en-US" sz="1439">
                <a:solidFill>
                  <a:srgbClr val="FFFFFF"/>
                </a:solidFill>
                <a:latin typeface="Inter"/>
                <a:ea typeface="Inter"/>
                <a:cs typeface="Inter"/>
                <a:sym typeface="Inter"/>
              </a:rPr>
              <a:t>[Stakeholder 02][Channel]</a:t>
            </a:r>
          </a:p>
        </p:txBody>
      </p:sp>
      <p:sp>
        <p:nvSpPr>
          <p:cNvPr name="TextBox 47" id="47"/>
          <p:cNvSpPr txBox="true"/>
          <p:nvPr/>
        </p:nvSpPr>
        <p:spPr>
          <a:xfrm rot="0">
            <a:off x="12642580" y="4159520"/>
            <a:ext cx="4524375" cy="409575"/>
          </a:xfrm>
          <a:prstGeom prst="rect">
            <a:avLst/>
          </a:prstGeom>
        </p:spPr>
        <p:txBody>
          <a:bodyPr anchor="t" rtlCol="false" tIns="0" lIns="0" bIns="0" rIns="0">
            <a:spAutoFit/>
          </a:bodyPr>
          <a:lstStyle/>
          <a:p>
            <a:pPr algn="l">
              <a:lnSpc>
                <a:spcPts val="2160"/>
              </a:lnSpc>
            </a:pPr>
            <a:r>
              <a:rPr lang="en-US" sz="1439">
                <a:solidFill>
                  <a:srgbClr val="FFFFFF"/>
                </a:solidFill>
                <a:latin typeface="Inter"/>
                <a:ea typeface="Inter"/>
                <a:cs typeface="Inter"/>
                <a:sym typeface="Inter"/>
              </a:rPr>
              <a:t>[Stakeholder 03][Channel]</a:t>
            </a:r>
          </a:p>
        </p:txBody>
      </p:sp>
      <p:sp>
        <p:nvSpPr>
          <p:cNvPr name="TextBox 48" id="48"/>
          <p:cNvSpPr txBox="true"/>
          <p:nvPr/>
        </p:nvSpPr>
        <p:spPr>
          <a:xfrm rot="0">
            <a:off x="12642580" y="4628331"/>
            <a:ext cx="4524375" cy="409575"/>
          </a:xfrm>
          <a:prstGeom prst="rect">
            <a:avLst/>
          </a:prstGeom>
        </p:spPr>
        <p:txBody>
          <a:bodyPr anchor="t" rtlCol="false" tIns="0" lIns="0" bIns="0" rIns="0">
            <a:spAutoFit/>
          </a:bodyPr>
          <a:lstStyle/>
          <a:p>
            <a:pPr algn="l">
              <a:lnSpc>
                <a:spcPts val="2160"/>
              </a:lnSpc>
            </a:pPr>
            <a:r>
              <a:rPr lang="en-US" sz="1439">
                <a:solidFill>
                  <a:srgbClr val="FFFFFF"/>
                </a:solidFill>
                <a:latin typeface="Inter"/>
                <a:ea typeface="Inter"/>
                <a:cs typeface="Inter"/>
                <a:sym typeface="Inter"/>
              </a:rPr>
              <a:t>[Stakeholder 04][Channel]</a:t>
            </a:r>
          </a:p>
        </p:txBody>
      </p:sp>
      <p:sp>
        <p:nvSpPr>
          <p:cNvPr name="TextBox 49" id="49"/>
          <p:cNvSpPr txBox="true"/>
          <p:nvPr/>
        </p:nvSpPr>
        <p:spPr>
          <a:xfrm rot="0">
            <a:off x="12642580" y="5097142"/>
            <a:ext cx="4524375" cy="409575"/>
          </a:xfrm>
          <a:prstGeom prst="rect">
            <a:avLst/>
          </a:prstGeom>
        </p:spPr>
        <p:txBody>
          <a:bodyPr anchor="t" rtlCol="false" tIns="0" lIns="0" bIns="0" rIns="0">
            <a:spAutoFit/>
          </a:bodyPr>
          <a:lstStyle/>
          <a:p>
            <a:pPr algn="l">
              <a:lnSpc>
                <a:spcPts val="2160"/>
              </a:lnSpc>
            </a:pPr>
            <a:r>
              <a:rPr lang="en-US" sz="1439">
                <a:solidFill>
                  <a:srgbClr val="FFFFFF"/>
                </a:solidFill>
                <a:latin typeface="Inter"/>
                <a:ea typeface="Inter"/>
                <a:cs typeface="Inter"/>
                <a:sym typeface="Inter"/>
              </a:rPr>
              <a:t>[Stakeholder 05][Channel]</a:t>
            </a:r>
          </a:p>
        </p:txBody>
      </p:sp>
      <p:sp>
        <p:nvSpPr>
          <p:cNvPr name="TextBox 50" id="50"/>
          <p:cNvSpPr txBox="true"/>
          <p:nvPr/>
        </p:nvSpPr>
        <p:spPr>
          <a:xfrm rot="0">
            <a:off x="12642580" y="5562971"/>
            <a:ext cx="4524375" cy="323850"/>
          </a:xfrm>
          <a:prstGeom prst="rect">
            <a:avLst/>
          </a:prstGeom>
        </p:spPr>
        <p:txBody>
          <a:bodyPr anchor="t" rtlCol="false" tIns="0" lIns="0" bIns="0" rIns="0">
            <a:spAutoFit/>
          </a:bodyPr>
          <a:lstStyle/>
          <a:p>
            <a:pPr algn="l">
              <a:lnSpc>
                <a:spcPts val="2160"/>
              </a:lnSpc>
            </a:pPr>
            <a:r>
              <a:rPr lang="en-US" sz="1439">
                <a:solidFill>
                  <a:srgbClr val="FFFFFF"/>
                </a:solidFill>
                <a:latin typeface="Inter"/>
                <a:ea typeface="Inter"/>
                <a:cs typeface="Inter"/>
                <a:sym typeface="Inter"/>
              </a:rPr>
              <a:t>[Stakeholder 06][Channel]</a:t>
            </a:r>
          </a:p>
        </p:txBody>
      </p:sp>
      <p:grpSp>
        <p:nvGrpSpPr>
          <p:cNvPr name="Group 51" id="51"/>
          <p:cNvGrpSpPr/>
          <p:nvPr/>
        </p:nvGrpSpPr>
        <p:grpSpPr>
          <a:xfrm rot="0">
            <a:off x="914400" y="9703222"/>
            <a:ext cx="16459200" cy="276225"/>
            <a:chOff x="0" y="0"/>
            <a:chExt cx="21945600" cy="368300"/>
          </a:xfrm>
        </p:grpSpPr>
        <p:sp>
          <p:nvSpPr>
            <p:cNvPr name="Freeform 52" id="52"/>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53" id="53"/>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54" id="54"/>
          <p:cNvGrpSpPr/>
          <p:nvPr/>
        </p:nvGrpSpPr>
        <p:grpSpPr>
          <a:xfrm rot="0">
            <a:off x="0" y="10247414"/>
            <a:ext cx="18288000" cy="38100"/>
            <a:chOff x="0" y="0"/>
            <a:chExt cx="24384000" cy="50800"/>
          </a:xfrm>
        </p:grpSpPr>
        <p:sp>
          <p:nvSpPr>
            <p:cNvPr name="Freeform 55" id="55"/>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56" id="56" descr="preencoded.png"/>
          <p:cNvSpPr/>
          <p:nvPr/>
        </p:nvSpPr>
        <p:spPr>
          <a:xfrm flipH="false" flipV="false" rot="0">
            <a:off x="12642580" y="3269532"/>
            <a:ext cx="4524375" cy="361950"/>
          </a:xfrm>
          <a:custGeom>
            <a:avLst/>
            <a:gdLst/>
            <a:ahLst/>
            <a:cxnLst/>
            <a:rect r="r" b="b" t="t" l="l"/>
            <a:pathLst>
              <a:path h="361950" w="4524375">
                <a:moveTo>
                  <a:pt x="0" y="0"/>
                </a:moveTo>
                <a:lnTo>
                  <a:pt x="4524375" y="0"/>
                </a:lnTo>
                <a:lnTo>
                  <a:pt x="4524375" y="361950"/>
                </a:lnTo>
                <a:lnTo>
                  <a:pt x="0" y="3619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7" id="57" descr="preencoded.png"/>
          <p:cNvSpPr/>
          <p:nvPr/>
        </p:nvSpPr>
        <p:spPr>
          <a:xfrm flipH="false" flipV="false" rot="0">
            <a:off x="12642580" y="3738343"/>
            <a:ext cx="4524375" cy="361950"/>
          </a:xfrm>
          <a:custGeom>
            <a:avLst/>
            <a:gdLst/>
            <a:ahLst/>
            <a:cxnLst/>
            <a:rect r="r" b="b" t="t" l="l"/>
            <a:pathLst>
              <a:path h="361950" w="4524375">
                <a:moveTo>
                  <a:pt x="0" y="0"/>
                </a:moveTo>
                <a:lnTo>
                  <a:pt x="4524375" y="0"/>
                </a:lnTo>
                <a:lnTo>
                  <a:pt x="4524375" y="361950"/>
                </a:lnTo>
                <a:lnTo>
                  <a:pt x="0" y="3619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8" id="58" descr="preencoded.png"/>
          <p:cNvSpPr/>
          <p:nvPr/>
        </p:nvSpPr>
        <p:spPr>
          <a:xfrm flipH="false" flipV="false" rot="0">
            <a:off x="12642580" y="4207145"/>
            <a:ext cx="4524375" cy="361950"/>
          </a:xfrm>
          <a:custGeom>
            <a:avLst/>
            <a:gdLst/>
            <a:ahLst/>
            <a:cxnLst/>
            <a:rect r="r" b="b" t="t" l="l"/>
            <a:pathLst>
              <a:path h="361950" w="4524375">
                <a:moveTo>
                  <a:pt x="0" y="0"/>
                </a:moveTo>
                <a:lnTo>
                  <a:pt x="4524375" y="0"/>
                </a:lnTo>
                <a:lnTo>
                  <a:pt x="4524375" y="361950"/>
                </a:lnTo>
                <a:lnTo>
                  <a:pt x="0" y="3619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9" id="59" descr="preencoded.png"/>
          <p:cNvSpPr/>
          <p:nvPr/>
        </p:nvSpPr>
        <p:spPr>
          <a:xfrm flipH="false" flipV="false" rot="0">
            <a:off x="12642580" y="4675956"/>
            <a:ext cx="4524375" cy="361950"/>
          </a:xfrm>
          <a:custGeom>
            <a:avLst/>
            <a:gdLst/>
            <a:ahLst/>
            <a:cxnLst/>
            <a:rect r="r" b="b" t="t" l="l"/>
            <a:pathLst>
              <a:path h="361950" w="4524375">
                <a:moveTo>
                  <a:pt x="0" y="0"/>
                </a:moveTo>
                <a:lnTo>
                  <a:pt x="4524375" y="0"/>
                </a:lnTo>
                <a:lnTo>
                  <a:pt x="4524375" y="361950"/>
                </a:lnTo>
                <a:lnTo>
                  <a:pt x="0" y="3619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0" id="60" descr="preencoded.png"/>
          <p:cNvSpPr/>
          <p:nvPr/>
        </p:nvSpPr>
        <p:spPr>
          <a:xfrm flipH="false" flipV="false" rot="0">
            <a:off x="12642580" y="5144767"/>
            <a:ext cx="4524375" cy="361950"/>
          </a:xfrm>
          <a:custGeom>
            <a:avLst/>
            <a:gdLst/>
            <a:ahLst/>
            <a:cxnLst/>
            <a:rect r="r" b="b" t="t" l="l"/>
            <a:pathLst>
              <a:path h="361950" w="4524375">
                <a:moveTo>
                  <a:pt x="0" y="0"/>
                </a:moveTo>
                <a:lnTo>
                  <a:pt x="4524375" y="0"/>
                </a:lnTo>
                <a:lnTo>
                  <a:pt x="4524375" y="361950"/>
                </a:lnTo>
                <a:lnTo>
                  <a:pt x="0" y="3619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1026023"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6914" y="352501"/>
            <a:ext cx="250507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21 · FINANCIALS</a:t>
            </a:r>
          </a:p>
        </p:txBody>
      </p:sp>
      <p:sp>
        <p:nvSpPr>
          <p:cNvPr name="TextBox 8" id="8"/>
          <p:cNvSpPr txBox="true"/>
          <p:nvPr/>
        </p:nvSpPr>
        <p:spPr>
          <a:xfrm rot="0">
            <a:off x="16791756"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23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Financial Plan</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8294" y="2668038"/>
            <a:ext cx="3962400" cy="1028700"/>
            <a:chOff x="0" y="0"/>
            <a:chExt cx="5283200" cy="1371600"/>
          </a:xfrm>
        </p:grpSpPr>
        <p:sp>
          <p:nvSpPr>
            <p:cNvPr name="Freeform 13" id="13"/>
            <p:cNvSpPr/>
            <p:nvPr/>
          </p:nvSpPr>
          <p:spPr>
            <a:xfrm flipH="false" flipV="false" rot="0">
              <a:off x="0" y="0"/>
              <a:ext cx="5283200" cy="1371600"/>
            </a:xfrm>
            <a:custGeom>
              <a:avLst/>
              <a:gdLst/>
              <a:ahLst/>
              <a:cxnLst/>
              <a:rect r="r" b="b" t="t" l="l"/>
              <a:pathLst>
                <a:path h="1371600" w="5283200">
                  <a:moveTo>
                    <a:pt x="0" y="196850"/>
                  </a:moveTo>
                  <a:cubicBezTo>
                    <a:pt x="0" y="88138"/>
                    <a:pt x="88138" y="0"/>
                    <a:pt x="196850" y="0"/>
                  </a:cubicBezTo>
                  <a:lnTo>
                    <a:pt x="5086350" y="0"/>
                  </a:lnTo>
                  <a:cubicBezTo>
                    <a:pt x="5195062" y="0"/>
                    <a:pt x="5283200" y="88138"/>
                    <a:pt x="5283200" y="196850"/>
                  </a:cubicBezTo>
                  <a:lnTo>
                    <a:pt x="5283200" y="1174750"/>
                  </a:lnTo>
                  <a:cubicBezTo>
                    <a:pt x="5283200" y="1283462"/>
                    <a:pt x="5195062" y="1371600"/>
                    <a:pt x="5086350" y="1371600"/>
                  </a:cubicBezTo>
                  <a:lnTo>
                    <a:pt x="196850" y="1371600"/>
                  </a:lnTo>
                  <a:cubicBezTo>
                    <a:pt x="88138" y="1371600"/>
                    <a:pt x="0" y="1283462"/>
                    <a:pt x="0" y="1174750"/>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08319" y="2831306"/>
            <a:ext cx="3562350" cy="257175"/>
          </a:xfrm>
          <a:prstGeom prst="rect">
            <a:avLst/>
          </a:prstGeom>
        </p:spPr>
        <p:txBody>
          <a:bodyPr anchor="t" rtlCol="false" tIns="0" lIns="0" bIns="0" rIns="0">
            <a:spAutoFit/>
          </a:bodyPr>
          <a:lstStyle/>
          <a:p>
            <a:pPr algn="l">
              <a:lnSpc>
                <a:spcPts val="1727"/>
              </a:lnSpc>
            </a:pPr>
            <a:r>
              <a:rPr lang="en-US" sz="1159" spc="57">
                <a:solidFill>
                  <a:srgbClr val="6B7280"/>
                </a:solidFill>
                <a:latin typeface="Inter"/>
                <a:ea typeface="Inter"/>
                <a:cs typeface="Inter"/>
                <a:sym typeface="Inter"/>
              </a:rPr>
              <a:t>STARTUP CAPITAL</a:t>
            </a:r>
          </a:p>
        </p:txBody>
      </p:sp>
      <p:sp>
        <p:nvSpPr>
          <p:cNvPr name="TextBox 15" id="15"/>
          <p:cNvSpPr txBox="true"/>
          <p:nvPr/>
        </p:nvSpPr>
        <p:spPr>
          <a:xfrm rot="0">
            <a:off x="1108319" y="3179264"/>
            <a:ext cx="356235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[$X]</a:t>
            </a:r>
          </a:p>
        </p:txBody>
      </p:sp>
      <p:grpSp>
        <p:nvGrpSpPr>
          <p:cNvPr name="Group 16" id="16"/>
          <p:cNvGrpSpPr/>
          <p:nvPr/>
        </p:nvGrpSpPr>
        <p:grpSpPr>
          <a:xfrm rot="0">
            <a:off x="5077939" y="2668038"/>
            <a:ext cx="3962400" cy="1028700"/>
            <a:chOff x="0" y="0"/>
            <a:chExt cx="5283200" cy="1371600"/>
          </a:xfrm>
        </p:grpSpPr>
        <p:sp>
          <p:nvSpPr>
            <p:cNvPr name="Freeform 17" id="17"/>
            <p:cNvSpPr/>
            <p:nvPr/>
          </p:nvSpPr>
          <p:spPr>
            <a:xfrm flipH="false" flipV="false" rot="0">
              <a:off x="0" y="0"/>
              <a:ext cx="5283200" cy="1371600"/>
            </a:xfrm>
            <a:custGeom>
              <a:avLst/>
              <a:gdLst/>
              <a:ahLst/>
              <a:cxnLst/>
              <a:rect r="r" b="b" t="t" l="l"/>
              <a:pathLst>
                <a:path h="1371600" w="5283200">
                  <a:moveTo>
                    <a:pt x="0" y="196850"/>
                  </a:moveTo>
                  <a:cubicBezTo>
                    <a:pt x="0" y="88138"/>
                    <a:pt x="88138" y="0"/>
                    <a:pt x="196850" y="0"/>
                  </a:cubicBezTo>
                  <a:lnTo>
                    <a:pt x="5086350" y="0"/>
                  </a:lnTo>
                  <a:cubicBezTo>
                    <a:pt x="5195062" y="0"/>
                    <a:pt x="5283200" y="88138"/>
                    <a:pt x="5283200" y="196850"/>
                  </a:cubicBezTo>
                  <a:lnTo>
                    <a:pt x="5283200" y="1174750"/>
                  </a:lnTo>
                  <a:cubicBezTo>
                    <a:pt x="5283200" y="1283462"/>
                    <a:pt x="5195062" y="1371600"/>
                    <a:pt x="5086350" y="1371600"/>
                  </a:cubicBezTo>
                  <a:lnTo>
                    <a:pt x="196850" y="1371600"/>
                  </a:lnTo>
                  <a:cubicBezTo>
                    <a:pt x="88138" y="1371600"/>
                    <a:pt x="0" y="1283462"/>
                    <a:pt x="0" y="1174750"/>
                  </a:cubicBezTo>
                  <a:close/>
                </a:path>
              </a:pathLst>
            </a:custGeom>
            <a:solidFill>
              <a:srgbClr val="FFFFFF"/>
            </a:solidFill>
            <a:ln w="9526" cap="sq">
              <a:solidFill>
                <a:srgbClr val="E5E7EB"/>
              </a:solidFill>
              <a:prstDash val="solid"/>
              <a:miter/>
            </a:ln>
          </p:spPr>
        </p:sp>
      </p:grpSp>
      <p:sp>
        <p:nvSpPr>
          <p:cNvPr name="TextBox 18" id="18"/>
          <p:cNvSpPr txBox="true"/>
          <p:nvPr/>
        </p:nvSpPr>
        <p:spPr>
          <a:xfrm rot="0">
            <a:off x="5277964" y="2831306"/>
            <a:ext cx="3562350" cy="257175"/>
          </a:xfrm>
          <a:prstGeom prst="rect">
            <a:avLst/>
          </a:prstGeom>
        </p:spPr>
        <p:txBody>
          <a:bodyPr anchor="t" rtlCol="false" tIns="0" lIns="0" bIns="0" rIns="0">
            <a:spAutoFit/>
          </a:bodyPr>
          <a:lstStyle/>
          <a:p>
            <a:pPr algn="l">
              <a:lnSpc>
                <a:spcPts val="1727"/>
              </a:lnSpc>
            </a:pPr>
            <a:r>
              <a:rPr lang="en-US" sz="1159" spc="57">
                <a:solidFill>
                  <a:srgbClr val="6B7280"/>
                </a:solidFill>
                <a:latin typeface="Inter"/>
                <a:ea typeface="Inter"/>
                <a:cs typeface="Inter"/>
                <a:sym typeface="Inter"/>
              </a:rPr>
              <a:t>MONTHLY BURN</a:t>
            </a:r>
          </a:p>
        </p:txBody>
      </p:sp>
      <p:sp>
        <p:nvSpPr>
          <p:cNvPr name="TextBox 19" id="19"/>
          <p:cNvSpPr txBox="true"/>
          <p:nvPr/>
        </p:nvSpPr>
        <p:spPr>
          <a:xfrm rot="0">
            <a:off x="5277964" y="3179264"/>
            <a:ext cx="356235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[$X]</a:t>
            </a:r>
          </a:p>
        </p:txBody>
      </p:sp>
      <p:grpSp>
        <p:nvGrpSpPr>
          <p:cNvPr name="Group 20" id="20"/>
          <p:cNvGrpSpPr/>
          <p:nvPr/>
        </p:nvGrpSpPr>
        <p:grpSpPr>
          <a:xfrm rot="0">
            <a:off x="9247584" y="2668038"/>
            <a:ext cx="3962400" cy="1028700"/>
            <a:chOff x="0" y="0"/>
            <a:chExt cx="5283200" cy="1371600"/>
          </a:xfrm>
        </p:grpSpPr>
        <p:sp>
          <p:nvSpPr>
            <p:cNvPr name="Freeform 21" id="21"/>
            <p:cNvSpPr/>
            <p:nvPr/>
          </p:nvSpPr>
          <p:spPr>
            <a:xfrm flipH="false" flipV="false" rot="0">
              <a:off x="0" y="0"/>
              <a:ext cx="5283200" cy="1371600"/>
            </a:xfrm>
            <a:custGeom>
              <a:avLst/>
              <a:gdLst/>
              <a:ahLst/>
              <a:cxnLst/>
              <a:rect r="r" b="b" t="t" l="l"/>
              <a:pathLst>
                <a:path h="1371600" w="5283200">
                  <a:moveTo>
                    <a:pt x="0" y="196850"/>
                  </a:moveTo>
                  <a:cubicBezTo>
                    <a:pt x="0" y="88138"/>
                    <a:pt x="88138" y="0"/>
                    <a:pt x="196850" y="0"/>
                  </a:cubicBezTo>
                  <a:lnTo>
                    <a:pt x="5086350" y="0"/>
                  </a:lnTo>
                  <a:cubicBezTo>
                    <a:pt x="5195062" y="0"/>
                    <a:pt x="5283200" y="88138"/>
                    <a:pt x="5283200" y="196850"/>
                  </a:cubicBezTo>
                  <a:lnTo>
                    <a:pt x="5283200" y="1174750"/>
                  </a:lnTo>
                  <a:cubicBezTo>
                    <a:pt x="5283200" y="1283462"/>
                    <a:pt x="5195062" y="1371600"/>
                    <a:pt x="5086350" y="1371600"/>
                  </a:cubicBezTo>
                  <a:lnTo>
                    <a:pt x="196850" y="1371600"/>
                  </a:lnTo>
                  <a:cubicBezTo>
                    <a:pt x="88138" y="1371600"/>
                    <a:pt x="0" y="1283462"/>
                    <a:pt x="0" y="1174750"/>
                  </a:cubicBezTo>
                  <a:close/>
                </a:path>
              </a:pathLst>
            </a:custGeom>
            <a:solidFill>
              <a:srgbClr val="FFFFFF"/>
            </a:solidFill>
            <a:ln w="9526" cap="sq">
              <a:solidFill>
                <a:srgbClr val="E5E7EB"/>
              </a:solidFill>
              <a:prstDash val="solid"/>
              <a:miter/>
            </a:ln>
          </p:spPr>
        </p:sp>
      </p:grpSp>
      <p:sp>
        <p:nvSpPr>
          <p:cNvPr name="TextBox 22" id="22"/>
          <p:cNvSpPr txBox="true"/>
          <p:nvPr/>
        </p:nvSpPr>
        <p:spPr>
          <a:xfrm rot="0">
            <a:off x="9447609" y="2831306"/>
            <a:ext cx="3562350" cy="257175"/>
          </a:xfrm>
          <a:prstGeom prst="rect">
            <a:avLst/>
          </a:prstGeom>
        </p:spPr>
        <p:txBody>
          <a:bodyPr anchor="t" rtlCol="false" tIns="0" lIns="0" bIns="0" rIns="0">
            <a:spAutoFit/>
          </a:bodyPr>
          <a:lstStyle/>
          <a:p>
            <a:pPr algn="l">
              <a:lnSpc>
                <a:spcPts val="1727"/>
              </a:lnSpc>
            </a:pPr>
            <a:r>
              <a:rPr lang="en-US" sz="1159" spc="57">
                <a:solidFill>
                  <a:srgbClr val="6B7280"/>
                </a:solidFill>
                <a:latin typeface="Inter"/>
                <a:ea typeface="Inter"/>
                <a:cs typeface="Inter"/>
                <a:sym typeface="Inter"/>
              </a:rPr>
              <a:t>BREAK-EVEN</a:t>
            </a:r>
          </a:p>
        </p:txBody>
      </p:sp>
      <p:sp>
        <p:nvSpPr>
          <p:cNvPr name="TextBox 23" id="23"/>
          <p:cNvSpPr txBox="true"/>
          <p:nvPr/>
        </p:nvSpPr>
        <p:spPr>
          <a:xfrm rot="0">
            <a:off x="9447609" y="3179264"/>
            <a:ext cx="356235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[Mo. X]</a:t>
            </a:r>
          </a:p>
        </p:txBody>
      </p:sp>
      <p:grpSp>
        <p:nvGrpSpPr>
          <p:cNvPr name="Group 24" id="24"/>
          <p:cNvGrpSpPr/>
          <p:nvPr/>
        </p:nvGrpSpPr>
        <p:grpSpPr>
          <a:xfrm rot="0">
            <a:off x="13417229" y="2668038"/>
            <a:ext cx="3962400" cy="1028700"/>
            <a:chOff x="0" y="0"/>
            <a:chExt cx="5283200" cy="1371600"/>
          </a:xfrm>
        </p:grpSpPr>
        <p:sp>
          <p:nvSpPr>
            <p:cNvPr name="Freeform 25" id="25"/>
            <p:cNvSpPr/>
            <p:nvPr/>
          </p:nvSpPr>
          <p:spPr>
            <a:xfrm flipH="false" flipV="false" rot="0">
              <a:off x="0" y="0"/>
              <a:ext cx="5283200" cy="1371600"/>
            </a:xfrm>
            <a:custGeom>
              <a:avLst/>
              <a:gdLst/>
              <a:ahLst/>
              <a:cxnLst/>
              <a:rect r="r" b="b" t="t" l="l"/>
              <a:pathLst>
                <a:path h="1371600" w="5283200">
                  <a:moveTo>
                    <a:pt x="0" y="196850"/>
                  </a:moveTo>
                  <a:cubicBezTo>
                    <a:pt x="0" y="88138"/>
                    <a:pt x="88138" y="0"/>
                    <a:pt x="196850" y="0"/>
                  </a:cubicBezTo>
                  <a:lnTo>
                    <a:pt x="5086350" y="0"/>
                  </a:lnTo>
                  <a:cubicBezTo>
                    <a:pt x="5195062" y="0"/>
                    <a:pt x="5283200" y="88138"/>
                    <a:pt x="5283200" y="196850"/>
                  </a:cubicBezTo>
                  <a:lnTo>
                    <a:pt x="5283200" y="1174750"/>
                  </a:lnTo>
                  <a:cubicBezTo>
                    <a:pt x="5283200" y="1283462"/>
                    <a:pt x="5195062" y="1371600"/>
                    <a:pt x="5086350" y="1371600"/>
                  </a:cubicBezTo>
                  <a:lnTo>
                    <a:pt x="196850" y="1371600"/>
                  </a:lnTo>
                  <a:cubicBezTo>
                    <a:pt x="88138" y="1371600"/>
                    <a:pt x="0" y="1283462"/>
                    <a:pt x="0" y="1174750"/>
                  </a:cubicBezTo>
                  <a:close/>
                </a:path>
              </a:pathLst>
            </a:custGeom>
            <a:solidFill>
              <a:srgbClr val="2ECC71"/>
            </a:solidFill>
            <a:ln w="9526" cap="sq">
              <a:solidFill>
                <a:srgbClr val="2ECC71"/>
              </a:solidFill>
              <a:prstDash val="solid"/>
              <a:miter/>
            </a:ln>
          </p:spPr>
        </p:sp>
      </p:grpSp>
      <p:sp>
        <p:nvSpPr>
          <p:cNvPr name="TextBox 26" id="26"/>
          <p:cNvSpPr txBox="true"/>
          <p:nvPr/>
        </p:nvSpPr>
        <p:spPr>
          <a:xfrm rot="0">
            <a:off x="13617254" y="2831306"/>
            <a:ext cx="3562350" cy="257175"/>
          </a:xfrm>
          <a:prstGeom prst="rect">
            <a:avLst/>
          </a:prstGeom>
        </p:spPr>
        <p:txBody>
          <a:bodyPr anchor="t" rtlCol="false" tIns="0" lIns="0" bIns="0" rIns="0">
            <a:spAutoFit/>
          </a:bodyPr>
          <a:lstStyle/>
          <a:p>
            <a:pPr algn="l">
              <a:lnSpc>
                <a:spcPts val="1727"/>
              </a:lnSpc>
            </a:pPr>
            <a:r>
              <a:rPr lang="en-US" b="true" sz="1159" spc="57">
                <a:solidFill>
                  <a:srgbClr val="1A1A2E"/>
                </a:solidFill>
                <a:latin typeface="Inter Bold"/>
                <a:ea typeface="Inter Bold"/>
                <a:cs typeface="Inter Bold"/>
                <a:sym typeface="Inter Bold"/>
              </a:rPr>
              <a:t>YEAR 1 REVENUE</a:t>
            </a:r>
          </a:p>
        </p:txBody>
      </p:sp>
      <p:sp>
        <p:nvSpPr>
          <p:cNvPr name="TextBox 27" id="27"/>
          <p:cNvSpPr txBox="true"/>
          <p:nvPr/>
        </p:nvSpPr>
        <p:spPr>
          <a:xfrm rot="0">
            <a:off x="13617254" y="3179264"/>
            <a:ext cx="356235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[$X]</a:t>
            </a:r>
          </a:p>
        </p:txBody>
      </p:sp>
      <p:grpSp>
        <p:nvGrpSpPr>
          <p:cNvPr name="Group 28" id="28"/>
          <p:cNvGrpSpPr/>
          <p:nvPr/>
        </p:nvGrpSpPr>
        <p:grpSpPr>
          <a:xfrm rot="0">
            <a:off x="908742" y="4622530"/>
            <a:ext cx="10801350" cy="4848225"/>
            <a:chOff x="0" y="0"/>
            <a:chExt cx="14401800" cy="6464300"/>
          </a:xfrm>
        </p:grpSpPr>
        <p:sp>
          <p:nvSpPr>
            <p:cNvPr name="Freeform 29" id="29"/>
            <p:cNvSpPr/>
            <p:nvPr/>
          </p:nvSpPr>
          <p:spPr>
            <a:xfrm flipH="false" flipV="false" rot="0">
              <a:off x="0" y="0"/>
              <a:ext cx="14401800" cy="6464300"/>
            </a:xfrm>
            <a:custGeom>
              <a:avLst/>
              <a:gdLst/>
              <a:ahLst/>
              <a:cxnLst/>
              <a:rect r="r" b="b" t="t" l="l"/>
              <a:pathLst>
                <a:path h="6464300" w="14401800">
                  <a:moveTo>
                    <a:pt x="0" y="244348"/>
                  </a:moveTo>
                  <a:cubicBezTo>
                    <a:pt x="0" y="109347"/>
                    <a:pt x="109347" y="0"/>
                    <a:pt x="244348" y="0"/>
                  </a:cubicBezTo>
                  <a:lnTo>
                    <a:pt x="14157452" y="0"/>
                  </a:lnTo>
                  <a:cubicBezTo>
                    <a:pt x="14292453" y="0"/>
                    <a:pt x="14401800" y="109347"/>
                    <a:pt x="14401800" y="244348"/>
                  </a:cubicBezTo>
                  <a:lnTo>
                    <a:pt x="14401800" y="6219952"/>
                  </a:lnTo>
                  <a:cubicBezTo>
                    <a:pt x="14401800" y="6354953"/>
                    <a:pt x="14292453" y="6464300"/>
                    <a:pt x="14157452" y="6464300"/>
                  </a:cubicBezTo>
                  <a:lnTo>
                    <a:pt x="244348" y="6464300"/>
                  </a:lnTo>
                  <a:cubicBezTo>
                    <a:pt x="109347" y="6464300"/>
                    <a:pt x="0" y="6354953"/>
                    <a:pt x="0" y="6219952"/>
                  </a:cubicBezTo>
                  <a:close/>
                </a:path>
              </a:pathLst>
            </a:custGeom>
            <a:solidFill>
              <a:srgbClr val="FFFFFF"/>
            </a:solidFill>
            <a:ln w="9526" cap="sq">
              <a:solidFill>
                <a:srgbClr val="E5E7EB"/>
              </a:solidFill>
              <a:prstDash val="solid"/>
              <a:miter/>
            </a:ln>
          </p:spPr>
        </p:sp>
      </p:grpSp>
      <p:grpSp>
        <p:nvGrpSpPr>
          <p:cNvPr name="Group 30" id="30"/>
          <p:cNvGrpSpPr/>
          <p:nvPr/>
        </p:nvGrpSpPr>
        <p:grpSpPr>
          <a:xfrm rot="0">
            <a:off x="923030" y="4636589"/>
            <a:ext cx="10772775" cy="418062"/>
            <a:chOff x="0" y="0"/>
            <a:chExt cx="14363700" cy="557416"/>
          </a:xfrm>
        </p:grpSpPr>
        <p:sp>
          <p:nvSpPr>
            <p:cNvPr name="Freeform 31" id="31"/>
            <p:cNvSpPr/>
            <p:nvPr/>
          </p:nvSpPr>
          <p:spPr>
            <a:xfrm flipH="false" flipV="false" rot="0">
              <a:off x="0" y="0"/>
              <a:ext cx="14363700" cy="557416"/>
            </a:xfrm>
            <a:custGeom>
              <a:avLst/>
              <a:gdLst/>
              <a:ahLst/>
              <a:cxnLst/>
              <a:rect r="r" b="b" t="t" l="l"/>
              <a:pathLst>
                <a:path h="557416" w="14363700">
                  <a:moveTo>
                    <a:pt x="0" y="0"/>
                  </a:moveTo>
                  <a:lnTo>
                    <a:pt x="14363700" y="0"/>
                  </a:lnTo>
                  <a:lnTo>
                    <a:pt x="14363700" y="557416"/>
                  </a:lnTo>
                  <a:lnTo>
                    <a:pt x="0" y="557416"/>
                  </a:lnTo>
                  <a:close/>
                </a:path>
              </a:pathLst>
            </a:custGeom>
            <a:solidFill>
              <a:srgbClr val="ECFAF2"/>
            </a:solidFill>
          </p:spPr>
        </p:sp>
      </p:grpSp>
      <p:sp>
        <p:nvSpPr>
          <p:cNvPr name="TextBox 32" id="32"/>
          <p:cNvSpPr txBox="true"/>
          <p:nvPr/>
        </p:nvSpPr>
        <p:spPr>
          <a:xfrm rot="0">
            <a:off x="938736" y="4654601"/>
            <a:ext cx="2695575" cy="260985"/>
          </a:xfrm>
          <a:prstGeom prst="rect">
            <a:avLst/>
          </a:prstGeom>
        </p:spPr>
        <p:txBody>
          <a:bodyPr anchor="t" rtlCol="false" tIns="0" lIns="0" bIns="0" rIns="0">
            <a:spAutoFit/>
          </a:bodyPr>
          <a:lstStyle/>
          <a:p>
            <a:pPr algn="l">
              <a:lnSpc>
                <a:spcPts val="2052"/>
              </a:lnSpc>
            </a:pPr>
            <a:r>
              <a:rPr lang="en-US" sz="1360" b="true">
                <a:solidFill>
                  <a:srgbClr val="FFFFFF"/>
                </a:solidFill>
                <a:latin typeface="Arimo Bold"/>
                <a:ea typeface="Arimo Bold"/>
                <a:cs typeface="Arimo Bold"/>
                <a:sym typeface="Arimo Bold"/>
              </a:rPr>
              <a:t>Line item</a:t>
            </a:r>
          </a:p>
        </p:txBody>
      </p:sp>
      <p:sp>
        <p:nvSpPr>
          <p:cNvPr name="TextBox 33" id="33"/>
          <p:cNvSpPr txBox="true"/>
          <p:nvPr/>
        </p:nvSpPr>
        <p:spPr>
          <a:xfrm rot="0">
            <a:off x="3532432" y="4631141"/>
            <a:ext cx="2695575" cy="260985"/>
          </a:xfrm>
          <a:prstGeom prst="rect">
            <a:avLst/>
          </a:prstGeom>
        </p:spPr>
        <p:txBody>
          <a:bodyPr anchor="t" rtlCol="false" tIns="0" lIns="0" bIns="0" rIns="0">
            <a:spAutoFit/>
          </a:bodyPr>
          <a:lstStyle/>
          <a:p>
            <a:pPr algn="r">
              <a:lnSpc>
                <a:spcPts val="2052"/>
              </a:lnSpc>
            </a:pPr>
            <a:r>
              <a:rPr lang="en-US" sz="1360" b="true">
                <a:solidFill>
                  <a:srgbClr val="FFFFFF"/>
                </a:solidFill>
                <a:latin typeface="Arimo Bold"/>
                <a:ea typeface="Arimo Bold"/>
                <a:cs typeface="Arimo Bold"/>
                <a:sym typeface="Arimo Bold"/>
              </a:rPr>
              <a:t>Y1</a:t>
            </a:r>
          </a:p>
        </p:txBody>
      </p:sp>
      <p:sp>
        <p:nvSpPr>
          <p:cNvPr name="TextBox 34" id="34"/>
          <p:cNvSpPr txBox="true"/>
          <p:nvPr/>
        </p:nvSpPr>
        <p:spPr>
          <a:xfrm rot="0">
            <a:off x="6259482" y="4645076"/>
            <a:ext cx="2695575" cy="609600"/>
          </a:xfrm>
          <a:prstGeom prst="rect">
            <a:avLst/>
          </a:prstGeom>
        </p:spPr>
        <p:txBody>
          <a:bodyPr anchor="t" rtlCol="false" tIns="0" lIns="0" bIns="0" rIns="0">
            <a:spAutoFit/>
          </a:bodyPr>
          <a:lstStyle/>
          <a:p>
            <a:pPr algn="r">
              <a:lnSpc>
                <a:spcPts val="2052"/>
              </a:lnSpc>
            </a:pPr>
            <a:r>
              <a:rPr lang="en-US" sz="1360" b="true">
                <a:solidFill>
                  <a:srgbClr val="FFFFFF"/>
                </a:solidFill>
                <a:latin typeface="Arimo Bold"/>
                <a:ea typeface="Arimo Bold"/>
                <a:cs typeface="Arimo Bold"/>
                <a:sym typeface="Arimo Bold"/>
              </a:rPr>
              <a:t>Y2</a:t>
            </a:r>
          </a:p>
        </p:txBody>
      </p:sp>
      <p:sp>
        <p:nvSpPr>
          <p:cNvPr name="TextBox 35" id="35"/>
          <p:cNvSpPr txBox="true"/>
          <p:nvPr/>
        </p:nvSpPr>
        <p:spPr>
          <a:xfrm rot="0">
            <a:off x="8906989" y="4679718"/>
            <a:ext cx="2695575" cy="609600"/>
          </a:xfrm>
          <a:prstGeom prst="rect">
            <a:avLst/>
          </a:prstGeom>
        </p:spPr>
        <p:txBody>
          <a:bodyPr anchor="t" rtlCol="false" tIns="0" lIns="0" bIns="0" rIns="0">
            <a:spAutoFit/>
          </a:bodyPr>
          <a:lstStyle/>
          <a:p>
            <a:pPr algn="r">
              <a:lnSpc>
                <a:spcPts val="2052"/>
              </a:lnSpc>
            </a:pPr>
            <a:r>
              <a:rPr lang="en-US" sz="1360" b="true">
                <a:solidFill>
                  <a:srgbClr val="FFFFFF"/>
                </a:solidFill>
                <a:latin typeface="Arimo Bold"/>
                <a:ea typeface="Arimo Bold"/>
                <a:cs typeface="Arimo Bold"/>
                <a:sym typeface="Arimo Bold"/>
              </a:rPr>
              <a:t>Y3</a:t>
            </a:r>
          </a:p>
        </p:txBody>
      </p:sp>
      <p:sp>
        <p:nvSpPr>
          <p:cNvPr name="TextBox 36" id="36"/>
          <p:cNvSpPr txBox="true"/>
          <p:nvPr/>
        </p:nvSpPr>
        <p:spPr>
          <a:xfrm rot="0">
            <a:off x="922515" y="5235626"/>
            <a:ext cx="2695575" cy="5238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[Revenue]</a:t>
            </a:r>
          </a:p>
        </p:txBody>
      </p:sp>
      <p:sp>
        <p:nvSpPr>
          <p:cNvPr name="TextBox 37" id="37"/>
          <p:cNvSpPr txBox="true"/>
          <p:nvPr/>
        </p:nvSpPr>
        <p:spPr>
          <a:xfrm rot="0">
            <a:off x="3615261" y="5235626"/>
            <a:ext cx="2695575" cy="24193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38" id="38"/>
          <p:cNvSpPr txBox="true"/>
          <p:nvPr/>
        </p:nvSpPr>
        <p:spPr>
          <a:xfrm rot="0">
            <a:off x="6308007" y="5235626"/>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39" id="39"/>
          <p:cNvSpPr txBox="true"/>
          <p:nvPr/>
        </p:nvSpPr>
        <p:spPr>
          <a:xfrm rot="0">
            <a:off x="9000754" y="5192078"/>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grpSp>
        <p:nvGrpSpPr>
          <p:cNvPr name="Group 40" id="40"/>
          <p:cNvGrpSpPr/>
          <p:nvPr/>
        </p:nvGrpSpPr>
        <p:grpSpPr>
          <a:xfrm rot="0">
            <a:off x="923030" y="5683596"/>
            <a:ext cx="10772775" cy="495300"/>
            <a:chOff x="0" y="0"/>
            <a:chExt cx="14363700" cy="660400"/>
          </a:xfrm>
        </p:grpSpPr>
        <p:sp>
          <p:nvSpPr>
            <p:cNvPr name="Freeform 41" id="41"/>
            <p:cNvSpPr/>
            <p:nvPr/>
          </p:nvSpPr>
          <p:spPr>
            <a:xfrm flipH="false" flipV="false" rot="0">
              <a:off x="0" y="0"/>
              <a:ext cx="14363700" cy="660400"/>
            </a:xfrm>
            <a:custGeom>
              <a:avLst/>
              <a:gdLst/>
              <a:ahLst/>
              <a:cxnLst/>
              <a:rect r="r" b="b" t="t" l="l"/>
              <a:pathLst>
                <a:path h="660400" w="14363700">
                  <a:moveTo>
                    <a:pt x="0" y="0"/>
                  </a:moveTo>
                  <a:lnTo>
                    <a:pt x="14363700" y="0"/>
                  </a:lnTo>
                  <a:lnTo>
                    <a:pt x="14363700" y="660400"/>
                  </a:lnTo>
                  <a:lnTo>
                    <a:pt x="0" y="660400"/>
                  </a:lnTo>
                  <a:close/>
                </a:path>
              </a:pathLst>
            </a:custGeom>
            <a:solidFill>
              <a:srgbClr val="F8F8FA">
                <a:alpha val="15686"/>
              </a:srgbClr>
            </a:solidFill>
          </p:spPr>
        </p:sp>
      </p:grpSp>
      <p:sp>
        <p:nvSpPr>
          <p:cNvPr name="TextBox 42" id="42"/>
          <p:cNvSpPr txBox="true"/>
          <p:nvPr/>
        </p:nvSpPr>
        <p:spPr>
          <a:xfrm rot="0">
            <a:off x="922515" y="5731821"/>
            <a:ext cx="2695575" cy="5238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[Cost of goods]</a:t>
            </a:r>
          </a:p>
        </p:txBody>
      </p:sp>
      <p:sp>
        <p:nvSpPr>
          <p:cNvPr name="TextBox 43" id="43"/>
          <p:cNvSpPr txBox="true"/>
          <p:nvPr/>
        </p:nvSpPr>
        <p:spPr>
          <a:xfrm rot="0">
            <a:off x="3615261" y="5731821"/>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44" id="44"/>
          <p:cNvSpPr txBox="true"/>
          <p:nvPr/>
        </p:nvSpPr>
        <p:spPr>
          <a:xfrm rot="0">
            <a:off x="6308007" y="5731821"/>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45" id="45"/>
          <p:cNvSpPr txBox="true"/>
          <p:nvPr/>
        </p:nvSpPr>
        <p:spPr>
          <a:xfrm rot="0">
            <a:off x="9000754" y="5731821"/>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46" id="46"/>
          <p:cNvSpPr txBox="true"/>
          <p:nvPr/>
        </p:nvSpPr>
        <p:spPr>
          <a:xfrm rot="0">
            <a:off x="922515" y="6228016"/>
            <a:ext cx="2695575" cy="5238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[Marketing]</a:t>
            </a:r>
          </a:p>
        </p:txBody>
      </p:sp>
      <p:sp>
        <p:nvSpPr>
          <p:cNvPr name="TextBox 47" id="47"/>
          <p:cNvSpPr txBox="true"/>
          <p:nvPr/>
        </p:nvSpPr>
        <p:spPr>
          <a:xfrm rot="0">
            <a:off x="3615261" y="6228016"/>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48" id="48"/>
          <p:cNvSpPr txBox="true"/>
          <p:nvPr/>
        </p:nvSpPr>
        <p:spPr>
          <a:xfrm rot="0">
            <a:off x="6308007" y="6228016"/>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49" id="49"/>
          <p:cNvSpPr txBox="true"/>
          <p:nvPr/>
        </p:nvSpPr>
        <p:spPr>
          <a:xfrm rot="0">
            <a:off x="9000754" y="6228016"/>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grpSp>
        <p:nvGrpSpPr>
          <p:cNvPr name="Group 50" id="50"/>
          <p:cNvGrpSpPr/>
          <p:nvPr/>
        </p:nvGrpSpPr>
        <p:grpSpPr>
          <a:xfrm rot="0">
            <a:off x="923030" y="6675987"/>
            <a:ext cx="10772775" cy="495300"/>
            <a:chOff x="0" y="0"/>
            <a:chExt cx="14363700" cy="660400"/>
          </a:xfrm>
        </p:grpSpPr>
        <p:sp>
          <p:nvSpPr>
            <p:cNvPr name="Freeform 51" id="51"/>
            <p:cNvSpPr/>
            <p:nvPr/>
          </p:nvSpPr>
          <p:spPr>
            <a:xfrm flipH="false" flipV="false" rot="0">
              <a:off x="0" y="0"/>
              <a:ext cx="14363700" cy="660400"/>
            </a:xfrm>
            <a:custGeom>
              <a:avLst/>
              <a:gdLst/>
              <a:ahLst/>
              <a:cxnLst/>
              <a:rect r="r" b="b" t="t" l="l"/>
              <a:pathLst>
                <a:path h="660400" w="14363700">
                  <a:moveTo>
                    <a:pt x="0" y="0"/>
                  </a:moveTo>
                  <a:lnTo>
                    <a:pt x="14363700" y="0"/>
                  </a:lnTo>
                  <a:lnTo>
                    <a:pt x="14363700" y="660400"/>
                  </a:lnTo>
                  <a:lnTo>
                    <a:pt x="0" y="660400"/>
                  </a:lnTo>
                  <a:close/>
                </a:path>
              </a:pathLst>
            </a:custGeom>
            <a:solidFill>
              <a:srgbClr val="F8F8FA">
                <a:alpha val="15686"/>
              </a:srgbClr>
            </a:solidFill>
          </p:spPr>
        </p:sp>
      </p:grpSp>
      <p:sp>
        <p:nvSpPr>
          <p:cNvPr name="TextBox 52" id="52"/>
          <p:cNvSpPr txBox="true"/>
          <p:nvPr/>
        </p:nvSpPr>
        <p:spPr>
          <a:xfrm rot="0">
            <a:off x="922515" y="6724212"/>
            <a:ext cx="2695575" cy="5238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[Operations]</a:t>
            </a:r>
          </a:p>
        </p:txBody>
      </p:sp>
      <p:sp>
        <p:nvSpPr>
          <p:cNvPr name="TextBox 53" id="53"/>
          <p:cNvSpPr txBox="true"/>
          <p:nvPr/>
        </p:nvSpPr>
        <p:spPr>
          <a:xfrm rot="0">
            <a:off x="3615261" y="6724212"/>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54" id="54"/>
          <p:cNvSpPr txBox="true"/>
          <p:nvPr/>
        </p:nvSpPr>
        <p:spPr>
          <a:xfrm rot="0">
            <a:off x="6308007" y="6724212"/>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sp>
        <p:nvSpPr>
          <p:cNvPr name="TextBox 55" id="55"/>
          <p:cNvSpPr txBox="true"/>
          <p:nvPr/>
        </p:nvSpPr>
        <p:spPr>
          <a:xfrm rot="0">
            <a:off x="9000754" y="6724212"/>
            <a:ext cx="2695575" cy="523875"/>
          </a:xfrm>
          <a:prstGeom prst="rect">
            <a:avLst/>
          </a:prstGeom>
        </p:spPr>
        <p:txBody>
          <a:bodyPr anchor="t" rtlCol="false" tIns="0" lIns="0" bIns="0" rIns="0">
            <a:spAutoFit/>
          </a:bodyPr>
          <a:lstStyle/>
          <a:p>
            <a:pPr algn="r">
              <a:lnSpc>
                <a:spcPts val="2052"/>
              </a:lnSpc>
            </a:pPr>
            <a:r>
              <a:rPr lang="en-US" sz="1360">
                <a:solidFill>
                  <a:srgbClr val="595959"/>
                </a:solidFill>
                <a:latin typeface="Inter"/>
                <a:ea typeface="Inter"/>
                <a:cs typeface="Inter"/>
                <a:sym typeface="Inter"/>
              </a:rPr>
              <a:t>[$X]</a:t>
            </a:r>
          </a:p>
        </p:txBody>
      </p:sp>
      <p:grpSp>
        <p:nvGrpSpPr>
          <p:cNvPr name="Group 56" id="56"/>
          <p:cNvGrpSpPr/>
          <p:nvPr/>
        </p:nvGrpSpPr>
        <p:grpSpPr>
          <a:xfrm rot="0">
            <a:off x="923030" y="7172173"/>
            <a:ext cx="10772775" cy="485775"/>
            <a:chOff x="0" y="0"/>
            <a:chExt cx="14363700" cy="647700"/>
          </a:xfrm>
        </p:grpSpPr>
        <p:sp>
          <p:nvSpPr>
            <p:cNvPr name="Freeform 57" id="57"/>
            <p:cNvSpPr/>
            <p:nvPr/>
          </p:nvSpPr>
          <p:spPr>
            <a:xfrm flipH="false" flipV="false" rot="0">
              <a:off x="0" y="0"/>
              <a:ext cx="14363700" cy="647700"/>
            </a:xfrm>
            <a:custGeom>
              <a:avLst/>
              <a:gdLst/>
              <a:ahLst/>
              <a:cxnLst/>
              <a:rect r="r" b="b" t="t" l="l"/>
              <a:pathLst>
                <a:path h="647700" w="14363700">
                  <a:moveTo>
                    <a:pt x="0" y="0"/>
                  </a:moveTo>
                  <a:lnTo>
                    <a:pt x="14363700" y="0"/>
                  </a:lnTo>
                  <a:lnTo>
                    <a:pt x="14363700" y="647700"/>
                  </a:lnTo>
                  <a:lnTo>
                    <a:pt x="0" y="647700"/>
                  </a:lnTo>
                  <a:close/>
                </a:path>
              </a:pathLst>
            </a:custGeom>
            <a:solidFill>
              <a:srgbClr val="31CE76">
                <a:alpha val="784"/>
              </a:srgbClr>
            </a:solidFill>
          </p:spPr>
        </p:sp>
      </p:grpSp>
      <p:sp>
        <p:nvSpPr>
          <p:cNvPr name="TextBox 58" id="58"/>
          <p:cNvSpPr txBox="true"/>
          <p:nvPr/>
        </p:nvSpPr>
        <p:spPr>
          <a:xfrm rot="0">
            <a:off x="938736" y="7231256"/>
            <a:ext cx="2695575" cy="542925"/>
          </a:xfrm>
          <a:prstGeom prst="rect">
            <a:avLst/>
          </a:prstGeom>
        </p:spPr>
        <p:txBody>
          <a:bodyPr anchor="t" rtlCol="false" tIns="0" lIns="0" bIns="0" rIns="0">
            <a:spAutoFit/>
          </a:bodyPr>
          <a:lstStyle/>
          <a:p>
            <a:pPr algn="l">
              <a:lnSpc>
                <a:spcPts val="2052"/>
              </a:lnSpc>
            </a:pPr>
            <a:r>
              <a:rPr lang="en-US" sz="1360" b="true">
                <a:solidFill>
                  <a:srgbClr val="1A1A2E"/>
                </a:solidFill>
                <a:latin typeface="Arimo Bold"/>
                <a:ea typeface="Arimo Bold"/>
                <a:cs typeface="Arimo Bold"/>
                <a:sym typeface="Arimo Bold"/>
              </a:rPr>
              <a:t>Net profit</a:t>
            </a:r>
          </a:p>
        </p:txBody>
      </p:sp>
      <p:sp>
        <p:nvSpPr>
          <p:cNvPr name="TextBox 59" id="59"/>
          <p:cNvSpPr txBox="true"/>
          <p:nvPr/>
        </p:nvSpPr>
        <p:spPr>
          <a:xfrm rot="0">
            <a:off x="3609451" y="7231256"/>
            <a:ext cx="2695575" cy="542925"/>
          </a:xfrm>
          <a:prstGeom prst="rect">
            <a:avLst/>
          </a:prstGeom>
        </p:spPr>
        <p:txBody>
          <a:bodyPr anchor="t" rtlCol="false" tIns="0" lIns="0" bIns="0" rIns="0">
            <a:spAutoFit/>
          </a:bodyPr>
          <a:lstStyle/>
          <a:p>
            <a:pPr algn="r">
              <a:lnSpc>
                <a:spcPts val="2052"/>
              </a:lnSpc>
            </a:pPr>
            <a:r>
              <a:rPr lang="en-US" sz="1360" b="true">
                <a:solidFill>
                  <a:srgbClr val="1A1A2E"/>
                </a:solidFill>
                <a:latin typeface="Arimo Bold"/>
                <a:ea typeface="Arimo Bold"/>
                <a:cs typeface="Arimo Bold"/>
                <a:sym typeface="Arimo Bold"/>
              </a:rPr>
              <a:t>[$X]</a:t>
            </a:r>
          </a:p>
        </p:txBody>
      </p:sp>
      <p:sp>
        <p:nvSpPr>
          <p:cNvPr name="TextBox 60" id="60"/>
          <p:cNvSpPr txBox="true"/>
          <p:nvPr/>
        </p:nvSpPr>
        <p:spPr>
          <a:xfrm rot="0">
            <a:off x="6308007" y="7231256"/>
            <a:ext cx="2695575" cy="542925"/>
          </a:xfrm>
          <a:prstGeom prst="rect">
            <a:avLst/>
          </a:prstGeom>
        </p:spPr>
        <p:txBody>
          <a:bodyPr anchor="t" rtlCol="false" tIns="0" lIns="0" bIns="0" rIns="0">
            <a:spAutoFit/>
          </a:bodyPr>
          <a:lstStyle/>
          <a:p>
            <a:pPr algn="r">
              <a:lnSpc>
                <a:spcPts val="2052"/>
              </a:lnSpc>
            </a:pPr>
            <a:r>
              <a:rPr lang="en-US" sz="1360" b="true">
                <a:solidFill>
                  <a:srgbClr val="1A1A2E"/>
                </a:solidFill>
                <a:latin typeface="Arimo Bold"/>
                <a:ea typeface="Arimo Bold"/>
                <a:cs typeface="Arimo Bold"/>
                <a:sym typeface="Arimo Bold"/>
              </a:rPr>
              <a:t>[$X]</a:t>
            </a:r>
          </a:p>
        </p:txBody>
      </p:sp>
      <p:sp>
        <p:nvSpPr>
          <p:cNvPr name="TextBox 61" id="61"/>
          <p:cNvSpPr txBox="true"/>
          <p:nvPr/>
        </p:nvSpPr>
        <p:spPr>
          <a:xfrm rot="0">
            <a:off x="9000754" y="7231256"/>
            <a:ext cx="2695575" cy="542925"/>
          </a:xfrm>
          <a:prstGeom prst="rect">
            <a:avLst/>
          </a:prstGeom>
        </p:spPr>
        <p:txBody>
          <a:bodyPr anchor="t" rtlCol="false" tIns="0" lIns="0" bIns="0" rIns="0">
            <a:spAutoFit/>
          </a:bodyPr>
          <a:lstStyle/>
          <a:p>
            <a:pPr algn="r">
              <a:lnSpc>
                <a:spcPts val="2052"/>
              </a:lnSpc>
            </a:pPr>
            <a:r>
              <a:rPr lang="en-US" sz="1360" b="true">
                <a:solidFill>
                  <a:srgbClr val="1A1A2E"/>
                </a:solidFill>
                <a:latin typeface="Arimo Bold"/>
                <a:ea typeface="Arimo Bold"/>
                <a:cs typeface="Arimo Bold"/>
                <a:sym typeface="Arimo Bold"/>
              </a:rPr>
              <a:t>[$X]</a:t>
            </a:r>
          </a:p>
        </p:txBody>
      </p:sp>
      <p:grpSp>
        <p:nvGrpSpPr>
          <p:cNvPr name="Group 62" id="62"/>
          <p:cNvGrpSpPr/>
          <p:nvPr/>
        </p:nvGrpSpPr>
        <p:grpSpPr>
          <a:xfrm rot="0">
            <a:off x="12064375" y="4623568"/>
            <a:ext cx="5314950" cy="2457450"/>
            <a:chOff x="0" y="0"/>
            <a:chExt cx="7086600" cy="3276600"/>
          </a:xfrm>
        </p:grpSpPr>
        <p:sp>
          <p:nvSpPr>
            <p:cNvPr name="Freeform 63" id="63"/>
            <p:cNvSpPr/>
            <p:nvPr/>
          </p:nvSpPr>
          <p:spPr>
            <a:xfrm flipH="false" flipV="false" rot="0">
              <a:off x="0" y="0"/>
              <a:ext cx="7086600" cy="3276600"/>
            </a:xfrm>
            <a:custGeom>
              <a:avLst/>
              <a:gdLst/>
              <a:ahLst/>
              <a:cxnLst/>
              <a:rect r="r" b="b" t="t" l="l"/>
              <a:pathLst>
                <a:path h="3276600" w="7086600">
                  <a:moveTo>
                    <a:pt x="0" y="195834"/>
                  </a:moveTo>
                  <a:cubicBezTo>
                    <a:pt x="0" y="87630"/>
                    <a:pt x="87630" y="0"/>
                    <a:pt x="195834" y="0"/>
                  </a:cubicBezTo>
                  <a:lnTo>
                    <a:pt x="6890766" y="0"/>
                  </a:lnTo>
                  <a:cubicBezTo>
                    <a:pt x="6998970" y="0"/>
                    <a:pt x="7086600" y="87630"/>
                    <a:pt x="7086600" y="195834"/>
                  </a:cubicBezTo>
                  <a:lnTo>
                    <a:pt x="7086600" y="3080766"/>
                  </a:lnTo>
                  <a:cubicBezTo>
                    <a:pt x="7086600" y="3188970"/>
                    <a:pt x="6998970" y="3276600"/>
                    <a:pt x="6890766" y="3276600"/>
                  </a:cubicBezTo>
                  <a:lnTo>
                    <a:pt x="195834" y="3276600"/>
                  </a:lnTo>
                  <a:cubicBezTo>
                    <a:pt x="87630" y="3276600"/>
                    <a:pt x="0" y="3188970"/>
                    <a:pt x="0" y="3080766"/>
                  </a:cubicBezTo>
                  <a:close/>
                </a:path>
              </a:pathLst>
            </a:custGeom>
            <a:solidFill>
              <a:srgbClr val="FFFFFF"/>
            </a:solidFill>
            <a:ln w="9526" cap="sq">
              <a:solidFill>
                <a:srgbClr val="E5E7EB"/>
              </a:solidFill>
              <a:prstDash val="solid"/>
              <a:miter/>
            </a:ln>
          </p:spPr>
        </p:sp>
      </p:grpSp>
      <p:sp>
        <p:nvSpPr>
          <p:cNvPr name="TextBox 64" id="64"/>
          <p:cNvSpPr txBox="true"/>
          <p:nvPr/>
        </p:nvSpPr>
        <p:spPr>
          <a:xfrm rot="0">
            <a:off x="12264400" y="4778426"/>
            <a:ext cx="49149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BREAK-EVEN PROJECTION</a:t>
            </a:r>
          </a:p>
        </p:txBody>
      </p:sp>
      <p:grpSp>
        <p:nvGrpSpPr>
          <p:cNvPr name="Group 65" id="65"/>
          <p:cNvGrpSpPr/>
          <p:nvPr/>
        </p:nvGrpSpPr>
        <p:grpSpPr>
          <a:xfrm rot="0">
            <a:off x="12264781" y="5159721"/>
            <a:ext cx="4914157" cy="1440056"/>
            <a:chOff x="0" y="0"/>
            <a:chExt cx="6552209" cy="1920075"/>
          </a:xfrm>
        </p:grpSpPr>
        <p:sp>
          <p:nvSpPr>
            <p:cNvPr name="Freeform 66" id="66" descr="preencoded.png"/>
            <p:cNvSpPr/>
            <p:nvPr/>
          </p:nvSpPr>
          <p:spPr>
            <a:xfrm flipH="false" flipV="false" rot="0">
              <a:off x="0" y="0"/>
              <a:ext cx="6552184" cy="1920113"/>
            </a:xfrm>
            <a:custGeom>
              <a:avLst/>
              <a:gdLst/>
              <a:ahLst/>
              <a:cxnLst/>
              <a:rect r="r" b="b" t="t" l="l"/>
              <a:pathLst>
                <a:path h="1920113" w="6552184">
                  <a:moveTo>
                    <a:pt x="0" y="0"/>
                  </a:moveTo>
                  <a:lnTo>
                    <a:pt x="6552184" y="0"/>
                  </a:lnTo>
                  <a:lnTo>
                    <a:pt x="6552184" y="1920113"/>
                  </a:lnTo>
                  <a:lnTo>
                    <a:pt x="0" y="1920113"/>
                  </a:lnTo>
                  <a:lnTo>
                    <a:pt x="0" y="0"/>
                  </a:lnTo>
                  <a:close/>
                </a:path>
              </a:pathLst>
            </a:custGeom>
            <a:blipFill>
              <a:blip r:embed="rId3"/>
              <a:stretch>
                <a:fillRect l="-37" t="0" r="-37" b="1"/>
              </a:stretch>
            </a:blipFill>
          </p:spPr>
        </p:sp>
      </p:grpSp>
      <p:sp>
        <p:nvSpPr>
          <p:cNvPr name="TextBox 67" id="67"/>
          <p:cNvSpPr txBox="true"/>
          <p:nvPr/>
        </p:nvSpPr>
        <p:spPr>
          <a:xfrm rot="0">
            <a:off x="12264400" y="6623447"/>
            <a:ext cx="4914900" cy="257175"/>
          </a:xfrm>
          <a:prstGeom prst="rect">
            <a:avLst/>
          </a:prstGeom>
        </p:spPr>
        <p:txBody>
          <a:bodyPr anchor="t" rtlCol="false" tIns="0" lIns="0" bIns="0" rIns="0">
            <a:spAutoFit/>
          </a:bodyPr>
          <a:lstStyle/>
          <a:p>
            <a:pPr algn="l">
              <a:lnSpc>
                <a:spcPts val="1727"/>
              </a:lnSpc>
            </a:pPr>
            <a:r>
              <a:rPr lang="en-US" sz="1159">
                <a:solidFill>
                  <a:srgbClr val="1A1A2E"/>
                </a:solidFill>
                <a:latin typeface="Inter"/>
                <a:ea typeface="Inter"/>
                <a:cs typeface="Inter"/>
                <a:sym typeface="Inter"/>
              </a:rPr>
              <a:t>RevenueCosts</a:t>
            </a:r>
          </a:p>
        </p:txBody>
      </p:sp>
      <p:grpSp>
        <p:nvGrpSpPr>
          <p:cNvPr name="Group 68" id="68"/>
          <p:cNvGrpSpPr/>
          <p:nvPr/>
        </p:nvGrpSpPr>
        <p:grpSpPr>
          <a:xfrm rot="0">
            <a:off x="12069147" y="7227694"/>
            <a:ext cx="5305425" cy="1171575"/>
            <a:chOff x="0" y="0"/>
            <a:chExt cx="7073900" cy="1562100"/>
          </a:xfrm>
        </p:grpSpPr>
        <p:sp>
          <p:nvSpPr>
            <p:cNvPr name="Freeform 69" id="69"/>
            <p:cNvSpPr/>
            <p:nvPr/>
          </p:nvSpPr>
          <p:spPr>
            <a:xfrm flipH="false" flipV="false" rot="0">
              <a:off x="0" y="0"/>
              <a:ext cx="7073900" cy="1562100"/>
            </a:xfrm>
            <a:custGeom>
              <a:avLst/>
              <a:gdLst/>
              <a:ahLst/>
              <a:cxnLst/>
              <a:rect r="r" b="b" t="t" l="l"/>
              <a:pathLst>
                <a:path h="1562100" w="7073900">
                  <a:moveTo>
                    <a:pt x="0" y="195072"/>
                  </a:moveTo>
                  <a:cubicBezTo>
                    <a:pt x="0" y="87376"/>
                    <a:pt x="87376" y="0"/>
                    <a:pt x="195072" y="0"/>
                  </a:cubicBezTo>
                  <a:lnTo>
                    <a:pt x="6878828" y="0"/>
                  </a:lnTo>
                  <a:cubicBezTo>
                    <a:pt x="6986524" y="0"/>
                    <a:pt x="7073900" y="87376"/>
                    <a:pt x="7073900" y="195072"/>
                  </a:cubicBezTo>
                  <a:lnTo>
                    <a:pt x="7073900" y="1367028"/>
                  </a:lnTo>
                  <a:cubicBezTo>
                    <a:pt x="7073900" y="1474724"/>
                    <a:pt x="6986524" y="1562100"/>
                    <a:pt x="6878828" y="1562100"/>
                  </a:cubicBezTo>
                  <a:lnTo>
                    <a:pt x="195072" y="1562100"/>
                  </a:lnTo>
                  <a:cubicBezTo>
                    <a:pt x="87376" y="1562100"/>
                    <a:pt x="0" y="1474724"/>
                    <a:pt x="0" y="1367028"/>
                  </a:cubicBezTo>
                  <a:close/>
                </a:path>
              </a:pathLst>
            </a:custGeom>
            <a:solidFill>
              <a:srgbClr val="ECFAF2"/>
            </a:solidFill>
          </p:spPr>
        </p:sp>
      </p:grpSp>
      <p:sp>
        <p:nvSpPr>
          <p:cNvPr name="TextBox 70" id="70"/>
          <p:cNvSpPr txBox="true"/>
          <p:nvPr/>
        </p:nvSpPr>
        <p:spPr>
          <a:xfrm rot="0">
            <a:off x="12254884" y="7369369"/>
            <a:ext cx="49339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FUNDING PLAN</a:t>
            </a:r>
          </a:p>
        </p:txBody>
      </p:sp>
      <p:sp>
        <p:nvSpPr>
          <p:cNvPr name="TextBox 71" id="71"/>
          <p:cNvSpPr txBox="true"/>
          <p:nvPr/>
        </p:nvSpPr>
        <p:spPr>
          <a:xfrm rot="0">
            <a:off x="12254884" y="7679827"/>
            <a:ext cx="4933950" cy="533400"/>
          </a:xfrm>
          <a:prstGeom prst="rect">
            <a:avLst/>
          </a:prstGeom>
        </p:spPr>
        <p:txBody>
          <a:bodyPr anchor="t" rtlCol="false" tIns="0" lIns="0" bIns="0" rIns="0">
            <a:spAutoFit/>
          </a:bodyPr>
          <a:lstStyle/>
          <a:p>
            <a:pPr algn="l">
              <a:lnSpc>
                <a:spcPts val="1979"/>
              </a:lnSpc>
            </a:pPr>
            <a:r>
              <a:rPr lang="en-US" sz="1439">
                <a:solidFill>
                  <a:srgbClr val="FFFFFF"/>
                </a:solidFill>
                <a:latin typeface="Inter"/>
                <a:ea typeface="Inter"/>
                <a:cs typeface="Inter"/>
                <a:sym typeface="Inter"/>
              </a:rPr>
              <a:t>[Describe how the company plans to fund operations — INJAZ seed, grants, accelerator, friends and family.]</a:t>
            </a:r>
          </a:p>
        </p:txBody>
      </p:sp>
      <p:grpSp>
        <p:nvGrpSpPr>
          <p:cNvPr name="Group 72" id="72"/>
          <p:cNvGrpSpPr/>
          <p:nvPr/>
        </p:nvGrpSpPr>
        <p:grpSpPr>
          <a:xfrm rot="0">
            <a:off x="12064375" y="8544820"/>
            <a:ext cx="5314950" cy="1200150"/>
            <a:chOff x="0" y="0"/>
            <a:chExt cx="7086600" cy="1600200"/>
          </a:xfrm>
        </p:grpSpPr>
        <p:sp>
          <p:nvSpPr>
            <p:cNvPr name="Freeform 73" id="73"/>
            <p:cNvSpPr/>
            <p:nvPr/>
          </p:nvSpPr>
          <p:spPr>
            <a:xfrm flipH="false" flipV="false" rot="0">
              <a:off x="0" y="0"/>
              <a:ext cx="7086600" cy="1600073"/>
            </a:xfrm>
            <a:custGeom>
              <a:avLst/>
              <a:gdLst/>
              <a:ahLst/>
              <a:cxnLst/>
              <a:rect r="r" b="b" t="t" l="l"/>
              <a:pathLst>
                <a:path h="1600073" w="7086600">
                  <a:moveTo>
                    <a:pt x="0" y="196596"/>
                  </a:moveTo>
                  <a:cubicBezTo>
                    <a:pt x="0" y="88011"/>
                    <a:pt x="88011" y="0"/>
                    <a:pt x="196596" y="0"/>
                  </a:cubicBezTo>
                  <a:lnTo>
                    <a:pt x="6890004" y="0"/>
                  </a:lnTo>
                  <a:cubicBezTo>
                    <a:pt x="6998589" y="0"/>
                    <a:pt x="7086600" y="88011"/>
                    <a:pt x="7086600" y="196596"/>
                  </a:cubicBezTo>
                  <a:lnTo>
                    <a:pt x="7086600" y="1403477"/>
                  </a:lnTo>
                  <a:cubicBezTo>
                    <a:pt x="7086600" y="1512062"/>
                    <a:pt x="6998589" y="1600073"/>
                    <a:pt x="6890004" y="1600073"/>
                  </a:cubicBezTo>
                  <a:lnTo>
                    <a:pt x="196596" y="1600073"/>
                  </a:lnTo>
                  <a:cubicBezTo>
                    <a:pt x="88011" y="1600200"/>
                    <a:pt x="0" y="1512189"/>
                    <a:pt x="0" y="1403604"/>
                  </a:cubicBezTo>
                  <a:close/>
                </a:path>
              </a:pathLst>
            </a:custGeom>
            <a:solidFill>
              <a:srgbClr val="FFFFFF"/>
            </a:solidFill>
            <a:ln w="9526" cap="sq">
              <a:solidFill>
                <a:srgbClr val="E5E7EB"/>
              </a:solidFill>
              <a:prstDash val="solid"/>
              <a:miter/>
            </a:ln>
          </p:spPr>
        </p:sp>
      </p:grpSp>
      <p:sp>
        <p:nvSpPr>
          <p:cNvPr name="TextBox 74" id="74"/>
          <p:cNvSpPr txBox="true"/>
          <p:nvPr/>
        </p:nvSpPr>
        <p:spPr>
          <a:xfrm rot="0">
            <a:off x="12264400" y="8700792"/>
            <a:ext cx="49149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KEY ASSUMPTIONS</a:t>
            </a:r>
          </a:p>
        </p:txBody>
      </p:sp>
      <p:sp>
        <p:nvSpPr>
          <p:cNvPr name="TextBox 75" id="75"/>
          <p:cNvSpPr txBox="true"/>
          <p:nvPr/>
        </p:nvSpPr>
        <p:spPr>
          <a:xfrm rot="0">
            <a:off x="12264400" y="9011241"/>
            <a:ext cx="4914900" cy="533400"/>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[List 2-3 financial assumptions: pricing, conversion rate, churn, market capture.]</a:t>
            </a:r>
          </a:p>
        </p:txBody>
      </p:sp>
      <p:grpSp>
        <p:nvGrpSpPr>
          <p:cNvPr name="Group 76" id="76"/>
          <p:cNvGrpSpPr/>
          <p:nvPr/>
        </p:nvGrpSpPr>
        <p:grpSpPr>
          <a:xfrm rot="0">
            <a:off x="914400" y="9703222"/>
            <a:ext cx="16459200" cy="276225"/>
            <a:chOff x="0" y="0"/>
            <a:chExt cx="21945600" cy="368300"/>
          </a:xfrm>
        </p:grpSpPr>
        <p:sp>
          <p:nvSpPr>
            <p:cNvPr name="Freeform 77" id="77"/>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4">
                <a:alphaModFix amt="0"/>
              </a:blip>
              <a:stretch>
                <a:fillRect l="0" t="-1111035" r="0" b="-1111035"/>
              </a:stretch>
            </a:blipFill>
          </p:spPr>
        </p:sp>
        <p:sp>
          <p:nvSpPr>
            <p:cNvPr name="TextBox 78" id="78"/>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79" id="79"/>
          <p:cNvGrpSpPr/>
          <p:nvPr/>
        </p:nvGrpSpPr>
        <p:grpSpPr>
          <a:xfrm rot="0">
            <a:off x="0" y="10247414"/>
            <a:ext cx="18288000" cy="38100"/>
            <a:chOff x="0" y="0"/>
            <a:chExt cx="24384000" cy="50800"/>
          </a:xfrm>
        </p:grpSpPr>
        <p:sp>
          <p:nvSpPr>
            <p:cNvPr name="Freeform 80" id="80"/>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81" id="81" descr="preencoded.png"/>
          <p:cNvSpPr/>
          <p:nvPr/>
        </p:nvSpPr>
        <p:spPr>
          <a:xfrm flipH="false" flipV="false" rot="0">
            <a:off x="937317" y="5093941"/>
            <a:ext cx="10772775" cy="495300"/>
          </a:xfrm>
          <a:custGeom>
            <a:avLst/>
            <a:gdLst/>
            <a:ahLst/>
            <a:cxnLst/>
            <a:rect r="r" b="b" t="t" l="l"/>
            <a:pathLst>
              <a:path h="495300" w="10772775">
                <a:moveTo>
                  <a:pt x="0" y="0"/>
                </a:moveTo>
                <a:lnTo>
                  <a:pt x="10772775" y="0"/>
                </a:lnTo>
                <a:lnTo>
                  <a:pt x="10772775" y="495300"/>
                </a:lnTo>
                <a:lnTo>
                  <a:pt x="0" y="495300"/>
                </a:lnTo>
                <a:lnTo>
                  <a:pt x="0" y="0"/>
                </a:lnTo>
                <a:close/>
              </a:path>
            </a:pathLst>
          </a:custGeom>
          <a:blipFill>
            <a:blip r:embed="rId5">
              <a:extLst>
                <a:ext uri="{96DAC541-7B7A-43D3-8B79-37D633B846F1}">
                  <asvg:svgBlip xmlns:asvg="http://schemas.microsoft.com/office/drawing/2016/SVG/main" r:embed="rId6"/>
                </a:ext>
              </a:extLst>
            </a:blip>
            <a:stretch>
              <a:fillRect l="0" t="-917" r="0" b="-915"/>
            </a:stretch>
          </a:blipFill>
        </p:spPr>
      </p:sp>
      <p:sp>
        <p:nvSpPr>
          <p:cNvPr name="Freeform 82" id="82" descr="preencoded.png"/>
          <p:cNvSpPr/>
          <p:nvPr/>
        </p:nvSpPr>
        <p:spPr>
          <a:xfrm flipH="false" flipV="false" rot="0">
            <a:off x="923030" y="5655916"/>
            <a:ext cx="10772775" cy="495300"/>
          </a:xfrm>
          <a:custGeom>
            <a:avLst/>
            <a:gdLst/>
            <a:ahLst/>
            <a:cxnLst/>
            <a:rect r="r" b="b" t="t" l="l"/>
            <a:pathLst>
              <a:path h="495300" w="10772775">
                <a:moveTo>
                  <a:pt x="0" y="0"/>
                </a:moveTo>
                <a:lnTo>
                  <a:pt x="10772775" y="0"/>
                </a:lnTo>
                <a:lnTo>
                  <a:pt x="10772775" y="495300"/>
                </a:lnTo>
                <a:lnTo>
                  <a:pt x="0" y="495300"/>
                </a:lnTo>
                <a:lnTo>
                  <a:pt x="0" y="0"/>
                </a:lnTo>
                <a:close/>
              </a:path>
            </a:pathLst>
          </a:custGeom>
          <a:blipFill>
            <a:blip r:embed="rId5">
              <a:extLst>
                <a:ext uri="{96DAC541-7B7A-43D3-8B79-37D633B846F1}">
                  <asvg:svgBlip xmlns:asvg="http://schemas.microsoft.com/office/drawing/2016/SVG/main" r:embed="rId6"/>
                </a:ext>
              </a:extLst>
            </a:blip>
            <a:stretch>
              <a:fillRect l="0" t="-917" r="0" b="-915"/>
            </a:stretch>
          </a:blipFill>
        </p:spPr>
      </p:sp>
      <p:sp>
        <p:nvSpPr>
          <p:cNvPr name="Freeform 83" id="83" descr="preencoded.png"/>
          <p:cNvSpPr/>
          <p:nvPr/>
        </p:nvSpPr>
        <p:spPr>
          <a:xfrm flipH="false" flipV="false" rot="0">
            <a:off x="923030" y="6152112"/>
            <a:ext cx="10772775" cy="495300"/>
          </a:xfrm>
          <a:custGeom>
            <a:avLst/>
            <a:gdLst/>
            <a:ahLst/>
            <a:cxnLst/>
            <a:rect r="r" b="b" t="t" l="l"/>
            <a:pathLst>
              <a:path h="495300" w="10772775">
                <a:moveTo>
                  <a:pt x="0" y="0"/>
                </a:moveTo>
                <a:lnTo>
                  <a:pt x="10772775" y="0"/>
                </a:lnTo>
                <a:lnTo>
                  <a:pt x="10772775" y="495300"/>
                </a:lnTo>
                <a:lnTo>
                  <a:pt x="0" y="495300"/>
                </a:lnTo>
                <a:lnTo>
                  <a:pt x="0" y="0"/>
                </a:lnTo>
                <a:close/>
              </a:path>
            </a:pathLst>
          </a:custGeom>
          <a:blipFill>
            <a:blip r:embed="rId5">
              <a:extLst>
                <a:ext uri="{96DAC541-7B7A-43D3-8B79-37D633B846F1}">
                  <asvg:svgBlip xmlns:asvg="http://schemas.microsoft.com/office/drawing/2016/SVG/main" r:embed="rId6"/>
                </a:ext>
              </a:extLst>
            </a:blip>
            <a:stretch>
              <a:fillRect l="0" t="-917" r="0" b="-915"/>
            </a:stretch>
          </a:blipFill>
        </p:spPr>
      </p:sp>
      <p:sp>
        <p:nvSpPr>
          <p:cNvPr name="Freeform 84" id="84" descr="preencoded.png"/>
          <p:cNvSpPr/>
          <p:nvPr/>
        </p:nvSpPr>
        <p:spPr>
          <a:xfrm flipH="false" flipV="false" rot="0">
            <a:off x="923030" y="6648307"/>
            <a:ext cx="10772775" cy="495300"/>
          </a:xfrm>
          <a:custGeom>
            <a:avLst/>
            <a:gdLst/>
            <a:ahLst/>
            <a:cxnLst/>
            <a:rect r="r" b="b" t="t" l="l"/>
            <a:pathLst>
              <a:path h="495300" w="10772775">
                <a:moveTo>
                  <a:pt x="0" y="0"/>
                </a:moveTo>
                <a:lnTo>
                  <a:pt x="10772775" y="0"/>
                </a:lnTo>
                <a:lnTo>
                  <a:pt x="10772775" y="495300"/>
                </a:lnTo>
                <a:lnTo>
                  <a:pt x="0" y="495300"/>
                </a:lnTo>
                <a:lnTo>
                  <a:pt x="0" y="0"/>
                </a:lnTo>
                <a:close/>
              </a:path>
            </a:pathLst>
          </a:custGeom>
          <a:blipFill>
            <a:blip r:embed="rId5">
              <a:extLst>
                <a:ext uri="{96DAC541-7B7A-43D3-8B79-37D633B846F1}">
                  <asvg:svgBlip xmlns:asvg="http://schemas.microsoft.com/office/drawing/2016/SVG/main" r:embed="rId6"/>
                </a:ext>
              </a:extLst>
            </a:blip>
            <a:stretch>
              <a:fillRect l="0" t="-917" r="0" b="-915"/>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28578"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837" y="352501"/>
            <a:ext cx="30670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22 · LEGAL &amp; ETHICAL</a:t>
            </a:r>
          </a:p>
        </p:txBody>
      </p:sp>
      <p:sp>
        <p:nvSpPr>
          <p:cNvPr name="TextBox 8" id="8"/>
          <p:cNvSpPr txBox="true"/>
          <p:nvPr/>
        </p:nvSpPr>
        <p:spPr>
          <a:xfrm rot="0">
            <a:off x="16790489"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24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Legal and Ethical Plan</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0609" y="2668934"/>
            <a:ext cx="11163300" cy="6800850"/>
            <a:chOff x="0" y="0"/>
            <a:chExt cx="14884400" cy="9067800"/>
          </a:xfrm>
        </p:grpSpPr>
        <p:sp>
          <p:nvSpPr>
            <p:cNvPr name="Freeform 13" id="13"/>
            <p:cNvSpPr/>
            <p:nvPr/>
          </p:nvSpPr>
          <p:spPr>
            <a:xfrm flipH="false" flipV="false" rot="0">
              <a:off x="0" y="0"/>
              <a:ext cx="14884400" cy="9067800"/>
            </a:xfrm>
            <a:custGeom>
              <a:avLst/>
              <a:gdLst/>
              <a:ahLst/>
              <a:cxnLst/>
              <a:rect r="r" b="b" t="t" l="l"/>
              <a:pathLst>
                <a:path h="9067800" w="14884400">
                  <a:moveTo>
                    <a:pt x="0" y="244221"/>
                  </a:moveTo>
                  <a:cubicBezTo>
                    <a:pt x="0" y="109347"/>
                    <a:pt x="109347" y="0"/>
                    <a:pt x="244221" y="0"/>
                  </a:cubicBezTo>
                  <a:lnTo>
                    <a:pt x="14640179" y="0"/>
                  </a:lnTo>
                  <a:cubicBezTo>
                    <a:pt x="14775053" y="0"/>
                    <a:pt x="14884400" y="109347"/>
                    <a:pt x="14884400" y="244221"/>
                  </a:cubicBezTo>
                  <a:lnTo>
                    <a:pt x="14884400" y="8823579"/>
                  </a:lnTo>
                  <a:cubicBezTo>
                    <a:pt x="14884400" y="8958453"/>
                    <a:pt x="14775053" y="9067800"/>
                    <a:pt x="14640179" y="9067800"/>
                  </a:cubicBezTo>
                  <a:lnTo>
                    <a:pt x="244221" y="9067800"/>
                  </a:lnTo>
                  <a:cubicBezTo>
                    <a:pt x="109347" y="9067800"/>
                    <a:pt x="0" y="8958453"/>
                    <a:pt x="0" y="8823579"/>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29684" y="2844403"/>
            <a:ext cx="107251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COMPLIANCE CHECKLIST</a:t>
            </a:r>
          </a:p>
        </p:txBody>
      </p:sp>
      <p:grpSp>
        <p:nvGrpSpPr>
          <p:cNvPr name="Group 15" id="15"/>
          <p:cNvGrpSpPr/>
          <p:nvPr/>
        </p:nvGrpSpPr>
        <p:grpSpPr>
          <a:xfrm rot="0">
            <a:off x="1129008" y="3276448"/>
            <a:ext cx="257175" cy="257175"/>
            <a:chOff x="0" y="0"/>
            <a:chExt cx="342900" cy="342900"/>
          </a:xfrm>
        </p:grpSpPr>
        <p:sp>
          <p:nvSpPr>
            <p:cNvPr name="Freeform 16" id="16"/>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17" id="17"/>
          <p:cNvGrpSpPr/>
          <p:nvPr/>
        </p:nvGrpSpPr>
        <p:grpSpPr>
          <a:xfrm rot="0">
            <a:off x="1166222" y="3313662"/>
            <a:ext cx="182756" cy="182756"/>
            <a:chOff x="0" y="0"/>
            <a:chExt cx="243675" cy="243675"/>
          </a:xfrm>
        </p:grpSpPr>
        <p:sp>
          <p:nvSpPr>
            <p:cNvPr name="Freeform 18" id="18"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19" id="19"/>
          <p:cNvSpPr txBox="true"/>
          <p:nvPr/>
        </p:nvSpPr>
        <p:spPr>
          <a:xfrm rot="0">
            <a:off x="1533449" y="3250330"/>
            <a:ext cx="493395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[Register company under INJAZ / JA program guidelines]</a:t>
            </a:r>
          </a:p>
        </p:txBody>
      </p:sp>
      <p:grpSp>
        <p:nvGrpSpPr>
          <p:cNvPr name="Group 20" id="20"/>
          <p:cNvGrpSpPr/>
          <p:nvPr/>
        </p:nvGrpSpPr>
        <p:grpSpPr>
          <a:xfrm rot="0">
            <a:off x="1129008" y="3635273"/>
            <a:ext cx="257175" cy="257175"/>
            <a:chOff x="0" y="0"/>
            <a:chExt cx="342900" cy="342900"/>
          </a:xfrm>
        </p:grpSpPr>
        <p:sp>
          <p:nvSpPr>
            <p:cNvPr name="Freeform 21" id="21"/>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22" id="22"/>
          <p:cNvGrpSpPr/>
          <p:nvPr/>
        </p:nvGrpSpPr>
        <p:grpSpPr>
          <a:xfrm rot="0">
            <a:off x="1166222" y="3672478"/>
            <a:ext cx="182756" cy="182756"/>
            <a:chOff x="0" y="0"/>
            <a:chExt cx="243675" cy="243675"/>
          </a:xfrm>
        </p:grpSpPr>
        <p:sp>
          <p:nvSpPr>
            <p:cNvPr name="Freeform 23" id="23"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24" id="24"/>
          <p:cNvSpPr txBox="true"/>
          <p:nvPr/>
        </p:nvSpPr>
        <p:spPr>
          <a:xfrm rot="0">
            <a:off x="1533077" y="3609156"/>
            <a:ext cx="5362575"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[Comply with App Store Review Guidelines · Health &amp; Medical]</a:t>
            </a:r>
          </a:p>
        </p:txBody>
      </p:sp>
      <p:grpSp>
        <p:nvGrpSpPr>
          <p:cNvPr name="Group 25" id="25"/>
          <p:cNvGrpSpPr/>
          <p:nvPr/>
        </p:nvGrpSpPr>
        <p:grpSpPr>
          <a:xfrm rot="0">
            <a:off x="1129008" y="3994099"/>
            <a:ext cx="257175" cy="257175"/>
            <a:chOff x="0" y="0"/>
            <a:chExt cx="342900" cy="342900"/>
          </a:xfrm>
        </p:grpSpPr>
        <p:sp>
          <p:nvSpPr>
            <p:cNvPr name="Freeform 26" id="26"/>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27" id="27"/>
          <p:cNvGrpSpPr/>
          <p:nvPr/>
        </p:nvGrpSpPr>
        <p:grpSpPr>
          <a:xfrm rot="0">
            <a:off x="1166222" y="4031304"/>
            <a:ext cx="182756" cy="182756"/>
            <a:chOff x="0" y="0"/>
            <a:chExt cx="243675" cy="243675"/>
          </a:xfrm>
        </p:grpSpPr>
        <p:sp>
          <p:nvSpPr>
            <p:cNvPr name="Freeform 28" id="28"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29" id="29"/>
          <p:cNvSpPr txBox="true"/>
          <p:nvPr/>
        </p:nvSpPr>
        <p:spPr>
          <a:xfrm rot="0">
            <a:off x="1533601" y="3967982"/>
            <a:ext cx="499110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[Apply GDPR / local data-privacy law for user health data]</a:t>
            </a:r>
          </a:p>
        </p:txBody>
      </p:sp>
      <p:grpSp>
        <p:nvGrpSpPr>
          <p:cNvPr name="Group 30" id="30"/>
          <p:cNvGrpSpPr/>
          <p:nvPr/>
        </p:nvGrpSpPr>
        <p:grpSpPr>
          <a:xfrm rot="0">
            <a:off x="1129008" y="4352925"/>
            <a:ext cx="257175" cy="257175"/>
            <a:chOff x="0" y="0"/>
            <a:chExt cx="342900" cy="342900"/>
          </a:xfrm>
        </p:grpSpPr>
        <p:sp>
          <p:nvSpPr>
            <p:cNvPr name="Freeform 31" id="31"/>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32" id="32"/>
          <p:cNvGrpSpPr/>
          <p:nvPr/>
        </p:nvGrpSpPr>
        <p:grpSpPr>
          <a:xfrm rot="0">
            <a:off x="1166222" y="4390130"/>
            <a:ext cx="182756" cy="182756"/>
            <a:chOff x="0" y="0"/>
            <a:chExt cx="243675" cy="243675"/>
          </a:xfrm>
        </p:grpSpPr>
        <p:sp>
          <p:nvSpPr>
            <p:cNvPr name="Freeform 33" id="33"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34" id="34"/>
          <p:cNvSpPr txBox="true"/>
          <p:nvPr/>
        </p:nvSpPr>
        <p:spPr>
          <a:xfrm rot="0">
            <a:off x="1530848" y="4326807"/>
            <a:ext cx="577215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[Encrypt sensitive health and medication data at rest and in transit]</a:t>
            </a:r>
          </a:p>
        </p:txBody>
      </p:sp>
      <p:grpSp>
        <p:nvGrpSpPr>
          <p:cNvPr name="Group 35" id="35"/>
          <p:cNvGrpSpPr/>
          <p:nvPr/>
        </p:nvGrpSpPr>
        <p:grpSpPr>
          <a:xfrm rot="0">
            <a:off x="1129008" y="4711751"/>
            <a:ext cx="257175" cy="257175"/>
            <a:chOff x="0" y="0"/>
            <a:chExt cx="342900" cy="342900"/>
          </a:xfrm>
        </p:grpSpPr>
        <p:sp>
          <p:nvSpPr>
            <p:cNvPr name="Freeform 36" id="36"/>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37" id="37"/>
          <p:cNvGrpSpPr/>
          <p:nvPr/>
        </p:nvGrpSpPr>
        <p:grpSpPr>
          <a:xfrm rot="0">
            <a:off x="1166222" y="4748955"/>
            <a:ext cx="182756" cy="182756"/>
            <a:chOff x="0" y="0"/>
            <a:chExt cx="243675" cy="243675"/>
          </a:xfrm>
        </p:grpSpPr>
        <p:sp>
          <p:nvSpPr>
            <p:cNvPr name="Freeform 38" id="38"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39" id="39"/>
          <p:cNvSpPr txBox="true"/>
          <p:nvPr/>
        </p:nvSpPr>
        <p:spPr>
          <a:xfrm rot="0">
            <a:off x="1529582" y="4685633"/>
            <a:ext cx="678180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[Display medical disclaimer: ISTSEH is not a substitute for professional advice]</a:t>
            </a:r>
          </a:p>
        </p:txBody>
      </p:sp>
      <p:grpSp>
        <p:nvGrpSpPr>
          <p:cNvPr name="Group 40" id="40"/>
          <p:cNvGrpSpPr/>
          <p:nvPr/>
        </p:nvGrpSpPr>
        <p:grpSpPr>
          <a:xfrm rot="0">
            <a:off x="1129008" y="5070577"/>
            <a:ext cx="257175" cy="257175"/>
            <a:chOff x="0" y="0"/>
            <a:chExt cx="342900" cy="342900"/>
          </a:xfrm>
        </p:grpSpPr>
        <p:sp>
          <p:nvSpPr>
            <p:cNvPr name="Freeform 41" id="41"/>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42" id="42"/>
          <p:cNvGrpSpPr/>
          <p:nvPr/>
        </p:nvGrpSpPr>
        <p:grpSpPr>
          <a:xfrm rot="0">
            <a:off x="1166222" y="5107781"/>
            <a:ext cx="182756" cy="182756"/>
            <a:chOff x="0" y="0"/>
            <a:chExt cx="243675" cy="243675"/>
          </a:xfrm>
        </p:grpSpPr>
        <p:sp>
          <p:nvSpPr>
            <p:cNvPr name="Freeform 43" id="43"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44" id="44"/>
          <p:cNvSpPr txBox="true"/>
          <p:nvPr/>
        </p:nvSpPr>
        <p:spPr>
          <a:xfrm rot="0">
            <a:off x="1532115" y="5044459"/>
            <a:ext cx="565785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[Obtain explicit user consent before collecting health information]</a:t>
            </a:r>
          </a:p>
        </p:txBody>
      </p:sp>
      <p:grpSp>
        <p:nvGrpSpPr>
          <p:cNvPr name="Group 45" id="45"/>
          <p:cNvGrpSpPr/>
          <p:nvPr/>
        </p:nvGrpSpPr>
        <p:grpSpPr>
          <a:xfrm rot="0">
            <a:off x="1129008" y="5429402"/>
            <a:ext cx="257175" cy="257175"/>
            <a:chOff x="0" y="0"/>
            <a:chExt cx="342900" cy="342900"/>
          </a:xfrm>
        </p:grpSpPr>
        <p:sp>
          <p:nvSpPr>
            <p:cNvPr name="Freeform 46" id="46"/>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47" id="47"/>
          <p:cNvGrpSpPr/>
          <p:nvPr/>
        </p:nvGrpSpPr>
        <p:grpSpPr>
          <a:xfrm rot="0">
            <a:off x="1166222" y="5466607"/>
            <a:ext cx="182756" cy="182756"/>
            <a:chOff x="0" y="0"/>
            <a:chExt cx="243675" cy="243675"/>
          </a:xfrm>
        </p:grpSpPr>
        <p:sp>
          <p:nvSpPr>
            <p:cNvPr name="Freeform 48" id="48"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49" id="49"/>
          <p:cNvSpPr txBox="true"/>
          <p:nvPr/>
        </p:nvSpPr>
        <p:spPr>
          <a:xfrm rot="0">
            <a:off x="1532553" y="5403275"/>
            <a:ext cx="5038725"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[Trademark ISTSEH name and protect logo / brand assets]</a:t>
            </a:r>
          </a:p>
        </p:txBody>
      </p:sp>
      <p:grpSp>
        <p:nvGrpSpPr>
          <p:cNvPr name="Group 50" id="50"/>
          <p:cNvGrpSpPr/>
          <p:nvPr/>
        </p:nvGrpSpPr>
        <p:grpSpPr>
          <a:xfrm rot="0">
            <a:off x="1129008" y="5788228"/>
            <a:ext cx="257175" cy="257175"/>
            <a:chOff x="0" y="0"/>
            <a:chExt cx="342900" cy="342900"/>
          </a:xfrm>
        </p:grpSpPr>
        <p:sp>
          <p:nvSpPr>
            <p:cNvPr name="Freeform 51" id="51"/>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52" id="52"/>
          <p:cNvGrpSpPr/>
          <p:nvPr/>
        </p:nvGrpSpPr>
        <p:grpSpPr>
          <a:xfrm rot="0">
            <a:off x="1166222" y="5825433"/>
            <a:ext cx="182756" cy="182756"/>
            <a:chOff x="0" y="0"/>
            <a:chExt cx="243675" cy="243675"/>
          </a:xfrm>
        </p:grpSpPr>
        <p:sp>
          <p:nvSpPr>
            <p:cNvPr name="Freeform 53" id="53"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54" id="54"/>
          <p:cNvSpPr txBox="true"/>
          <p:nvPr/>
        </p:nvSpPr>
        <p:spPr>
          <a:xfrm rot="0">
            <a:off x="1532487" y="5762101"/>
            <a:ext cx="588645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[Add Terms of Service and Privacy Policy reviewed by legal advisor]</a:t>
            </a:r>
          </a:p>
        </p:txBody>
      </p:sp>
      <p:grpSp>
        <p:nvGrpSpPr>
          <p:cNvPr name="Group 55" id="55"/>
          <p:cNvGrpSpPr/>
          <p:nvPr/>
        </p:nvGrpSpPr>
        <p:grpSpPr>
          <a:xfrm rot="0">
            <a:off x="1129008" y="6147044"/>
            <a:ext cx="257175" cy="257175"/>
            <a:chOff x="0" y="0"/>
            <a:chExt cx="342900" cy="342900"/>
          </a:xfrm>
        </p:grpSpPr>
        <p:sp>
          <p:nvSpPr>
            <p:cNvPr name="Freeform 56" id="56"/>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57" id="57"/>
          <p:cNvGrpSpPr/>
          <p:nvPr/>
        </p:nvGrpSpPr>
        <p:grpSpPr>
          <a:xfrm rot="0">
            <a:off x="1166222" y="6184259"/>
            <a:ext cx="182756" cy="182756"/>
            <a:chOff x="0" y="0"/>
            <a:chExt cx="243675" cy="243675"/>
          </a:xfrm>
        </p:grpSpPr>
        <p:sp>
          <p:nvSpPr>
            <p:cNvPr name="Freeform 58" id="58"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59" id="59"/>
          <p:cNvSpPr txBox="true"/>
          <p:nvPr/>
        </p:nvSpPr>
        <p:spPr>
          <a:xfrm rot="0">
            <a:off x="1531144" y="6120927"/>
            <a:ext cx="5343525"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[Set policy for handling underage users and parental consent]</a:t>
            </a:r>
          </a:p>
        </p:txBody>
      </p:sp>
      <p:grpSp>
        <p:nvGrpSpPr>
          <p:cNvPr name="Group 60" id="60"/>
          <p:cNvGrpSpPr/>
          <p:nvPr/>
        </p:nvGrpSpPr>
        <p:grpSpPr>
          <a:xfrm rot="0">
            <a:off x="1129008" y="6505870"/>
            <a:ext cx="257175" cy="257175"/>
            <a:chOff x="0" y="0"/>
            <a:chExt cx="342900" cy="342900"/>
          </a:xfrm>
        </p:grpSpPr>
        <p:sp>
          <p:nvSpPr>
            <p:cNvPr name="Freeform 61" id="61"/>
            <p:cNvSpPr/>
            <p:nvPr/>
          </p:nvSpPr>
          <p:spPr>
            <a:xfrm flipH="false" flipV="false" rot="0">
              <a:off x="0" y="0"/>
              <a:ext cx="342900" cy="342900"/>
            </a:xfrm>
            <a:custGeom>
              <a:avLst/>
              <a:gdLst/>
              <a:ahLst/>
              <a:cxnLst/>
              <a:rect r="r" b="b" t="t" l="l"/>
              <a:pathLst>
                <a:path h="342900" w="342900">
                  <a:moveTo>
                    <a:pt x="0" y="73152"/>
                  </a:moveTo>
                  <a:cubicBezTo>
                    <a:pt x="0" y="32766"/>
                    <a:pt x="32766" y="0"/>
                    <a:pt x="73152" y="0"/>
                  </a:cubicBezTo>
                  <a:lnTo>
                    <a:pt x="269748" y="0"/>
                  </a:lnTo>
                  <a:cubicBezTo>
                    <a:pt x="310134" y="0"/>
                    <a:pt x="342900" y="32766"/>
                    <a:pt x="342900" y="73152"/>
                  </a:cubicBezTo>
                  <a:lnTo>
                    <a:pt x="342900" y="269748"/>
                  </a:lnTo>
                  <a:cubicBezTo>
                    <a:pt x="342900" y="310134"/>
                    <a:pt x="310134" y="342900"/>
                    <a:pt x="269748" y="342900"/>
                  </a:cubicBezTo>
                  <a:lnTo>
                    <a:pt x="73152" y="342900"/>
                  </a:lnTo>
                  <a:cubicBezTo>
                    <a:pt x="32766" y="342900"/>
                    <a:pt x="0" y="310134"/>
                    <a:pt x="0" y="269748"/>
                  </a:cubicBezTo>
                  <a:close/>
                </a:path>
              </a:pathLst>
            </a:custGeom>
            <a:solidFill>
              <a:srgbClr val="2ECC71"/>
            </a:solidFill>
          </p:spPr>
        </p:sp>
      </p:grpSp>
      <p:grpSp>
        <p:nvGrpSpPr>
          <p:cNvPr name="Group 62" id="62"/>
          <p:cNvGrpSpPr/>
          <p:nvPr/>
        </p:nvGrpSpPr>
        <p:grpSpPr>
          <a:xfrm rot="0">
            <a:off x="1166222" y="6543084"/>
            <a:ext cx="182756" cy="182756"/>
            <a:chOff x="0" y="0"/>
            <a:chExt cx="243675" cy="243675"/>
          </a:xfrm>
        </p:grpSpPr>
        <p:sp>
          <p:nvSpPr>
            <p:cNvPr name="Freeform 63" id="63" descr="preencoded.png"/>
            <p:cNvSpPr/>
            <p:nvPr/>
          </p:nvSpPr>
          <p:spPr>
            <a:xfrm flipH="false" flipV="false" rot="0">
              <a:off x="0" y="0"/>
              <a:ext cx="243713" cy="243713"/>
            </a:xfrm>
            <a:custGeom>
              <a:avLst/>
              <a:gdLst/>
              <a:ahLst/>
              <a:cxnLst/>
              <a:rect r="r" b="b" t="t" l="l"/>
              <a:pathLst>
                <a:path h="243713" w="243713">
                  <a:moveTo>
                    <a:pt x="0" y="0"/>
                  </a:moveTo>
                  <a:lnTo>
                    <a:pt x="243713" y="0"/>
                  </a:lnTo>
                  <a:lnTo>
                    <a:pt x="243713" y="243713"/>
                  </a:lnTo>
                  <a:lnTo>
                    <a:pt x="0" y="243713"/>
                  </a:lnTo>
                  <a:lnTo>
                    <a:pt x="0" y="0"/>
                  </a:lnTo>
                  <a:close/>
                </a:path>
              </a:pathLst>
            </a:custGeom>
            <a:blipFill>
              <a:blip r:embed="rId3"/>
              <a:stretch>
                <a:fillRect l="0" t="0" r="15" b="15"/>
              </a:stretch>
            </a:blipFill>
          </p:spPr>
        </p:sp>
      </p:grpSp>
      <p:sp>
        <p:nvSpPr>
          <p:cNvPr name="TextBox 64" id="64"/>
          <p:cNvSpPr txBox="true"/>
          <p:nvPr/>
        </p:nvSpPr>
        <p:spPr>
          <a:xfrm rot="0">
            <a:off x="1530772" y="6479753"/>
            <a:ext cx="3962400" cy="276225"/>
          </a:xfrm>
          <a:prstGeom prst="rect">
            <a:avLst/>
          </a:prstGeom>
        </p:spPr>
        <p:txBody>
          <a:bodyPr anchor="t" rtlCol="false" tIns="0" lIns="0" bIns="0" rIns="0">
            <a:spAutoFit/>
          </a:bodyPr>
          <a:lstStyle/>
          <a:p>
            <a:pPr algn="l">
              <a:lnSpc>
                <a:spcPts val="1979"/>
              </a:lnSpc>
            </a:pPr>
            <a:r>
              <a:rPr lang="en-US" sz="1439">
                <a:solidFill>
                  <a:srgbClr val="1A1A2E"/>
                </a:solidFill>
                <a:latin typeface="Inter"/>
                <a:ea typeface="Inter"/>
                <a:cs typeface="Inter"/>
                <a:sym typeface="Inter"/>
              </a:rPr>
              <a:t>[Plan audit trail for data access by caregivers]</a:t>
            </a:r>
          </a:p>
        </p:txBody>
      </p:sp>
      <p:grpSp>
        <p:nvGrpSpPr>
          <p:cNvPr name="Group 65" id="65"/>
          <p:cNvGrpSpPr/>
          <p:nvPr/>
        </p:nvGrpSpPr>
        <p:grpSpPr>
          <a:xfrm rot="0">
            <a:off x="12437793" y="2674591"/>
            <a:ext cx="4933950" cy="1190625"/>
            <a:chOff x="0" y="0"/>
            <a:chExt cx="6578600" cy="1587500"/>
          </a:xfrm>
        </p:grpSpPr>
        <p:sp>
          <p:nvSpPr>
            <p:cNvPr name="Freeform 66" id="66"/>
            <p:cNvSpPr/>
            <p:nvPr/>
          </p:nvSpPr>
          <p:spPr>
            <a:xfrm flipH="false" flipV="false" rot="0">
              <a:off x="0" y="0"/>
              <a:ext cx="6578600" cy="1587500"/>
            </a:xfrm>
            <a:custGeom>
              <a:avLst/>
              <a:gdLst/>
              <a:ahLst/>
              <a:cxnLst/>
              <a:rect r="r" b="b" t="t" l="l"/>
              <a:pathLst>
                <a:path h="1587500" w="6578600">
                  <a:moveTo>
                    <a:pt x="0" y="195072"/>
                  </a:moveTo>
                  <a:cubicBezTo>
                    <a:pt x="0" y="87376"/>
                    <a:pt x="87376" y="0"/>
                    <a:pt x="195072" y="0"/>
                  </a:cubicBezTo>
                  <a:lnTo>
                    <a:pt x="6383528" y="0"/>
                  </a:lnTo>
                  <a:cubicBezTo>
                    <a:pt x="6491224" y="0"/>
                    <a:pt x="6578600" y="87376"/>
                    <a:pt x="6578600" y="195072"/>
                  </a:cubicBezTo>
                  <a:lnTo>
                    <a:pt x="6578600" y="1392428"/>
                  </a:lnTo>
                  <a:cubicBezTo>
                    <a:pt x="6578600" y="1500124"/>
                    <a:pt x="6491224" y="1587500"/>
                    <a:pt x="6383528" y="1587500"/>
                  </a:cubicBezTo>
                  <a:lnTo>
                    <a:pt x="195072" y="1587500"/>
                  </a:lnTo>
                  <a:cubicBezTo>
                    <a:pt x="87376" y="1587500"/>
                    <a:pt x="0" y="1500124"/>
                    <a:pt x="0" y="1392428"/>
                  </a:cubicBezTo>
                  <a:close/>
                </a:path>
              </a:pathLst>
            </a:custGeom>
            <a:solidFill>
              <a:srgbClr val="ECFAF2"/>
            </a:solidFill>
          </p:spPr>
        </p:sp>
      </p:grpSp>
      <p:grpSp>
        <p:nvGrpSpPr>
          <p:cNvPr name="Group 67" id="67"/>
          <p:cNvGrpSpPr/>
          <p:nvPr/>
        </p:nvGrpSpPr>
        <p:grpSpPr>
          <a:xfrm rot="0">
            <a:off x="12621073" y="2859729"/>
            <a:ext cx="255984" cy="255984"/>
            <a:chOff x="0" y="0"/>
            <a:chExt cx="341312" cy="341312"/>
          </a:xfrm>
        </p:grpSpPr>
        <p:sp>
          <p:nvSpPr>
            <p:cNvPr name="Freeform 68" id="68" descr="preencoded.png"/>
            <p:cNvSpPr/>
            <p:nvPr/>
          </p:nvSpPr>
          <p:spPr>
            <a:xfrm flipH="false" flipV="false" rot="0">
              <a:off x="0" y="0"/>
              <a:ext cx="341249" cy="341249"/>
            </a:xfrm>
            <a:custGeom>
              <a:avLst/>
              <a:gdLst/>
              <a:ahLst/>
              <a:cxnLst/>
              <a:rect r="r" b="b" t="t" l="l"/>
              <a:pathLst>
                <a:path h="341249" w="341249">
                  <a:moveTo>
                    <a:pt x="0" y="0"/>
                  </a:moveTo>
                  <a:lnTo>
                    <a:pt x="341249" y="0"/>
                  </a:lnTo>
                  <a:lnTo>
                    <a:pt x="341249" y="341249"/>
                  </a:lnTo>
                  <a:lnTo>
                    <a:pt x="0" y="341249"/>
                  </a:lnTo>
                  <a:lnTo>
                    <a:pt x="0" y="0"/>
                  </a:lnTo>
                  <a:close/>
                </a:path>
              </a:pathLst>
            </a:custGeom>
            <a:blipFill>
              <a:blip r:embed="rId4"/>
              <a:stretch>
                <a:fillRect l="0" t="0" r="-18" b="-18"/>
              </a:stretch>
            </a:blipFill>
          </p:spPr>
        </p:sp>
      </p:grpSp>
      <p:sp>
        <p:nvSpPr>
          <p:cNvPr name="TextBox 69" id="69"/>
          <p:cNvSpPr txBox="true"/>
          <p:nvPr/>
        </p:nvSpPr>
        <p:spPr>
          <a:xfrm rot="0">
            <a:off x="12988300" y="2825801"/>
            <a:ext cx="12287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DATA PRIVACY</a:t>
            </a:r>
          </a:p>
        </p:txBody>
      </p:sp>
      <p:sp>
        <p:nvSpPr>
          <p:cNvPr name="TextBox 70" id="70"/>
          <p:cNvSpPr txBox="true"/>
          <p:nvPr/>
        </p:nvSpPr>
        <p:spPr>
          <a:xfrm rot="0">
            <a:off x="12618768" y="3147717"/>
            <a:ext cx="4572000" cy="533400"/>
          </a:xfrm>
          <a:prstGeom prst="rect">
            <a:avLst/>
          </a:prstGeom>
        </p:spPr>
        <p:txBody>
          <a:bodyPr anchor="t" rtlCol="false" tIns="0" lIns="0" bIns="0" rIns="0">
            <a:spAutoFit/>
          </a:bodyPr>
          <a:lstStyle/>
          <a:p>
            <a:pPr algn="l">
              <a:lnSpc>
                <a:spcPts val="1979"/>
              </a:lnSpc>
            </a:pPr>
            <a:r>
              <a:rPr lang="en-US" sz="1439">
                <a:solidFill>
                  <a:srgbClr val="FFFFFF"/>
                </a:solidFill>
                <a:latin typeface="Inter"/>
                <a:ea typeface="Inter"/>
                <a:cs typeface="Inter"/>
                <a:sym typeface="Inter"/>
              </a:rPr>
              <a:t>[Describe encryption, storage, retention, and user-deletion process for health data.]</a:t>
            </a:r>
          </a:p>
        </p:txBody>
      </p:sp>
      <p:grpSp>
        <p:nvGrpSpPr>
          <p:cNvPr name="Group 71" id="71"/>
          <p:cNvGrpSpPr/>
          <p:nvPr/>
        </p:nvGrpSpPr>
        <p:grpSpPr>
          <a:xfrm rot="0">
            <a:off x="12433030" y="3981898"/>
            <a:ext cx="4943475" cy="1200150"/>
            <a:chOff x="0" y="0"/>
            <a:chExt cx="6591300" cy="1600200"/>
          </a:xfrm>
        </p:grpSpPr>
        <p:sp>
          <p:nvSpPr>
            <p:cNvPr name="Freeform 72" id="72"/>
            <p:cNvSpPr/>
            <p:nvPr/>
          </p:nvSpPr>
          <p:spPr>
            <a:xfrm flipH="false" flipV="false" rot="0">
              <a:off x="0" y="0"/>
              <a:ext cx="6591300" cy="1600073"/>
            </a:xfrm>
            <a:custGeom>
              <a:avLst/>
              <a:gdLst/>
              <a:ahLst/>
              <a:cxnLst/>
              <a:rect r="r" b="b" t="t" l="l"/>
              <a:pathLst>
                <a:path h="1600073" w="6591300">
                  <a:moveTo>
                    <a:pt x="0" y="196596"/>
                  </a:moveTo>
                  <a:cubicBezTo>
                    <a:pt x="0" y="88011"/>
                    <a:pt x="88011" y="0"/>
                    <a:pt x="196596" y="0"/>
                  </a:cubicBezTo>
                  <a:lnTo>
                    <a:pt x="6394704" y="0"/>
                  </a:lnTo>
                  <a:cubicBezTo>
                    <a:pt x="6503289" y="0"/>
                    <a:pt x="6591300" y="88011"/>
                    <a:pt x="6591300" y="196596"/>
                  </a:cubicBezTo>
                  <a:lnTo>
                    <a:pt x="6591300" y="1403477"/>
                  </a:lnTo>
                  <a:cubicBezTo>
                    <a:pt x="6591300" y="1512062"/>
                    <a:pt x="6503289" y="1600073"/>
                    <a:pt x="6394704" y="1600073"/>
                  </a:cubicBezTo>
                  <a:lnTo>
                    <a:pt x="196596" y="1600073"/>
                  </a:lnTo>
                  <a:cubicBezTo>
                    <a:pt x="88011" y="1600200"/>
                    <a:pt x="0" y="1512189"/>
                    <a:pt x="0" y="1403604"/>
                  </a:cubicBezTo>
                  <a:close/>
                </a:path>
              </a:pathLst>
            </a:custGeom>
            <a:solidFill>
              <a:srgbClr val="FFFFFF"/>
            </a:solidFill>
            <a:ln w="9526" cap="sq">
              <a:solidFill>
                <a:srgbClr val="E5E7EB"/>
              </a:solidFill>
              <a:prstDash val="solid"/>
              <a:miter/>
            </a:ln>
          </p:spPr>
        </p:sp>
      </p:grpSp>
      <p:sp>
        <p:nvSpPr>
          <p:cNvPr name="TextBox 73" id="73"/>
          <p:cNvSpPr txBox="true"/>
          <p:nvPr/>
        </p:nvSpPr>
        <p:spPr>
          <a:xfrm rot="0">
            <a:off x="12628293" y="4137870"/>
            <a:ext cx="45529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ETHICAL PRINCIPLES</a:t>
            </a:r>
          </a:p>
        </p:txBody>
      </p:sp>
      <p:sp>
        <p:nvSpPr>
          <p:cNvPr name="TextBox 74" id="74"/>
          <p:cNvSpPr txBox="true"/>
          <p:nvPr/>
        </p:nvSpPr>
        <p:spPr>
          <a:xfrm rot="0">
            <a:off x="12628293" y="4448327"/>
            <a:ext cx="4552950" cy="533400"/>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[Describe commitments around medication advice, consent, and accessibility.]</a:t>
            </a:r>
          </a:p>
        </p:txBody>
      </p:sp>
      <p:grpSp>
        <p:nvGrpSpPr>
          <p:cNvPr name="Group 75" id="75"/>
          <p:cNvGrpSpPr/>
          <p:nvPr/>
        </p:nvGrpSpPr>
        <p:grpSpPr>
          <a:xfrm rot="0">
            <a:off x="12433030" y="5292919"/>
            <a:ext cx="4943475" cy="1152525"/>
            <a:chOff x="0" y="0"/>
            <a:chExt cx="6591300" cy="1536700"/>
          </a:xfrm>
        </p:grpSpPr>
        <p:sp>
          <p:nvSpPr>
            <p:cNvPr name="Freeform 76" id="76"/>
            <p:cNvSpPr/>
            <p:nvPr/>
          </p:nvSpPr>
          <p:spPr>
            <a:xfrm flipH="false" flipV="false" rot="0">
              <a:off x="0" y="0"/>
              <a:ext cx="6591300" cy="1536700"/>
            </a:xfrm>
            <a:custGeom>
              <a:avLst/>
              <a:gdLst/>
              <a:ahLst/>
              <a:cxnLst/>
              <a:rect r="r" b="b" t="t" l="l"/>
              <a:pathLst>
                <a:path h="1536700" w="6591300">
                  <a:moveTo>
                    <a:pt x="0" y="196723"/>
                  </a:moveTo>
                  <a:cubicBezTo>
                    <a:pt x="0" y="88011"/>
                    <a:pt x="88011" y="0"/>
                    <a:pt x="196723" y="0"/>
                  </a:cubicBezTo>
                  <a:lnTo>
                    <a:pt x="6394577" y="0"/>
                  </a:lnTo>
                  <a:cubicBezTo>
                    <a:pt x="6503289" y="0"/>
                    <a:pt x="6591300" y="88011"/>
                    <a:pt x="6591300" y="196723"/>
                  </a:cubicBezTo>
                  <a:lnTo>
                    <a:pt x="6591300" y="1339977"/>
                  </a:lnTo>
                  <a:cubicBezTo>
                    <a:pt x="6591300" y="1448562"/>
                    <a:pt x="6503289" y="1536700"/>
                    <a:pt x="6394577" y="1536700"/>
                  </a:cubicBezTo>
                  <a:lnTo>
                    <a:pt x="196723" y="1536700"/>
                  </a:lnTo>
                  <a:cubicBezTo>
                    <a:pt x="88011" y="1536700"/>
                    <a:pt x="0" y="1448689"/>
                    <a:pt x="0" y="1339977"/>
                  </a:cubicBezTo>
                  <a:close/>
                </a:path>
              </a:pathLst>
            </a:custGeom>
            <a:solidFill>
              <a:srgbClr val="FFFBEB"/>
            </a:solidFill>
            <a:ln w="9526" cap="sq">
              <a:solidFill>
                <a:srgbClr val="FEE685"/>
              </a:solidFill>
              <a:prstDash val="solid"/>
              <a:miter/>
            </a:ln>
          </p:spPr>
        </p:sp>
      </p:grpSp>
      <p:grpSp>
        <p:nvGrpSpPr>
          <p:cNvPr name="Group 77" id="77"/>
          <p:cNvGrpSpPr/>
          <p:nvPr/>
        </p:nvGrpSpPr>
        <p:grpSpPr>
          <a:xfrm rot="0">
            <a:off x="12630598" y="5500240"/>
            <a:ext cx="219370" cy="219370"/>
            <a:chOff x="0" y="0"/>
            <a:chExt cx="292494" cy="292494"/>
          </a:xfrm>
        </p:grpSpPr>
        <p:sp>
          <p:nvSpPr>
            <p:cNvPr name="Freeform 78" id="78" descr="preencoded.png"/>
            <p:cNvSpPr/>
            <p:nvPr/>
          </p:nvSpPr>
          <p:spPr>
            <a:xfrm flipH="false" flipV="false" rot="0">
              <a:off x="0" y="0"/>
              <a:ext cx="292481" cy="292481"/>
            </a:xfrm>
            <a:custGeom>
              <a:avLst/>
              <a:gdLst/>
              <a:ahLst/>
              <a:cxnLst/>
              <a:rect r="r" b="b" t="t" l="l"/>
              <a:pathLst>
                <a:path h="292481" w="292481">
                  <a:moveTo>
                    <a:pt x="0" y="0"/>
                  </a:moveTo>
                  <a:lnTo>
                    <a:pt x="292481" y="0"/>
                  </a:lnTo>
                  <a:lnTo>
                    <a:pt x="292481" y="292481"/>
                  </a:lnTo>
                  <a:lnTo>
                    <a:pt x="0" y="292481"/>
                  </a:lnTo>
                  <a:lnTo>
                    <a:pt x="0" y="0"/>
                  </a:lnTo>
                  <a:close/>
                </a:path>
              </a:pathLst>
            </a:custGeom>
            <a:blipFill>
              <a:blip r:embed="rId5"/>
              <a:stretch>
                <a:fillRect l="0" t="0" r="-4" b="-4"/>
              </a:stretch>
            </a:blipFill>
          </p:spPr>
        </p:sp>
      </p:grpSp>
      <p:sp>
        <p:nvSpPr>
          <p:cNvPr name="TextBox 79" id="79"/>
          <p:cNvSpPr txBox="true"/>
          <p:nvPr/>
        </p:nvSpPr>
        <p:spPr>
          <a:xfrm rot="0">
            <a:off x="12960029" y="5448005"/>
            <a:ext cx="1038225" cy="276225"/>
          </a:xfrm>
          <a:prstGeom prst="rect">
            <a:avLst/>
          </a:prstGeom>
        </p:spPr>
        <p:txBody>
          <a:bodyPr anchor="t" rtlCol="false" tIns="0" lIns="0" bIns="0" rIns="0">
            <a:spAutoFit/>
          </a:bodyPr>
          <a:lstStyle/>
          <a:p>
            <a:pPr algn="l">
              <a:lnSpc>
                <a:spcPts val="1836"/>
              </a:lnSpc>
            </a:pPr>
            <a:r>
              <a:rPr lang="en-US" b="true" sz="1220" spc="61">
                <a:solidFill>
                  <a:srgbClr val="973C00"/>
                </a:solidFill>
                <a:latin typeface="Inter Bold"/>
                <a:ea typeface="Inter Bold"/>
                <a:cs typeface="Inter Bold"/>
                <a:sym typeface="Inter Bold"/>
              </a:rPr>
              <a:t>DISCLAIMER</a:t>
            </a:r>
          </a:p>
        </p:txBody>
      </p:sp>
      <p:sp>
        <p:nvSpPr>
          <p:cNvPr name="TextBox 80" id="80"/>
          <p:cNvSpPr txBox="true"/>
          <p:nvPr/>
        </p:nvSpPr>
        <p:spPr>
          <a:xfrm rot="0">
            <a:off x="12628293" y="5749080"/>
            <a:ext cx="4552950" cy="495300"/>
          </a:xfrm>
          <a:prstGeom prst="rect">
            <a:avLst/>
          </a:prstGeom>
        </p:spPr>
        <p:txBody>
          <a:bodyPr anchor="t" rtlCol="false" tIns="0" lIns="0" bIns="0" rIns="0">
            <a:spAutoFit/>
          </a:bodyPr>
          <a:lstStyle/>
          <a:p>
            <a:pPr algn="l">
              <a:lnSpc>
                <a:spcPts val="1880"/>
              </a:lnSpc>
            </a:pPr>
            <a:r>
              <a:rPr lang="en-US" sz="1360">
                <a:solidFill>
                  <a:srgbClr val="7B3306"/>
                </a:solidFill>
                <a:latin typeface="Inter"/>
                <a:ea typeface="Inter"/>
                <a:cs typeface="Inter"/>
                <a:sym typeface="Inter"/>
              </a:rPr>
              <a:t>[ISTSEH is a medication reminder, not a substitute for professional medical advice. Always consult a doctor.]</a:t>
            </a:r>
          </a:p>
        </p:txBody>
      </p:sp>
      <p:grpSp>
        <p:nvGrpSpPr>
          <p:cNvPr name="Group 81" id="81"/>
          <p:cNvGrpSpPr/>
          <p:nvPr/>
        </p:nvGrpSpPr>
        <p:grpSpPr>
          <a:xfrm rot="0">
            <a:off x="914400" y="9703222"/>
            <a:ext cx="16459200" cy="276225"/>
            <a:chOff x="0" y="0"/>
            <a:chExt cx="21945600" cy="368300"/>
          </a:xfrm>
        </p:grpSpPr>
        <p:sp>
          <p:nvSpPr>
            <p:cNvPr name="Freeform 82" id="82"/>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6">
                <a:alphaModFix amt="0"/>
              </a:blip>
              <a:stretch>
                <a:fillRect l="0" t="-1111035" r="0" b="-1111035"/>
              </a:stretch>
            </a:blipFill>
          </p:spPr>
        </p:sp>
        <p:sp>
          <p:nvSpPr>
            <p:cNvPr name="TextBox 83" id="83"/>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84" id="84"/>
          <p:cNvGrpSpPr/>
          <p:nvPr/>
        </p:nvGrpSpPr>
        <p:grpSpPr>
          <a:xfrm rot="0">
            <a:off x="0" y="10247414"/>
            <a:ext cx="18288000" cy="38100"/>
            <a:chOff x="0" y="0"/>
            <a:chExt cx="24384000" cy="50800"/>
          </a:xfrm>
        </p:grpSpPr>
        <p:sp>
          <p:nvSpPr>
            <p:cNvPr name="Freeform 85" id="85"/>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781050" cy="428625"/>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6771" y="352501"/>
            <a:ext cx="28384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23 · RISK ANALYSIS</a:t>
            </a:r>
          </a:p>
        </p:txBody>
      </p:sp>
      <p:sp>
        <p:nvSpPr>
          <p:cNvPr name="TextBox 8" id="8"/>
          <p:cNvSpPr txBox="true"/>
          <p:nvPr/>
        </p:nvSpPr>
        <p:spPr>
          <a:xfrm rot="0">
            <a:off x="16793918"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25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Risk Analysis</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0609" y="2668934"/>
            <a:ext cx="11163300" cy="6800850"/>
            <a:chOff x="0" y="0"/>
            <a:chExt cx="14884400" cy="9067800"/>
          </a:xfrm>
        </p:grpSpPr>
        <p:sp>
          <p:nvSpPr>
            <p:cNvPr name="Freeform 13" id="13"/>
            <p:cNvSpPr/>
            <p:nvPr/>
          </p:nvSpPr>
          <p:spPr>
            <a:xfrm flipH="false" flipV="false" rot="0">
              <a:off x="0" y="0"/>
              <a:ext cx="14884400" cy="9067800"/>
            </a:xfrm>
            <a:custGeom>
              <a:avLst/>
              <a:gdLst/>
              <a:ahLst/>
              <a:cxnLst/>
              <a:rect r="r" b="b" t="t" l="l"/>
              <a:pathLst>
                <a:path h="9067800" w="14884400">
                  <a:moveTo>
                    <a:pt x="0" y="244221"/>
                  </a:moveTo>
                  <a:cubicBezTo>
                    <a:pt x="0" y="109347"/>
                    <a:pt x="109347" y="0"/>
                    <a:pt x="244221" y="0"/>
                  </a:cubicBezTo>
                  <a:lnTo>
                    <a:pt x="14640179" y="0"/>
                  </a:lnTo>
                  <a:cubicBezTo>
                    <a:pt x="14775053" y="0"/>
                    <a:pt x="14884400" y="109347"/>
                    <a:pt x="14884400" y="244221"/>
                  </a:cubicBezTo>
                  <a:lnTo>
                    <a:pt x="14884400" y="8823579"/>
                  </a:lnTo>
                  <a:cubicBezTo>
                    <a:pt x="14884400" y="8958453"/>
                    <a:pt x="14775053" y="9067800"/>
                    <a:pt x="14640179" y="9067800"/>
                  </a:cubicBezTo>
                  <a:lnTo>
                    <a:pt x="244221" y="9067800"/>
                  </a:lnTo>
                  <a:cubicBezTo>
                    <a:pt x="109347" y="9067800"/>
                    <a:pt x="0" y="8958453"/>
                    <a:pt x="0" y="8823579"/>
                  </a:cubicBezTo>
                  <a:close/>
                </a:path>
              </a:pathLst>
            </a:custGeom>
            <a:solidFill>
              <a:srgbClr val="FFFFFF"/>
            </a:solidFill>
            <a:ln w="9526" cap="sq">
              <a:solidFill>
                <a:srgbClr val="E5E7EB"/>
              </a:solidFill>
              <a:prstDash val="solid"/>
              <a:miter/>
            </a:ln>
          </p:spPr>
        </p:sp>
      </p:grpSp>
      <p:grpSp>
        <p:nvGrpSpPr>
          <p:cNvPr name="Group 14" id="14"/>
          <p:cNvGrpSpPr/>
          <p:nvPr/>
        </p:nvGrpSpPr>
        <p:grpSpPr>
          <a:xfrm rot="0">
            <a:off x="924897" y="2685679"/>
            <a:ext cx="11134725" cy="434950"/>
            <a:chOff x="0" y="0"/>
            <a:chExt cx="14846300" cy="579933"/>
          </a:xfrm>
        </p:grpSpPr>
        <p:sp>
          <p:nvSpPr>
            <p:cNvPr name="Freeform 15" id="15"/>
            <p:cNvSpPr/>
            <p:nvPr/>
          </p:nvSpPr>
          <p:spPr>
            <a:xfrm flipH="false" flipV="false" rot="0">
              <a:off x="0" y="0"/>
              <a:ext cx="14846300" cy="579933"/>
            </a:xfrm>
            <a:custGeom>
              <a:avLst/>
              <a:gdLst/>
              <a:ahLst/>
              <a:cxnLst/>
              <a:rect r="r" b="b" t="t" l="l"/>
              <a:pathLst>
                <a:path h="579933" w="14846300">
                  <a:moveTo>
                    <a:pt x="0" y="0"/>
                  </a:moveTo>
                  <a:lnTo>
                    <a:pt x="14846300" y="0"/>
                  </a:lnTo>
                  <a:lnTo>
                    <a:pt x="14846300" y="579933"/>
                  </a:lnTo>
                  <a:lnTo>
                    <a:pt x="0" y="579933"/>
                  </a:lnTo>
                  <a:close/>
                </a:path>
              </a:pathLst>
            </a:custGeom>
            <a:solidFill>
              <a:srgbClr val="ECFAF2"/>
            </a:solidFill>
          </p:spPr>
        </p:sp>
      </p:grpSp>
      <p:sp>
        <p:nvSpPr>
          <p:cNvPr name="TextBox 16" id="16"/>
          <p:cNvSpPr txBox="true"/>
          <p:nvPr/>
        </p:nvSpPr>
        <p:spPr>
          <a:xfrm rot="0">
            <a:off x="985542" y="2711053"/>
            <a:ext cx="3181350" cy="259461"/>
          </a:xfrm>
          <a:prstGeom prst="rect">
            <a:avLst/>
          </a:prstGeom>
        </p:spPr>
        <p:txBody>
          <a:bodyPr anchor="t" rtlCol="false" tIns="0" lIns="0" bIns="0" rIns="0">
            <a:spAutoFit/>
          </a:bodyPr>
          <a:lstStyle/>
          <a:p>
            <a:pPr algn="l">
              <a:lnSpc>
                <a:spcPts val="2160"/>
              </a:lnSpc>
            </a:pPr>
            <a:r>
              <a:rPr lang="en-US" sz="1439" b="true">
                <a:solidFill>
                  <a:srgbClr val="FFFFFF"/>
                </a:solidFill>
                <a:latin typeface="Arimo Bold"/>
                <a:ea typeface="Arimo Bold"/>
                <a:cs typeface="Arimo Bold"/>
                <a:sym typeface="Arimo Bold"/>
              </a:rPr>
              <a:t>Risk</a:t>
            </a:r>
          </a:p>
        </p:txBody>
      </p:sp>
      <p:sp>
        <p:nvSpPr>
          <p:cNvPr name="TextBox 17" id="17"/>
          <p:cNvSpPr txBox="true"/>
          <p:nvPr/>
        </p:nvSpPr>
        <p:spPr>
          <a:xfrm rot="0">
            <a:off x="4167264" y="2711053"/>
            <a:ext cx="1590675" cy="647700"/>
          </a:xfrm>
          <a:prstGeom prst="rect">
            <a:avLst/>
          </a:prstGeom>
        </p:spPr>
        <p:txBody>
          <a:bodyPr anchor="t" rtlCol="false" tIns="0" lIns="0" bIns="0" rIns="0">
            <a:spAutoFit/>
          </a:bodyPr>
          <a:lstStyle/>
          <a:p>
            <a:pPr algn="l">
              <a:lnSpc>
                <a:spcPts val="2160"/>
              </a:lnSpc>
            </a:pPr>
            <a:r>
              <a:rPr lang="en-US" sz="1439" b="true">
                <a:solidFill>
                  <a:srgbClr val="FFFFFF"/>
                </a:solidFill>
                <a:latin typeface="Arimo Bold"/>
                <a:ea typeface="Arimo Bold"/>
                <a:cs typeface="Arimo Bold"/>
                <a:sym typeface="Arimo Bold"/>
              </a:rPr>
              <a:t>Likelihood</a:t>
            </a:r>
          </a:p>
        </p:txBody>
      </p:sp>
      <p:sp>
        <p:nvSpPr>
          <p:cNvPr name="TextBox 18" id="18"/>
          <p:cNvSpPr txBox="true"/>
          <p:nvPr/>
        </p:nvSpPr>
        <p:spPr>
          <a:xfrm rot="0">
            <a:off x="5758244" y="2711053"/>
            <a:ext cx="1590675" cy="647700"/>
          </a:xfrm>
          <a:prstGeom prst="rect">
            <a:avLst/>
          </a:prstGeom>
        </p:spPr>
        <p:txBody>
          <a:bodyPr anchor="t" rtlCol="false" tIns="0" lIns="0" bIns="0" rIns="0">
            <a:spAutoFit/>
          </a:bodyPr>
          <a:lstStyle/>
          <a:p>
            <a:pPr algn="l">
              <a:lnSpc>
                <a:spcPts val="2160"/>
              </a:lnSpc>
            </a:pPr>
            <a:r>
              <a:rPr lang="en-US" sz="1439" b="true">
                <a:solidFill>
                  <a:srgbClr val="FFFFFF"/>
                </a:solidFill>
                <a:latin typeface="Arimo Bold"/>
                <a:ea typeface="Arimo Bold"/>
                <a:cs typeface="Arimo Bold"/>
                <a:sym typeface="Arimo Bold"/>
              </a:rPr>
              <a:t>Impact</a:t>
            </a:r>
          </a:p>
        </p:txBody>
      </p:sp>
      <p:sp>
        <p:nvSpPr>
          <p:cNvPr name="TextBox 19" id="19"/>
          <p:cNvSpPr txBox="true"/>
          <p:nvPr/>
        </p:nvSpPr>
        <p:spPr>
          <a:xfrm rot="0">
            <a:off x="7349509" y="2711053"/>
            <a:ext cx="4772025" cy="647700"/>
          </a:xfrm>
          <a:prstGeom prst="rect">
            <a:avLst/>
          </a:prstGeom>
        </p:spPr>
        <p:txBody>
          <a:bodyPr anchor="t" rtlCol="false" tIns="0" lIns="0" bIns="0" rIns="0">
            <a:spAutoFit/>
          </a:bodyPr>
          <a:lstStyle/>
          <a:p>
            <a:pPr algn="l">
              <a:lnSpc>
                <a:spcPts val="2160"/>
              </a:lnSpc>
            </a:pPr>
            <a:r>
              <a:rPr lang="en-US" sz="1439" b="true">
                <a:solidFill>
                  <a:srgbClr val="FFFFFF"/>
                </a:solidFill>
                <a:latin typeface="Arimo Bold"/>
                <a:ea typeface="Arimo Bold"/>
                <a:cs typeface="Arimo Bold"/>
                <a:sym typeface="Arimo Bold"/>
              </a:rPr>
              <a:t>Mitigation</a:t>
            </a:r>
          </a:p>
        </p:txBody>
      </p:sp>
      <p:sp>
        <p:nvSpPr>
          <p:cNvPr name="TextBox 20" id="20"/>
          <p:cNvSpPr txBox="true"/>
          <p:nvPr/>
        </p:nvSpPr>
        <p:spPr>
          <a:xfrm rot="0">
            <a:off x="985542" y="3251149"/>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[Low user adoption]</a:t>
            </a:r>
          </a:p>
        </p:txBody>
      </p:sp>
      <p:sp>
        <p:nvSpPr>
          <p:cNvPr name="TextBox 21" id="21"/>
          <p:cNvSpPr txBox="true"/>
          <p:nvPr/>
        </p:nvSpPr>
        <p:spPr>
          <a:xfrm rot="0">
            <a:off x="4167264" y="3241624"/>
            <a:ext cx="1590675" cy="571500"/>
          </a:xfrm>
          <a:prstGeom prst="rect">
            <a:avLst/>
          </a:prstGeom>
        </p:spPr>
        <p:txBody>
          <a:bodyPr anchor="t" rtlCol="false" tIns="0" lIns="0" bIns="0" rIns="0">
            <a:spAutoFit/>
          </a:bodyPr>
          <a:lstStyle/>
          <a:p>
            <a:pPr algn="l">
              <a:lnSpc>
                <a:spcPts val="1836"/>
              </a:lnSpc>
            </a:pPr>
            <a:r>
              <a:rPr lang="en-US" sz="1220" b="true">
                <a:solidFill>
                  <a:srgbClr val="BB4D00"/>
                </a:solidFill>
                <a:latin typeface="Inter Bold"/>
                <a:ea typeface="Inter Bold"/>
                <a:cs typeface="Inter Bold"/>
                <a:sym typeface="Inter Bold"/>
              </a:rPr>
              <a:t>[MED]</a:t>
            </a:r>
          </a:p>
        </p:txBody>
      </p:sp>
      <p:sp>
        <p:nvSpPr>
          <p:cNvPr name="TextBox 22" id="22"/>
          <p:cNvSpPr txBox="true"/>
          <p:nvPr/>
        </p:nvSpPr>
        <p:spPr>
          <a:xfrm rot="0">
            <a:off x="5758244" y="3241624"/>
            <a:ext cx="1590675" cy="571500"/>
          </a:xfrm>
          <a:prstGeom prst="rect">
            <a:avLst/>
          </a:prstGeom>
        </p:spPr>
        <p:txBody>
          <a:bodyPr anchor="t" rtlCol="false" tIns="0" lIns="0" bIns="0" rIns="0">
            <a:spAutoFit/>
          </a:bodyPr>
          <a:lstStyle/>
          <a:p>
            <a:pPr algn="l">
              <a:lnSpc>
                <a:spcPts val="1836"/>
              </a:lnSpc>
            </a:pPr>
            <a:r>
              <a:rPr lang="en-US" sz="1220" b="true">
                <a:solidFill>
                  <a:srgbClr val="C70036"/>
                </a:solidFill>
                <a:latin typeface="Inter Bold"/>
                <a:ea typeface="Inter Bold"/>
                <a:cs typeface="Inter Bold"/>
                <a:sym typeface="Inter Bold"/>
              </a:rPr>
              <a:t>[HIGH]</a:t>
            </a:r>
          </a:p>
        </p:txBody>
      </p:sp>
      <p:sp>
        <p:nvSpPr>
          <p:cNvPr name="TextBox 23" id="23"/>
          <p:cNvSpPr txBox="true"/>
          <p:nvPr/>
        </p:nvSpPr>
        <p:spPr>
          <a:xfrm rot="0">
            <a:off x="7349509" y="3251149"/>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grpSp>
        <p:nvGrpSpPr>
          <p:cNvPr name="Group 24" id="24"/>
          <p:cNvGrpSpPr/>
          <p:nvPr/>
        </p:nvGrpSpPr>
        <p:grpSpPr>
          <a:xfrm rot="0">
            <a:off x="924897" y="3826516"/>
            <a:ext cx="11134725" cy="533400"/>
            <a:chOff x="0" y="0"/>
            <a:chExt cx="14846300" cy="711200"/>
          </a:xfrm>
        </p:grpSpPr>
        <p:sp>
          <p:nvSpPr>
            <p:cNvPr name="Freeform 25" id="25"/>
            <p:cNvSpPr/>
            <p:nvPr/>
          </p:nvSpPr>
          <p:spPr>
            <a:xfrm flipH="false" flipV="false" rot="0">
              <a:off x="0" y="0"/>
              <a:ext cx="14846300" cy="711200"/>
            </a:xfrm>
            <a:custGeom>
              <a:avLst/>
              <a:gdLst/>
              <a:ahLst/>
              <a:cxnLst/>
              <a:rect r="r" b="b" t="t" l="l"/>
              <a:pathLst>
                <a:path h="711200" w="14846300">
                  <a:moveTo>
                    <a:pt x="0" y="0"/>
                  </a:moveTo>
                  <a:lnTo>
                    <a:pt x="14846300" y="0"/>
                  </a:lnTo>
                  <a:lnTo>
                    <a:pt x="14846300" y="711200"/>
                  </a:lnTo>
                  <a:lnTo>
                    <a:pt x="0" y="711200"/>
                  </a:lnTo>
                  <a:close/>
                </a:path>
              </a:pathLst>
            </a:custGeom>
            <a:solidFill>
              <a:srgbClr val="F8F8FA">
                <a:alpha val="15686"/>
              </a:srgbClr>
            </a:solidFill>
          </p:spPr>
        </p:sp>
      </p:grpSp>
      <p:sp>
        <p:nvSpPr>
          <p:cNvPr name="TextBox 26" id="26"/>
          <p:cNvSpPr txBox="true"/>
          <p:nvPr/>
        </p:nvSpPr>
        <p:spPr>
          <a:xfrm rot="0">
            <a:off x="985542" y="3788416"/>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[Data privacy breach]</a:t>
            </a:r>
          </a:p>
        </p:txBody>
      </p:sp>
      <p:sp>
        <p:nvSpPr>
          <p:cNvPr name="TextBox 27" id="27"/>
          <p:cNvSpPr txBox="true"/>
          <p:nvPr/>
        </p:nvSpPr>
        <p:spPr>
          <a:xfrm rot="0">
            <a:off x="4167264" y="3778891"/>
            <a:ext cx="1590675" cy="571500"/>
          </a:xfrm>
          <a:prstGeom prst="rect">
            <a:avLst/>
          </a:prstGeom>
        </p:spPr>
        <p:txBody>
          <a:bodyPr anchor="t" rtlCol="false" tIns="0" lIns="0" bIns="0" rIns="0">
            <a:spAutoFit/>
          </a:bodyPr>
          <a:lstStyle/>
          <a:p>
            <a:pPr algn="l">
              <a:lnSpc>
                <a:spcPts val="1836"/>
              </a:lnSpc>
            </a:pPr>
            <a:r>
              <a:rPr lang="en-US" sz="1220" b="true">
                <a:solidFill>
                  <a:srgbClr val="007A55"/>
                </a:solidFill>
                <a:latin typeface="Inter Bold"/>
                <a:ea typeface="Inter Bold"/>
                <a:cs typeface="Inter Bold"/>
                <a:sym typeface="Inter Bold"/>
              </a:rPr>
              <a:t>[LOW]</a:t>
            </a:r>
          </a:p>
        </p:txBody>
      </p:sp>
      <p:sp>
        <p:nvSpPr>
          <p:cNvPr name="TextBox 28" id="28"/>
          <p:cNvSpPr txBox="true"/>
          <p:nvPr/>
        </p:nvSpPr>
        <p:spPr>
          <a:xfrm rot="0">
            <a:off x="5758244" y="3778891"/>
            <a:ext cx="1590675" cy="571500"/>
          </a:xfrm>
          <a:prstGeom prst="rect">
            <a:avLst/>
          </a:prstGeom>
        </p:spPr>
        <p:txBody>
          <a:bodyPr anchor="t" rtlCol="false" tIns="0" lIns="0" bIns="0" rIns="0">
            <a:spAutoFit/>
          </a:bodyPr>
          <a:lstStyle/>
          <a:p>
            <a:pPr algn="l">
              <a:lnSpc>
                <a:spcPts val="1836"/>
              </a:lnSpc>
            </a:pPr>
            <a:r>
              <a:rPr lang="en-US" sz="1220" b="true">
                <a:solidFill>
                  <a:srgbClr val="C70036"/>
                </a:solidFill>
                <a:latin typeface="Inter Bold"/>
                <a:ea typeface="Inter Bold"/>
                <a:cs typeface="Inter Bold"/>
                <a:sym typeface="Inter Bold"/>
              </a:rPr>
              <a:t>[HIGH]</a:t>
            </a:r>
          </a:p>
        </p:txBody>
      </p:sp>
      <p:sp>
        <p:nvSpPr>
          <p:cNvPr name="TextBox 29" id="29"/>
          <p:cNvSpPr txBox="true"/>
          <p:nvPr/>
        </p:nvSpPr>
        <p:spPr>
          <a:xfrm rot="0">
            <a:off x="7349509" y="3788416"/>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sp>
        <p:nvSpPr>
          <p:cNvPr name="TextBox 30" id="30"/>
          <p:cNvSpPr txBox="true"/>
          <p:nvPr/>
        </p:nvSpPr>
        <p:spPr>
          <a:xfrm rot="0">
            <a:off x="985542" y="4325693"/>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[Competitor entry]</a:t>
            </a:r>
          </a:p>
        </p:txBody>
      </p:sp>
      <p:sp>
        <p:nvSpPr>
          <p:cNvPr name="TextBox 31" id="31"/>
          <p:cNvSpPr txBox="true"/>
          <p:nvPr/>
        </p:nvSpPr>
        <p:spPr>
          <a:xfrm rot="0">
            <a:off x="4167264" y="4316168"/>
            <a:ext cx="1590675" cy="571500"/>
          </a:xfrm>
          <a:prstGeom prst="rect">
            <a:avLst/>
          </a:prstGeom>
        </p:spPr>
        <p:txBody>
          <a:bodyPr anchor="t" rtlCol="false" tIns="0" lIns="0" bIns="0" rIns="0">
            <a:spAutoFit/>
          </a:bodyPr>
          <a:lstStyle/>
          <a:p>
            <a:pPr algn="l">
              <a:lnSpc>
                <a:spcPts val="1836"/>
              </a:lnSpc>
            </a:pPr>
            <a:r>
              <a:rPr lang="en-US" sz="1220" b="true">
                <a:solidFill>
                  <a:srgbClr val="C70036"/>
                </a:solidFill>
                <a:latin typeface="Inter Bold"/>
                <a:ea typeface="Inter Bold"/>
                <a:cs typeface="Inter Bold"/>
                <a:sym typeface="Inter Bold"/>
              </a:rPr>
              <a:t>[HIGH]</a:t>
            </a:r>
          </a:p>
        </p:txBody>
      </p:sp>
      <p:sp>
        <p:nvSpPr>
          <p:cNvPr name="TextBox 32" id="32"/>
          <p:cNvSpPr txBox="true"/>
          <p:nvPr/>
        </p:nvSpPr>
        <p:spPr>
          <a:xfrm rot="0">
            <a:off x="5758244" y="4316168"/>
            <a:ext cx="1590675" cy="571500"/>
          </a:xfrm>
          <a:prstGeom prst="rect">
            <a:avLst/>
          </a:prstGeom>
        </p:spPr>
        <p:txBody>
          <a:bodyPr anchor="t" rtlCol="false" tIns="0" lIns="0" bIns="0" rIns="0">
            <a:spAutoFit/>
          </a:bodyPr>
          <a:lstStyle/>
          <a:p>
            <a:pPr algn="l">
              <a:lnSpc>
                <a:spcPts val="1836"/>
              </a:lnSpc>
            </a:pPr>
            <a:r>
              <a:rPr lang="en-US" sz="1220" b="true">
                <a:solidFill>
                  <a:srgbClr val="BB4D00"/>
                </a:solidFill>
                <a:latin typeface="Inter Bold"/>
                <a:ea typeface="Inter Bold"/>
                <a:cs typeface="Inter Bold"/>
                <a:sym typeface="Inter Bold"/>
              </a:rPr>
              <a:t>[MED]</a:t>
            </a:r>
          </a:p>
        </p:txBody>
      </p:sp>
      <p:sp>
        <p:nvSpPr>
          <p:cNvPr name="TextBox 33" id="33"/>
          <p:cNvSpPr txBox="true"/>
          <p:nvPr/>
        </p:nvSpPr>
        <p:spPr>
          <a:xfrm rot="0">
            <a:off x="7348918" y="4325693"/>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grpSp>
        <p:nvGrpSpPr>
          <p:cNvPr name="Group 34" id="34"/>
          <p:cNvGrpSpPr/>
          <p:nvPr/>
        </p:nvGrpSpPr>
        <p:grpSpPr>
          <a:xfrm rot="0">
            <a:off x="924897" y="4901060"/>
            <a:ext cx="11134725" cy="533400"/>
            <a:chOff x="0" y="0"/>
            <a:chExt cx="14846300" cy="711200"/>
          </a:xfrm>
        </p:grpSpPr>
        <p:sp>
          <p:nvSpPr>
            <p:cNvPr name="Freeform 35" id="35"/>
            <p:cNvSpPr/>
            <p:nvPr/>
          </p:nvSpPr>
          <p:spPr>
            <a:xfrm flipH="false" flipV="false" rot="0">
              <a:off x="0" y="0"/>
              <a:ext cx="14846300" cy="711200"/>
            </a:xfrm>
            <a:custGeom>
              <a:avLst/>
              <a:gdLst/>
              <a:ahLst/>
              <a:cxnLst/>
              <a:rect r="r" b="b" t="t" l="l"/>
              <a:pathLst>
                <a:path h="711200" w="14846300">
                  <a:moveTo>
                    <a:pt x="0" y="0"/>
                  </a:moveTo>
                  <a:lnTo>
                    <a:pt x="14846300" y="0"/>
                  </a:lnTo>
                  <a:lnTo>
                    <a:pt x="14846300" y="711200"/>
                  </a:lnTo>
                  <a:lnTo>
                    <a:pt x="0" y="711200"/>
                  </a:lnTo>
                  <a:close/>
                </a:path>
              </a:pathLst>
            </a:custGeom>
            <a:solidFill>
              <a:srgbClr val="F8F8FA">
                <a:alpha val="15686"/>
              </a:srgbClr>
            </a:solidFill>
          </p:spPr>
        </p:sp>
      </p:grpSp>
      <p:sp>
        <p:nvSpPr>
          <p:cNvPr name="TextBox 36" id="36"/>
          <p:cNvSpPr txBox="true"/>
          <p:nvPr/>
        </p:nvSpPr>
        <p:spPr>
          <a:xfrm rot="0">
            <a:off x="985542" y="4862960"/>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[Regulatory change]</a:t>
            </a:r>
          </a:p>
        </p:txBody>
      </p:sp>
      <p:sp>
        <p:nvSpPr>
          <p:cNvPr name="TextBox 37" id="37"/>
          <p:cNvSpPr txBox="true"/>
          <p:nvPr/>
        </p:nvSpPr>
        <p:spPr>
          <a:xfrm rot="0">
            <a:off x="4167264" y="4853435"/>
            <a:ext cx="1590675" cy="571500"/>
          </a:xfrm>
          <a:prstGeom prst="rect">
            <a:avLst/>
          </a:prstGeom>
        </p:spPr>
        <p:txBody>
          <a:bodyPr anchor="t" rtlCol="false" tIns="0" lIns="0" bIns="0" rIns="0">
            <a:spAutoFit/>
          </a:bodyPr>
          <a:lstStyle/>
          <a:p>
            <a:pPr algn="l">
              <a:lnSpc>
                <a:spcPts val="1836"/>
              </a:lnSpc>
            </a:pPr>
            <a:r>
              <a:rPr lang="en-US" sz="1220" b="true">
                <a:solidFill>
                  <a:srgbClr val="007A55"/>
                </a:solidFill>
                <a:latin typeface="Inter Bold"/>
                <a:ea typeface="Inter Bold"/>
                <a:cs typeface="Inter Bold"/>
                <a:sym typeface="Inter Bold"/>
              </a:rPr>
              <a:t>[LOW]</a:t>
            </a:r>
          </a:p>
        </p:txBody>
      </p:sp>
      <p:sp>
        <p:nvSpPr>
          <p:cNvPr name="TextBox 38" id="38"/>
          <p:cNvSpPr txBox="true"/>
          <p:nvPr/>
        </p:nvSpPr>
        <p:spPr>
          <a:xfrm rot="0">
            <a:off x="5758244" y="4853435"/>
            <a:ext cx="1590675" cy="571500"/>
          </a:xfrm>
          <a:prstGeom prst="rect">
            <a:avLst/>
          </a:prstGeom>
        </p:spPr>
        <p:txBody>
          <a:bodyPr anchor="t" rtlCol="false" tIns="0" lIns="0" bIns="0" rIns="0">
            <a:spAutoFit/>
          </a:bodyPr>
          <a:lstStyle/>
          <a:p>
            <a:pPr algn="l">
              <a:lnSpc>
                <a:spcPts val="1836"/>
              </a:lnSpc>
            </a:pPr>
            <a:r>
              <a:rPr lang="en-US" sz="1220" b="true">
                <a:solidFill>
                  <a:srgbClr val="BB4D00"/>
                </a:solidFill>
                <a:latin typeface="Inter Bold"/>
                <a:ea typeface="Inter Bold"/>
                <a:cs typeface="Inter Bold"/>
                <a:sym typeface="Inter Bold"/>
              </a:rPr>
              <a:t>[MED]</a:t>
            </a:r>
          </a:p>
        </p:txBody>
      </p:sp>
      <p:sp>
        <p:nvSpPr>
          <p:cNvPr name="TextBox 39" id="39"/>
          <p:cNvSpPr txBox="true"/>
          <p:nvPr/>
        </p:nvSpPr>
        <p:spPr>
          <a:xfrm rot="0">
            <a:off x="7349509" y="4862960"/>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sp>
        <p:nvSpPr>
          <p:cNvPr name="TextBox 40" id="40"/>
          <p:cNvSpPr txBox="true"/>
          <p:nvPr/>
        </p:nvSpPr>
        <p:spPr>
          <a:xfrm rot="0">
            <a:off x="985542" y="5400227"/>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[Funding shortfall]</a:t>
            </a:r>
          </a:p>
        </p:txBody>
      </p:sp>
      <p:sp>
        <p:nvSpPr>
          <p:cNvPr name="TextBox 41" id="41"/>
          <p:cNvSpPr txBox="true"/>
          <p:nvPr/>
        </p:nvSpPr>
        <p:spPr>
          <a:xfrm rot="0">
            <a:off x="4167264" y="5390702"/>
            <a:ext cx="1590675" cy="571500"/>
          </a:xfrm>
          <a:prstGeom prst="rect">
            <a:avLst/>
          </a:prstGeom>
        </p:spPr>
        <p:txBody>
          <a:bodyPr anchor="t" rtlCol="false" tIns="0" lIns="0" bIns="0" rIns="0">
            <a:spAutoFit/>
          </a:bodyPr>
          <a:lstStyle/>
          <a:p>
            <a:pPr algn="l">
              <a:lnSpc>
                <a:spcPts val="1836"/>
              </a:lnSpc>
            </a:pPr>
            <a:r>
              <a:rPr lang="en-US" sz="1220" b="true">
                <a:solidFill>
                  <a:srgbClr val="BB4D00"/>
                </a:solidFill>
                <a:latin typeface="Inter Bold"/>
                <a:ea typeface="Inter Bold"/>
                <a:cs typeface="Inter Bold"/>
                <a:sym typeface="Inter Bold"/>
              </a:rPr>
              <a:t>[MED]</a:t>
            </a:r>
          </a:p>
        </p:txBody>
      </p:sp>
      <p:sp>
        <p:nvSpPr>
          <p:cNvPr name="TextBox 42" id="42"/>
          <p:cNvSpPr txBox="true"/>
          <p:nvPr/>
        </p:nvSpPr>
        <p:spPr>
          <a:xfrm rot="0">
            <a:off x="5758244" y="5390702"/>
            <a:ext cx="1590675" cy="571500"/>
          </a:xfrm>
          <a:prstGeom prst="rect">
            <a:avLst/>
          </a:prstGeom>
        </p:spPr>
        <p:txBody>
          <a:bodyPr anchor="t" rtlCol="false" tIns="0" lIns="0" bIns="0" rIns="0">
            <a:spAutoFit/>
          </a:bodyPr>
          <a:lstStyle/>
          <a:p>
            <a:pPr algn="l">
              <a:lnSpc>
                <a:spcPts val="1836"/>
              </a:lnSpc>
            </a:pPr>
            <a:r>
              <a:rPr lang="en-US" sz="1220" b="true">
                <a:solidFill>
                  <a:srgbClr val="C70036"/>
                </a:solidFill>
                <a:latin typeface="Inter Bold"/>
                <a:ea typeface="Inter Bold"/>
                <a:cs typeface="Inter Bold"/>
                <a:sym typeface="Inter Bold"/>
              </a:rPr>
              <a:t>[HIGH]</a:t>
            </a:r>
          </a:p>
        </p:txBody>
      </p:sp>
      <p:sp>
        <p:nvSpPr>
          <p:cNvPr name="TextBox 43" id="43"/>
          <p:cNvSpPr txBox="true"/>
          <p:nvPr/>
        </p:nvSpPr>
        <p:spPr>
          <a:xfrm rot="0">
            <a:off x="7349509" y="5400227"/>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grpSp>
        <p:nvGrpSpPr>
          <p:cNvPr name="Group 44" id="44"/>
          <p:cNvGrpSpPr/>
          <p:nvPr/>
        </p:nvGrpSpPr>
        <p:grpSpPr>
          <a:xfrm rot="0">
            <a:off x="924897" y="5975594"/>
            <a:ext cx="11134725" cy="533400"/>
            <a:chOff x="0" y="0"/>
            <a:chExt cx="14846300" cy="711200"/>
          </a:xfrm>
        </p:grpSpPr>
        <p:sp>
          <p:nvSpPr>
            <p:cNvPr name="Freeform 45" id="45"/>
            <p:cNvSpPr/>
            <p:nvPr/>
          </p:nvSpPr>
          <p:spPr>
            <a:xfrm flipH="false" flipV="false" rot="0">
              <a:off x="0" y="0"/>
              <a:ext cx="14846300" cy="711200"/>
            </a:xfrm>
            <a:custGeom>
              <a:avLst/>
              <a:gdLst/>
              <a:ahLst/>
              <a:cxnLst/>
              <a:rect r="r" b="b" t="t" l="l"/>
              <a:pathLst>
                <a:path h="711200" w="14846300">
                  <a:moveTo>
                    <a:pt x="0" y="0"/>
                  </a:moveTo>
                  <a:lnTo>
                    <a:pt x="14846300" y="0"/>
                  </a:lnTo>
                  <a:lnTo>
                    <a:pt x="14846300" y="711200"/>
                  </a:lnTo>
                  <a:lnTo>
                    <a:pt x="0" y="711200"/>
                  </a:lnTo>
                  <a:close/>
                </a:path>
              </a:pathLst>
            </a:custGeom>
            <a:solidFill>
              <a:srgbClr val="F8F8FA">
                <a:alpha val="15686"/>
              </a:srgbClr>
            </a:solidFill>
          </p:spPr>
        </p:sp>
      </p:grpSp>
      <p:sp>
        <p:nvSpPr>
          <p:cNvPr name="TextBox 46" id="46"/>
          <p:cNvSpPr txBox="true"/>
          <p:nvPr/>
        </p:nvSpPr>
        <p:spPr>
          <a:xfrm rot="0">
            <a:off x="985542" y="5937494"/>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[Team capacity]</a:t>
            </a:r>
          </a:p>
        </p:txBody>
      </p:sp>
      <p:sp>
        <p:nvSpPr>
          <p:cNvPr name="TextBox 47" id="47"/>
          <p:cNvSpPr txBox="true"/>
          <p:nvPr/>
        </p:nvSpPr>
        <p:spPr>
          <a:xfrm rot="0">
            <a:off x="4167264" y="5927969"/>
            <a:ext cx="1590675" cy="571500"/>
          </a:xfrm>
          <a:prstGeom prst="rect">
            <a:avLst/>
          </a:prstGeom>
        </p:spPr>
        <p:txBody>
          <a:bodyPr anchor="t" rtlCol="false" tIns="0" lIns="0" bIns="0" rIns="0">
            <a:spAutoFit/>
          </a:bodyPr>
          <a:lstStyle/>
          <a:p>
            <a:pPr algn="l">
              <a:lnSpc>
                <a:spcPts val="1836"/>
              </a:lnSpc>
            </a:pPr>
            <a:r>
              <a:rPr lang="en-US" sz="1220" b="true">
                <a:solidFill>
                  <a:srgbClr val="BB4D00"/>
                </a:solidFill>
                <a:latin typeface="Inter Bold"/>
                <a:ea typeface="Inter Bold"/>
                <a:cs typeface="Inter Bold"/>
                <a:sym typeface="Inter Bold"/>
              </a:rPr>
              <a:t>[MED]</a:t>
            </a:r>
          </a:p>
        </p:txBody>
      </p:sp>
      <p:sp>
        <p:nvSpPr>
          <p:cNvPr name="TextBox 48" id="48"/>
          <p:cNvSpPr txBox="true"/>
          <p:nvPr/>
        </p:nvSpPr>
        <p:spPr>
          <a:xfrm rot="0">
            <a:off x="5758244" y="5927969"/>
            <a:ext cx="1590675" cy="571500"/>
          </a:xfrm>
          <a:prstGeom prst="rect">
            <a:avLst/>
          </a:prstGeom>
        </p:spPr>
        <p:txBody>
          <a:bodyPr anchor="t" rtlCol="false" tIns="0" lIns="0" bIns="0" rIns="0">
            <a:spAutoFit/>
          </a:bodyPr>
          <a:lstStyle/>
          <a:p>
            <a:pPr algn="l">
              <a:lnSpc>
                <a:spcPts val="1836"/>
              </a:lnSpc>
            </a:pPr>
            <a:r>
              <a:rPr lang="en-US" sz="1220" b="true">
                <a:solidFill>
                  <a:srgbClr val="BB4D00"/>
                </a:solidFill>
                <a:latin typeface="Inter Bold"/>
                <a:ea typeface="Inter Bold"/>
                <a:cs typeface="Inter Bold"/>
                <a:sym typeface="Inter Bold"/>
              </a:rPr>
              <a:t>[MED]</a:t>
            </a:r>
          </a:p>
        </p:txBody>
      </p:sp>
      <p:sp>
        <p:nvSpPr>
          <p:cNvPr name="TextBox 49" id="49"/>
          <p:cNvSpPr txBox="true"/>
          <p:nvPr/>
        </p:nvSpPr>
        <p:spPr>
          <a:xfrm rot="0">
            <a:off x="7349509" y="5937494"/>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sp>
        <p:nvSpPr>
          <p:cNvPr name="TextBox 50" id="50"/>
          <p:cNvSpPr txBox="true"/>
          <p:nvPr/>
        </p:nvSpPr>
        <p:spPr>
          <a:xfrm rot="0">
            <a:off x="985542" y="6474771"/>
            <a:ext cx="3181350" cy="561975"/>
          </a:xfrm>
          <a:prstGeom prst="rect">
            <a:avLst/>
          </a:prstGeom>
        </p:spPr>
        <p:txBody>
          <a:bodyPr anchor="t" rtlCol="false" tIns="0" lIns="0" bIns="0" rIns="0">
            <a:spAutoFit/>
          </a:bodyPr>
          <a:lstStyle/>
          <a:p>
            <a:pPr algn="l">
              <a:lnSpc>
                <a:spcPts val="2052"/>
              </a:lnSpc>
            </a:pPr>
            <a:r>
              <a:rPr lang="en-US" sz="1360">
                <a:solidFill>
                  <a:srgbClr val="1A1A2E"/>
                </a:solidFill>
                <a:latin typeface="Inter"/>
                <a:ea typeface="Inter"/>
                <a:cs typeface="Inter"/>
                <a:sym typeface="Inter"/>
              </a:rPr>
              <a:t>[Technical debt]</a:t>
            </a:r>
          </a:p>
        </p:txBody>
      </p:sp>
      <p:sp>
        <p:nvSpPr>
          <p:cNvPr name="TextBox 51" id="51"/>
          <p:cNvSpPr txBox="true"/>
          <p:nvPr/>
        </p:nvSpPr>
        <p:spPr>
          <a:xfrm rot="0">
            <a:off x="4167264" y="6465246"/>
            <a:ext cx="1590675" cy="571500"/>
          </a:xfrm>
          <a:prstGeom prst="rect">
            <a:avLst/>
          </a:prstGeom>
        </p:spPr>
        <p:txBody>
          <a:bodyPr anchor="t" rtlCol="false" tIns="0" lIns="0" bIns="0" rIns="0">
            <a:spAutoFit/>
          </a:bodyPr>
          <a:lstStyle/>
          <a:p>
            <a:pPr algn="l">
              <a:lnSpc>
                <a:spcPts val="1836"/>
              </a:lnSpc>
            </a:pPr>
            <a:r>
              <a:rPr lang="en-US" sz="1220" b="true">
                <a:solidFill>
                  <a:srgbClr val="007A55"/>
                </a:solidFill>
                <a:latin typeface="Inter Bold"/>
                <a:ea typeface="Inter Bold"/>
                <a:cs typeface="Inter Bold"/>
                <a:sym typeface="Inter Bold"/>
              </a:rPr>
              <a:t>[LOW]</a:t>
            </a:r>
          </a:p>
        </p:txBody>
      </p:sp>
      <p:sp>
        <p:nvSpPr>
          <p:cNvPr name="TextBox 52" id="52"/>
          <p:cNvSpPr txBox="true"/>
          <p:nvPr/>
        </p:nvSpPr>
        <p:spPr>
          <a:xfrm rot="0">
            <a:off x="5758244" y="6465246"/>
            <a:ext cx="1590675" cy="571500"/>
          </a:xfrm>
          <a:prstGeom prst="rect">
            <a:avLst/>
          </a:prstGeom>
        </p:spPr>
        <p:txBody>
          <a:bodyPr anchor="t" rtlCol="false" tIns="0" lIns="0" bIns="0" rIns="0">
            <a:spAutoFit/>
          </a:bodyPr>
          <a:lstStyle/>
          <a:p>
            <a:pPr algn="l">
              <a:lnSpc>
                <a:spcPts val="1836"/>
              </a:lnSpc>
            </a:pPr>
            <a:r>
              <a:rPr lang="en-US" sz="1220" b="true">
                <a:solidFill>
                  <a:srgbClr val="007A55"/>
                </a:solidFill>
                <a:latin typeface="Inter Bold"/>
                <a:ea typeface="Inter Bold"/>
                <a:cs typeface="Inter Bold"/>
                <a:sym typeface="Inter Bold"/>
              </a:rPr>
              <a:t>[LOW]</a:t>
            </a:r>
          </a:p>
        </p:txBody>
      </p:sp>
      <p:sp>
        <p:nvSpPr>
          <p:cNvPr name="TextBox 53" id="53"/>
          <p:cNvSpPr txBox="true"/>
          <p:nvPr/>
        </p:nvSpPr>
        <p:spPr>
          <a:xfrm rot="0">
            <a:off x="7349509" y="6474771"/>
            <a:ext cx="4772025" cy="561975"/>
          </a:xfrm>
          <a:prstGeom prst="rect">
            <a:avLst/>
          </a:prstGeom>
        </p:spPr>
        <p:txBody>
          <a:bodyPr anchor="t" rtlCol="false" tIns="0" lIns="0" bIns="0" rIns="0">
            <a:spAutoFit/>
          </a:bodyPr>
          <a:lstStyle/>
          <a:p>
            <a:pPr algn="l">
              <a:lnSpc>
                <a:spcPts val="2052"/>
              </a:lnSpc>
            </a:pPr>
            <a:r>
              <a:rPr lang="en-US" sz="1360">
                <a:solidFill>
                  <a:srgbClr val="595959"/>
                </a:solidFill>
                <a:latin typeface="Inter"/>
                <a:ea typeface="Inter"/>
                <a:cs typeface="Inter"/>
                <a:sym typeface="Inter"/>
              </a:rPr>
              <a:t>[Describe mitigation strategy.]</a:t>
            </a:r>
          </a:p>
        </p:txBody>
      </p:sp>
      <p:grpSp>
        <p:nvGrpSpPr>
          <p:cNvPr name="Group 54" id="54"/>
          <p:cNvGrpSpPr/>
          <p:nvPr/>
        </p:nvGrpSpPr>
        <p:grpSpPr>
          <a:xfrm rot="0">
            <a:off x="12433030" y="2668934"/>
            <a:ext cx="4943475" cy="6800850"/>
            <a:chOff x="0" y="0"/>
            <a:chExt cx="6591300" cy="9067800"/>
          </a:xfrm>
        </p:grpSpPr>
        <p:sp>
          <p:nvSpPr>
            <p:cNvPr name="Freeform 55" id="55"/>
            <p:cNvSpPr/>
            <p:nvPr/>
          </p:nvSpPr>
          <p:spPr>
            <a:xfrm flipH="false" flipV="false" rot="0">
              <a:off x="0" y="0"/>
              <a:ext cx="6591300" cy="9067800"/>
            </a:xfrm>
            <a:custGeom>
              <a:avLst/>
              <a:gdLst/>
              <a:ahLst/>
              <a:cxnLst/>
              <a:rect r="r" b="b" t="t" l="l"/>
              <a:pathLst>
                <a:path h="9067800" w="6591300">
                  <a:moveTo>
                    <a:pt x="0" y="244348"/>
                  </a:moveTo>
                  <a:cubicBezTo>
                    <a:pt x="0" y="109347"/>
                    <a:pt x="109347" y="0"/>
                    <a:pt x="244348" y="0"/>
                  </a:cubicBezTo>
                  <a:lnTo>
                    <a:pt x="6346952" y="0"/>
                  </a:lnTo>
                  <a:cubicBezTo>
                    <a:pt x="6481953" y="0"/>
                    <a:pt x="6591300" y="109347"/>
                    <a:pt x="6591300" y="244348"/>
                  </a:cubicBezTo>
                  <a:lnTo>
                    <a:pt x="6591300" y="8823452"/>
                  </a:lnTo>
                  <a:cubicBezTo>
                    <a:pt x="6591300" y="8958453"/>
                    <a:pt x="6481953" y="9067800"/>
                    <a:pt x="6346952" y="9067800"/>
                  </a:cubicBezTo>
                  <a:lnTo>
                    <a:pt x="244348" y="9067800"/>
                  </a:lnTo>
                  <a:cubicBezTo>
                    <a:pt x="109347" y="9067800"/>
                    <a:pt x="0" y="8958453"/>
                    <a:pt x="0" y="8823452"/>
                  </a:cubicBezTo>
                  <a:close/>
                </a:path>
              </a:pathLst>
            </a:custGeom>
            <a:solidFill>
              <a:srgbClr val="FFFFFF"/>
            </a:solidFill>
            <a:ln w="9526" cap="sq">
              <a:solidFill>
                <a:srgbClr val="E5E7EB"/>
              </a:solidFill>
              <a:prstDash val="solid"/>
              <a:miter/>
            </a:ln>
          </p:spPr>
        </p:sp>
      </p:grpSp>
      <p:sp>
        <p:nvSpPr>
          <p:cNvPr name="TextBox 56" id="56"/>
          <p:cNvSpPr txBox="true"/>
          <p:nvPr/>
        </p:nvSpPr>
        <p:spPr>
          <a:xfrm rot="0">
            <a:off x="12652105" y="2844403"/>
            <a:ext cx="45053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RISK MATRIX</a:t>
            </a:r>
          </a:p>
        </p:txBody>
      </p:sp>
      <p:sp>
        <p:nvSpPr>
          <p:cNvPr name="TextBox 57" id="57"/>
          <p:cNvSpPr txBox="true"/>
          <p:nvPr/>
        </p:nvSpPr>
        <p:spPr>
          <a:xfrm rot="0">
            <a:off x="12985994" y="3187303"/>
            <a:ext cx="1352550" cy="285750"/>
          </a:xfrm>
          <a:prstGeom prst="rect">
            <a:avLst/>
          </a:prstGeom>
        </p:spPr>
        <p:txBody>
          <a:bodyPr anchor="t" rtlCol="false" tIns="0" lIns="0" bIns="0" rIns="0">
            <a:spAutoFit/>
          </a:bodyPr>
          <a:lstStyle/>
          <a:p>
            <a:pPr algn="ctr">
              <a:lnSpc>
                <a:spcPts val="1620"/>
              </a:lnSpc>
            </a:pPr>
            <a:r>
              <a:rPr lang="en-US" sz="1080" b="true">
                <a:solidFill>
                  <a:srgbClr val="6B7280"/>
                </a:solidFill>
                <a:latin typeface="Inter Bold"/>
                <a:ea typeface="Inter Bold"/>
                <a:cs typeface="Inter Bold"/>
                <a:sym typeface="Inter Bold"/>
              </a:rPr>
              <a:t>LOW</a:t>
            </a:r>
          </a:p>
        </p:txBody>
      </p:sp>
      <p:sp>
        <p:nvSpPr>
          <p:cNvPr name="TextBox 58" id="58"/>
          <p:cNvSpPr txBox="true"/>
          <p:nvPr/>
        </p:nvSpPr>
        <p:spPr>
          <a:xfrm rot="0">
            <a:off x="14395399" y="3187303"/>
            <a:ext cx="1352550" cy="285750"/>
          </a:xfrm>
          <a:prstGeom prst="rect">
            <a:avLst/>
          </a:prstGeom>
        </p:spPr>
        <p:txBody>
          <a:bodyPr anchor="t" rtlCol="false" tIns="0" lIns="0" bIns="0" rIns="0">
            <a:spAutoFit/>
          </a:bodyPr>
          <a:lstStyle/>
          <a:p>
            <a:pPr algn="ctr">
              <a:lnSpc>
                <a:spcPts val="1620"/>
              </a:lnSpc>
            </a:pPr>
            <a:r>
              <a:rPr lang="en-US" sz="1080" b="true">
                <a:solidFill>
                  <a:srgbClr val="6B7280"/>
                </a:solidFill>
                <a:latin typeface="Inter Bold"/>
                <a:ea typeface="Inter Bold"/>
                <a:cs typeface="Inter Bold"/>
                <a:sym typeface="Inter Bold"/>
              </a:rPr>
              <a:t>MED</a:t>
            </a:r>
          </a:p>
        </p:txBody>
      </p:sp>
      <p:sp>
        <p:nvSpPr>
          <p:cNvPr name="TextBox 59" id="59"/>
          <p:cNvSpPr txBox="true"/>
          <p:nvPr/>
        </p:nvSpPr>
        <p:spPr>
          <a:xfrm rot="0">
            <a:off x="15804804" y="3187303"/>
            <a:ext cx="1352550" cy="285750"/>
          </a:xfrm>
          <a:prstGeom prst="rect">
            <a:avLst/>
          </a:prstGeom>
        </p:spPr>
        <p:txBody>
          <a:bodyPr anchor="t" rtlCol="false" tIns="0" lIns="0" bIns="0" rIns="0">
            <a:spAutoFit/>
          </a:bodyPr>
          <a:lstStyle/>
          <a:p>
            <a:pPr algn="ctr">
              <a:lnSpc>
                <a:spcPts val="1620"/>
              </a:lnSpc>
            </a:pPr>
            <a:r>
              <a:rPr lang="en-US" sz="1080" b="true">
                <a:solidFill>
                  <a:srgbClr val="6B7280"/>
                </a:solidFill>
                <a:latin typeface="Inter Bold"/>
                <a:ea typeface="Inter Bold"/>
                <a:cs typeface="Inter Bold"/>
                <a:sym typeface="Inter Bold"/>
              </a:rPr>
              <a:t>HIGH</a:t>
            </a:r>
          </a:p>
        </p:txBody>
      </p:sp>
      <p:grpSp>
        <p:nvGrpSpPr>
          <p:cNvPr name="Group 60" id="60"/>
          <p:cNvGrpSpPr/>
          <p:nvPr/>
        </p:nvGrpSpPr>
        <p:grpSpPr>
          <a:xfrm rot="-5400000">
            <a:off x="12575298" y="3447976"/>
            <a:ext cx="430716" cy="1790700"/>
            <a:chOff x="0" y="0"/>
            <a:chExt cx="574288" cy="2387600"/>
          </a:xfrm>
        </p:grpSpPr>
        <p:sp>
          <p:nvSpPr>
            <p:cNvPr name="Freeform 61" id="61"/>
            <p:cNvSpPr/>
            <p:nvPr/>
          </p:nvSpPr>
          <p:spPr>
            <a:xfrm flipH="false" flipV="false" rot="0">
              <a:off x="0" y="0"/>
              <a:ext cx="574289" cy="2387600"/>
            </a:xfrm>
            <a:custGeom>
              <a:avLst/>
              <a:gdLst/>
              <a:ahLst/>
              <a:cxnLst/>
              <a:rect r="r" b="b" t="t" l="l"/>
              <a:pathLst>
                <a:path h="2387600" w="574289">
                  <a:moveTo>
                    <a:pt x="0" y="0"/>
                  </a:moveTo>
                  <a:lnTo>
                    <a:pt x="574289" y="0"/>
                  </a:lnTo>
                  <a:lnTo>
                    <a:pt x="574289" y="2387600"/>
                  </a:lnTo>
                  <a:lnTo>
                    <a:pt x="0" y="2387600"/>
                  </a:lnTo>
                  <a:close/>
                </a:path>
              </a:pathLst>
            </a:custGeom>
            <a:blipFill>
              <a:blip r:embed="rId3">
                <a:alphaModFix amt="0"/>
              </a:blip>
              <a:stretch>
                <a:fillRect l="-501354" t="0" r="-465486" b="0"/>
              </a:stretch>
            </a:blipFill>
          </p:spPr>
        </p:sp>
        <p:sp>
          <p:nvSpPr>
            <p:cNvPr name="TextBox 62" id="62"/>
            <p:cNvSpPr txBox="true"/>
            <p:nvPr/>
          </p:nvSpPr>
          <p:spPr>
            <a:xfrm>
              <a:off x="0" y="-38100"/>
              <a:ext cx="574288" cy="2425700"/>
            </a:xfrm>
            <a:prstGeom prst="rect">
              <a:avLst/>
            </a:prstGeom>
          </p:spPr>
          <p:txBody>
            <a:bodyPr anchor="ctr" rtlCol="false" tIns="0" lIns="0" bIns="0" rIns="0"/>
            <a:lstStyle/>
            <a:p>
              <a:pPr algn="l">
                <a:lnSpc>
                  <a:spcPts val="1620"/>
                </a:lnSpc>
              </a:pPr>
              <a:r>
                <a:rPr lang="en-US" sz="1080" b="true">
                  <a:solidFill>
                    <a:srgbClr val="6B7280"/>
                  </a:solidFill>
                  <a:latin typeface="Inter Bold"/>
                  <a:ea typeface="Inter Bold"/>
                  <a:cs typeface="Inter Bold"/>
                  <a:sym typeface="Inter Bold"/>
                </a:rPr>
                <a:t>HIGH</a:t>
              </a:r>
            </a:p>
          </p:txBody>
        </p:sp>
      </p:grpSp>
      <p:grpSp>
        <p:nvGrpSpPr>
          <p:cNvPr name="Group 63" id="63"/>
          <p:cNvGrpSpPr/>
          <p:nvPr/>
        </p:nvGrpSpPr>
        <p:grpSpPr>
          <a:xfrm rot="0">
            <a:off x="12981232" y="3520459"/>
            <a:ext cx="1362075" cy="1800225"/>
            <a:chOff x="0" y="0"/>
            <a:chExt cx="1816100" cy="2400300"/>
          </a:xfrm>
        </p:grpSpPr>
        <p:sp>
          <p:nvSpPr>
            <p:cNvPr name="Freeform 64" id="64"/>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FE4E6"/>
            </a:solidFill>
            <a:ln w="9526" cap="sq">
              <a:solidFill>
                <a:srgbClr val="FFCCD3"/>
              </a:solidFill>
              <a:prstDash val="solid"/>
              <a:miter/>
            </a:ln>
          </p:spPr>
        </p:sp>
        <p:sp>
          <p:nvSpPr>
            <p:cNvPr name="TextBox 65" id="65"/>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C70036"/>
                  </a:solidFill>
                  <a:latin typeface="Inter"/>
                  <a:ea typeface="Inter"/>
                  <a:cs typeface="Inter"/>
                  <a:sym typeface="Inter"/>
                </a:rPr>
                <a:t>[High likelihood / Low impact]</a:t>
              </a:r>
            </a:p>
          </p:txBody>
        </p:sp>
      </p:grpSp>
      <p:grpSp>
        <p:nvGrpSpPr>
          <p:cNvPr name="Group 66" id="66"/>
          <p:cNvGrpSpPr/>
          <p:nvPr/>
        </p:nvGrpSpPr>
        <p:grpSpPr>
          <a:xfrm rot="0">
            <a:off x="14390637" y="3520459"/>
            <a:ext cx="1362075" cy="1800225"/>
            <a:chOff x="0" y="0"/>
            <a:chExt cx="1816100" cy="2400300"/>
          </a:xfrm>
        </p:grpSpPr>
        <p:sp>
          <p:nvSpPr>
            <p:cNvPr name="Freeform 67" id="67"/>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FE4E6"/>
            </a:solidFill>
            <a:ln w="9526" cap="sq">
              <a:solidFill>
                <a:srgbClr val="FFCCD3"/>
              </a:solidFill>
              <a:prstDash val="solid"/>
              <a:miter/>
            </a:ln>
          </p:spPr>
        </p:sp>
        <p:sp>
          <p:nvSpPr>
            <p:cNvPr name="TextBox 68" id="68"/>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C70036"/>
                  </a:solidFill>
                  <a:latin typeface="Inter"/>
                  <a:ea typeface="Inter"/>
                  <a:cs typeface="Inter"/>
                  <a:sym typeface="Inter"/>
                </a:rPr>
                <a:t>[Comp. entry]</a:t>
              </a:r>
            </a:p>
          </p:txBody>
        </p:sp>
      </p:grpSp>
      <p:grpSp>
        <p:nvGrpSpPr>
          <p:cNvPr name="Group 69" id="69"/>
          <p:cNvGrpSpPr/>
          <p:nvPr/>
        </p:nvGrpSpPr>
        <p:grpSpPr>
          <a:xfrm rot="0">
            <a:off x="15800041" y="3520459"/>
            <a:ext cx="1362075" cy="1800225"/>
            <a:chOff x="0" y="0"/>
            <a:chExt cx="1816100" cy="2400300"/>
          </a:xfrm>
        </p:grpSpPr>
        <p:sp>
          <p:nvSpPr>
            <p:cNvPr name="Freeform 70" id="70"/>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FE4E6"/>
            </a:solidFill>
            <a:ln w="9526" cap="sq">
              <a:solidFill>
                <a:srgbClr val="FFCCD3"/>
              </a:solidFill>
              <a:prstDash val="solid"/>
              <a:miter/>
            </a:ln>
          </p:spPr>
        </p:sp>
      </p:grpSp>
      <p:grpSp>
        <p:nvGrpSpPr>
          <p:cNvPr name="Group 71" id="71"/>
          <p:cNvGrpSpPr/>
          <p:nvPr/>
        </p:nvGrpSpPr>
        <p:grpSpPr>
          <a:xfrm rot="-5400000">
            <a:off x="12586278" y="5299805"/>
            <a:ext cx="408756" cy="1790700"/>
            <a:chOff x="0" y="0"/>
            <a:chExt cx="545008" cy="2387600"/>
          </a:xfrm>
        </p:grpSpPr>
        <p:sp>
          <p:nvSpPr>
            <p:cNvPr name="Freeform 72" id="72"/>
            <p:cNvSpPr/>
            <p:nvPr/>
          </p:nvSpPr>
          <p:spPr>
            <a:xfrm flipH="false" flipV="false" rot="0">
              <a:off x="0" y="0"/>
              <a:ext cx="545009" cy="2387600"/>
            </a:xfrm>
            <a:custGeom>
              <a:avLst/>
              <a:gdLst/>
              <a:ahLst/>
              <a:cxnLst/>
              <a:rect r="r" b="b" t="t" l="l"/>
              <a:pathLst>
                <a:path h="2387600" w="545009">
                  <a:moveTo>
                    <a:pt x="0" y="0"/>
                  </a:moveTo>
                  <a:lnTo>
                    <a:pt x="545009" y="0"/>
                  </a:lnTo>
                  <a:lnTo>
                    <a:pt x="545009" y="2387600"/>
                  </a:lnTo>
                  <a:lnTo>
                    <a:pt x="0" y="2387600"/>
                  </a:lnTo>
                  <a:close/>
                </a:path>
              </a:pathLst>
            </a:custGeom>
            <a:blipFill>
              <a:blip r:embed="rId3">
                <a:alphaModFix amt="0"/>
              </a:blip>
              <a:stretch>
                <a:fillRect l="-528289" t="0" r="-495866" b="0"/>
              </a:stretch>
            </a:blipFill>
          </p:spPr>
        </p:sp>
        <p:sp>
          <p:nvSpPr>
            <p:cNvPr name="TextBox 73" id="73"/>
            <p:cNvSpPr txBox="true"/>
            <p:nvPr/>
          </p:nvSpPr>
          <p:spPr>
            <a:xfrm>
              <a:off x="0" y="-38100"/>
              <a:ext cx="545008" cy="2425700"/>
            </a:xfrm>
            <a:prstGeom prst="rect">
              <a:avLst/>
            </a:prstGeom>
          </p:spPr>
          <p:txBody>
            <a:bodyPr anchor="ctr" rtlCol="false" tIns="0" lIns="0" bIns="0" rIns="0"/>
            <a:lstStyle/>
            <a:p>
              <a:pPr algn="l">
                <a:lnSpc>
                  <a:spcPts val="1620"/>
                </a:lnSpc>
              </a:pPr>
              <a:r>
                <a:rPr lang="en-US" sz="1080" b="true">
                  <a:solidFill>
                    <a:srgbClr val="6B7280"/>
                  </a:solidFill>
                  <a:latin typeface="Inter Bold"/>
                  <a:ea typeface="Inter Bold"/>
                  <a:cs typeface="Inter Bold"/>
                  <a:sym typeface="Inter Bold"/>
                </a:rPr>
                <a:t>MED</a:t>
              </a:r>
            </a:p>
          </p:txBody>
        </p:sp>
      </p:grpSp>
      <p:grpSp>
        <p:nvGrpSpPr>
          <p:cNvPr name="Group 74" id="74"/>
          <p:cNvGrpSpPr/>
          <p:nvPr/>
        </p:nvGrpSpPr>
        <p:grpSpPr>
          <a:xfrm rot="0">
            <a:off x="12981232" y="5361308"/>
            <a:ext cx="1362075" cy="1800225"/>
            <a:chOff x="0" y="0"/>
            <a:chExt cx="1816100" cy="2400300"/>
          </a:xfrm>
        </p:grpSpPr>
        <p:sp>
          <p:nvSpPr>
            <p:cNvPr name="Freeform 75" id="75"/>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EF3C6"/>
            </a:solidFill>
            <a:ln w="9526" cap="sq">
              <a:solidFill>
                <a:srgbClr val="FEE685"/>
              </a:solidFill>
              <a:prstDash val="solid"/>
              <a:miter/>
            </a:ln>
          </p:spPr>
        </p:sp>
        <p:sp>
          <p:nvSpPr>
            <p:cNvPr name="TextBox 76" id="76"/>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BB4D00"/>
                  </a:solidFill>
                  <a:latin typeface="Inter"/>
                  <a:ea typeface="Inter"/>
                  <a:cs typeface="Inter"/>
                  <a:sym typeface="Inter"/>
                </a:rPr>
                <a:t>[Team capacity]</a:t>
              </a:r>
            </a:p>
          </p:txBody>
        </p:sp>
      </p:grpSp>
      <p:grpSp>
        <p:nvGrpSpPr>
          <p:cNvPr name="Group 77" id="77"/>
          <p:cNvGrpSpPr/>
          <p:nvPr/>
        </p:nvGrpSpPr>
        <p:grpSpPr>
          <a:xfrm rot="0">
            <a:off x="14390637" y="5361308"/>
            <a:ext cx="1362075" cy="1800225"/>
            <a:chOff x="0" y="0"/>
            <a:chExt cx="1816100" cy="2400300"/>
          </a:xfrm>
        </p:grpSpPr>
        <p:sp>
          <p:nvSpPr>
            <p:cNvPr name="Freeform 78" id="78"/>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FE4E6"/>
            </a:solidFill>
            <a:ln w="9526" cap="sq">
              <a:solidFill>
                <a:srgbClr val="FFCCD3"/>
              </a:solidFill>
              <a:prstDash val="solid"/>
              <a:miter/>
            </a:ln>
          </p:spPr>
        </p:sp>
        <p:sp>
          <p:nvSpPr>
            <p:cNvPr name="TextBox 79" id="79"/>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C70036"/>
                  </a:solidFill>
                  <a:latin typeface="Inter"/>
                  <a:ea typeface="Inter"/>
                  <a:cs typeface="Inter"/>
                  <a:sym typeface="Inter"/>
                </a:rPr>
                <a:t>[Adoption · Funding]</a:t>
              </a:r>
            </a:p>
          </p:txBody>
        </p:sp>
      </p:grpSp>
      <p:grpSp>
        <p:nvGrpSpPr>
          <p:cNvPr name="Group 80" id="80"/>
          <p:cNvGrpSpPr/>
          <p:nvPr/>
        </p:nvGrpSpPr>
        <p:grpSpPr>
          <a:xfrm rot="0">
            <a:off x="15800041" y="5361308"/>
            <a:ext cx="1362075" cy="1800225"/>
            <a:chOff x="0" y="0"/>
            <a:chExt cx="1816100" cy="2400300"/>
          </a:xfrm>
        </p:grpSpPr>
        <p:sp>
          <p:nvSpPr>
            <p:cNvPr name="Freeform 81" id="81"/>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FE4E6"/>
            </a:solidFill>
            <a:ln w="9526" cap="sq">
              <a:solidFill>
                <a:srgbClr val="FFCCD3"/>
              </a:solidFill>
              <a:prstDash val="solid"/>
              <a:miter/>
            </a:ln>
          </p:spPr>
        </p:sp>
      </p:grpSp>
      <p:grpSp>
        <p:nvGrpSpPr>
          <p:cNvPr name="Group 82" id="82"/>
          <p:cNvGrpSpPr/>
          <p:nvPr/>
        </p:nvGrpSpPr>
        <p:grpSpPr>
          <a:xfrm rot="-5400000">
            <a:off x="12579839" y="7134225"/>
            <a:ext cx="421634" cy="1790700"/>
            <a:chOff x="0" y="0"/>
            <a:chExt cx="562178" cy="2387600"/>
          </a:xfrm>
        </p:grpSpPr>
        <p:sp>
          <p:nvSpPr>
            <p:cNvPr name="Freeform 83" id="83"/>
            <p:cNvSpPr/>
            <p:nvPr/>
          </p:nvSpPr>
          <p:spPr>
            <a:xfrm flipH="false" flipV="false" rot="0">
              <a:off x="0" y="0"/>
              <a:ext cx="562180" cy="2387600"/>
            </a:xfrm>
            <a:custGeom>
              <a:avLst/>
              <a:gdLst/>
              <a:ahLst/>
              <a:cxnLst/>
              <a:rect r="r" b="b" t="t" l="l"/>
              <a:pathLst>
                <a:path h="2387600" w="562180">
                  <a:moveTo>
                    <a:pt x="0" y="0"/>
                  </a:moveTo>
                  <a:lnTo>
                    <a:pt x="562180" y="0"/>
                  </a:lnTo>
                  <a:lnTo>
                    <a:pt x="562180" y="2387600"/>
                  </a:lnTo>
                  <a:lnTo>
                    <a:pt x="0" y="2387600"/>
                  </a:lnTo>
                  <a:close/>
                </a:path>
              </a:pathLst>
            </a:custGeom>
            <a:blipFill>
              <a:blip r:embed="rId3">
                <a:alphaModFix amt="0"/>
              </a:blip>
              <a:stretch>
                <a:fillRect l="-512154" t="0" r="-477667" b="0"/>
              </a:stretch>
            </a:blipFill>
          </p:spPr>
        </p:sp>
        <p:sp>
          <p:nvSpPr>
            <p:cNvPr name="TextBox 84" id="84"/>
            <p:cNvSpPr txBox="true"/>
            <p:nvPr/>
          </p:nvSpPr>
          <p:spPr>
            <a:xfrm>
              <a:off x="0" y="-38100"/>
              <a:ext cx="562178" cy="2425700"/>
            </a:xfrm>
            <a:prstGeom prst="rect">
              <a:avLst/>
            </a:prstGeom>
          </p:spPr>
          <p:txBody>
            <a:bodyPr anchor="ctr" rtlCol="false" tIns="0" lIns="0" bIns="0" rIns="0"/>
            <a:lstStyle/>
            <a:p>
              <a:pPr algn="l">
                <a:lnSpc>
                  <a:spcPts val="1620"/>
                </a:lnSpc>
              </a:pPr>
              <a:r>
                <a:rPr lang="en-US" sz="1080" b="true">
                  <a:solidFill>
                    <a:srgbClr val="6B7280"/>
                  </a:solidFill>
                  <a:latin typeface="Inter Bold"/>
                  <a:ea typeface="Inter Bold"/>
                  <a:cs typeface="Inter Bold"/>
                  <a:sym typeface="Inter Bold"/>
                </a:rPr>
                <a:t>LOW</a:t>
              </a:r>
            </a:p>
          </p:txBody>
        </p:sp>
      </p:grpSp>
      <p:grpSp>
        <p:nvGrpSpPr>
          <p:cNvPr name="Group 85" id="85"/>
          <p:cNvGrpSpPr/>
          <p:nvPr/>
        </p:nvGrpSpPr>
        <p:grpSpPr>
          <a:xfrm rot="0">
            <a:off x="12981232" y="7202167"/>
            <a:ext cx="1362075" cy="1800225"/>
            <a:chOff x="0" y="0"/>
            <a:chExt cx="1816100" cy="2400300"/>
          </a:xfrm>
        </p:grpSpPr>
        <p:sp>
          <p:nvSpPr>
            <p:cNvPr name="Freeform 86" id="86"/>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D0FAE5"/>
            </a:solidFill>
            <a:ln w="9526" cap="sq">
              <a:solidFill>
                <a:srgbClr val="A4F4CF"/>
              </a:solidFill>
              <a:prstDash val="solid"/>
              <a:miter/>
            </a:ln>
          </p:spPr>
        </p:sp>
        <p:sp>
          <p:nvSpPr>
            <p:cNvPr name="TextBox 87" id="87"/>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007A55"/>
                  </a:solidFill>
                  <a:latin typeface="Inter"/>
                  <a:ea typeface="Inter"/>
                  <a:cs typeface="Inter"/>
                  <a:sym typeface="Inter"/>
                </a:rPr>
                <a:t>[Tech debt]</a:t>
              </a:r>
            </a:p>
          </p:txBody>
        </p:sp>
      </p:grpSp>
      <p:grpSp>
        <p:nvGrpSpPr>
          <p:cNvPr name="Group 88" id="88"/>
          <p:cNvGrpSpPr/>
          <p:nvPr/>
        </p:nvGrpSpPr>
        <p:grpSpPr>
          <a:xfrm rot="0">
            <a:off x="14390637" y="7202167"/>
            <a:ext cx="1362075" cy="1800225"/>
            <a:chOff x="0" y="0"/>
            <a:chExt cx="1816100" cy="2400300"/>
          </a:xfrm>
        </p:grpSpPr>
        <p:sp>
          <p:nvSpPr>
            <p:cNvPr name="Freeform 89" id="89"/>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EF3C6"/>
            </a:solidFill>
            <a:ln w="9526" cap="sq">
              <a:solidFill>
                <a:srgbClr val="FEE685"/>
              </a:solidFill>
              <a:prstDash val="solid"/>
              <a:miter/>
            </a:ln>
          </p:spPr>
        </p:sp>
        <p:sp>
          <p:nvSpPr>
            <p:cNvPr name="TextBox 90" id="90"/>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BB4D00"/>
                  </a:solidFill>
                  <a:latin typeface="Inter"/>
                  <a:ea typeface="Inter"/>
                  <a:cs typeface="Inter"/>
                  <a:sym typeface="Inter"/>
                </a:rPr>
                <a:t>[Regulatory]</a:t>
              </a:r>
            </a:p>
          </p:txBody>
        </p:sp>
      </p:grpSp>
      <p:grpSp>
        <p:nvGrpSpPr>
          <p:cNvPr name="Group 91" id="91"/>
          <p:cNvGrpSpPr/>
          <p:nvPr/>
        </p:nvGrpSpPr>
        <p:grpSpPr>
          <a:xfrm rot="0">
            <a:off x="15800041" y="7202167"/>
            <a:ext cx="1362075" cy="1800225"/>
            <a:chOff x="0" y="0"/>
            <a:chExt cx="1816100" cy="2400300"/>
          </a:xfrm>
        </p:grpSpPr>
        <p:sp>
          <p:nvSpPr>
            <p:cNvPr name="Freeform 92" id="92"/>
            <p:cNvSpPr/>
            <p:nvPr/>
          </p:nvSpPr>
          <p:spPr>
            <a:xfrm flipH="false" flipV="false" rot="0">
              <a:off x="0" y="0"/>
              <a:ext cx="1816100" cy="2400300"/>
            </a:xfrm>
            <a:custGeom>
              <a:avLst/>
              <a:gdLst/>
              <a:ahLst/>
              <a:cxnLst/>
              <a:rect r="r" b="b" t="t" l="l"/>
              <a:pathLst>
                <a:path h="2400300" w="1816100">
                  <a:moveTo>
                    <a:pt x="0" y="98171"/>
                  </a:moveTo>
                  <a:cubicBezTo>
                    <a:pt x="0" y="43942"/>
                    <a:pt x="43942" y="0"/>
                    <a:pt x="98171" y="0"/>
                  </a:cubicBezTo>
                  <a:lnTo>
                    <a:pt x="1717929" y="0"/>
                  </a:lnTo>
                  <a:cubicBezTo>
                    <a:pt x="1772158" y="0"/>
                    <a:pt x="1816100" y="43942"/>
                    <a:pt x="1816100" y="98171"/>
                  </a:cubicBezTo>
                  <a:lnTo>
                    <a:pt x="1816100" y="2302129"/>
                  </a:lnTo>
                  <a:cubicBezTo>
                    <a:pt x="1816100" y="2356358"/>
                    <a:pt x="1772158" y="2400300"/>
                    <a:pt x="1717929" y="2400300"/>
                  </a:cubicBezTo>
                  <a:lnTo>
                    <a:pt x="98171" y="2400300"/>
                  </a:lnTo>
                  <a:cubicBezTo>
                    <a:pt x="43942" y="2400300"/>
                    <a:pt x="0" y="2356358"/>
                    <a:pt x="0" y="2302129"/>
                  </a:cubicBezTo>
                  <a:close/>
                </a:path>
              </a:pathLst>
            </a:custGeom>
            <a:solidFill>
              <a:srgbClr val="FFE4E6"/>
            </a:solidFill>
            <a:ln w="9526" cap="sq">
              <a:solidFill>
                <a:srgbClr val="FFCCD3"/>
              </a:solidFill>
              <a:prstDash val="solid"/>
              <a:miter/>
            </a:ln>
          </p:spPr>
        </p:sp>
        <p:sp>
          <p:nvSpPr>
            <p:cNvPr name="TextBox 93" id="93"/>
            <p:cNvSpPr txBox="true"/>
            <p:nvPr/>
          </p:nvSpPr>
          <p:spPr>
            <a:xfrm>
              <a:off x="0" y="-9525"/>
              <a:ext cx="1816100" cy="2409825"/>
            </a:xfrm>
            <a:prstGeom prst="rect">
              <a:avLst/>
            </a:prstGeom>
          </p:spPr>
          <p:txBody>
            <a:bodyPr anchor="ctr" rtlCol="false" tIns="50800" lIns="50800" bIns="50800" rIns="50800"/>
            <a:lstStyle/>
            <a:p>
              <a:pPr algn="ctr">
                <a:lnSpc>
                  <a:spcPts val="1260"/>
                </a:lnSpc>
              </a:pPr>
              <a:r>
                <a:rPr lang="en-US" sz="1000">
                  <a:solidFill>
                    <a:srgbClr val="C70036"/>
                  </a:solidFill>
                  <a:latin typeface="Inter"/>
                  <a:ea typeface="Inter"/>
                  <a:cs typeface="Inter"/>
                  <a:sym typeface="Inter"/>
                </a:rPr>
                <a:t>[Data breach]</a:t>
              </a:r>
            </a:p>
          </p:txBody>
        </p:sp>
      </p:grpSp>
      <p:sp>
        <p:nvSpPr>
          <p:cNvPr name="TextBox 94" id="94"/>
          <p:cNvSpPr txBox="true"/>
          <p:nvPr/>
        </p:nvSpPr>
        <p:spPr>
          <a:xfrm rot="0">
            <a:off x="12652105" y="9019584"/>
            <a:ext cx="4505325" cy="188976"/>
          </a:xfrm>
          <a:prstGeom prst="rect">
            <a:avLst/>
          </a:prstGeom>
        </p:spPr>
        <p:txBody>
          <a:bodyPr anchor="t" rtlCol="false" tIns="0" lIns="0" bIns="0" rIns="0">
            <a:spAutoFit/>
          </a:bodyPr>
          <a:lstStyle/>
          <a:p>
            <a:pPr algn="l">
              <a:lnSpc>
                <a:spcPts val="1512"/>
              </a:lnSpc>
            </a:pPr>
            <a:r>
              <a:rPr lang="en-US" sz="1000">
                <a:solidFill>
                  <a:srgbClr val="6B7280"/>
                </a:solidFill>
                <a:latin typeface="Inter"/>
                <a:ea typeface="Inter"/>
                <a:cs typeface="Inter"/>
                <a:sym typeface="Inter"/>
              </a:rPr>
              <a:t>← LikelihoodImpact ↑</a:t>
            </a:r>
          </a:p>
        </p:txBody>
      </p:sp>
      <p:grpSp>
        <p:nvGrpSpPr>
          <p:cNvPr name="Group 95" id="95"/>
          <p:cNvGrpSpPr/>
          <p:nvPr/>
        </p:nvGrpSpPr>
        <p:grpSpPr>
          <a:xfrm rot="0">
            <a:off x="914400" y="9703222"/>
            <a:ext cx="16459200" cy="276225"/>
            <a:chOff x="0" y="0"/>
            <a:chExt cx="21945600" cy="368300"/>
          </a:xfrm>
        </p:grpSpPr>
        <p:sp>
          <p:nvSpPr>
            <p:cNvPr name="Freeform 96" id="96"/>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97" id="97"/>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98" id="98"/>
          <p:cNvGrpSpPr/>
          <p:nvPr/>
        </p:nvGrpSpPr>
        <p:grpSpPr>
          <a:xfrm rot="0">
            <a:off x="0" y="10247414"/>
            <a:ext cx="18288000" cy="38100"/>
            <a:chOff x="0" y="0"/>
            <a:chExt cx="24384000" cy="50800"/>
          </a:xfrm>
        </p:grpSpPr>
        <p:sp>
          <p:nvSpPr>
            <p:cNvPr name="Freeform 99" id="99"/>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100" id="100" descr="preencoded.png"/>
          <p:cNvSpPr/>
          <p:nvPr/>
        </p:nvSpPr>
        <p:spPr>
          <a:xfrm flipH="false" flipV="false" rot="0">
            <a:off x="924897" y="3594568"/>
            <a:ext cx="11134725" cy="533400"/>
          </a:xfrm>
          <a:custGeom>
            <a:avLst/>
            <a:gdLst/>
            <a:ahLst/>
            <a:cxnLst/>
            <a:rect r="r" b="b" t="t" l="l"/>
            <a:pathLst>
              <a:path h="533400" w="11134725">
                <a:moveTo>
                  <a:pt x="0" y="0"/>
                </a:moveTo>
                <a:lnTo>
                  <a:pt x="11134725" y="0"/>
                </a:lnTo>
                <a:lnTo>
                  <a:pt x="11134725" y="533400"/>
                </a:lnTo>
                <a:lnTo>
                  <a:pt x="0" y="53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1" id="101" descr="preencoded.png"/>
          <p:cNvSpPr/>
          <p:nvPr/>
        </p:nvSpPr>
        <p:spPr>
          <a:xfrm flipH="false" flipV="false" rot="0">
            <a:off x="910609" y="5231087"/>
            <a:ext cx="11134725" cy="533400"/>
          </a:xfrm>
          <a:custGeom>
            <a:avLst/>
            <a:gdLst/>
            <a:ahLst/>
            <a:cxnLst/>
            <a:rect r="r" b="b" t="t" l="l"/>
            <a:pathLst>
              <a:path h="533400" w="11134725">
                <a:moveTo>
                  <a:pt x="0" y="0"/>
                </a:moveTo>
                <a:lnTo>
                  <a:pt x="11134725" y="0"/>
                </a:lnTo>
                <a:lnTo>
                  <a:pt x="11134725" y="533400"/>
                </a:lnTo>
                <a:lnTo>
                  <a:pt x="0" y="53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2" id="102" descr="preencoded.png"/>
          <p:cNvSpPr/>
          <p:nvPr/>
        </p:nvSpPr>
        <p:spPr>
          <a:xfrm flipH="false" flipV="false" rot="0">
            <a:off x="924897" y="4669112"/>
            <a:ext cx="11134725" cy="533400"/>
          </a:xfrm>
          <a:custGeom>
            <a:avLst/>
            <a:gdLst/>
            <a:ahLst/>
            <a:cxnLst/>
            <a:rect r="r" b="b" t="t" l="l"/>
            <a:pathLst>
              <a:path h="533400" w="11134725">
                <a:moveTo>
                  <a:pt x="0" y="0"/>
                </a:moveTo>
                <a:lnTo>
                  <a:pt x="11134725" y="0"/>
                </a:lnTo>
                <a:lnTo>
                  <a:pt x="11134725" y="533400"/>
                </a:lnTo>
                <a:lnTo>
                  <a:pt x="0" y="53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3" id="103" descr="preencoded.png"/>
          <p:cNvSpPr/>
          <p:nvPr/>
        </p:nvSpPr>
        <p:spPr>
          <a:xfrm flipH="false" flipV="false" rot="0">
            <a:off x="924897" y="4158634"/>
            <a:ext cx="11134725" cy="533400"/>
          </a:xfrm>
          <a:custGeom>
            <a:avLst/>
            <a:gdLst/>
            <a:ahLst/>
            <a:cxnLst/>
            <a:rect r="r" b="b" t="t" l="l"/>
            <a:pathLst>
              <a:path h="533400" w="11134725">
                <a:moveTo>
                  <a:pt x="0" y="0"/>
                </a:moveTo>
                <a:lnTo>
                  <a:pt x="11134725" y="0"/>
                </a:lnTo>
                <a:lnTo>
                  <a:pt x="11134725" y="533400"/>
                </a:lnTo>
                <a:lnTo>
                  <a:pt x="0" y="53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4" id="104" descr="preencoded.png"/>
          <p:cNvSpPr/>
          <p:nvPr/>
        </p:nvSpPr>
        <p:spPr>
          <a:xfrm flipH="false" flipV="false" rot="0">
            <a:off x="910609" y="5749304"/>
            <a:ext cx="11134725" cy="533400"/>
          </a:xfrm>
          <a:custGeom>
            <a:avLst/>
            <a:gdLst/>
            <a:ahLst/>
            <a:cxnLst/>
            <a:rect r="r" b="b" t="t" l="l"/>
            <a:pathLst>
              <a:path h="533400" w="11134725">
                <a:moveTo>
                  <a:pt x="0" y="0"/>
                </a:moveTo>
                <a:lnTo>
                  <a:pt x="11134725" y="0"/>
                </a:lnTo>
                <a:lnTo>
                  <a:pt x="11134725" y="533400"/>
                </a:lnTo>
                <a:lnTo>
                  <a:pt x="0" y="53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5" id="105" descr="preencoded.png"/>
          <p:cNvSpPr/>
          <p:nvPr/>
        </p:nvSpPr>
        <p:spPr>
          <a:xfrm flipH="false" flipV="false" rot="0">
            <a:off x="910609" y="3092053"/>
            <a:ext cx="11134725" cy="533400"/>
          </a:xfrm>
          <a:custGeom>
            <a:avLst/>
            <a:gdLst/>
            <a:ahLst/>
            <a:cxnLst/>
            <a:rect r="r" b="b" t="t" l="l"/>
            <a:pathLst>
              <a:path h="533400" w="11134725">
                <a:moveTo>
                  <a:pt x="0" y="0"/>
                </a:moveTo>
                <a:lnTo>
                  <a:pt x="11134725" y="0"/>
                </a:lnTo>
                <a:lnTo>
                  <a:pt x="11134725" y="533400"/>
                </a:lnTo>
                <a:lnTo>
                  <a:pt x="0" y="53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51221"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313" y="352501"/>
            <a:ext cx="26860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24 · SDG &amp; TRACK</a:t>
            </a:r>
          </a:p>
        </p:txBody>
      </p:sp>
      <p:sp>
        <p:nvSpPr>
          <p:cNvPr name="TextBox 8" id="8"/>
          <p:cNvSpPr txBox="true"/>
          <p:nvPr/>
        </p:nvSpPr>
        <p:spPr>
          <a:xfrm rot="0">
            <a:off x="16791461"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26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SDG and Track Connection</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7704" y="2668410"/>
            <a:ext cx="8105775" cy="1685925"/>
            <a:chOff x="0" y="0"/>
            <a:chExt cx="10807700" cy="2247900"/>
          </a:xfrm>
        </p:grpSpPr>
        <p:sp>
          <p:nvSpPr>
            <p:cNvPr name="Freeform 13" id="13"/>
            <p:cNvSpPr/>
            <p:nvPr/>
          </p:nvSpPr>
          <p:spPr>
            <a:xfrm flipH="false" flipV="false" rot="0">
              <a:off x="0" y="0"/>
              <a:ext cx="10807700" cy="2247900"/>
            </a:xfrm>
            <a:custGeom>
              <a:avLst/>
              <a:gdLst/>
              <a:ahLst/>
              <a:cxnLst/>
              <a:rect r="r" b="b" t="t" l="l"/>
              <a:pathLst>
                <a:path h="2247900" w="10807700">
                  <a:moveTo>
                    <a:pt x="0" y="245237"/>
                  </a:moveTo>
                  <a:cubicBezTo>
                    <a:pt x="0" y="109728"/>
                    <a:pt x="109728" y="0"/>
                    <a:pt x="245237" y="0"/>
                  </a:cubicBezTo>
                  <a:lnTo>
                    <a:pt x="10562463" y="0"/>
                  </a:lnTo>
                  <a:cubicBezTo>
                    <a:pt x="10697972" y="0"/>
                    <a:pt x="10807700" y="109728"/>
                    <a:pt x="10807700" y="245237"/>
                  </a:cubicBezTo>
                  <a:lnTo>
                    <a:pt x="10807700" y="2002663"/>
                  </a:lnTo>
                  <a:cubicBezTo>
                    <a:pt x="10807700" y="2138045"/>
                    <a:pt x="10697972" y="2247900"/>
                    <a:pt x="10562463" y="2247900"/>
                  </a:cubicBezTo>
                  <a:lnTo>
                    <a:pt x="245237" y="2247900"/>
                  </a:lnTo>
                  <a:cubicBezTo>
                    <a:pt x="109728" y="2247900"/>
                    <a:pt x="0" y="2138172"/>
                    <a:pt x="0" y="2002663"/>
                  </a:cubicBezTo>
                  <a:close/>
                </a:path>
              </a:pathLst>
            </a:custGeom>
            <a:solidFill>
              <a:srgbClr val="FFFFFF"/>
            </a:solidFill>
            <a:ln w="9526" cap="sq">
              <a:solidFill>
                <a:srgbClr val="E5E7EB"/>
              </a:solidFill>
              <a:prstDash val="solid"/>
              <a:miter/>
            </a:ln>
          </p:spPr>
        </p:sp>
      </p:grpSp>
      <p:grpSp>
        <p:nvGrpSpPr>
          <p:cNvPr name="Group 14" id="14"/>
          <p:cNvGrpSpPr/>
          <p:nvPr/>
        </p:nvGrpSpPr>
        <p:grpSpPr>
          <a:xfrm rot="0">
            <a:off x="1181100" y="2941291"/>
            <a:ext cx="914400" cy="914400"/>
            <a:chOff x="0" y="0"/>
            <a:chExt cx="1219200" cy="1219200"/>
          </a:xfrm>
        </p:grpSpPr>
        <p:sp>
          <p:nvSpPr>
            <p:cNvPr name="Freeform 15" id="15"/>
            <p:cNvSpPr/>
            <p:nvPr/>
          </p:nvSpPr>
          <p:spPr>
            <a:xfrm flipH="false" flipV="false" rot="0">
              <a:off x="0" y="0"/>
              <a:ext cx="1219200" cy="1219200"/>
            </a:xfrm>
            <a:custGeom>
              <a:avLst/>
              <a:gdLst/>
              <a:ahLst/>
              <a:cxnLst/>
              <a:rect r="r" b="b" t="t" l="l"/>
              <a:pathLst>
                <a:path h="1219200" w="1219200">
                  <a:moveTo>
                    <a:pt x="0" y="195072"/>
                  </a:moveTo>
                  <a:cubicBezTo>
                    <a:pt x="0" y="87376"/>
                    <a:pt x="87376" y="0"/>
                    <a:pt x="195072" y="0"/>
                  </a:cubicBezTo>
                  <a:lnTo>
                    <a:pt x="1024128" y="0"/>
                  </a:lnTo>
                  <a:cubicBezTo>
                    <a:pt x="1131824" y="0"/>
                    <a:pt x="1219200" y="87376"/>
                    <a:pt x="1219200" y="195072"/>
                  </a:cubicBezTo>
                  <a:lnTo>
                    <a:pt x="1219200" y="1024128"/>
                  </a:lnTo>
                  <a:cubicBezTo>
                    <a:pt x="1219200" y="1131824"/>
                    <a:pt x="1131824" y="1219200"/>
                    <a:pt x="1024128" y="1219200"/>
                  </a:cubicBezTo>
                  <a:lnTo>
                    <a:pt x="195072" y="1219200"/>
                  </a:lnTo>
                  <a:cubicBezTo>
                    <a:pt x="87376" y="1219200"/>
                    <a:pt x="0" y="1131824"/>
                    <a:pt x="0" y="1024128"/>
                  </a:cubicBezTo>
                  <a:close/>
                </a:path>
              </a:pathLst>
            </a:custGeom>
            <a:solidFill>
              <a:srgbClr val="2ECC71"/>
            </a:solidFill>
          </p:spPr>
        </p:sp>
        <p:sp>
          <p:nvSpPr>
            <p:cNvPr name="TextBox 16" id="16"/>
            <p:cNvSpPr txBox="true"/>
            <p:nvPr/>
          </p:nvSpPr>
          <p:spPr>
            <a:xfrm>
              <a:off x="0" y="-95250"/>
              <a:ext cx="1219200" cy="1314450"/>
            </a:xfrm>
            <a:prstGeom prst="rect">
              <a:avLst/>
            </a:prstGeom>
          </p:spPr>
          <p:txBody>
            <a:bodyPr anchor="ctr" rtlCol="false" tIns="50800" lIns="50800" bIns="50800" rIns="50800"/>
            <a:lstStyle/>
            <a:p>
              <a:pPr algn="ctr">
                <a:lnSpc>
                  <a:spcPts val="4320"/>
                </a:lnSpc>
              </a:pPr>
              <a:r>
                <a:rPr lang="en-US" sz="2879" b="true">
                  <a:solidFill>
                    <a:srgbClr val="1A1A2E"/>
                  </a:solidFill>
                  <a:latin typeface="Arimo Bold"/>
                  <a:ea typeface="Arimo Bold"/>
                  <a:cs typeface="Arimo Bold"/>
                  <a:sym typeface="Arimo Bold"/>
                </a:rPr>
                <a:t>3</a:t>
              </a:r>
            </a:p>
          </p:txBody>
        </p:sp>
      </p:grpSp>
      <p:sp>
        <p:nvSpPr>
          <p:cNvPr name="TextBox 17" id="17"/>
          <p:cNvSpPr txBox="true"/>
          <p:nvPr/>
        </p:nvSpPr>
        <p:spPr>
          <a:xfrm rot="0">
            <a:off x="2368820" y="2895895"/>
            <a:ext cx="63722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SDG 03</a:t>
            </a:r>
          </a:p>
        </p:txBody>
      </p:sp>
      <p:sp>
        <p:nvSpPr>
          <p:cNvPr name="TextBox 18" id="18"/>
          <p:cNvSpPr txBox="true"/>
          <p:nvPr/>
        </p:nvSpPr>
        <p:spPr>
          <a:xfrm rot="0">
            <a:off x="2368820" y="3145707"/>
            <a:ext cx="6372225" cy="371475"/>
          </a:xfrm>
          <a:prstGeom prst="rect">
            <a:avLst/>
          </a:prstGeom>
        </p:spPr>
        <p:txBody>
          <a:bodyPr anchor="t" rtlCol="false" tIns="0" lIns="0" bIns="0" rIns="0">
            <a:spAutoFit/>
          </a:bodyPr>
          <a:lstStyle/>
          <a:p>
            <a:pPr algn="l">
              <a:lnSpc>
                <a:spcPts val="2700"/>
              </a:lnSpc>
            </a:pPr>
            <a:r>
              <a:rPr lang="en-US" sz="2160" b="true">
                <a:solidFill>
                  <a:srgbClr val="1A1A2E"/>
                </a:solidFill>
                <a:latin typeface="Arimo Bold"/>
                <a:ea typeface="Arimo Bold"/>
                <a:cs typeface="Arimo Bold"/>
                <a:sym typeface="Arimo Bold"/>
              </a:rPr>
              <a:t>Good Health and Well-Being</a:t>
            </a:r>
          </a:p>
        </p:txBody>
      </p:sp>
      <p:sp>
        <p:nvSpPr>
          <p:cNvPr name="TextBox 19" id="19"/>
          <p:cNvSpPr txBox="true"/>
          <p:nvPr/>
        </p:nvSpPr>
        <p:spPr>
          <a:xfrm rot="0">
            <a:off x="2368820" y="3549101"/>
            <a:ext cx="6372225" cy="533400"/>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[Explain how ISTSEH advances medication adherence and patient well-being in line with SDG 3.]</a:t>
            </a:r>
          </a:p>
        </p:txBody>
      </p:sp>
      <p:grpSp>
        <p:nvGrpSpPr>
          <p:cNvPr name="Group 20" id="20"/>
          <p:cNvGrpSpPr/>
          <p:nvPr/>
        </p:nvGrpSpPr>
        <p:grpSpPr>
          <a:xfrm rot="0">
            <a:off x="9274445" y="2668410"/>
            <a:ext cx="8105775" cy="1685925"/>
            <a:chOff x="0" y="0"/>
            <a:chExt cx="10807700" cy="2247900"/>
          </a:xfrm>
        </p:grpSpPr>
        <p:sp>
          <p:nvSpPr>
            <p:cNvPr name="Freeform 21" id="21"/>
            <p:cNvSpPr/>
            <p:nvPr/>
          </p:nvSpPr>
          <p:spPr>
            <a:xfrm flipH="false" flipV="false" rot="0">
              <a:off x="0" y="0"/>
              <a:ext cx="10807700" cy="2247900"/>
            </a:xfrm>
            <a:custGeom>
              <a:avLst/>
              <a:gdLst/>
              <a:ahLst/>
              <a:cxnLst/>
              <a:rect r="r" b="b" t="t" l="l"/>
              <a:pathLst>
                <a:path h="2247900" w="10807700">
                  <a:moveTo>
                    <a:pt x="0" y="245237"/>
                  </a:moveTo>
                  <a:cubicBezTo>
                    <a:pt x="0" y="109728"/>
                    <a:pt x="109728" y="0"/>
                    <a:pt x="245237" y="0"/>
                  </a:cubicBezTo>
                  <a:lnTo>
                    <a:pt x="10562463" y="0"/>
                  </a:lnTo>
                  <a:cubicBezTo>
                    <a:pt x="10697972" y="0"/>
                    <a:pt x="10807700" y="109728"/>
                    <a:pt x="10807700" y="245237"/>
                  </a:cubicBezTo>
                  <a:lnTo>
                    <a:pt x="10807700" y="2002663"/>
                  </a:lnTo>
                  <a:cubicBezTo>
                    <a:pt x="10807700" y="2138045"/>
                    <a:pt x="10697972" y="2247900"/>
                    <a:pt x="10562463" y="2247900"/>
                  </a:cubicBezTo>
                  <a:lnTo>
                    <a:pt x="245237" y="2247900"/>
                  </a:lnTo>
                  <a:cubicBezTo>
                    <a:pt x="109728" y="2247900"/>
                    <a:pt x="0" y="2138172"/>
                    <a:pt x="0" y="2002663"/>
                  </a:cubicBezTo>
                  <a:close/>
                </a:path>
              </a:pathLst>
            </a:custGeom>
            <a:solidFill>
              <a:srgbClr val="FFFFFF"/>
            </a:solidFill>
            <a:ln w="9526" cap="sq">
              <a:solidFill>
                <a:srgbClr val="E5E7EB"/>
              </a:solidFill>
              <a:prstDash val="solid"/>
              <a:miter/>
            </a:ln>
          </p:spPr>
        </p:sp>
      </p:grpSp>
      <p:grpSp>
        <p:nvGrpSpPr>
          <p:cNvPr name="Group 22" id="22"/>
          <p:cNvGrpSpPr/>
          <p:nvPr/>
        </p:nvGrpSpPr>
        <p:grpSpPr>
          <a:xfrm rot="0">
            <a:off x="9547774" y="2941291"/>
            <a:ext cx="914400" cy="914400"/>
            <a:chOff x="0" y="0"/>
            <a:chExt cx="1219200" cy="1219200"/>
          </a:xfrm>
        </p:grpSpPr>
        <p:sp>
          <p:nvSpPr>
            <p:cNvPr name="Freeform 23" id="23"/>
            <p:cNvSpPr/>
            <p:nvPr/>
          </p:nvSpPr>
          <p:spPr>
            <a:xfrm flipH="false" flipV="false" rot="0">
              <a:off x="0" y="0"/>
              <a:ext cx="1219200" cy="1219200"/>
            </a:xfrm>
            <a:custGeom>
              <a:avLst/>
              <a:gdLst/>
              <a:ahLst/>
              <a:cxnLst/>
              <a:rect r="r" b="b" t="t" l="l"/>
              <a:pathLst>
                <a:path h="1219200" w="1219200">
                  <a:moveTo>
                    <a:pt x="0" y="195072"/>
                  </a:moveTo>
                  <a:cubicBezTo>
                    <a:pt x="0" y="87376"/>
                    <a:pt x="87376" y="0"/>
                    <a:pt x="195072" y="0"/>
                  </a:cubicBezTo>
                  <a:lnTo>
                    <a:pt x="1024128" y="0"/>
                  </a:lnTo>
                  <a:cubicBezTo>
                    <a:pt x="1131824" y="0"/>
                    <a:pt x="1219200" y="87376"/>
                    <a:pt x="1219200" y="195072"/>
                  </a:cubicBezTo>
                  <a:lnTo>
                    <a:pt x="1219200" y="1024128"/>
                  </a:lnTo>
                  <a:cubicBezTo>
                    <a:pt x="1219200" y="1131824"/>
                    <a:pt x="1131824" y="1219200"/>
                    <a:pt x="1024128" y="1219200"/>
                  </a:cubicBezTo>
                  <a:lnTo>
                    <a:pt x="195072" y="1219200"/>
                  </a:lnTo>
                  <a:cubicBezTo>
                    <a:pt x="87376" y="1219200"/>
                    <a:pt x="0" y="1131824"/>
                    <a:pt x="0" y="1024128"/>
                  </a:cubicBezTo>
                  <a:close/>
                </a:path>
              </a:pathLst>
            </a:custGeom>
            <a:solidFill>
              <a:srgbClr val="ECFAF2"/>
            </a:solidFill>
          </p:spPr>
        </p:sp>
        <p:sp>
          <p:nvSpPr>
            <p:cNvPr name="TextBox 24" id="24"/>
            <p:cNvSpPr txBox="true"/>
            <p:nvPr/>
          </p:nvSpPr>
          <p:spPr>
            <a:xfrm>
              <a:off x="0" y="-95250"/>
              <a:ext cx="1219200" cy="1314450"/>
            </a:xfrm>
            <a:prstGeom prst="rect">
              <a:avLst/>
            </a:prstGeom>
          </p:spPr>
          <p:txBody>
            <a:bodyPr anchor="ctr" rtlCol="false" tIns="50800" lIns="50800" bIns="50800" rIns="50800"/>
            <a:lstStyle/>
            <a:p>
              <a:pPr algn="ctr">
                <a:lnSpc>
                  <a:spcPts val="4320"/>
                </a:lnSpc>
              </a:pPr>
              <a:r>
                <a:rPr lang="en-US" sz="2879" b="true">
                  <a:solidFill>
                    <a:srgbClr val="2ECC71"/>
                  </a:solidFill>
                  <a:latin typeface="Arimo Bold"/>
                  <a:ea typeface="Arimo Bold"/>
                  <a:cs typeface="Arimo Bold"/>
                  <a:sym typeface="Arimo Bold"/>
                </a:rPr>
                <a:t>9</a:t>
              </a:r>
            </a:p>
          </p:txBody>
        </p:sp>
      </p:grpSp>
      <p:sp>
        <p:nvSpPr>
          <p:cNvPr name="TextBox 25" id="25"/>
          <p:cNvSpPr txBox="true"/>
          <p:nvPr/>
        </p:nvSpPr>
        <p:spPr>
          <a:xfrm rot="0">
            <a:off x="10735570" y="2895895"/>
            <a:ext cx="63722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SDG 09</a:t>
            </a:r>
          </a:p>
        </p:txBody>
      </p:sp>
      <p:sp>
        <p:nvSpPr>
          <p:cNvPr name="TextBox 26" id="26"/>
          <p:cNvSpPr txBox="true"/>
          <p:nvPr/>
        </p:nvSpPr>
        <p:spPr>
          <a:xfrm rot="0">
            <a:off x="10735570" y="3145707"/>
            <a:ext cx="6372225" cy="371475"/>
          </a:xfrm>
          <a:prstGeom prst="rect">
            <a:avLst/>
          </a:prstGeom>
        </p:spPr>
        <p:txBody>
          <a:bodyPr anchor="t" rtlCol="false" tIns="0" lIns="0" bIns="0" rIns="0">
            <a:spAutoFit/>
          </a:bodyPr>
          <a:lstStyle/>
          <a:p>
            <a:pPr algn="l">
              <a:lnSpc>
                <a:spcPts val="2700"/>
              </a:lnSpc>
            </a:pPr>
            <a:r>
              <a:rPr lang="en-US" sz="2160" b="true">
                <a:solidFill>
                  <a:srgbClr val="1A1A2E"/>
                </a:solidFill>
                <a:latin typeface="Arimo Bold"/>
                <a:ea typeface="Arimo Bold"/>
                <a:cs typeface="Arimo Bold"/>
                <a:sym typeface="Arimo Bold"/>
              </a:rPr>
              <a:t>Industry, Innovation, Infrastructure</a:t>
            </a:r>
          </a:p>
        </p:txBody>
      </p:sp>
      <p:sp>
        <p:nvSpPr>
          <p:cNvPr name="TextBox 27" id="27"/>
          <p:cNvSpPr txBox="true"/>
          <p:nvPr/>
        </p:nvSpPr>
        <p:spPr>
          <a:xfrm rot="0">
            <a:off x="10735570" y="3549101"/>
            <a:ext cx="6372225" cy="533400"/>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[Explain how ISTSEH contributes to digital health innovation aligned with SDG 9.]</a:t>
            </a:r>
          </a:p>
        </p:txBody>
      </p:sp>
      <p:grpSp>
        <p:nvGrpSpPr>
          <p:cNvPr name="Group 28" id="28"/>
          <p:cNvGrpSpPr/>
          <p:nvPr/>
        </p:nvGrpSpPr>
        <p:grpSpPr>
          <a:xfrm rot="0">
            <a:off x="912466" y="5141643"/>
            <a:ext cx="8096250" cy="4324350"/>
            <a:chOff x="0" y="0"/>
            <a:chExt cx="10795000" cy="5765800"/>
          </a:xfrm>
        </p:grpSpPr>
        <p:sp>
          <p:nvSpPr>
            <p:cNvPr name="Freeform 29" id="29"/>
            <p:cNvSpPr/>
            <p:nvPr/>
          </p:nvSpPr>
          <p:spPr>
            <a:xfrm flipH="false" flipV="false" rot="0">
              <a:off x="0" y="0"/>
              <a:ext cx="10795000" cy="5765800"/>
            </a:xfrm>
            <a:custGeom>
              <a:avLst/>
              <a:gdLst/>
              <a:ahLst/>
              <a:cxnLst/>
              <a:rect r="r" b="b" t="t" l="l"/>
              <a:pathLst>
                <a:path h="5765800" w="10795000">
                  <a:moveTo>
                    <a:pt x="0" y="243840"/>
                  </a:moveTo>
                  <a:cubicBezTo>
                    <a:pt x="0" y="109220"/>
                    <a:pt x="109220" y="0"/>
                    <a:pt x="243840" y="0"/>
                  </a:cubicBezTo>
                  <a:lnTo>
                    <a:pt x="10551160" y="0"/>
                  </a:lnTo>
                  <a:cubicBezTo>
                    <a:pt x="10685780" y="0"/>
                    <a:pt x="10795000" y="109220"/>
                    <a:pt x="10795000" y="243840"/>
                  </a:cubicBezTo>
                  <a:lnTo>
                    <a:pt x="10795000" y="5521960"/>
                  </a:lnTo>
                  <a:cubicBezTo>
                    <a:pt x="10795000" y="5656580"/>
                    <a:pt x="10685780" y="5765800"/>
                    <a:pt x="10551160" y="5765800"/>
                  </a:cubicBezTo>
                  <a:lnTo>
                    <a:pt x="243840" y="5765800"/>
                  </a:lnTo>
                  <a:cubicBezTo>
                    <a:pt x="109220" y="5765800"/>
                    <a:pt x="0" y="5656580"/>
                    <a:pt x="0" y="5521960"/>
                  </a:cubicBezTo>
                  <a:close/>
                </a:path>
              </a:pathLst>
            </a:custGeom>
            <a:solidFill>
              <a:srgbClr val="ECFAF2"/>
            </a:solidFill>
          </p:spPr>
        </p:sp>
      </p:grpSp>
      <p:sp>
        <p:nvSpPr>
          <p:cNvPr name="TextBox 30" id="30"/>
          <p:cNvSpPr txBox="true"/>
          <p:nvPr/>
        </p:nvSpPr>
        <p:spPr>
          <a:xfrm rot="0">
            <a:off x="1169641" y="5355279"/>
            <a:ext cx="75819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COMPETITION TRACK</a:t>
            </a:r>
          </a:p>
        </p:txBody>
      </p:sp>
      <p:sp>
        <p:nvSpPr>
          <p:cNvPr name="TextBox 31" id="31"/>
          <p:cNvSpPr txBox="true"/>
          <p:nvPr/>
        </p:nvSpPr>
        <p:spPr>
          <a:xfrm rot="0">
            <a:off x="1169641" y="5709866"/>
            <a:ext cx="7581900" cy="390525"/>
          </a:xfrm>
          <a:prstGeom prst="rect">
            <a:avLst/>
          </a:prstGeom>
        </p:spPr>
        <p:txBody>
          <a:bodyPr anchor="t" rtlCol="false" tIns="0" lIns="0" bIns="0" rIns="0">
            <a:spAutoFit/>
          </a:bodyPr>
          <a:lstStyle/>
          <a:p>
            <a:pPr algn="l">
              <a:lnSpc>
                <a:spcPts val="2880"/>
              </a:lnSpc>
            </a:pPr>
            <a:r>
              <a:rPr lang="en-US" sz="2300" b="true">
                <a:solidFill>
                  <a:srgbClr val="FFFFFF"/>
                </a:solidFill>
                <a:latin typeface="Arimo Bold"/>
                <a:ea typeface="Arimo Bold"/>
                <a:cs typeface="Arimo Bold"/>
                <a:sym typeface="Arimo Bold"/>
              </a:rPr>
              <a:t>[Insert INJAZ / JA track name]</a:t>
            </a:r>
          </a:p>
        </p:txBody>
      </p:sp>
      <p:sp>
        <p:nvSpPr>
          <p:cNvPr name="TextBox 32" id="32"/>
          <p:cNvSpPr txBox="true"/>
          <p:nvPr/>
        </p:nvSpPr>
        <p:spPr>
          <a:xfrm rot="0">
            <a:off x="1169641" y="6178382"/>
            <a:ext cx="7581900" cy="276225"/>
          </a:xfrm>
          <a:prstGeom prst="rect">
            <a:avLst/>
          </a:prstGeom>
        </p:spPr>
        <p:txBody>
          <a:bodyPr anchor="t" rtlCol="false" tIns="0" lIns="0" bIns="0" rIns="0">
            <a:spAutoFit/>
          </a:bodyPr>
          <a:lstStyle/>
          <a:p>
            <a:pPr algn="l">
              <a:lnSpc>
                <a:spcPts val="1979"/>
              </a:lnSpc>
            </a:pPr>
            <a:r>
              <a:rPr lang="en-US" sz="1439">
                <a:solidFill>
                  <a:srgbClr val="FFFFFF"/>
                </a:solidFill>
                <a:latin typeface="Inter"/>
                <a:ea typeface="Inter"/>
                <a:cs typeface="Inter"/>
                <a:sym typeface="Inter"/>
              </a:rPr>
              <a:t>[Explain why ISTSEH fits this track and how it meets the track's criteria.]</a:t>
            </a:r>
          </a:p>
        </p:txBody>
      </p:sp>
      <p:grpSp>
        <p:nvGrpSpPr>
          <p:cNvPr name="Group 33" id="33"/>
          <p:cNvGrpSpPr/>
          <p:nvPr/>
        </p:nvGrpSpPr>
        <p:grpSpPr>
          <a:xfrm rot="0">
            <a:off x="9274445" y="5136880"/>
            <a:ext cx="8105775" cy="4333875"/>
            <a:chOff x="0" y="0"/>
            <a:chExt cx="10807700" cy="5778500"/>
          </a:xfrm>
        </p:grpSpPr>
        <p:sp>
          <p:nvSpPr>
            <p:cNvPr name="Freeform 34" id="34"/>
            <p:cNvSpPr/>
            <p:nvPr/>
          </p:nvSpPr>
          <p:spPr>
            <a:xfrm flipH="false" flipV="false" rot="0">
              <a:off x="0" y="0"/>
              <a:ext cx="10807700" cy="5778500"/>
            </a:xfrm>
            <a:custGeom>
              <a:avLst/>
              <a:gdLst/>
              <a:ahLst/>
              <a:cxnLst/>
              <a:rect r="r" b="b" t="t" l="l"/>
              <a:pathLst>
                <a:path h="5778500" w="10807700">
                  <a:moveTo>
                    <a:pt x="0" y="244348"/>
                  </a:moveTo>
                  <a:cubicBezTo>
                    <a:pt x="0" y="109347"/>
                    <a:pt x="109347" y="0"/>
                    <a:pt x="244348" y="0"/>
                  </a:cubicBezTo>
                  <a:lnTo>
                    <a:pt x="10563352" y="0"/>
                  </a:lnTo>
                  <a:cubicBezTo>
                    <a:pt x="10698353" y="0"/>
                    <a:pt x="10807700" y="109347"/>
                    <a:pt x="10807700" y="244348"/>
                  </a:cubicBezTo>
                  <a:lnTo>
                    <a:pt x="10807700" y="5534152"/>
                  </a:lnTo>
                  <a:cubicBezTo>
                    <a:pt x="10807700" y="5669153"/>
                    <a:pt x="10698353" y="5778500"/>
                    <a:pt x="10563352" y="5778500"/>
                  </a:cubicBezTo>
                  <a:lnTo>
                    <a:pt x="244348" y="5778500"/>
                  </a:lnTo>
                  <a:cubicBezTo>
                    <a:pt x="109347" y="5778500"/>
                    <a:pt x="0" y="5669153"/>
                    <a:pt x="0" y="5534152"/>
                  </a:cubicBezTo>
                  <a:close/>
                </a:path>
              </a:pathLst>
            </a:custGeom>
            <a:solidFill>
              <a:srgbClr val="FFFFFF"/>
            </a:solidFill>
            <a:ln w="9526" cap="sq">
              <a:solidFill>
                <a:srgbClr val="E5E7EB"/>
              </a:solidFill>
              <a:prstDash val="solid"/>
              <a:miter/>
            </a:ln>
          </p:spPr>
        </p:sp>
      </p:grpSp>
      <p:sp>
        <p:nvSpPr>
          <p:cNvPr name="TextBox 35" id="35"/>
          <p:cNvSpPr txBox="true"/>
          <p:nvPr/>
        </p:nvSpPr>
        <p:spPr>
          <a:xfrm rot="0">
            <a:off x="9545907" y="5364804"/>
            <a:ext cx="75628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MEASURABLE IMPACT</a:t>
            </a:r>
          </a:p>
        </p:txBody>
      </p:sp>
      <p:sp>
        <p:nvSpPr>
          <p:cNvPr name="TextBox 36" id="36"/>
          <p:cNvSpPr txBox="true"/>
          <p:nvPr/>
        </p:nvSpPr>
        <p:spPr>
          <a:xfrm rot="0">
            <a:off x="9546507" y="5795667"/>
            <a:ext cx="240030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[N]</a:t>
            </a:r>
          </a:p>
        </p:txBody>
      </p:sp>
      <p:sp>
        <p:nvSpPr>
          <p:cNvPr name="TextBox 37" id="37"/>
          <p:cNvSpPr txBox="true"/>
          <p:nvPr/>
        </p:nvSpPr>
        <p:spPr>
          <a:xfrm rot="0">
            <a:off x="9546507" y="6066530"/>
            <a:ext cx="2400300" cy="276225"/>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[Lives reached]</a:t>
            </a:r>
          </a:p>
        </p:txBody>
      </p:sp>
      <p:sp>
        <p:nvSpPr>
          <p:cNvPr name="TextBox 38" id="38"/>
          <p:cNvSpPr txBox="true"/>
          <p:nvPr/>
        </p:nvSpPr>
        <p:spPr>
          <a:xfrm rot="0">
            <a:off x="12127106" y="5795667"/>
            <a:ext cx="240030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[N]</a:t>
            </a:r>
          </a:p>
        </p:txBody>
      </p:sp>
      <p:sp>
        <p:nvSpPr>
          <p:cNvPr name="TextBox 39" id="39"/>
          <p:cNvSpPr txBox="true"/>
          <p:nvPr/>
        </p:nvSpPr>
        <p:spPr>
          <a:xfrm rot="0">
            <a:off x="12127106" y="6066530"/>
            <a:ext cx="2400300" cy="276225"/>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[Adherence %]</a:t>
            </a:r>
          </a:p>
        </p:txBody>
      </p:sp>
      <p:sp>
        <p:nvSpPr>
          <p:cNvPr name="TextBox 40" id="40"/>
          <p:cNvSpPr txBox="true"/>
          <p:nvPr/>
        </p:nvSpPr>
        <p:spPr>
          <a:xfrm rot="0">
            <a:off x="14707791" y="5795667"/>
            <a:ext cx="2400300" cy="314325"/>
          </a:xfrm>
          <a:prstGeom prst="rect">
            <a:avLst/>
          </a:prstGeom>
        </p:spPr>
        <p:txBody>
          <a:bodyPr anchor="t" rtlCol="false" tIns="0" lIns="0" bIns="0" rIns="0">
            <a:spAutoFit/>
          </a:bodyPr>
          <a:lstStyle/>
          <a:p>
            <a:pPr algn="l">
              <a:lnSpc>
                <a:spcPts val="2879"/>
              </a:lnSpc>
            </a:pPr>
            <a:r>
              <a:rPr lang="en-US" sz="2879" b="true">
                <a:solidFill>
                  <a:srgbClr val="1A1A2E"/>
                </a:solidFill>
                <a:latin typeface="Arimo Bold"/>
                <a:ea typeface="Arimo Bold"/>
                <a:cs typeface="Arimo Bold"/>
                <a:sym typeface="Arimo Bold"/>
              </a:rPr>
              <a:t>[N]</a:t>
            </a:r>
          </a:p>
        </p:txBody>
      </p:sp>
      <p:sp>
        <p:nvSpPr>
          <p:cNvPr name="TextBox 41" id="41"/>
          <p:cNvSpPr txBox="true"/>
          <p:nvPr/>
        </p:nvSpPr>
        <p:spPr>
          <a:xfrm rot="0">
            <a:off x="14707791" y="6066530"/>
            <a:ext cx="2400300" cy="276225"/>
          </a:xfrm>
          <a:prstGeom prst="rect">
            <a:avLst/>
          </a:prstGeom>
        </p:spPr>
        <p:txBody>
          <a:bodyPr anchor="t" rtlCol="false" tIns="0" lIns="0" bIns="0" rIns="0">
            <a:spAutoFit/>
          </a:bodyPr>
          <a:lstStyle/>
          <a:p>
            <a:pPr algn="l">
              <a:lnSpc>
                <a:spcPts val="1836"/>
              </a:lnSpc>
            </a:pPr>
            <a:r>
              <a:rPr lang="en-US" sz="1220">
                <a:solidFill>
                  <a:srgbClr val="6B7280"/>
                </a:solidFill>
                <a:latin typeface="Inter"/>
                <a:ea typeface="Inter"/>
                <a:cs typeface="Inter"/>
                <a:sym typeface="Inter"/>
              </a:rPr>
              <a:t>[Partners]</a:t>
            </a:r>
          </a:p>
        </p:txBody>
      </p:sp>
      <p:grpSp>
        <p:nvGrpSpPr>
          <p:cNvPr name="Group 42" id="42"/>
          <p:cNvGrpSpPr/>
          <p:nvPr/>
        </p:nvGrpSpPr>
        <p:grpSpPr>
          <a:xfrm rot="0">
            <a:off x="914400" y="9703222"/>
            <a:ext cx="16459200" cy="276225"/>
            <a:chOff x="0" y="0"/>
            <a:chExt cx="21945600" cy="368300"/>
          </a:xfrm>
        </p:grpSpPr>
        <p:sp>
          <p:nvSpPr>
            <p:cNvPr name="Freeform 43" id="43"/>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44" id="44"/>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45" id="45"/>
          <p:cNvGrpSpPr/>
          <p:nvPr/>
        </p:nvGrpSpPr>
        <p:grpSpPr>
          <a:xfrm rot="0">
            <a:off x="0" y="10247414"/>
            <a:ext cx="18288000" cy="38100"/>
            <a:chOff x="0" y="0"/>
            <a:chExt cx="24384000" cy="50800"/>
          </a:xfrm>
        </p:grpSpPr>
        <p:sp>
          <p:nvSpPr>
            <p:cNvPr name="Freeform 46" id="46"/>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81835"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5656" y="352501"/>
            <a:ext cx="234315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25 · ROADMAP</a:t>
            </a:r>
          </a:p>
        </p:txBody>
      </p:sp>
      <p:sp>
        <p:nvSpPr>
          <p:cNvPr name="TextBox 8" id="8"/>
          <p:cNvSpPr txBox="true"/>
          <p:nvPr/>
        </p:nvSpPr>
        <p:spPr>
          <a:xfrm rot="0">
            <a:off x="16801576" y="352501"/>
            <a:ext cx="57150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27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Roadmap</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9638" y="2668934"/>
            <a:ext cx="16468725" cy="2428875"/>
            <a:chOff x="0" y="0"/>
            <a:chExt cx="21958300" cy="3238500"/>
          </a:xfrm>
        </p:grpSpPr>
        <p:sp>
          <p:nvSpPr>
            <p:cNvPr name="Freeform 13" id="13"/>
            <p:cNvSpPr/>
            <p:nvPr/>
          </p:nvSpPr>
          <p:spPr>
            <a:xfrm flipH="false" flipV="false" rot="0">
              <a:off x="0" y="0"/>
              <a:ext cx="21958300" cy="3238500"/>
            </a:xfrm>
            <a:custGeom>
              <a:avLst/>
              <a:gdLst/>
              <a:ahLst/>
              <a:cxnLst/>
              <a:rect r="r" b="b" t="t" l="l"/>
              <a:pathLst>
                <a:path h="3238500" w="21958300">
                  <a:moveTo>
                    <a:pt x="0" y="244856"/>
                  </a:moveTo>
                  <a:cubicBezTo>
                    <a:pt x="0" y="109601"/>
                    <a:pt x="109601" y="0"/>
                    <a:pt x="244856" y="0"/>
                  </a:cubicBezTo>
                  <a:lnTo>
                    <a:pt x="21713444" y="0"/>
                  </a:lnTo>
                  <a:cubicBezTo>
                    <a:pt x="21848699" y="0"/>
                    <a:pt x="21958300" y="109601"/>
                    <a:pt x="21958300" y="244856"/>
                  </a:cubicBezTo>
                  <a:lnTo>
                    <a:pt x="21958300" y="2993644"/>
                  </a:lnTo>
                  <a:cubicBezTo>
                    <a:pt x="21958300" y="3128899"/>
                    <a:pt x="21848699" y="3238500"/>
                    <a:pt x="21713444" y="3238500"/>
                  </a:cubicBezTo>
                  <a:lnTo>
                    <a:pt x="244856" y="3238500"/>
                  </a:lnTo>
                  <a:cubicBezTo>
                    <a:pt x="109601" y="3238500"/>
                    <a:pt x="0" y="3128899"/>
                    <a:pt x="0" y="2993644"/>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81100" y="2904830"/>
            <a:ext cx="15925800" cy="295275"/>
          </a:xfrm>
          <a:prstGeom prst="rect">
            <a:avLst/>
          </a:prstGeom>
        </p:spPr>
        <p:txBody>
          <a:bodyPr anchor="t" rtlCol="false" tIns="0" lIns="0" bIns="0" rIns="0">
            <a:spAutoFit/>
          </a:bodyPr>
          <a:lstStyle/>
          <a:p>
            <a:pPr algn="l">
              <a:lnSpc>
                <a:spcPts val="2052"/>
              </a:lnSpc>
            </a:pPr>
            <a:r>
              <a:rPr lang="en-US" sz="1360" spc="68">
                <a:solidFill>
                  <a:srgbClr val="6B7280"/>
                </a:solidFill>
                <a:latin typeface="Inter"/>
                <a:ea typeface="Inter"/>
                <a:cs typeface="Inter"/>
                <a:sym typeface="Inter"/>
              </a:rPr>
              <a:t>12-MONTH OUTLOOK</a:t>
            </a:r>
          </a:p>
        </p:txBody>
      </p:sp>
      <p:grpSp>
        <p:nvGrpSpPr>
          <p:cNvPr name="Group 15" id="15"/>
          <p:cNvGrpSpPr/>
          <p:nvPr/>
        </p:nvGrpSpPr>
        <p:grpSpPr>
          <a:xfrm rot="0">
            <a:off x="1181100" y="3598812"/>
            <a:ext cx="15925800" cy="28575"/>
            <a:chOff x="0" y="0"/>
            <a:chExt cx="21234400" cy="38100"/>
          </a:xfrm>
        </p:grpSpPr>
        <p:sp>
          <p:nvSpPr>
            <p:cNvPr name="Freeform 16" id="16"/>
            <p:cNvSpPr/>
            <p:nvPr/>
          </p:nvSpPr>
          <p:spPr>
            <a:xfrm flipH="false" flipV="false" rot="0">
              <a:off x="0" y="0"/>
              <a:ext cx="21234400" cy="38100"/>
            </a:xfrm>
            <a:custGeom>
              <a:avLst/>
              <a:gdLst/>
              <a:ahLst/>
              <a:cxnLst/>
              <a:rect r="r" b="b" t="t" l="l"/>
              <a:pathLst>
                <a:path h="38100" w="21234400">
                  <a:moveTo>
                    <a:pt x="0" y="0"/>
                  </a:moveTo>
                  <a:lnTo>
                    <a:pt x="21234400" y="0"/>
                  </a:lnTo>
                  <a:lnTo>
                    <a:pt x="21234400" y="38100"/>
                  </a:lnTo>
                  <a:lnTo>
                    <a:pt x="0" y="38100"/>
                  </a:lnTo>
                  <a:close/>
                </a:path>
              </a:pathLst>
            </a:custGeom>
            <a:solidFill>
              <a:srgbClr val="E5E7EB"/>
            </a:solidFill>
          </p:spPr>
        </p:sp>
      </p:grpSp>
      <p:grpSp>
        <p:nvGrpSpPr>
          <p:cNvPr name="Group 17" id="17"/>
          <p:cNvGrpSpPr/>
          <p:nvPr/>
        </p:nvGrpSpPr>
        <p:grpSpPr>
          <a:xfrm rot="0">
            <a:off x="1181995" y="3584524"/>
            <a:ext cx="5572125" cy="57150"/>
            <a:chOff x="0" y="0"/>
            <a:chExt cx="7429500" cy="76200"/>
          </a:xfrm>
        </p:grpSpPr>
        <p:sp>
          <p:nvSpPr>
            <p:cNvPr name="Freeform 18" id="18"/>
            <p:cNvSpPr/>
            <p:nvPr/>
          </p:nvSpPr>
          <p:spPr>
            <a:xfrm flipH="false" flipV="false" rot="0">
              <a:off x="0" y="0"/>
              <a:ext cx="7429500" cy="76200"/>
            </a:xfrm>
            <a:custGeom>
              <a:avLst/>
              <a:gdLst/>
              <a:ahLst/>
              <a:cxnLst/>
              <a:rect r="r" b="b" t="t" l="l"/>
              <a:pathLst>
                <a:path h="76200" w="7429500">
                  <a:moveTo>
                    <a:pt x="0" y="38100"/>
                  </a:moveTo>
                  <a:cubicBezTo>
                    <a:pt x="0" y="17018"/>
                    <a:pt x="17018" y="0"/>
                    <a:pt x="38100" y="0"/>
                  </a:cubicBezTo>
                  <a:lnTo>
                    <a:pt x="7391400" y="0"/>
                  </a:lnTo>
                  <a:cubicBezTo>
                    <a:pt x="7412482" y="0"/>
                    <a:pt x="7429500" y="17018"/>
                    <a:pt x="7429500" y="38100"/>
                  </a:cubicBezTo>
                  <a:cubicBezTo>
                    <a:pt x="7429500" y="59182"/>
                    <a:pt x="7412482" y="76200"/>
                    <a:pt x="7391400" y="76200"/>
                  </a:cubicBezTo>
                  <a:lnTo>
                    <a:pt x="38100" y="76200"/>
                  </a:lnTo>
                  <a:cubicBezTo>
                    <a:pt x="17018" y="76200"/>
                    <a:pt x="0" y="59182"/>
                    <a:pt x="0" y="38100"/>
                  </a:cubicBezTo>
                  <a:close/>
                </a:path>
              </a:pathLst>
            </a:custGeom>
            <a:solidFill>
              <a:srgbClr val="2ECC71"/>
            </a:solidFill>
          </p:spPr>
        </p:sp>
      </p:grpSp>
      <p:grpSp>
        <p:nvGrpSpPr>
          <p:cNvPr name="Group 19" id="19"/>
          <p:cNvGrpSpPr/>
          <p:nvPr/>
        </p:nvGrpSpPr>
        <p:grpSpPr>
          <a:xfrm rot="0">
            <a:off x="2437876" y="3413074"/>
            <a:ext cx="400050" cy="400050"/>
            <a:chOff x="0" y="0"/>
            <a:chExt cx="533400" cy="533400"/>
          </a:xfrm>
        </p:grpSpPr>
        <p:sp>
          <p:nvSpPr>
            <p:cNvPr name="Freeform 20" id="20"/>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2ECC71"/>
            </a:solidFill>
            <a:ln w="38100" cap="sq">
              <a:solidFill>
                <a:srgbClr val="F7F8FA"/>
              </a:solidFill>
              <a:prstDash val="solid"/>
              <a:miter/>
            </a:ln>
          </p:spPr>
        </p:sp>
      </p:grpSp>
      <p:grpSp>
        <p:nvGrpSpPr>
          <p:cNvPr name="Group 21" id="21"/>
          <p:cNvGrpSpPr/>
          <p:nvPr/>
        </p:nvGrpSpPr>
        <p:grpSpPr>
          <a:xfrm rot="0">
            <a:off x="6419326" y="3413074"/>
            <a:ext cx="400050" cy="400050"/>
            <a:chOff x="0" y="0"/>
            <a:chExt cx="533400" cy="533400"/>
          </a:xfrm>
        </p:grpSpPr>
        <p:sp>
          <p:nvSpPr>
            <p:cNvPr name="Freeform 22" id="22"/>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2ECC71"/>
            </a:solidFill>
            <a:ln w="38100" cap="sq">
              <a:solidFill>
                <a:srgbClr val="F7F8FA"/>
              </a:solidFill>
              <a:prstDash val="solid"/>
              <a:miter/>
            </a:ln>
          </p:spPr>
        </p:sp>
      </p:grpSp>
      <p:grpSp>
        <p:nvGrpSpPr>
          <p:cNvPr name="Group 23" id="23"/>
          <p:cNvGrpSpPr/>
          <p:nvPr/>
        </p:nvGrpSpPr>
        <p:grpSpPr>
          <a:xfrm rot="0">
            <a:off x="10400776" y="3413074"/>
            <a:ext cx="400050" cy="400050"/>
            <a:chOff x="0" y="0"/>
            <a:chExt cx="533400" cy="533400"/>
          </a:xfrm>
        </p:grpSpPr>
        <p:sp>
          <p:nvSpPr>
            <p:cNvPr name="Freeform 24" id="24"/>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FFFFF"/>
            </a:solidFill>
            <a:ln w="38100" cap="sq">
              <a:solidFill>
                <a:srgbClr val="2ECC71"/>
              </a:solidFill>
              <a:prstDash val="solid"/>
              <a:miter/>
            </a:ln>
          </p:spPr>
        </p:sp>
      </p:grpSp>
      <p:grpSp>
        <p:nvGrpSpPr>
          <p:cNvPr name="Group 25" id="25"/>
          <p:cNvGrpSpPr/>
          <p:nvPr/>
        </p:nvGrpSpPr>
        <p:grpSpPr>
          <a:xfrm rot="0">
            <a:off x="14382226" y="3413074"/>
            <a:ext cx="400050" cy="400050"/>
            <a:chOff x="0" y="0"/>
            <a:chExt cx="533400" cy="533400"/>
          </a:xfrm>
        </p:grpSpPr>
        <p:sp>
          <p:nvSpPr>
            <p:cNvPr name="Freeform 26" id="26"/>
            <p:cNvSpPr/>
            <p:nvPr/>
          </p:nvSpPr>
          <p:spPr>
            <a:xfrm flipH="false" flipV="false" rot="0">
              <a:off x="0" y="0"/>
              <a:ext cx="533400" cy="533400"/>
            </a:xfrm>
            <a:custGeom>
              <a:avLst/>
              <a:gdLst/>
              <a:ahLst/>
              <a:cxnLst/>
              <a:rect r="r" b="b" t="t" l="l"/>
              <a:pathLst>
                <a:path h="533400" w="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FFFFF"/>
            </a:solidFill>
            <a:ln w="38100" cap="sq">
              <a:solidFill>
                <a:srgbClr val="E5E7EB"/>
              </a:solidFill>
              <a:prstDash val="solid"/>
              <a:miter/>
            </a:ln>
          </p:spPr>
        </p:sp>
      </p:grpSp>
      <p:sp>
        <p:nvSpPr>
          <p:cNvPr name="TextBox 27" id="27"/>
          <p:cNvSpPr txBox="true"/>
          <p:nvPr/>
        </p:nvSpPr>
        <p:spPr>
          <a:xfrm rot="0">
            <a:off x="1182072" y="3979069"/>
            <a:ext cx="37052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Q1</a:t>
            </a:r>
          </a:p>
        </p:txBody>
      </p:sp>
      <p:sp>
        <p:nvSpPr>
          <p:cNvPr name="TextBox 28" id="28"/>
          <p:cNvSpPr txBox="true"/>
          <p:nvPr/>
        </p:nvSpPr>
        <p:spPr>
          <a:xfrm rot="0">
            <a:off x="1182072" y="4188771"/>
            <a:ext cx="370522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[Launch v1]</a:t>
            </a:r>
          </a:p>
        </p:txBody>
      </p:sp>
      <p:sp>
        <p:nvSpPr>
          <p:cNvPr name="TextBox 29" id="29"/>
          <p:cNvSpPr txBox="true"/>
          <p:nvPr/>
        </p:nvSpPr>
        <p:spPr>
          <a:xfrm rot="0">
            <a:off x="1182072" y="4567980"/>
            <a:ext cx="3705225" cy="257175"/>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[Describe milestone.]</a:t>
            </a:r>
          </a:p>
        </p:txBody>
      </p:sp>
      <p:sp>
        <p:nvSpPr>
          <p:cNvPr name="TextBox 30" id="30"/>
          <p:cNvSpPr txBox="true"/>
          <p:nvPr/>
        </p:nvSpPr>
        <p:spPr>
          <a:xfrm rot="0">
            <a:off x="5254895" y="3979069"/>
            <a:ext cx="37052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Q2</a:t>
            </a:r>
          </a:p>
        </p:txBody>
      </p:sp>
      <p:sp>
        <p:nvSpPr>
          <p:cNvPr name="TextBox 31" id="31"/>
          <p:cNvSpPr txBox="true"/>
          <p:nvPr/>
        </p:nvSpPr>
        <p:spPr>
          <a:xfrm rot="0">
            <a:off x="5254895" y="4188771"/>
            <a:ext cx="370522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[Caregiver mode]</a:t>
            </a:r>
          </a:p>
        </p:txBody>
      </p:sp>
      <p:sp>
        <p:nvSpPr>
          <p:cNvPr name="TextBox 32" id="32"/>
          <p:cNvSpPr txBox="true"/>
          <p:nvPr/>
        </p:nvSpPr>
        <p:spPr>
          <a:xfrm rot="0">
            <a:off x="5254895" y="4567980"/>
            <a:ext cx="3705225" cy="257175"/>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[Describe milestone.]</a:t>
            </a:r>
          </a:p>
        </p:txBody>
      </p:sp>
      <p:sp>
        <p:nvSpPr>
          <p:cNvPr name="TextBox 33" id="33"/>
          <p:cNvSpPr txBox="true"/>
          <p:nvPr/>
        </p:nvSpPr>
        <p:spPr>
          <a:xfrm rot="0">
            <a:off x="9327728" y="3979069"/>
            <a:ext cx="37052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Q3</a:t>
            </a:r>
          </a:p>
        </p:txBody>
      </p:sp>
      <p:sp>
        <p:nvSpPr>
          <p:cNvPr name="TextBox 34" id="34"/>
          <p:cNvSpPr txBox="true"/>
          <p:nvPr/>
        </p:nvSpPr>
        <p:spPr>
          <a:xfrm rot="0">
            <a:off x="9327728" y="4188771"/>
            <a:ext cx="370522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[Pharmacy pilot]</a:t>
            </a:r>
          </a:p>
        </p:txBody>
      </p:sp>
      <p:sp>
        <p:nvSpPr>
          <p:cNvPr name="TextBox 35" id="35"/>
          <p:cNvSpPr txBox="true"/>
          <p:nvPr/>
        </p:nvSpPr>
        <p:spPr>
          <a:xfrm rot="0">
            <a:off x="9327728" y="4567980"/>
            <a:ext cx="3705225" cy="257175"/>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[Describe milestone.]</a:t>
            </a:r>
          </a:p>
        </p:txBody>
      </p:sp>
      <p:sp>
        <p:nvSpPr>
          <p:cNvPr name="TextBox 36" id="36"/>
          <p:cNvSpPr txBox="true"/>
          <p:nvPr/>
        </p:nvSpPr>
        <p:spPr>
          <a:xfrm rot="0">
            <a:off x="13400637" y="3979069"/>
            <a:ext cx="3705225" cy="276225"/>
          </a:xfrm>
          <a:prstGeom prst="rect">
            <a:avLst/>
          </a:prstGeom>
        </p:spPr>
        <p:txBody>
          <a:bodyPr anchor="t" rtlCol="false" tIns="0" lIns="0" bIns="0" rIns="0">
            <a:spAutoFit/>
          </a:bodyPr>
          <a:lstStyle/>
          <a:p>
            <a:pPr algn="l">
              <a:lnSpc>
                <a:spcPts val="1836"/>
              </a:lnSpc>
            </a:pPr>
            <a:r>
              <a:rPr lang="en-US" b="true" sz="1220" spc="61">
                <a:solidFill>
                  <a:srgbClr val="6B7280"/>
                </a:solidFill>
                <a:latin typeface="Inter Bold"/>
                <a:ea typeface="Inter Bold"/>
                <a:cs typeface="Inter Bold"/>
                <a:sym typeface="Inter Bold"/>
              </a:rPr>
              <a:t>Q4</a:t>
            </a:r>
          </a:p>
        </p:txBody>
      </p:sp>
      <p:sp>
        <p:nvSpPr>
          <p:cNvPr name="TextBox 37" id="37"/>
          <p:cNvSpPr txBox="true"/>
          <p:nvPr/>
        </p:nvSpPr>
        <p:spPr>
          <a:xfrm rot="0">
            <a:off x="13400637" y="4188771"/>
            <a:ext cx="3705225" cy="400050"/>
          </a:xfrm>
          <a:prstGeom prst="rect">
            <a:avLst/>
          </a:prstGeom>
        </p:spPr>
        <p:txBody>
          <a:bodyPr anchor="t" rtlCol="false" tIns="0" lIns="0" bIns="0" rIns="0">
            <a:spAutoFit/>
          </a:bodyPr>
          <a:lstStyle/>
          <a:p>
            <a:pPr algn="l">
              <a:lnSpc>
                <a:spcPts val="2591"/>
              </a:lnSpc>
            </a:pPr>
            <a:r>
              <a:rPr lang="en-US" sz="1719" b="true">
                <a:solidFill>
                  <a:srgbClr val="1A1A2E"/>
                </a:solidFill>
                <a:latin typeface="Arimo Bold"/>
                <a:ea typeface="Arimo Bold"/>
                <a:cs typeface="Arimo Bold"/>
                <a:sym typeface="Arimo Bold"/>
              </a:rPr>
              <a:t>[Regional expansion]</a:t>
            </a:r>
          </a:p>
        </p:txBody>
      </p:sp>
      <p:sp>
        <p:nvSpPr>
          <p:cNvPr name="TextBox 38" id="38"/>
          <p:cNvSpPr txBox="true"/>
          <p:nvPr/>
        </p:nvSpPr>
        <p:spPr>
          <a:xfrm rot="0">
            <a:off x="13400637" y="4567980"/>
            <a:ext cx="3705225" cy="257175"/>
          </a:xfrm>
          <a:prstGeom prst="rect">
            <a:avLst/>
          </a:prstGeom>
        </p:spPr>
        <p:txBody>
          <a:bodyPr anchor="t" rtlCol="false" tIns="0" lIns="0" bIns="0" rIns="0">
            <a:spAutoFit/>
          </a:bodyPr>
          <a:lstStyle/>
          <a:p>
            <a:pPr algn="l">
              <a:lnSpc>
                <a:spcPts val="1880"/>
              </a:lnSpc>
            </a:pPr>
            <a:r>
              <a:rPr lang="en-US" sz="1360">
                <a:solidFill>
                  <a:srgbClr val="595959"/>
                </a:solidFill>
                <a:latin typeface="Inter"/>
                <a:ea typeface="Inter"/>
                <a:cs typeface="Inter"/>
                <a:sym typeface="Inter"/>
              </a:rPr>
              <a:t>[Describe milestone.]</a:t>
            </a:r>
          </a:p>
        </p:txBody>
      </p:sp>
      <p:grpSp>
        <p:nvGrpSpPr>
          <p:cNvPr name="Group 39" id="39"/>
          <p:cNvGrpSpPr/>
          <p:nvPr/>
        </p:nvGrpSpPr>
        <p:grpSpPr>
          <a:xfrm rot="0">
            <a:off x="913428" y="6170343"/>
            <a:ext cx="5305425" cy="3295650"/>
            <a:chOff x="0" y="0"/>
            <a:chExt cx="7073900" cy="4394200"/>
          </a:xfrm>
        </p:grpSpPr>
        <p:sp>
          <p:nvSpPr>
            <p:cNvPr name="Freeform 40" id="40"/>
            <p:cNvSpPr/>
            <p:nvPr/>
          </p:nvSpPr>
          <p:spPr>
            <a:xfrm flipH="false" flipV="false" rot="0">
              <a:off x="0" y="0"/>
              <a:ext cx="7073900" cy="4394200"/>
            </a:xfrm>
            <a:custGeom>
              <a:avLst/>
              <a:gdLst/>
              <a:ahLst/>
              <a:cxnLst/>
              <a:rect r="r" b="b" t="t" l="l"/>
              <a:pathLst>
                <a:path h="4394200" w="7073900">
                  <a:moveTo>
                    <a:pt x="0" y="195072"/>
                  </a:moveTo>
                  <a:cubicBezTo>
                    <a:pt x="0" y="87376"/>
                    <a:pt x="87376" y="0"/>
                    <a:pt x="195072" y="0"/>
                  </a:cubicBezTo>
                  <a:lnTo>
                    <a:pt x="6878828" y="0"/>
                  </a:lnTo>
                  <a:cubicBezTo>
                    <a:pt x="6986524" y="0"/>
                    <a:pt x="7073900" y="87376"/>
                    <a:pt x="7073900" y="195072"/>
                  </a:cubicBezTo>
                  <a:lnTo>
                    <a:pt x="7073900" y="4199128"/>
                  </a:lnTo>
                  <a:cubicBezTo>
                    <a:pt x="7073900" y="4306824"/>
                    <a:pt x="6986524" y="4394200"/>
                    <a:pt x="6878828" y="4394200"/>
                  </a:cubicBezTo>
                  <a:lnTo>
                    <a:pt x="195072" y="4394200"/>
                  </a:lnTo>
                  <a:cubicBezTo>
                    <a:pt x="87376" y="4394200"/>
                    <a:pt x="0" y="4306824"/>
                    <a:pt x="0" y="4199128"/>
                  </a:cubicBezTo>
                  <a:close/>
                </a:path>
              </a:pathLst>
            </a:custGeom>
            <a:solidFill>
              <a:srgbClr val="ECFAF2"/>
            </a:solidFill>
          </p:spPr>
        </p:sp>
      </p:grpSp>
      <p:sp>
        <p:nvSpPr>
          <p:cNvPr name="TextBox 41" id="41"/>
          <p:cNvSpPr txBox="true"/>
          <p:nvPr/>
        </p:nvSpPr>
        <p:spPr>
          <a:xfrm rot="0">
            <a:off x="1118216" y="6332487"/>
            <a:ext cx="48958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FUTURE · 01</a:t>
            </a:r>
          </a:p>
        </p:txBody>
      </p:sp>
      <p:sp>
        <p:nvSpPr>
          <p:cNvPr name="TextBox 42" id="42"/>
          <p:cNvSpPr txBox="true"/>
          <p:nvPr/>
        </p:nvSpPr>
        <p:spPr>
          <a:xfrm rot="0">
            <a:off x="1118216" y="6622475"/>
            <a:ext cx="4895850" cy="304800"/>
          </a:xfrm>
          <a:prstGeom prst="rect">
            <a:avLst/>
          </a:prstGeom>
        </p:spPr>
        <p:txBody>
          <a:bodyPr anchor="t" rtlCol="false" tIns="0" lIns="0" bIns="0" rIns="0">
            <a:spAutoFit/>
          </a:bodyPr>
          <a:lstStyle/>
          <a:p>
            <a:pPr algn="l">
              <a:lnSpc>
                <a:spcPts val="2160"/>
              </a:lnSpc>
            </a:pPr>
            <a:r>
              <a:rPr lang="en-US" sz="1719" b="true">
                <a:solidFill>
                  <a:srgbClr val="FFFFFF"/>
                </a:solidFill>
                <a:latin typeface="Arimo Bold"/>
                <a:ea typeface="Arimo Bold"/>
                <a:cs typeface="Arimo Bold"/>
                <a:sym typeface="Arimo Bold"/>
              </a:rPr>
              <a:t>[AI medication assistant]</a:t>
            </a:r>
          </a:p>
        </p:txBody>
      </p:sp>
      <p:sp>
        <p:nvSpPr>
          <p:cNvPr name="TextBox 43" id="43"/>
          <p:cNvSpPr txBox="true"/>
          <p:nvPr/>
        </p:nvSpPr>
        <p:spPr>
          <a:xfrm rot="0">
            <a:off x="1118216" y="6958908"/>
            <a:ext cx="4895850" cy="257175"/>
          </a:xfrm>
          <a:prstGeom prst="rect">
            <a:avLst/>
          </a:prstGeom>
        </p:spPr>
        <p:txBody>
          <a:bodyPr anchor="t" rtlCol="false" tIns="0" lIns="0" bIns="0" rIns="0">
            <a:spAutoFit/>
          </a:bodyPr>
          <a:lstStyle/>
          <a:p>
            <a:pPr algn="l">
              <a:lnSpc>
                <a:spcPts val="1880"/>
              </a:lnSpc>
            </a:pPr>
            <a:r>
              <a:rPr lang="en-US" sz="1360">
                <a:solidFill>
                  <a:srgbClr val="FFFFFF"/>
                </a:solidFill>
                <a:latin typeface="Inter"/>
                <a:ea typeface="Inter"/>
                <a:cs typeface="Inter"/>
                <a:sym typeface="Inter"/>
              </a:rPr>
              <a:t>[Describe planned feature.]</a:t>
            </a:r>
          </a:p>
        </p:txBody>
      </p:sp>
      <p:grpSp>
        <p:nvGrpSpPr>
          <p:cNvPr name="Group 44" id="44"/>
          <p:cNvGrpSpPr/>
          <p:nvPr/>
        </p:nvGrpSpPr>
        <p:grpSpPr>
          <a:xfrm rot="0">
            <a:off x="6491211" y="6170343"/>
            <a:ext cx="5305425" cy="3295650"/>
            <a:chOff x="0" y="0"/>
            <a:chExt cx="7073900" cy="4394200"/>
          </a:xfrm>
        </p:grpSpPr>
        <p:sp>
          <p:nvSpPr>
            <p:cNvPr name="Freeform 45" id="45"/>
            <p:cNvSpPr/>
            <p:nvPr/>
          </p:nvSpPr>
          <p:spPr>
            <a:xfrm flipH="false" flipV="false" rot="0">
              <a:off x="0" y="0"/>
              <a:ext cx="7073900" cy="4394200"/>
            </a:xfrm>
            <a:custGeom>
              <a:avLst/>
              <a:gdLst/>
              <a:ahLst/>
              <a:cxnLst/>
              <a:rect r="r" b="b" t="t" l="l"/>
              <a:pathLst>
                <a:path h="4394200" w="7073900">
                  <a:moveTo>
                    <a:pt x="0" y="195072"/>
                  </a:moveTo>
                  <a:cubicBezTo>
                    <a:pt x="0" y="87376"/>
                    <a:pt x="87376" y="0"/>
                    <a:pt x="195072" y="0"/>
                  </a:cubicBezTo>
                  <a:lnTo>
                    <a:pt x="6878828" y="0"/>
                  </a:lnTo>
                  <a:cubicBezTo>
                    <a:pt x="6986524" y="0"/>
                    <a:pt x="7073900" y="87376"/>
                    <a:pt x="7073900" y="195072"/>
                  </a:cubicBezTo>
                  <a:lnTo>
                    <a:pt x="7073900" y="4199128"/>
                  </a:lnTo>
                  <a:cubicBezTo>
                    <a:pt x="7073900" y="4306824"/>
                    <a:pt x="6986524" y="4394200"/>
                    <a:pt x="6878828" y="4394200"/>
                  </a:cubicBezTo>
                  <a:lnTo>
                    <a:pt x="195072" y="4394200"/>
                  </a:lnTo>
                  <a:cubicBezTo>
                    <a:pt x="87376" y="4394200"/>
                    <a:pt x="0" y="4306824"/>
                    <a:pt x="0" y="4199128"/>
                  </a:cubicBezTo>
                  <a:close/>
                </a:path>
              </a:pathLst>
            </a:custGeom>
            <a:solidFill>
              <a:srgbClr val="ECFAF2"/>
            </a:solidFill>
          </p:spPr>
        </p:sp>
      </p:grpSp>
      <p:sp>
        <p:nvSpPr>
          <p:cNvPr name="TextBox 46" id="46"/>
          <p:cNvSpPr txBox="true"/>
          <p:nvPr/>
        </p:nvSpPr>
        <p:spPr>
          <a:xfrm rot="0">
            <a:off x="6695999" y="6332487"/>
            <a:ext cx="48958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FUTURE · 02</a:t>
            </a:r>
          </a:p>
        </p:txBody>
      </p:sp>
      <p:sp>
        <p:nvSpPr>
          <p:cNvPr name="TextBox 47" id="47"/>
          <p:cNvSpPr txBox="true"/>
          <p:nvPr/>
        </p:nvSpPr>
        <p:spPr>
          <a:xfrm rot="0">
            <a:off x="6695999" y="6622475"/>
            <a:ext cx="4895850" cy="304800"/>
          </a:xfrm>
          <a:prstGeom prst="rect">
            <a:avLst/>
          </a:prstGeom>
        </p:spPr>
        <p:txBody>
          <a:bodyPr anchor="t" rtlCol="false" tIns="0" lIns="0" bIns="0" rIns="0">
            <a:spAutoFit/>
          </a:bodyPr>
          <a:lstStyle/>
          <a:p>
            <a:pPr algn="l">
              <a:lnSpc>
                <a:spcPts val="2160"/>
              </a:lnSpc>
            </a:pPr>
            <a:r>
              <a:rPr lang="en-US" sz="1719" b="true">
                <a:solidFill>
                  <a:srgbClr val="FFFFFF"/>
                </a:solidFill>
                <a:latin typeface="Arimo Bold"/>
                <a:ea typeface="Arimo Bold"/>
                <a:cs typeface="Arimo Bold"/>
                <a:sym typeface="Arimo Bold"/>
              </a:rPr>
              <a:t>[Apple Watch app]</a:t>
            </a:r>
          </a:p>
        </p:txBody>
      </p:sp>
      <p:sp>
        <p:nvSpPr>
          <p:cNvPr name="TextBox 48" id="48"/>
          <p:cNvSpPr txBox="true"/>
          <p:nvPr/>
        </p:nvSpPr>
        <p:spPr>
          <a:xfrm rot="0">
            <a:off x="6695999" y="6958908"/>
            <a:ext cx="4895850" cy="257175"/>
          </a:xfrm>
          <a:prstGeom prst="rect">
            <a:avLst/>
          </a:prstGeom>
        </p:spPr>
        <p:txBody>
          <a:bodyPr anchor="t" rtlCol="false" tIns="0" lIns="0" bIns="0" rIns="0">
            <a:spAutoFit/>
          </a:bodyPr>
          <a:lstStyle/>
          <a:p>
            <a:pPr algn="l">
              <a:lnSpc>
                <a:spcPts val="1880"/>
              </a:lnSpc>
            </a:pPr>
            <a:r>
              <a:rPr lang="en-US" sz="1360">
                <a:solidFill>
                  <a:srgbClr val="FFFFFF"/>
                </a:solidFill>
                <a:latin typeface="Inter"/>
                <a:ea typeface="Inter"/>
                <a:cs typeface="Inter"/>
                <a:sym typeface="Inter"/>
              </a:rPr>
              <a:t>[Describe planned feature.]</a:t>
            </a:r>
          </a:p>
        </p:txBody>
      </p:sp>
      <p:grpSp>
        <p:nvGrpSpPr>
          <p:cNvPr name="Group 49" id="49"/>
          <p:cNvGrpSpPr/>
          <p:nvPr/>
        </p:nvGrpSpPr>
        <p:grpSpPr>
          <a:xfrm rot="0">
            <a:off x="12068994" y="6170343"/>
            <a:ext cx="5305425" cy="3295650"/>
            <a:chOff x="0" y="0"/>
            <a:chExt cx="7073900" cy="4394200"/>
          </a:xfrm>
        </p:grpSpPr>
        <p:sp>
          <p:nvSpPr>
            <p:cNvPr name="Freeform 50" id="50"/>
            <p:cNvSpPr/>
            <p:nvPr/>
          </p:nvSpPr>
          <p:spPr>
            <a:xfrm flipH="false" flipV="false" rot="0">
              <a:off x="0" y="0"/>
              <a:ext cx="7073900" cy="4394200"/>
            </a:xfrm>
            <a:custGeom>
              <a:avLst/>
              <a:gdLst/>
              <a:ahLst/>
              <a:cxnLst/>
              <a:rect r="r" b="b" t="t" l="l"/>
              <a:pathLst>
                <a:path h="4394200" w="7073900">
                  <a:moveTo>
                    <a:pt x="0" y="195072"/>
                  </a:moveTo>
                  <a:cubicBezTo>
                    <a:pt x="0" y="87376"/>
                    <a:pt x="87376" y="0"/>
                    <a:pt x="195072" y="0"/>
                  </a:cubicBezTo>
                  <a:lnTo>
                    <a:pt x="6878828" y="0"/>
                  </a:lnTo>
                  <a:cubicBezTo>
                    <a:pt x="6986524" y="0"/>
                    <a:pt x="7073900" y="87376"/>
                    <a:pt x="7073900" y="195072"/>
                  </a:cubicBezTo>
                  <a:lnTo>
                    <a:pt x="7073900" y="4199128"/>
                  </a:lnTo>
                  <a:cubicBezTo>
                    <a:pt x="7073900" y="4306824"/>
                    <a:pt x="6986524" y="4394200"/>
                    <a:pt x="6878828" y="4394200"/>
                  </a:cubicBezTo>
                  <a:lnTo>
                    <a:pt x="195072" y="4394200"/>
                  </a:lnTo>
                  <a:cubicBezTo>
                    <a:pt x="87376" y="4394200"/>
                    <a:pt x="0" y="4306824"/>
                    <a:pt x="0" y="4199128"/>
                  </a:cubicBezTo>
                  <a:close/>
                </a:path>
              </a:pathLst>
            </a:custGeom>
            <a:solidFill>
              <a:srgbClr val="ECFAF2"/>
            </a:solidFill>
          </p:spPr>
        </p:sp>
      </p:grpSp>
      <p:sp>
        <p:nvSpPr>
          <p:cNvPr name="TextBox 51" id="51"/>
          <p:cNvSpPr txBox="true"/>
          <p:nvPr/>
        </p:nvSpPr>
        <p:spPr>
          <a:xfrm rot="0">
            <a:off x="12273782" y="6332487"/>
            <a:ext cx="48958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FUTURE · 03</a:t>
            </a:r>
          </a:p>
        </p:txBody>
      </p:sp>
      <p:sp>
        <p:nvSpPr>
          <p:cNvPr name="TextBox 52" id="52"/>
          <p:cNvSpPr txBox="true"/>
          <p:nvPr/>
        </p:nvSpPr>
        <p:spPr>
          <a:xfrm rot="0">
            <a:off x="12273782" y="6622475"/>
            <a:ext cx="4895850" cy="304800"/>
          </a:xfrm>
          <a:prstGeom prst="rect">
            <a:avLst/>
          </a:prstGeom>
        </p:spPr>
        <p:txBody>
          <a:bodyPr anchor="t" rtlCol="false" tIns="0" lIns="0" bIns="0" rIns="0">
            <a:spAutoFit/>
          </a:bodyPr>
          <a:lstStyle/>
          <a:p>
            <a:pPr algn="l">
              <a:lnSpc>
                <a:spcPts val="2160"/>
              </a:lnSpc>
            </a:pPr>
            <a:r>
              <a:rPr lang="en-US" sz="1719" b="true">
                <a:solidFill>
                  <a:srgbClr val="FFFFFF"/>
                </a:solidFill>
                <a:latin typeface="Arimo Bold"/>
                <a:ea typeface="Arimo Bold"/>
                <a:cs typeface="Arimo Bold"/>
                <a:sym typeface="Arimo Bold"/>
              </a:rPr>
              <a:t>[Doctor portal]</a:t>
            </a:r>
          </a:p>
        </p:txBody>
      </p:sp>
      <p:sp>
        <p:nvSpPr>
          <p:cNvPr name="TextBox 53" id="53"/>
          <p:cNvSpPr txBox="true"/>
          <p:nvPr/>
        </p:nvSpPr>
        <p:spPr>
          <a:xfrm rot="0">
            <a:off x="12273782" y="6958908"/>
            <a:ext cx="4895850" cy="257175"/>
          </a:xfrm>
          <a:prstGeom prst="rect">
            <a:avLst/>
          </a:prstGeom>
        </p:spPr>
        <p:txBody>
          <a:bodyPr anchor="t" rtlCol="false" tIns="0" lIns="0" bIns="0" rIns="0">
            <a:spAutoFit/>
          </a:bodyPr>
          <a:lstStyle/>
          <a:p>
            <a:pPr algn="l">
              <a:lnSpc>
                <a:spcPts val="1880"/>
              </a:lnSpc>
            </a:pPr>
            <a:r>
              <a:rPr lang="en-US" sz="1360">
                <a:solidFill>
                  <a:srgbClr val="FFFFFF"/>
                </a:solidFill>
                <a:latin typeface="Inter"/>
                <a:ea typeface="Inter"/>
                <a:cs typeface="Inter"/>
                <a:sym typeface="Inter"/>
              </a:rPr>
              <a:t>[Describe planned feature.]</a:t>
            </a:r>
          </a:p>
        </p:txBody>
      </p:sp>
      <p:grpSp>
        <p:nvGrpSpPr>
          <p:cNvPr name="Group 54" id="54"/>
          <p:cNvGrpSpPr/>
          <p:nvPr/>
        </p:nvGrpSpPr>
        <p:grpSpPr>
          <a:xfrm rot="0">
            <a:off x="914400" y="9703222"/>
            <a:ext cx="16459200" cy="276225"/>
            <a:chOff x="0" y="0"/>
            <a:chExt cx="21945600" cy="368300"/>
          </a:xfrm>
        </p:grpSpPr>
        <p:sp>
          <p:nvSpPr>
            <p:cNvPr name="Freeform 55" id="55"/>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56" id="56"/>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57" id="57"/>
          <p:cNvGrpSpPr/>
          <p:nvPr/>
        </p:nvGrpSpPr>
        <p:grpSpPr>
          <a:xfrm rot="0">
            <a:off x="0" y="10247414"/>
            <a:ext cx="18288000" cy="38100"/>
            <a:chOff x="0" y="0"/>
            <a:chExt cx="24384000" cy="50800"/>
          </a:xfrm>
        </p:grpSpPr>
        <p:sp>
          <p:nvSpPr>
            <p:cNvPr name="Freeform 58" id="58"/>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50566" y="412699"/>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64624"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4980" y="352501"/>
            <a:ext cx="2581275"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26 · REFLECTION</a:t>
            </a:r>
          </a:p>
        </p:txBody>
      </p:sp>
      <p:sp>
        <p:nvSpPr>
          <p:cNvPr name="TextBox 8" id="8"/>
          <p:cNvSpPr txBox="true"/>
          <p:nvPr/>
        </p:nvSpPr>
        <p:spPr>
          <a:xfrm rot="0">
            <a:off x="16791537"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28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Reflection and Lessons Learned</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07704" y="2667591"/>
            <a:ext cx="8105775" cy="1266825"/>
            <a:chOff x="0" y="0"/>
            <a:chExt cx="10807700" cy="1689100"/>
          </a:xfrm>
        </p:grpSpPr>
        <p:sp>
          <p:nvSpPr>
            <p:cNvPr name="Freeform 13" id="13"/>
            <p:cNvSpPr/>
            <p:nvPr/>
          </p:nvSpPr>
          <p:spPr>
            <a:xfrm flipH="false" flipV="false" rot="0">
              <a:off x="0" y="0"/>
              <a:ext cx="10807700" cy="1689100"/>
            </a:xfrm>
            <a:custGeom>
              <a:avLst/>
              <a:gdLst/>
              <a:ahLst/>
              <a:cxnLst/>
              <a:rect r="r" b="b" t="t" l="l"/>
              <a:pathLst>
                <a:path h="1689100" w="10807700">
                  <a:moveTo>
                    <a:pt x="0" y="196596"/>
                  </a:moveTo>
                  <a:cubicBezTo>
                    <a:pt x="0" y="88011"/>
                    <a:pt x="88011" y="0"/>
                    <a:pt x="196596" y="0"/>
                  </a:cubicBezTo>
                  <a:lnTo>
                    <a:pt x="10611104" y="0"/>
                  </a:lnTo>
                  <a:cubicBezTo>
                    <a:pt x="10719689" y="0"/>
                    <a:pt x="10807700" y="88011"/>
                    <a:pt x="10807700" y="196596"/>
                  </a:cubicBezTo>
                  <a:lnTo>
                    <a:pt x="10807700" y="1492504"/>
                  </a:lnTo>
                  <a:cubicBezTo>
                    <a:pt x="10807700" y="1601089"/>
                    <a:pt x="10719689" y="1689100"/>
                    <a:pt x="10611104" y="1689100"/>
                  </a:cubicBezTo>
                  <a:lnTo>
                    <a:pt x="196596" y="1689100"/>
                  </a:lnTo>
                  <a:cubicBezTo>
                    <a:pt x="88011" y="1689100"/>
                    <a:pt x="0" y="1601089"/>
                    <a:pt x="0" y="1492504"/>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31541" y="2844403"/>
            <a:ext cx="76581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WHAT WORKED</a:t>
            </a:r>
          </a:p>
        </p:txBody>
      </p:sp>
      <p:sp>
        <p:nvSpPr>
          <p:cNvPr name="TextBox 15" id="15"/>
          <p:cNvSpPr txBox="true"/>
          <p:nvPr/>
        </p:nvSpPr>
        <p:spPr>
          <a:xfrm rot="0">
            <a:off x="1131541" y="3157833"/>
            <a:ext cx="7658100" cy="552450"/>
          </a:xfrm>
          <a:prstGeom prst="rect">
            <a:avLst/>
          </a:prstGeom>
        </p:spPr>
        <p:txBody>
          <a:bodyPr anchor="t" rtlCol="false" tIns="0" lIns="0" bIns="0" rIns="0">
            <a:spAutoFit/>
          </a:bodyPr>
          <a:lstStyle/>
          <a:p>
            <a:pPr algn="l">
              <a:lnSpc>
                <a:spcPts val="2080"/>
              </a:lnSpc>
            </a:pPr>
            <a:r>
              <a:rPr lang="en-US" sz="1520">
                <a:solidFill>
                  <a:srgbClr val="595959"/>
                </a:solidFill>
                <a:latin typeface="Inter"/>
                <a:ea typeface="Inter"/>
                <a:cs typeface="Inter"/>
                <a:sym typeface="Inter"/>
              </a:rPr>
              <a:t>[Describe what the team did well during the program — methods, decisions, and habits worth keeping.]</a:t>
            </a:r>
          </a:p>
        </p:txBody>
      </p:sp>
      <p:grpSp>
        <p:nvGrpSpPr>
          <p:cNvPr name="Group 16" id="16"/>
          <p:cNvGrpSpPr/>
          <p:nvPr/>
        </p:nvGrpSpPr>
        <p:grpSpPr>
          <a:xfrm rot="0">
            <a:off x="907704" y="4076033"/>
            <a:ext cx="8105775" cy="1000125"/>
            <a:chOff x="0" y="0"/>
            <a:chExt cx="10807700" cy="1333500"/>
          </a:xfrm>
        </p:grpSpPr>
        <p:sp>
          <p:nvSpPr>
            <p:cNvPr name="Freeform 17" id="17"/>
            <p:cNvSpPr/>
            <p:nvPr/>
          </p:nvSpPr>
          <p:spPr>
            <a:xfrm flipH="false" flipV="false" rot="0">
              <a:off x="0" y="0"/>
              <a:ext cx="10807700" cy="1333500"/>
            </a:xfrm>
            <a:custGeom>
              <a:avLst/>
              <a:gdLst/>
              <a:ahLst/>
              <a:cxnLst/>
              <a:rect r="r" b="b" t="t" l="l"/>
              <a:pathLst>
                <a:path h="1333500" w="10807700">
                  <a:moveTo>
                    <a:pt x="0" y="196977"/>
                  </a:moveTo>
                  <a:cubicBezTo>
                    <a:pt x="0" y="88138"/>
                    <a:pt x="88138" y="0"/>
                    <a:pt x="196977" y="0"/>
                  </a:cubicBezTo>
                  <a:lnTo>
                    <a:pt x="10610723" y="0"/>
                  </a:lnTo>
                  <a:cubicBezTo>
                    <a:pt x="10719562" y="0"/>
                    <a:pt x="10807700" y="88138"/>
                    <a:pt x="10807700" y="196977"/>
                  </a:cubicBezTo>
                  <a:lnTo>
                    <a:pt x="10807700" y="1136523"/>
                  </a:lnTo>
                  <a:cubicBezTo>
                    <a:pt x="10807700" y="1245235"/>
                    <a:pt x="10719562" y="1333500"/>
                    <a:pt x="10610723" y="1333500"/>
                  </a:cubicBezTo>
                  <a:lnTo>
                    <a:pt x="196977" y="1333500"/>
                  </a:lnTo>
                  <a:cubicBezTo>
                    <a:pt x="88138" y="1333500"/>
                    <a:pt x="0" y="1245362"/>
                    <a:pt x="0" y="1136523"/>
                  </a:cubicBezTo>
                  <a:close/>
                </a:path>
              </a:pathLst>
            </a:custGeom>
            <a:solidFill>
              <a:srgbClr val="FFFFFF"/>
            </a:solidFill>
            <a:ln w="9526" cap="sq">
              <a:solidFill>
                <a:srgbClr val="E5E7EB"/>
              </a:solidFill>
              <a:prstDash val="solid"/>
              <a:miter/>
            </a:ln>
          </p:spPr>
        </p:sp>
      </p:grpSp>
      <p:sp>
        <p:nvSpPr>
          <p:cNvPr name="TextBox 18" id="18"/>
          <p:cNvSpPr txBox="true"/>
          <p:nvPr/>
        </p:nvSpPr>
        <p:spPr>
          <a:xfrm rot="0">
            <a:off x="1131541" y="4251427"/>
            <a:ext cx="76581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WHAT WAS HARD</a:t>
            </a:r>
          </a:p>
        </p:txBody>
      </p:sp>
      <p:sp>
        <p:nvSpPr>
          <p:cNvPr name="TextBox 19" id="19"/>
          <p:cNvSpPr txBox="true"/>
          <p:nvPr/>
        </p:nvSpPr>
        <p:spPr>
          <a:xfrm rot="0">
            <a:off x="1131541" y="4561503"/>
            <a:ext cx="7658100" cy="295275"/>
          </a:xfrm>
          <a:prstGeom prst="rect">
            <a:avLst/>
          </a:prstGeom>
        </p:spPr>
        <p:txBody>
          <a:bodyPr anchor="t" rtlCol="false" tIns="0" lIns="0" bIns="0" rIns="0">
            <a:spAutoFit/>
          </a:bodyPr>
          <a:lstStyle/>
          <a:p>
            <a:pPr algn="l">
              <a:lnSpc>
                <a:spcPts val="2080"/>
              </a:lnSpc>
            </a:pPr>
            <a:r>
              <a:rPr lang="en-US" sz="1520">
                <a:solidFill>
                  <a:srgbClr val="595959"/>
                </a:solidFill>
                <a:latin typeface="Inter"/>
                <a:ea typeface="Inter"/>
                <a:cs typeface="Inter"/>
                <a:sym typeface="Inter"/>
              </a:rPr>
              <a:t>[Describe the biggest challenges and how the team approached them.]</a:t>
            </a:r>
          </a:p>
        </p:txBody>
      </p:sp>
      <p:grpSp>
        <p:nvGrpSpPr>
          <p:cNvPr name="Group 20" id="20"/>
          <p:cNvGrpSpPr/>
          <p:nvPr/>
        </p:nvGrpSpPr>
        <p:grpSpPr>
          <a:xfrm rot="0">
            <a:off x="907704" y="5219176"/>
            <a:ext cx="8105775" cy="1000125"/>
            <a:chOff x="0" y="0"/>
            <a:chExt cx="10807700" cy="1333500"/>
          </a:xfrm>
        </p:grpSpPr>
        <p:sp>
          <p:nvSpPr>
            <p:cNvPr name="Freeform 21" id="21"/>
            <p:cNvSpPr/>
            <p:nvPr/>
          </p:nvSpPr>
          <p:spPr>
            <a:xfrm flipH="false" flipV="false" rot="0">
              <a:off x="0" y="0"/>
              <a:ext cx="10807700" cy="1333500"/>
            </a:xfrm>
            <a:custGeom>
              <a:avLst/>
              <a:gdLst/>
              <a:ahLst/>
              <a:cxnLst/>
              <a:rect r="r" b="b" t="t" l="l"/>
              <a:pathLst>
                <a:path h="1333500" w="10807700">
                  <a:moveTo>
                    <a:pt x="0" y="196977"/>
                  </a:moveTo>
                  <a:cubicBezTo>
                    <a:pt x="0" y="88138"/>
                    <a:pt x="88138" y="0"/>
                    <a:pt x="196977" y="0"/>
                  </a:cubicBezTo>
                  <a:lnTo>
                    <a:pt x="10610723" y="0"/>
                  </a:lnTo>
                  <a:cubicBezTo>
                    <a:pt x="10719562" y="0"/>
                    <a:pt x="10807700" y="88138"/>
                    <a:pt x="10807700" y="196977"/>
                  </a:cubicBezTo>
                  <a:lnTo>
                    <a:pt x="10807700" y="1136523"/>
                  </a:lnTo>
                  <a:cubicBezTo>
                    <a:pt x="10807700" y="1245235"/>
                    <a:pt x="10719562" y="1333500"/>
                    <a:pt x="10610723" y="1333500"/>
                  </a:cubicBezTo>
                  <a:lnTo>
                    <a:pt x="196977" y="1333500"/>
                  </a:lnTo>
                  <a:cubicBezTo>
                    <a:pt x="88138" y="1333500"/>
                    <a:pt x="0" y="1245362"/>
                    <a:pt x="0" y="1136523"/>
                  </a:cubicBezTo>
                  <a:close/>
                </a:path>
              </a:pathLst>
            </a:custGeom>
            <a:solidFill>
              <a:srgbClr val="FFFFFF"/>
            </a:solidFill>
            <a:ln w="9526" cap="sq">
              <a:solidFill>
                <a:srgbClr val="E5E7EB"/>
              </a:solidFill>
              <a:prstDash val="solid"/>
              <a:miter/>
            </a:ln>
          </p:spPr>
        </p:sp>
      </p:grpSp>
      <p:sp>
        <p:nvSpPr>
          <p:cNvPr name="TextBox 22" id="22"/>
          <p:cNvSpPr txBox="true"/>
          <p:nvPr/>
        </p:nvSpPr>
        <p:spPr>
          <a:xfrm rot="0">
            <a:off x="1131541" y="5394569"/>
            <a:ext cx="76581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SKILLS DEVELOPED</a:t>
            </a:r>
          </a:p>
        </p:txBody>
      </p:sp>
      <p:sp>
        <p:nvSpPr>
          <p:cNvPr name="TextBox 23" id="23"/>
          <p:cNvSpPr txBox="true"/>
          <p:nvPr/>
        </p:nvSpPr>
        <p:spPr>
          <a:xfrm rot="0">
            <a:off x="1131541" y="5704656"/>
            <a:ext cx="7658100" cy="295275"/>
          </a:xfrm>
          <a:prstGeom prst="rect">
            <a:avLst/>
          </a:prstGeom>
        </p:spPr>
        <p:txBody>
          <a:bodyPr anchor="t" rtlCol="false" tIns="0" lIns="0" bIns="0" rIns="0">
            <a:spAutoFit/>
          </a:bodyPr>
          <a:lstStyle/>
          <a:p>
            <a:pPr algn="l">
              <a:lnSpc>
                <a:spcPts val="2080"/>
              </a:lnSpc>
            </a:pPr>
            <a:r>
              <a:rPr lang="en-US" sz="1520">
                <a:solidFill>
                  <a:srgbClr val="595959"/>
                </a:solidFill>
                <a:latin typeface="Inter"/>
                <a:ea typeface="Inter"/>
                <a:cs typeface="Inter"/>
                <a:sym typeface="Inter"/>
              </a:rPr>
              <a:t>[List entrepreneurship, design, technical, and teamwork skills gained.]</a:t>
            </a:r>
          </a:p>
        </p:txBody>
      </p:sp>
      <p:grpSp>
        <p:nvGrpSpPr>
          <p:cNvPr name="Group 24" id="24"/>
          <p:cNvGrpSpPr/>
          <p:nvPr/>
        </p:nvGrpSpPr>
        <p:grpSpPr>
          <a:xfrm rot="0">
            <a:off x="9279207" y="2674963"/>
            <a:ext cx="8096250" cy="4257675"/>
            <a:chOff x="0" y="0"/>
            <a:chExt cx="10795000" cy="5676900"/>
          </a:xfrm>
        </p:grpSpPr>
        <p:sp>
          <p:nvSpPr>
            <p:cNvPr name="Freeform 25" id="25"/>
            <p:cNvSpPr/>
            <p:nvPr/>
          </p:nvSpPr>
          <p:spPr>
            <a:xfrm flipH="false" flipV="false" rot="0">
              <a:off x="0" y="0"/>
              <a:ext cx="10795000" cy="5676900"/>
            </a:xfrm>
            <a:custGeom>
              <a:avLst/>
              <a:gdLst/>
              <a:ahLst/>
              <a:cxnLst/>
              <a:rect r="r" b="b" t="t" l="l"/>
              <a:pathLst>
                <a:path h="5676900" w="10795000">
                  <a:moveTo>
                    <a:pt x="0" y="146304"/>
                  </a:moveTo>
                  <a:cubicBezTo>
                    <a:pt x="0" y="65532"/>
                    <a:pt x="65532" y="0"/>
                    <a:pt x="146304" y="0"/>
                  </a:cubicBezTo>
                  <a:lnTo>
                    <a:pt x="10648696" y="0"/>
                  </a:lnTo>
                  <a:cubicBezTo>
                    <a:pt x="10729468" y="0"/>
                    <a:pt x="10795000" y="65532"/>
                    <a:pt x="10795000" y="146304"/>
                  </a:cubicBezTo>
                  <a:lnTo>
                    <a:pt x="10795000" y="5530596"/>
                  </a:lnTo>
                  <a:cubicBezTo>
                    <a:pt x="10795000" y="5611368"/>
                    <a:pt x="10729468" y="5676900"/>
                    <a:pt x="10648696" y="5676900"/>
                  </a:cubicBezTo>
                  <a:lnTo>
                    <a:pt x="146304" y="5676900"/>
                  </a:lnTo>
                  <a:cubicBezTo>
                    <a:pt x="65532" y="5676900"/>
                    <a:pt x="0" y="5611368"/>
                    <a:pt x="0" y="5530596"/>
                  </a:cubicBezTo>
                  <a:close/>
                </a:path>
              </a:pathLst>
            </a:custGeom>
            <a:solidFill>
              <a:srgbClr val="31CE76">
                <a:alpha val="784"/>
              </a:srgbClr>
            </a:solidFill>
          </p:spPr>
        </p:sp>
      </p:grpSp>
      <p:sp>
        <p:nvSpPr>
          <p:cNvPr name="TextBox 26" id="26"/>
          <p:cNvSpPr txBox="true"/>
          <p:nvPr/>
        </p:nvSpPr>
        <p:spPr>
          <a:xfrm rot="0">
            <a:off x="9555432" y="2833535"/>
            <a:ext cx="7610475" cy="800100"/>
          </a:xfrm>
          <a:prstGeom prst="rect">
            <a:avLst/>
          </a:prstGeom>
        </p:spPr>
        <p:txBody>
          <a:bodyPr anchor="t" rtlCol="false" tIns="0" lIns="0" bIns="0" rIns="0">
            <a:spAutoFit/>
          </a:bodyPr>
          <a:lstStyle/>
          <a:p>
            <a:pPr algn="l">
              <a:lnSpc>
                <a:spcPts val="2970"/>
              </a:lnSpc>
            </a:pPr>
            <a:r>
              <a:rPr lang="en-US" sz="2160">
                <a:solidFill>
                  <a:srgbClr val="1A1A2E"/>
                </a:solidFill>
                <a:latin typeface="Arimo"/>
                <a:ea typeface="Arimo"/>
                <a:cs typeface="Arimo"/>
                <a:sym typeface="Arimo"/>
              </a:rPr>
              <a:t>"[Insert a short reflection quote from a team member here.]"</a:t>
            </a:r>
          </a:p>
        </p:txBody>
      </p:sp>
      <p:sp>
        <p:nvSpPr>
          <p:cNvPr name="TextBox 27" id="27"/>
          <p:cNvSpPr txBox="true"/>
          <p:nvPr/>
        </p:nvSpPr>
        <p:spPr>
          <a:xfrm rot="0">
            <a:off x="9555432" y="3750250"/>
            <a:ext cx="7610475" cy="285750"/>
          </a:xfrm>
          <a:prstGeom prst="rect">
            <a:avLst/>
          </a:prstGeom>
        </p:spPr>
        <p:txBody>
          <a:bodyPr anchor="t" rtlCol="false" tIns="0" lIns="0" bIns="0" rIns="0">
            <a:spAutoFit/>
          </a:bodyPr>
          <a:lstStyle/>
          <a:p>
            <a:pPr algn="l">
              <a:lnSpc>
                <a:spcPts val="1944"/>
              </a:lnSpc>
            </a:pPr>
            <a:r>
              <a:rPr lang="en-US" sz="1300">
                <a:solidFill>
                  <a:srgbClr val="6B7280"/>
                </a:solidFill>
                <a:latin typeface="Inter"/>
                <a:ea typeface="Inter"/>
                <a:cs typeface="Inter"/>
                <a:sym typeface="Inter"/>
              </a:rPr>
              <a:t>— [Team member, role]</a:t>
            </a:r>
          </a:p>
        </p:txBody>
      </p:sp>
      <p:grpSp>
        <p:nvGrpSpPr>
          <p:cNvPr name="Group 28" id="28"/>
          <p:cNvGrpSpPr/>
          <p:nvPr/>
        </p:nvGrpSpPr>
        <p:grpSpPr>
          <a:xfrm rot="0">
            <a:off x="9279207" y="7084962"/>
            <a:ext cx="8096250" cy="1238250"/>
            <a:chOff x="0" y="0"/>
            <a:chExt cx="10795000" cy="1651000"/>
          </a:xfrm>
        </p:grpSpPr>
        <p:sp>
          <p:nvSpPr>
            <p:cNvPr name="Freeform 29" id="29"/>
            <p:cNvSpPr/>
            <p:nvPr/>
          </p:nvSpPr>
          <p:spPr>
            <a:xfrm flipH="false" flipV="false" rot="0">
              <a:off x="0" y="0"/>
              <a:ext cx="10795000" cy="1651000"/>
            </a:xfrm>
            <a:custGeom>
              <a:avLst/>
              <a:gdLst/>
              <a:ahLst/>
              <a:cxnLst/>
              <a:rect r="r" b="b" t="t" l="l"/>
              <a:pathLst>
                <a:path h="1651000" w="10795000">
                  <a:moveTo>
                    <a:pt x="0" y="195072"/>
                  </a:moveTo>
                  <a:cubicBezTo>
                    <a:pt x="0" y="87376"/>
                    <a:pt x="87376" y="0"/>
                    <a:pt x="195072" y="0"/>
                  </a:cubicBezTo>
                  <a:lnTo>
                    <a:pt x="10599928" y="0"/>
                  </a:lnTo>
                  <a:cubicBezTo>
                    <a:pt x="10707624" y="0"/>
                    <a:pt x="10795000" y="87376"/>
                    <a:pt x="10795000" y="195072"/>
                  </a:cubicBezTo>
                  <a:lnTo>
                    <a:pt x="10795000" y="1455928"/>
                  </a:lnTo>
                  <a:cubicBezTo>
                    <a:pt x="10795000" y="1563624"/>
                    <a:pt x="10707624" y="1651000"/>
                    <a:pt x="10599928" y="1651000"/>
                  </a:cubicBezTo>
                  <a:lnTo>
                    <a:pt x="195072" y="1651000"/>
                  </a:lnTo>
                  <a:cubicBezTo>
                    <a:pt x="87376" y="1651000"/>
                    <a:pt x="0" y="1563624"/>
                    <a:pt x="0" y="1455928"/>
                  </a:cubicBezTo>
                  <a:close/>
                </a:path>
              </a:pathLst>
            </a:custGeom>
            <a:solidFill>
              <a:srgbClr val="ECFAF2"/>
            </a:solidFill>
          </p:spPr>
        </p:sp>
      </p:grpSp>
      <p:sp>
        <p:nvSpPr>
          <p:cNvPr name="TextBox 30" id="30"/>
          <p:cNvSpPr txBox="true"/>
          <p:nvPr/>
        </p:nvSpPr>
        <p:spPr>
          <a:xfrm rot="0">
            <a:off x="9488757" y="7247487"/>
            <a:ext cx="767715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WHAT WE WOULD DO DIFFERENTLY</a:t>
            </a:r>
          </a:p>
        </p:txBody>
      </p:sp>
      <p:sp>
        <p:nvSpPr>
          <p:cNvPr name="TextBox 31" id="31"/>
          <p:cNvSpPr txBox="true"/>
          <p:nvPr/>
        </p:nvSpPr>
        <p:spPr>
          <a:xfrm rot="0">
            <a:off x="9488757" y="7560916"/>
            <a:ext cx="7677150" cy="552450"/>
          </a:xfrm>
          <a:prstGeom prst="rect">
            <a:avLst/>
          </a:prstGeom>
        </p:spPr>
        <p:txBody>
          <a:bodyPr anchor="t" rtlCol="false" tIns="0" lIns="0" bIns="0" rIns="0">
            <a:spAutoFit/>
          </a:bodyPr>
          <a:lstStyle/>
          <a:p>
            <a:pPr algn="l">
              <a:lnSpc>
                <a:spcPts val="2080"/>
              </a:lnSpc>
            </a:pPr>
            <a:r>
              <a:rPr lang="en-US" sz="1520">
                <a:solidFill>
                  <a:srgbClr val="FFFFFF"/>
                </a:solidFill>
                <a:latin typeface="Inter"/>
                <a:ea typeface="Inter"/>
                <a:cs typeface="Inter"/>
                <a:sym typeface="Inter"/>
              </a:rPr>
              <a:t>[Describe what the team would change if they could start over — process, scope, partnerships, or focus.]</a:t>
            </a:r>
          </a:p>
        </p:txBody>
      </p:sp>
      <p:grpSp>
        <p:nvGrpSpPr>
          <p:cNvPr name="Group 32" id="32"/>
          <p:cNvGrpSpPr/>
          <p:nvPr/>
        </p:nvGrpSpPr>
        <p:grpSpPr>
          <a:xfrm rot="0">
            <a:off x="9274445" y="8469582"/>
            <a:ext cx="8105775" cy="1000125"/>
            <a:chOff x="0" y="0"/>
            <a:chExt cx="10807700" cy="1333500"/>
          </a:xfrm>
        </p:grpSpPr>
        <p:sp>
          <p:nvSpPr>
            <p:cNvPr name="Freeform 33" id="33"/>
            <p:cNvSpPr/>
            <p:nvPr/>
          </p:nvSpPr>
          <p:spPr>
            <a:xfrm flipH="false" flipV="false" rot="0">
              <a:off x="0" y="0"/>
              <a:ext cx="10807700" cy="1333500"/>
            </a:xfrm>
            <a:custGeom>
              <a:avLst/>
              <a:gdLst/>
              <a:ahLst/>
              <a:cxnLst/>
              <a:rect r="r" b="b" t="t" l="l"/>
              <a:pathLst>
                <a:path h="1333500" w="10807700">
                  <a:moveTo>
                    <a:pt x="0" y="196977"/>
                  </a:moveTo>
                  <a:cubicBezTo>
                    <a:pt x="0" y="88138"/>
                    <a:pt x="88138" y="0"/>
                    <a:pt x="196977" y="0"/>
                  </a:cubicBezTo>
                  <a:lnTo>
                    <a:pt x="10610723" y="0"/>
                  </a:lnTo>
                  <a:cubicBezTo>
                    <a:pt x="10719562" y="0"/>
                    <a:pt x="10807700" y="88138"/>
                    <a:pt x="10807700" y="196977"/>
                  </a:cubicBezTo>
                  <a:lnTo>
                    <a:pt x="10807700" y="1136523"/>
                  </a:lnTo>
                  <a:cubicBezTo>
                    <a:pt x="10807700" y="1245235"/>
                    <a:pt x="10719562" y="1333500"/>
                    <a:pt x="10610723" y="1333500"/>
                  </a:cubicBezTo>
                  <a:lnTo>
                    <a:pt x="196977" y="1333500"/>
                  </a:lnTo>
                  <a:cubicBezTo>
                    <a:pt x="88138" y="1333500"/>
                    <a:pt x="0" y="1245362"/>
                    <a:pt x="0" y="1136523"/>
                  </a:cubicBezTo>
                  <a:close/>
                </a:path>
              </a:pathLst>
            </a:custGeom>
            <a:solidFill>
              <a:srgbClr val="FFFFFF"/>
            </a:solidFill>
            <a:ln w="9526" cap="sq">
              <a:solidFill>
                <a:srgbClr val="E5E7EB"/>
              </a:solidFill>
              <a:prstDash val="solid"/>
              <a:miter/>
            </a:ln>
          </p:spPr>
        </p:sp>
      </p:grpSp>
      <p:sp>
        <p:nvSpPr>
          <p:cNvPr name="TextBox 34" id="34"/>
          <p:cNvSpPr txBox="true"/>
          <p:nvPr/>
        </p:nvSpPr>
        <p:spPr>
          <a:xfrm rot="0">
            <a:off x="9498282" y="8644976"/>
            <a:ext cx="7658100"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ACKNOWLEDGEMENTS</a:t>
            </a:r>
          </a:p>
        </p:txBody>
      </p:sp>
      <p:sp>
        <p:nvSpPr>
          <p:cNvPr name="TextBox 35" id="35"/>
          <p:cNvSpPr txBox="true"/>
          <p:nvPr/>
        </p:nvSpPr>
        <p:spPr>
          <a:xfrm rot="0">
            <a:off x="9498282" y="8955062"/>
            <a:ext cx="7658100" cy="295275"/>
          </a:xfrm>
          <a:prstGeom prst="rect">
            <a:avLst/>
          </a:prstGeom>
        </p:spPr>
        <p:txBody>
          <a:bodyPr anchor="t" rtlCol="false" tIns="0" lIns="0" bIns="0" rIns="0">
            <a:spAutoFit/>
          </a:bodyPr>
          <a:lstStyle/>
          <a:p>
            <a:pPr algn="l">
              <a:lnSpc>
                <a:spcPts val="2080"/>
              </a:lnSpc>
            </a:pPr>
            <a:r>
              <a:rPr lang="en-US" sz="1520">
                <a:solidFill>
                  <a:srgbClr val="595959"/>
                </a:solidFill>
                <a:latin typeface="Inter"/>
                <a:ea typeface="Inter"/>
                <a:cs typeface="Inter"/>
                <a:sym typeface="Inter"/>
              </a:rPr>
              <a:t>[Thank mentors, advisors, family, and the INJAZ / JA program for support.]</a:t>
            </a:r>
          </a:p>
        </p:txBody>
      </p:sp>
      <p:grpSp>
        <p:nvGrpSpPr>
          <p:cNvPr name="Group 36" id="36"/>
          <p:cNvGrpSpPr/>
          <p:nvPr/>
        </p:nvGrpSpPr>
        <p:grpSpPr>
          <a:xfrm rot="0">
            <a:off x="914400" y="9703222"/>
            <a:ext cx="16459200" cy="276225"/>
            <a:chOff x="0" y="0"/>
            <a:chExt cx="21945600" cy="368300"/>
          </a:xfrm>
        </p:grpSpPr>
        <p:sp>
          <p:nvSpPr>
            <p:cNvPr name="Freeform 37" id="37"/>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38" id="38"/>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39" id="39"/>
          <p:cNvGrpSpPr/>
          <p:nvPr/>
        </p:nvGrpSpPr>
        <p:grpSpPr>
          <a:xfrm rot="0">
            <a:off x="0" y="10247414"/>
            <a:ext cx="18288000" cy="38100"/>
            <a:chOff x="0" y="0"/>
            <a:chExt cx="24384000" cy="50800"/>
          </a:xfrm>
        </p:grpSpPr>
        <p:sp>
          <p:nvSpPr>
            <p:cNvPr name="Freeform 40" id="40"/>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
        <p:nvSpPr>
          <p:cNvPr name="Freeform 41" id="41" descr="preencoded.png"/>
          <p:cNvSpPr/>
          <p:nvPr/>
        </p:nvSpPr>
        <p:spPr>
          <a:xfrm flipH="false" flipV="false" rot="0">
            <a:off x="9279207" y="2674963"/>
            <a:ext cx="8096250" cy="4257675"/>
          </a:xfrm>
          <a:custGeom>
            <a:avLst/>
            <a:gdLst/>
            <a:ahLst/>
            <a:cxnLst/>
            <a:rect r="r" b="b" t="t" l="l"/>
            <a:pathLst>
              <a:path h="4257675" w="8096250">
                <a:moveTo>
                  <a:pt x="0" y="0"/>
                </a:moveTo>
                <a:lnTo>
                  <a:pt x="8096250" y="0"/>
                </a:lnTo>
                <a:lnTo>
                  <a:pt x="8096250" y="4257675"/>
                </a:lnTo>
                <a:lnTo>
                  <a:pt x="0" y="4257675"/>
                </a:lnTo>
                <a:lnTo>
                  <a:pt x="0" y="0"/>
                </a:lnTo>
                <a:close/>
              </a:path>
            </a:pathLst>
          </a:custGeom>
          <a:blipFill>
            <a:blip r:embed="rId4">
              <a:extLst>
                <a:ext uri="{96DAC541-7B7A-43D3-8B79-37D633B846F1}">
                  <asvg:svgBlip xmlns:asvg="http://schemas.microsoft.com/office/drawing/2016/SVG/main" r:embed="rId5"/>
                </a:ext>
              </a:extLst>
            </a:blip>
            <a:stretch>
              <a:fillRect l="0" t="-53" r="0" b="-53"/>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852003"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7438" y="352501"/>
            <a:ext cx="259080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27 · APPENDICES</a:t>
            </a:r>
          </a:p>
        </p:txBody>
      </p:sp>
      <p:sp>
        <p:nvSpPr>
          <p:cNvPr name="TextBox 8" id="8"/>
          <p:cNvSpPr txBox="true"/>
          <p:nvPr/>
        </p:nvSpPr>
        <p:spPr>
          <a:xfrm rot="0">
            <a:off x="16791461" y="352501"/>
            <a:ext cx="581025"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29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Appendices and Evidence</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grpSp>
        <p:nvGrpSpPr>
          <p:cNvPr name="Group 12" id="12"/>
          <p:cNvGrpSpPr/>
          <p:nvPr/>
        </p:nvGrpSpPr>
        <p:grpSpPr>
          <a:xfrm rot="0">
            <a:off x="911495" y="2669829"/>
            <a:ext cx="3914775" cy="3267075"/>
            <a:chOff x="0" y="0"/>
            <a:chExt cx="5219700" cy="4356100"/>
          </a:xfrm>
        </p:grpSpPr>
        <p:sp>
          <p:nvSpPr>
            <p:cNvPr name="Freeform 13" id="13"/>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14" id="14"/>
          <p:cNvSpPr txBox="true"/>
          <p:nvPr/>
        </p:nvSpPr>
        <p:spPr>
          <a:xfrm rot="0">
            <a:off x="1130570" y="2851842"/>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A</a:t>
            </a:r>
          </a:p>
        </p:txBody>
      </p:sp>
      <p:sp>
        <p:nvSpPr>
          <p:cNvPr name="TextBox 15" id="15"/>
          <p:cNvSpPr txBox="true"/>
          <p:nvPr/>
        </p:nvSpPr>
        <p:spPr>
          <a:xfrm rot="0">
            <a:off x="1130570" y="3194895"/>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Survey results</a:t>
            </a:r>
          </a:p>
        </p:txBody>
      </p:sp>
      <p:grpSp>
        <p:nvGrpSpPr>
          <p:cNvPr name="Group 16" id="16"/>
          <p:cNvGrpSpPr/>
          <p:nvPr/>
        </p:nvGrpSpPr>
        <p:grpSpPr>
          <a:xfrm rot="0">
            <a:off x="1121045" y="3555797"/>
            <a:ext cx="3495675" cy="2171700"/>
            <a:chOff x="0" y="0"/>
            <a:chExt cx="4660900" cy="2895600"/>
          </a:xfrm>
        </p:grpSpPr>
        <p:sp>
          <p:nvSpPr>
            <p:cNvPr name="Freeform 17" id="17"/>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18" id="18"/>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survey screenshots]</a:t>
              </a:r>
            </a:p>
          </p:txBody>
        </p:sp>
      </p:grpSp>
      <p:grpSp>
        <p:nvGrpSpPr>
          <p:cNvPr name="Group 19" id="19"/>
          <p:cNvGrpSpPr/>
          <p:nvPr/>
        </p:nvGrpSpPr>
        <p:grpSpPr>
          <a:xfrm rot="0">
            <a:off x="5094837" y="2669829"/>
            <a:ext cx="3914775" cy="3267075"/>
            <a:chOff x="0" y="0"/>
            <a:chExt cx="5219700" cy="4356100"/>
          </a:xfrm>
        </p:grpSpPr>
        <p:sp>
          <p:nvSpPr>
            <p:cNvPr name="Freeform 20" id="20"/>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21" id="21"/>
          <p:cNvSpPr txBox="true"/>
          <p:nvPr/>
        </p:nvSpPr>
        <p:spPr>
          <a:xfrm rot="0">
            <a:off x="5313912" y="2851842"/>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B</a:t>
            </a:r>
          </a:p>
        </p:txBody>
      </p:sp>
      <p:sp>
        <p:nvSpPr>
          <p:cNvPr name="TextBox 22" id="22"/>
          <p:cNvSpPr txBox="true"/>
          <p:nvPr/>
        </p:nvSpPr>
        <p:spPr>
          <a:xfrm rot="0">
            <a:off x="5313912" y="3194895"/>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User interviews</a:t>
            </a:r>
          </a:p>
        </p:txBody>
      </p:sp>
      <p:grpSp>
        <p:nvGrpSpPr>
          <p:cNvPr name="Group 23" id="23"/>
          <p:cNvGrpSpPr/>
          <p:nvPr/>
        </p:nvGrpSpPr>
        <p:grpSpPr>
          <a:xfrm rot="0">
            <a:off x="5304387" y="3555797"/>
            <a:ext cx="3495675" cy="2171700"/>
            <a:chOff x="0" y="0"/>
            <a:chExt cx="4660900" cy="2895600"/>
          </a:xfrm>
        </p:grpSpPr>
        <p:sp>
          <p:nvSpPr>
            <p:cNvPr name="Freeform 24" id="24"/>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25" id="25"/>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interview notes]</a:t>
              </a:r>
            </a:p>
          </p:txBody>
        </p:sp>
      </p:grpSp>
      <p:grpSp>
        <p:nvGrpSpPr>
          <p:cNvPr name="Group 26" id="26"/>
          <p:cNvGrpSpPr/>
          <p:nvPr/>
        </p:nvGrpSpPr>
        <p:grpSpPr>
          <a:xfrm rot="0">
            <a:off x="9278245" y="2669829"/>
            <a:ext cx="3914775" cy="3267075"/>
            <a:chOff x="0" y="0"/>
            <a:chExt cx="5219700" cy="4356100"/>
          </a:xfrm>
        </p:grpSpPr>
        <p:sp>
          <p:nvSpPr>
            <p:cNvPr name="Freeform 27" id="27"/>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28" id="28"/>
          <p:cNvSpPr txBox="true"/>
          <p:nvPr/>
        </p:nvSpPr>
        <p:spPr>
          <a:xfrm rot="0">
            <a:off x="9497320" y="2851842"/>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C</a:t>
            </a:r>
          </a:p>
        </p:txBody>
      </p:sp>
      <p:sp>
        <p:nvSpPr>
          <p:cNvPr name="TextBox 29" id="29"/>
          <p:cNvSpPr txBox="true"/>
          <p:nvPr/>
        </p:nvSpPr>
        <p:spPr>
          <a:xfrm rot="0">
            <a:off x="9497320" y="3194895"/>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Wireframes</a:t>
            </a:r>
          </a:p>
        </p:txBody>
      </p:sp>
      <p:grpSp>
        <p:nvGrpSpPr>
          <p:cNvPr name="Group 30" id="30"/>
          <p:cNvGrpSpPr/>
          <p:nvPr/>
        </p:nvGrpSpPr>
        <p:grpSpPr>
          <a:xfrm rot="0">
            <a:off x="9487795" y="3555797"/>
            <a:ext cx="3495675" cy="2171700"/>
            <a:chOff x="0" y="0"/>
            <a:chExt cx="4660900" cy="2895600"/>
          </a:xfrm>
        </p:grpSpPr>
        <p:sp>
          <p:nvSpPr>
            <p:cNvPr name="Freeform 31" id="31"/>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32" id="32"/>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wireframe images]</a:t>
              </a:r>
            </a:p>
          </p:txBody>
        </p:sp>
      </p:grpSp>
      <p:grpSp>
        <p:nvGrpSpPr>
          <p:cNvPr name="Group 33" id="33"/>
          <p:cNvGrpSpPr/>
          <p:nvPr/>
        </p:nvGrpSpPr>
        <p:grpSpPr>
          <a:xfrm rot="0">
            <a:off x="13461654" y="2669829"/>
            <a:ext cx="3914775" cy="3267075"/>
            <a:chOff x="0" y="0"/>
            <a:chExt cx="5219700" cy="4356100"/>
          </a:xfrm>
        </p:grpSpPr>
        <p:sp>
          <p:nvSpPr>
            <p:cNvPr name="Freeform 34" id="34"/>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35" id="35"/>
          <p:cNvSpPr txBox="true"/>
          <p:nvPr/>
        </p:nvSpPr>
        <p:spPr>
          <a:xfrm rot="0">
            <a:off x="13680729" y="2851842"/>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D</a:t>
            </a:r>
          </a:p>
        </p:txBody>
      </p:sp>
      <p:sp>
        <p:nvSpPr>
          <p:cNvPr name="TextBox 36" id="36"/>
          <p:cNvSpPr txBox="true"/>
          <p:nvPr/>
        </p:nvSpPr>
        <p:spPr>
          <a:xfrm rot="0">
            <a:off x="13680729" y="3194895"/>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Brand assets</a:t>
            </a:r>
          </a:p>
        </p:txBody>
      </p:sp>
      <p:grpSp>
        <p:nvGrpSpPr>
          <p:cNvPr name="Group 37" id="37"/>
          <p:cNvGrpSpPr/>
          <p:nvPr/>
        </p:nvGrpSpPr>
        <p:grpSpPr>
          <a:xfrm rot="0">
            <a:off x="13671204" y="3555797"/>
            <a:ext cx="3495675" cy="2171700"/>
            <a:chOff x="0" y="0"/>
            <a:chExt cx="4660900" cy="2895600"/>
          </a:xfrm>
        </p:grpSpPr>
        <p:sp>
          <p:nvSpPr>
            <p:cNvPr name="Freeform 38" id="38"/>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39" id="39"/>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logo and palette]</a:t>
              </a:r>
            </a:p>
          </p:txBody>
        </p:sp>
      </p:grpSp>
      <p:grpSp>
        <p:nvGrpSpPr>
          <p:cNvPr name="Group 40" id="40"/>
          <p:cNvGrpSpPr/>
          <p:nvPr/>
        </p:nvGrpSpPr>
        <p:grpSpPr>
          <a:xfrm rot="0">
            <a:off x="911495" y="6201737"/>
            <a:ext cx="3914775" cy="3267075"/>
            <a:chOff x="0" y="0"/>
            <a:chExt cx="5219700" cy="4356100"/>
          </a:xfrm>
        </p:grpSpPr>
        <p:sp>
          <p:nvSpPr>
            <p:cNvPr name="Freeform 41" id="41"/>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42" id="42"/>
          <p:cNvSpPr txBox="true"/>
          <p:nvPr/>
        </p:nvSpPr>
        <p:spPr>
          <a:xfrm rot="0">
            <a:off x="1130570" y="6383684"/>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E</a:t>
            </a:r>
          </a:p>
        </p:txBody>
      </p:sp>
      <p:sp>
        <p:nvSpPr>
          <p:cNvPr name="TextBox 43" id="43"/>
          <p:cNvSpPr txBox="true"/>
          <p:nvPr/>
        </p:nvSpPr>
        <p:spPr>
          <a:xfrm rot="0">
            <a:off x="1130570" y="6726736"/>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Financial model</a:t>
            </a:r>
          </a:p>
        </p:txBody>
      </p:sp>
      <p:grpSp>
        <p:nvGrpSpPr>
          <p:cNvPr name="Group 44" id="44"/>
          <p:cNvGrpSpPr/>
          <p:nvPr/>
        </p:nvGrpSpPr>
        <p:grpSpPr>
          <a:xfrm rot="0">
            <a:off x="1121045" y="7087714"/>
            <a:ext cx="3495675" cy="2171700"/>
            <a:chOff x="0" y="0"/>
            <a:chExt cx="4660900" cy="2895600"/>
          </a:xfrm>
        </p:grpSpPr>
        <p:sp>
          <p:nvSpPr>
            <p:cNvPr name="Freeform 45" id="45"/>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46" id="46"/>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spreadsheet snapshot]</a:t>
              </a:r>
            </a:p>
          </p:txBody>
        </p:sp>
      </p:grpSp>
      <p:grpSp>
        <p:nvGrpSpPr>
          <p:cNvPr name="Group 47" id="47"/>
          <p:cNvGrpSpPr/>
          <p:nvPr/>
        </p:nvGrpSpPr>
        <p:grpSpPr>
          <a:xfrm rot="0">
            <a:off x="5094837" y="6201737"/>
            <a:ext cx="3914775" cy="3267075"/>
            <a:chOff x="0" y="0"/>
            <a:chExt cx="5219700" cy="4356100"/>
          </a:xfrm>
        </p:grpSpPr>
        <p:sp>
          <p:nvSpPr>
            <p:cNvPr name="Freeform 48" id="48"/>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49" id="49"/>
          <p:cNvSpPr txBox="true"/>
          <p:nvPr/>
        </p:nvSpPr>
        <p:spPr>
          <a:xfrm rot="0">
            <a:off x="5313912" y="6383684"/>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F</a:t>
            </a:r>
          </a:p>
        </p:txBody>
      </p:sp>
      <p:sp>
        <p:nvSpPr>
          <p:cNvPr name="TextBox 50" id="50"/>
          <p:cNvSpPr txBox="true"/>
          <p:nvPr/>
        </p:nvSpPr>
        <p:spPr>
          <a:xfrm rot="0">
            <a:off x="5313912" y="6726736"/>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Pitch deck</a:t>
            </a:r>
          </a:p>
        </p:txBody>
      </p:sp>
      <p:grpSp>
        <p:nvGrpSpPr>
          <p:cNvPr name="Group 51" id="51"/>
          <p:cNvGrpSpPr/>
          <p:nvPr/>
        </p:nvGrpSpPr>
        <p:grpSpPr>
          <a:xfrm rot="0">
            <a:off x="5304387" y="7087714"/>
            <a:ext cx="3495675" cy="2171700"/>
            <a:chOff x="0" y="0"/>
            <a:chExt cx="4660900" cy="2895600"/>
          </a:xfrm>
        </p:grpSpPr>
        <p:sp>
          <p:nvSpPr>
            <p:cNvPr name="Freeform 52" id="52"/>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53" id="53"/>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deck cover]</a:t>
              </a:r>
            </a:p>
          </p:txBody>
        </p:sp>
      </p:grpSp>
      <p:grpSp>
        <p:nvGrpSpPr>
          <p:cNvPr name="Group 54" id="54"/>
          <p:cNvGrpSpPr/>
          <p:nvPr/>
        </p:nvGrpSpPr>
        <p:grpSpPr>
          <a:xfrm rot="0">
            <a:off x="9278245" y="6201737"/>
            <a:ext cx="3914775" cy="3267075"/>
            <a:chOff x="0" y="0"/>
            <a:chExt cx="5219700" cy="4356100"/>
          </a:xfrm>
        </p:grpSpPr>
        <p:sp>
          <p:nvSpPr>
            <p:cNvPr name="Freeform 55" id="55"/>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FFFFFF"/>
            </a:solidFill>
            <a:ln w="9526" cap="sq">
              <a:solidFill>
                <a:srgbClr val="E5E7EB"/>
              </a:solidFill>
              <a:prstDash val="solid"/>
              <a:miter/>
            </a:ln>
          </p:spPr>
        </p:sp>
      </p:grpSp>
      <p:sp>
        <p:nvSpPr>
          <p:cNvPr name="TextBox 56" id="56"/>
          <p:cNvSpPr txBox="true"/>
          <p:nvPr/>
        </p:nvSpPr>
        <p:spPr>
          <a:xfrm rot="0">
            <a:off x="9497320" y="6383684"/>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G</a:t>
            </a:r>
          </a:p>
        </p:txBody>
      </p:sp>
      <p:sp>
        <p:nvSpPr>
          <p:cNvPr name="TextBox 57" id="57"/>
          <p:cNvSpPr txBox="true"/>
          <p:nvPr/>
        </p:nvSpPr>
        <p:spPr>
          <a:xfrm rot="0">
            <a:off x="9497320" y="6726736"/>
            <a:ext cx="3476625" cy="266700"/>
          </a:xfrm>
          <a:prstGeom prst="rect">
            <a:avLst/>
          </a:prstGeom>
        </p:spPr>
        <p:txBody>
          <a:bodyPr anchor="t" rtlCol="false" tIns="0" lIns="0" bIns="0" rIns="0">
            <a:spAutoFit/>
          </a:bodyPr>
          <a:lstStyle/>
          <a:p>
            <a:pPr algn="l">
              <a:lnSpc>
                <a:spcPts val="1980"/>
              </a:lnSpc>
            </a:pPr>
            <a:r>
              <a:rPr lang="en-US" sz="1580" b="true">
                <a:solidFill>
                  <a:srgbClr val="1A1A2E"/>
                </a:solidFill>
                <a:latin typeface="Arimo Bold"/>
                <a:ea typeface="Arimo Bold"/>
                <a:cs typeface="Arimo Bold"/>
                <a:sym typeface="Arimo Bold"/>
              </a:rPr>
              <a:t>Mentor feedback</a:t>
            </a:r>
          </a:p>
        </p:txBody>
      </p:sp>
      <p:grpSp>
        <p:nvGrpSpPr>
          <p:cNvPr name="Group 58" id="58"/>
          <p:cNvGrpSpPr/>
          <p:nvPr/>
        </p:nvGrpSpPr>
        <p:grpSpPr>
          <a:xfrm rot="0">
            <a:off x="9487795" y="7087714"/>
            <a:ext cx="3495675" cy="2171700"/>
            <a:chOff x="0" y="0"/>
            <a:chExt cx="4660900" cy="2895600"/>
          </a:xfrm>
        </p:grpSpPr>
        <p:sp>
          <p:nvSpPr>
            <p:cNvPr name="Freeform 59" id="59"/>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E5E7EB"/>
              </a:solidFill>
              <a:prstDash val="dash"/>
              <a:miter/>
            </a:ln>
          </p:spPr>
        </p:sp>
        <p:sp>
          <p:nvSpPr>
            <p:cNvPr name="TextBox 60" id="60"/>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595959"/>
                  </a:solidFill>
                  <a:latin typeface="Inter"/>
                  <a:ea typeface="Inter"/>
                  <a:cs typeface="Inter"/>
                  <a:sym typeface="Inter"/>
                </a:rPr>
                <a:t>[Add mentor notes]</a:t>
              </a:r>
            </a:p>
          </p:txBody>
        </p:sp>
      </p:grpSp>
      <p:grpSp>
        <p:nvGrpSpPr>
          <p:cNvPr name="Group 61" id="61"/>
          <p:cNvGrpSpPr/>
          <p:nvPr/>
        </p:nvGrpSpPr>
        <p:grpSpPr>
          <a:xfrm rot="0">
            <a:off x="13461654" y="6201737"/>
            <a:ext cx="3914775" cy="3267075"/>
            <a:chOff x="0" y="0"/>
            <a:chExt cx="5219700" cy="4356100"/>
          </a:xfrm>
        </p:grpSpPr>
        <p:sp>
          <p:nvSpPr>
            <p:cNvPr name="Freeform 62" id="62"/>
            <p:cNvSpPr/>
            <p:nvPr/>
          </p:nvSpPr>
          <p:spPr>
            <a:xfrm flipH="false" flipV="false" rot="0">
              <a:off x="0" y="0"/>
              <a:ext cx="5219700" cy="4356100"/>
            </a:xfrm>
            <a:custGeom>
              <a:avLst/>
              <a:gdLst/>
              <a:ahLst/>
              <a:cxnLst/>
              <a:rect r="r" b="b" t="t" l="l"/>
              <a:pathLst>
                <a:path h="4356100" w="5219700">
                  <a:moveTo>
                    <a:pt x="0" y="195580"/>
                  </a:moveTo>
                  <a:cubicBezTo>
                    <a:pt x="0" y="87630"/>
                    <a:pt x="87630" y="0"/>
                    <a:pt x="195580" y="0"/>
                  </a:cubicBezTo>
                  <a:lnTo>
                    <a:pt x="5024120" y="0"/>
                  </a:lnTo>
                  <a:cubicBezTo>
                    <a:pt x="5132070" y="0"/>
                    <a:pt x="5219700" y="87630"/>
                    <a:pt x="5219700" y="195580"/>
                  </a:cubicBezTo>
                  <a:lnTo>
                    <a:pt x="5219700" y="4160520"/>
                  </a:lnTo>
                  <a:cubicBezTo>
                    <a:pt x="5219700" y="4268597"/>
                    <a:pt x="5132070" y="4356100"/>
                    <a:pt x="5024120" y="4356100"/>
                  </a:cubicBezTo>
                  <a:lnTo>
                    <a:pt x="195580" y="4356100"/>
                  </a:lnTo>
                  <a:cubicBezTo>
                    <a:pt x="87630" y="4356100"/>
                    <a:pt x="0" y="4268470"/>
                    <a:pt x="0" y="4160520"/>
                  </a:cubicBezTo>
                  <a:close/>
                </a:path>
              </a:pathLst>
            </a:custGeom>
            <a:solidFill>
              <a:srgbClr val="ECFAF2"/>
            </a:solidFill>
            <a:ln w="9526" cap="sq">
              <a:solidFill>
                <a:srgbClr val="ECFAF2"/>
              </a:solidFill>
              <a:prstDash val="solid"/>
              <a:miter/>
            </a:ln>
          </p:spPr>
        </p:sp>
      </p:grpSp>
      <p:sp>
        <p:nvSpPr>
          <p:cNvPr name="TextBox 63" id="63"/>
          <p:cNvSpPr txBox="true"/>
          <p:nvPr/>
        </p:nvSpPr>
        <p:spPr>
          <a:xfrm rot="0">
            <a:off x="13680729" y="6383684"/>
            <a:ext cx="3476625" cy="257175"/>
          </a:xfrm>
          <a:prstGeom prst="rect">
            <a:avLst/>
          </a:prstGeom>
        </p:spPr>
        <p:txBody>
          <a:bodyPr anchor="t" rtlCol="false" tIns="0" lIns="0" bIns="0" rIns="0">
            <a:spAutoFit/>
          </a:bodyPr>
          <a:lstStyle/>
          <a:p>
            <a:pPr algn="l">
              <a:lnSpc>
                <a:spcPts val="1727"/>
              </a:lnSpc>
            </a:pPr>
            <a:r>
              <a:rPr lang="en-US" b="true" sz="1159" spc="57">
                <a:solidFill>
                  <a:srgbClr val="2ECC71"/>
                </a:solidFill>
                <a:latin typeface="Inter Bold"/>
                <a:ea typeface="Inter Bold"/>
                <a:cs typeface="Inter Bold"/>
                <a:sym typeface="Inter Bold"/>
              </a:rPr>
              <a:t>APPENDIX H</a:t>
            </a:r>
          </a:p>
        </p:txBody>
      </p:sp>
      <p:sp>
        <p:nvSpPr>
          <p:cNvPr name="TextBox 64" id="64"/>
          <p:cNvSpPr txBox="true"/>
          <p:nvPr/>
        </p:nvSpPr>
        <p:spPr>
          <a:xfrm rot="0">
            <a:off x="13680729" y="6726736"/>
            <a:ext cx="3476625" cy="266700"/>
          </a:xfrm>
          <a:prstGeom prst="rect">
            <a:avLst/>
          </a:prstGeom>
        </p:spPr>
        <p:txBody>
          <a:bodyPr anchor="t" rtlCol="false" tIns="0" lIns="0" bIns="0" rIns="0">
            <a:spAutoFit/>
          </a:bodyPr>
          <a:lstStyle/>
          <a:p>
            <a:pPr algn="l">
              <a:lnSpc>
                <a:spcPts val="1980"/>
              </a:lnSpc>
            </a:pPr>
            <a:r>
              <a:rPr lang="en-US" sz="1580" b="true">
                <a:solidFill>
                  <a:srgbClr val="FFFFFF"/>
                </a:solidFill>
                <a:latin typeface="Arimo Bold"/>
                <a:ea typeface="Arimo Bold"/>
                <a:cs typeface="Arimo Bold"/>
                <a:sym typeface="Arimo Bold"/>
              </a:rPr>
              <a:t>Team photos</a:t>
            </a:r>
          </a:p>
        </p:txBody>
      </p:sp>
      <p:grpSp>
        <p:nvGrpSpPr>
          <p:cNvPr name="Group 65" id="65"/>
          <p:cNvGrpSpPr/>
          <p:nvPr/>
        </p:nvGrpSpPr>
        <p:grpSpPr>
          <a:xfrm rot="0">
            <a:off x="13671204" y="7087714"/>
            <a:ext cx="3495675" cy="2171700"/>
            <a:chOff x="0" y="0"/>
            <a:chExt cx="4660900" cy="2895600"/>
          </a:xfrm>
        </p:grpSpPr>
        <p:sp>
          <p:nvSpPr>
            <p:cNvPr name="Freeform 66" id="66"/>
            <p:cNvSpPr/>
            <p:nvPr/>
          </p:nvSpPr>
          <p:spPr>
            <a:xfrm flipH="false" flipV="false" rot="0">
              <a:off x="0" y="0"/>
              <a:ext cx="4660900" cy="2895600"/>
            </a:xfrm>
            <a:custGeom>
              <a:avLst/>
              <a:gdLst/>
              <a:ahLst/>
              <a:cxnLst/>
              <a:rect r="r" b="b" t="t" l="l"/>
              <a:pathLst>
                <a:path h="2895600" w="4660900">
                  <a:moveTo>
                    <a:pt x="0" y="98425"/>
                  </a:moveTo>
                  <a:cubicBezTo>
                    <a:pt x="0" y="44069"/>
                    <a:pt x="44069" y="0"/>
                    <a:pt x="98425" y="0"/>
                  </a:cubicBezTo>
                  <a:lnTo>
                    <a:pt x="4562475" y="0"/>
                  </a:lnTo>
                  <a:cubicBezTo>
                    <a:pt x="4616831" y="0"/>
                    <a:pt x="4660900" y="44069"/>
                    <a:pt x="4660900" y="98425"/>
                  </a:cubicBezTo>
                  <a:lnTo>
                    <a:pt x="4660900" y="2797175"/>
                  </a:lnTo>
                  <a:cubicBezTo>
                    <a:pt x="4660900" y="2851531"/>
                    <a:pt x="4616831" y="2895600"/>
                    <a:pt x="4562475" y="2895600"/>
                  </a:cubicBezTo>
                  <a:lnTo>
                    <a:pt x="98425" y="2895600"/>
                  </a:lnTo>
                  <a:cubicBezTo>
                    <a:pt x="44069" y="2895600"/>
                    <a:pt x="0" y="2851531"/>
                    <a:pt x="0" y="2797175"/>
                  </a:cubicBezTo>
                  <a:close/>
                </a:path>
              </a:pathLst>
            </a:custGeom>
            <a:blipFill>
              <a:blip r:embed="rId3">
                <a:alphaModFix amt="0"/>
              </a:blip>
              <a:stretch>
                <a:fillRect l="-29709" t="0" r="-29709" b="0"/>
              </a:stretch>
            </a:blipFill>
            <a:ln w="19050" cap="sq">
              <a:solidFill>
                <a:srgbClr val="FFFFFF"/>
              </a:solidFill>
              <a:prstDash val="dash"/>
              <a:miter/>
            </a:ln>
          </p:spPr>
        </p:sp>
        <p:sp>
          <p:nvSpPr>
            <p:cNvPr name="TextBox 67" id="67"/>
            <p:cNvSpPr txBox="true"/>
            <p:nvPr/>
          </p:nvSpPr>
          <p:spPr>
            <a:xfrm>
              <a:off x="0" y="-38100"/>
              <a:ext cx="4660900" cy="2933700"/>
            </a:xfrm>
            <a:prstGeom prst="rect">
              <a:avLst/>
            </a:prstGeom>
          </p:spPr>
          <p:txBody>
            <a:bodyPr anchor="ctr" rtlCol="false" tIns="50800" lIns="50800" bIns="50800" rIns="50800"/>
            <a:lstStyle/>
            <a:p>
              <a:pPr algn="ctr">
                <a:lnSpc>
                  <a:spcPts val="1944"/>
                </a:lnSpc>
              </a:pPr>
              <a:r>
                <a:rPr lang="en-US" sz="1300">
                  <a:solidFill>
                    <a:srgbClr val="FFFFFF"/>
                  </a:solidFill>
                  <a:latin typeface="Inter"/>
                  <a:ea typeface="Inter"/>
                  <a:cs typeface="Inter"/>
                  <a:sym typeface="Inter"/>
                </a:rPr>
                <a:t>[Add team photos]</a:t>
              </a:r>
            </a:p>
          </p:txBody>
        </p:sp>
      </p:grpSp>
      <p:grpSp>
        <p:nvGrpSpPr>
          <p:cNvPr name="Group 68" id="68"/>
          <p:cNvGrpSpPr/>
          <p:nvPr/>
        </p:nvGrpSpPr>
        <p:grpSpPr>
          <a:xfrm rot="0">
            <a:off x="914400" y="9703222"/>
            <a:ext cx="16459200" cy="276225"/>
            <a:chOff x="0" y="0"/>
            <a:chExt cx="21945600" cy="368300"/>
          </a:xfrm>
        </p:grpSpPr>
        <p:sp>
          <p:nvSpPr>
            <p:cNvPr name="Freeform 69" id="69"/>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3">
                <a:alphaModFix amt="0"/>
              </a:blip>
              <a:stretch>
                <a:fillRect l="0" t="-1111035" r="0" b="-1111035"/>
              </a:stretch>
            </a:blipFill>
          </p:spPr>
        </p:sp>
        <p:sp>
          <p:nvSpPr>
            <p:cNvPr name="TextBox 70" id="70"/>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71" id="71"/>
          <p:cNvGrpSpPr/>
          <p:nvPr/>
        </p:nvGrpSpPr>
        <p:grpSpPr>
          <a:xfrm rot="0">
            <a:off x="0" y="10247414"/>
            <a:ext cx="18288000" cy="38100"/>
            <a:chOff x="0" y="0"/>
            <a:chExt cx="24384000" cy="50800"/>
          </a:xfrm>
        </p:grpSpPr>
        <p:sp>
          <p:nvSpPr>
            <p:cNvPr name="Freeform 72" id="72"/>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8FA"/>
            </a:solidFill>
          </p:spPr>
        </p:sp>
      </p:grpSp>
      <p:grpSp>
        <p:nvGrpSpPr>
          <p:cNvPr name="Group 4" id="4"/>
          <p:cNvGrpSpPr/>
          <p:nvPr/>
        </p:nvGrpSpPr>
        <p:grpSpPr>
          <a:xfrm rot="0">
            <a:off x="915295" y="447675"/>
            <a:ext cx="180975" cy="180975"/>
            <a:chOff x="0" y="0"/>
            <a:chExt cx="241300" cy="241300"/>
          </a:xfrm>
        </p:grpSpPr>
        <p:sp>
          <p:nvSpPr>
            <p:cNvPr name="Freeform 5" id="5"/>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6" id="6"/>
          <p:cNvSpPr txBox="true"/>
          <p:nvPr/>
        </p:nvSpPr>
        <p:spPr>
          <a:xfrm rot="0">
            <a:off x="1244279" y="285826"/>
            <a:ext cx="903851" cy="358521"/>
          </a:xfrm>
          <a:prstGeom prst="rect">
            <a:avLst/>
          </a:prstGeom>
        </p:spPr>
        <p:txBody>
          <a:bodyPr anchor="t" rtlCol="false" tIns="0" lIns="0" bIns="0" rIns="0">
            <a:spAutoFit/>
          </a:bodyPr>
          <a:lstStyle/>
          <a:p>
            <a:pPr algn="l">
              <a:lnSpc>
                <a:spcPts val="2808"/>
              </a:lnSpc>
            </a:pPr>
            <a:r>
              <a:rPr lang="en-US" b="true" sz="1880" spc="-46">
                <a:solidFill>
                  <a:srgbClr val="1A1A2E"/>
                </a:solidFill>
                <a:latin typeface="Arimo Bold"/>
                <a:ea typeface="Arimo Bold"/>
                <a:cs typeface="Arimo Bold"/>
                <a:sym typeface="Arimo Bold"/>
              </a:rPr>
              <a:t>ISTSEH</a:t>
            </a:r>
          </a:p>
        </p:txBody>
      </p:sp>
      <p:sp>
        <p:nvSpPr>
          <p:cNvPr name="TextBox 7" id="7"/>
          <p:cNvSpPr txBox="true"/>
          <p:nvPr/>
        </p:nvSpPr>
        <p:spPr>
          <a:xfrm rot="0">
            <a:off x="2353266" y="352501"/>
            <a:ext cx="2628900" cy="323850"/>
          </a:xfrm>
          <a:prstGeom prst="rect">
            <a:avLst/>
          </a:prstGeom>
        </p:spPr>
        <p:txBody>
          <a:bodyPr anchor="t" rtlCol="false" tIns="0" lIns="0" bIns="0" rIns="0">
            <a:spAutoFit/>
          </a:bodyPr>
          <a:lstStyle/>
          <a:p>
            <a:pPr algn="l">
              <a:lnSpc>
                <a:spcPts val="2160"/>
              </a:lnSpc>
            </a:pPr>
            <a:r>
              <a:rPr lang="en-US" sz="1439" spc="71">
                <a:solidFill>
                  <a:srgbClr val="6B7280"/>
                </a:solidFill>
                <a:latin typeface="Inter"/>
                <a:ea typeface="Inter"/>
                <a:cs typeface="Inter"/>
                <a:sym typeface="Inter"/>
              </a:rPr>
              <a:t>SECTION 28 · REFERENCES</a:t>
            </a:r>
          </a:p>
        </p:txBody>
      </p:sp>
      <p:sp>
        <p:nvSpPr>
          <p:cNvPr name="TextBox 8" id="8"/>
          <p:cNvSpPr txBox="true"/>
          <p:nvPr/>
        </p:nvSpPr>
        <p:spPr>
          <a:xfrm rot="0">
            <a:off x="16784317" y="352501"/>
            <a:ext cx="590550" cy="323850"/>
          </a:xfrm>
          <a:prstGeom prst="rect">
            <a:avLst/>
          </a:prstGeom>
        </p:spPr>
        <p:txBody>
          <a:bodyPr anchor="t" rtlCol="false" tIns="0" lIns="0" bIns="0" rIns="0">
            <a:spAutoFit/>
          </a:bodyPr>
          <a:lstStyle/>
          <a:p>
            <a:pPr algn="l">
              <a:lnSpc>
                <a:spcPts val="2160"/>
              </a:lnSpc>
            </a:pPr>
            <a:r>
              <a:rPr lang="en-US" sz="1439">
                <a:solidFill>
                  <a:srgbClr val="6B7280"/>
                </a:solidFill>
                <a:latin typeface="Inter"/>
                <a:ea typeface="Inter"/>
                <a:cs typeface="Inter"/>
                <a:sym typeface="Inter"/>
              </a:rPr>
              <a:t>30 / 31</a:t>
            </a:r>
          </a:p>
        </p:txBody>
      </p:sp>
      <p:sp>
        <p:nvSpPr>
          <p:cNvPr name="TextBox 9" id="9"/>
          <p:cNvSpPr txBox="true"/>
          <p:nvPr/>
        </p:nvSpPr>
        <p:spPr>
          <a:xfrm rot="0">
            <a:off x="914400" y="1198807"/>
            <a:ext cx="16459200" cy="590550"/>
          </a:xfrm>
          <a:prstGeom prst="rect">
            <a:avLst/>
          </a:prstGeom>
        </p:spPr>
        <p:txBody>
          <a:bodyPr anchor="t" rtlCol="false" tIns="0" lIns="0" bIns="0" rIns="0">
            <a:spAutoFit/>
          </a:bodyPr>
          <a:lstStyle/>
          <a:p>
            <a:pPr algn="l">
              <a:lnSpc>
                <a:spcPts val="5184"/>
              </a:lnSpc>
            </a:pPr>
            <a:r>
              <a:rPr lang="en-US" b="true" sz="5180" spc="-129">
                <a:solidFill>
                  <a:srgbClr val="1A1A2E"/>
                </a:solidFill>
                <a:latin typeface="Arimo Bold"/>
                <a:ea typeface="Arimo Bold"/>
                <a:cs typeface="Arimo Bold"/>
                <a:sym typeface="Arimo Bold"/>
              </a:rPr>
              <a:t>Sources and References</a:t>
            </a:r>
          </a:p>
        </p:txBody>
      </p:sp>
      <p:grpSp>
        <p:nvGrpSpPr>
          <p:cNvPr name="Group 10" id="10"/>
          <p:cNvGrpSpPr/>
          <p:nvPr/>
        </p:nvGrpSpPr>
        <p:grpSpPr>
          <a:xfrm rot="0">
            <a:off x="915295" y="1997497"/>
            <a:ext cx="1095375" cy="47625"/>
            <a:chOff x="0" y="0"/>
            <a:chExt cx="1460500" cy="63500"/>
          </a:xfrm>
        </p:grpSpPr>
        <p:sp>
          <p:nvSpPr>
            <p:cNvPr name="Freeform 11" id="11"/>
            <p:cNvSpPr/>
            <p:nvPr/>
          </p:nvSpPr>
          <p:spPr>
            <a:xfrm flipH="false" flipV="false" rot="0">
              <a:off x="0" y="0"/>
              <a:ext cx="1460500" cy="63500"/>
            </a:xfrm>
            <a:custGeom>
              <a:avLst/>
              <a:gdLst/>
              <a:ahLst/>
              <a:cxnLst/>
              <a:rect r="r" b="b" t="t" l="l"/>
              <a:pathLst>
                <a:path h="63500" w="1460500">
                  <a:moveTo>
                    <a:pt x="0" y="0"/>
                  </a:moveTo>
                  <a:lnTo>
                    <a:pt x="1460500" y="0"/>
                  </a:lnTo>
                  <a:lnTo>
                    <a:pt x="1460500" y="63500"/>
                  </a:lnTo>
                  <a:lnTo>
                    <a:pt x="0" y="63500"/>
                  </a:lnTo>
                  <a:close/>
                </a:path>
              </a:pathLst>
            </a:custGeom>
            <a:solidFill>
              <a:srgbClr val="2ECC71"/>
            </a:solidFill>
          </p:spPr>
        </p:sp>
      </p:grpSp>
      <p:sp>
        <p:nvSpPr>
          <p:cNvPr name="TextBox 12" id="12"/>
          <p:cNvSpPr txBox="true"/>
          <p:nvPr/>
        </p:nvSpPr>
        <p:spPr>
          <a:xfrm rot="0">
            <a:off x="913428" y="2629195"/>
            <a:ext cx="8048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MARKET AND INDUSTRY RESEARCH</a:t>
            </a:r>
          </a:p>
        </p:txBody>
      </p:sp>
      <p:grpSp>
        <p:nvGrpSpPr>
          <p:cNvPr name="Group 13" id="13"/>
          <p:cNvGrpSpPr/>
          <p:nvPr/>
        </p:nvGrpSpPr>
        <p:grpSpPr>
          <a:xfrm rot="0">
            <a:off x="908666" y="3005357"/>
            <a:ext cx="8058150" cy="614220"/>
            <a:chOff x="0" y="0"/>
            <a:chExt cx="10744200" cy="818960"/>
          </a:xfrm>
        </p:grpSpPr>
        <p:sp>
          <p:nvSpPr>
            <p:cNvPr name="Freeform 14" id="14"/>
            <p:cNvSpPr/>
            <p:nvPr/>
          </p:nvSpPr>
          <p:spPr>
            <a:xfrm flipH="false" flipV="false" rot="0">
              <a:off x="0" y="0"/>
              <a:ext cx="10744200" cy="818960"/>
            </a:xfrm>
            <a:custGeom>
              <a:avLst/>
              <a:gdLst/>
              <a:ahLst/>
              <a:cxnLst/>
              <a:rect r="r" b="b" t="t" l="l"/>
              <a:pathLst>
                <a:path h="818960" w="10744200">
                  <a:moveTo>
                    <a:pt x="0" y="149716"/>
                  </a:moveTo>
                  <a:cubicBezTo>
                    <a:pt x="0" y="67052"/>
                    <a:pt x="66548" y="0"/>
                    <a:pt x="148590" y="0"/>
                  </a:cubicBezTo>
                  <a:lnTo>
                    <a:pt x="10595610" y="0"/>
                  </a:lnTo>
                  <a:cubicBezTo>
                    <a:pt x="10677652" y="0"/>
                    <a:pt x="10744200" y="67052"/>
                    <a:pt x="10744200" y="149716"/>
                  </a:cubicBezTo>
                  <a:lnTo>
                    <a:pt x="10744200" y="669243"/>
                  </a:lnTo>
                  <a:cubicBezTo>
                    <a:pt x="10744200" y="751907"/>
                    <a:pt x="10677652" y="818960"/>
                    <a:pt x="10595610" y="818960"/>
                  </a:cubicBezTo>
                  <a:lnTo>
                    <a:pt x="148590" y="818960"/>
                  </a:lnTo>
                  <a:cubicBezTo>
                    <a:pt x="66548" y="818960"/>
                    <a:pt x="0" y="751907"/>
                    <a:pt x="0" y="669243"/>
                  </a:cubicBezTo>
                  <a:close/>
                </a:path>
              </a:pathLst>
            </a:custGeom>
            <a:solidFill>
              <a:srgbClr val="FFFFFF"/>
            </a:solidFill>
            <a:ln w="9526" cap="sq">
              <a:solidFill>
                <a:srgbClr val="E5E7EB"/>
              </a:solidFill>
              <a:prstDash val="solid"/>
              <a:miter/>
            </a:ln>
          </p:spPr>
        </p:sp>
      </p:grpSp>
      <p:sp>
        <p:nvSpPr>
          <p:cNvPr name="TextBox 15" id="15"/>
          <p:cNvSpPr txBox="true"/>
          <p:nvPr/>
        </p:nvSpPr>
        <p:spPr>
          <a:xfrm rot="0">
            <a:off x="1028700" y="3086395"/>
            <a:ext cx="7809312" cy="987171"/>
          </a:xfrm>
          <a:prstGeom prst="rect">
            <a:avLst/>
          </a:prstGeom>
        </p:spPr>
        <p:txBody>
          <a:bodyPr anchor="t" rtlCol="false" tIns="0" lIns="0" bIns="0" rIns="0">
            <a:spAutoFit/>
          </a:bodyPr>
          <a:lstStyle/>
          <a:p>
            <a:pPr algn="l">
              <a:lnSpc>
                <a:spcPts val="1979"/>
              </a:lnSpc>
            </a:pPr>
            <a:r>
              <a:rPr lang="en-US" sz="1439" u="sng">
                <a:solidFill>
                  <a:srgbClr val="595959"/>
                </a:solidFill>
                <a:latin typeface="Inter"/>
                <a:ea typeface="Inter"/>
                <a:cs typeface="Inter"/>
                <a:sym typeface="Inter"/>
                <a:hlinkClick r:id="rId3" tooltip="https://diabetesatlas.org/data-by-location/country/kuwait/?utm_source=chatgpt.com"/>
              </a:rPr>
              <a:t>[01] International Diabetes Federation. (2024). Kuwait Diabetes Report 2000–2050. IDF Diabetes Atlas.</a:t>
            </a:r>
          </a:p>
          <a:p>
            <a:pPr algn="l">
              <a:lnSpc>
                <a:spcPts val="1979"/>
              </a:lnSpc>
            </a:pPr>
          </a:p>
          <a:p>
            <a:pPr algn="l">
              <a:lnSpc>
                <a:spcPts val="1979"/>
              </a:lnSpc>
            </a:pPr>
          </a:p>
        </p:txBody>
      </p:sp>
      <p:grpSp>
        <p:nvGrpSpPr>
          <p:cNvPr name="Group 16" id="16"/>
          <p:cNvGrpSpPr/>
          <p:nvPr/>
        </p:nvGrpSpPr>
        <p:grpSpPr>
          <a:xfrm rot="0">
            <a:off x="908666" y="3681598"/>
            <a:ext cx="8058150" cy="653391"/>
            <a:chOff x="0" y="0"/>
            <a:chExt cx="10744200" cy="871188"/>
          </a:xfrm>
        </p:grpSpPr>
        <p:sp>
          <p:nvSpPr>
            <p:cNvPr name="Freeform 17" id="17"/>
            <p:cNvSpPr/>
            <p:nvPr/>
          </p:nvSpPr>
          <p:spPr>
            <a:xfrm flipH="false" flipV="false" rot="0">
              <a:off x="0" y="0"/>
              <a:ext cx="10744200" cy="871188"/>
            </a:xfrm>
            <a:custGeom>
              <a:avLst/>
              <a:gdLst/>
              <a:ahLst/>
              <a:cxnLst/>
              <a:rect r="r" b="b" t="t" l="l"/>
              <a:pathLst>
                <a:path h="871188" w="10744200">
                  <a:moveTo>
                    <a:pt x="0" y="159264"/>
                  </a:moveTo>
                  <a:cubicBezTo>
                    <a:pt x="0" y="71329"/>
                    <a:pt x="66548" y="0"/>
                    <a:pt x="148590" y="0"/>
                  </a:cubicBezTo>
                  <a:lnTo>
                    <a:pt x="10595610" y="0"/>
                  </a:lnTo>
                  <a:cubicBezTo>
                    <a:pt x="10677652" y="0"/>
                    <a:pt x="10744200" y="71329"/>
                    <a:pt x="10744200" y="159264"/>
                  </a:cubicBezTo>
                  <a:lnTo>
                    <a:pt x="10744200" y="711924"/>
                  </a:lnTo>
                  <a:cubicBezTo>
                    <a:pt x="10744200" y="799860"/>
                    <a:pt x="10677652" y="871188"/>
                    <a:pt x="10595610" y="871188"/>
                  </a:cubicBezTo>
                  <a:lnTo>
                    <a:pt x="148590" y="871188"/>
                  </a:lnTo>
                  <a:cubicBezTo>
                    <a:pt x="66548" y="871188"/>
                    <a:pt x="0" y="799860"/>
                    <a:pt x="0" y="711924"/>
                  </a:cubicBezTo>
                  <a:close/>
                </a:path>
              </a:pathLst>
            </a:custGeom>
            <a:solidFill>
              <a:srgbClr val="FFFFFF"/>
            </a:solidFill>
            <a:ln w="9526" cap="sq">
              <a:solidFill>
                <a:srgbClr val="E5E7EB"/>
              </a:solidFill>
              <a:prstDash val="solid"/>
              <a:miter/>
            </a:ln>
          </p:spPr>
        </p:sp>
      </p:grpSp>
      <p:sp>
        <p:nvSpPr>
          <p:cNvPr name="TextBox 18" id="18"/>
          <p:cNvSpPr txBox="true"/>
          <p:nvPr/>
        </p:nvSpPr>
        <p:spPr>
          <a:xfrm rot="0">
            <a:off x="1005783" y="3744220"/>
            <a:ext cx="7832229" cy="491871"/>
          </a:xfrm>
          <a:prstGeom prst="rect">
            <a:avLst/>
          </a:prstGeom>
        </p:spPr>
        <p:txBody>
          <a:bodyPr anchor="t" rtlCol="false" tIns="0" lIns="0" bIns="0" rIns="0">
            <a:spAutoFit/>
          </a:bodyPr>
          <a:lstStyle/>
          <a:p>
            <a:pPr algn="l">
              <a:lnSpc>
                <a:spcPts val="1979"/>
              </a:lnSpc>
            </a:pPr>
            <a:r>
              <a:rPr lang="en-US" sz="1439" u="sng">
                <a:solidFill>
                  <a:srgbClr val="595959"/>
                </a:solidFill>
                <a:latin typeface="Inter"/>
                <a:ea typeface="Inter"/>
                <a:cs typeface="Inter"/>
                <a:sym typeface="Inter"/>
                <a:hlinkClick r:id="rId4" tooltip="https://www.who.int/publications/m/item/noncommunicable-diseases-kwt-country-profile-2018?utm_source=chatgpt.com"/>
              </a:rPr>
              <a:t>[02] World Health Organization. (2018). Noncommunicable Diseases Country Profiles: Kuwait. World Health Organization.</a:t>
            </a:r>
          </a:p>
        </p:txBody>
      </p:sp>
      <p:grpSp>
        <p:nvGrpSpPr>
          <p:cNvPr name="Group 19" id="19"/>
          <p:cNvGrpSpPr/>
          <p:nvPr/>
        </p:nvGrpSpPr>
        <p:grpSpPr>
          <a:xfrm rot="0">
            <a:off x="908666" y="4443565"/>
            <a:ext cx="8058150" cy="609600"/>
            <a:chOff x="0" y="0"/>
            <a:chExt cx="10744200" cy="812800"/>
          </a:xfrm>
        </p:grpSpPr>
        <p:sp>
          <p:nvSpPr>
            <p:cNvPr name="Freeform 20" id="20"/>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21" id="21"/>
          <p:cNvSpPr txBox="true"/>
          <p:nvPr/>
        </p:nvSpPr>
        <p:spPr>
          <a:xfrm rot="0">
            <a:off x="1028700" y="4488142"/>
            <a:ext cx="7696200" cy="491871"/>
          </a:xfrm>
          <a:prstGeom prst="rect">
            <a:avLst/>
          </a:prstGeom>
        </p:spPr>
        <p:txBody>
          <a:bodyPr anchor="t" rtlCol="false" tIns="0" lIns="0" bIns="0" rIns="0">
            <a:spAutoFit/>
          </a:bodyPr>
          <a:lstStyle/>
          <a:p>
            <a:pPr algn="l">
              <a:lnSpc>
                <a:spcPts val="1979"/>
              </a:lnSpc>
            </a:pPr>
            <a:r>
              <a:rPr lang="en-US" sz="1439" u="sng">
                <a:solidFill>
                  <a:srgbClr val="595959"/>
                </a:solidFill>
                <a:latin typeface="Inter"/>
                <a:ea typeface="Inter"/>
                <a:cs typeface="Inter"/>
                <a:sym typeface="Inter"/>
                <a:hlinkClick r:id="rId5" tooltip="https://pmc.ncbi.nlm.nih.gov/articles/PMC9801364/?utm_source=chatgpt.com"/>
              </a:rPr>
              <a:t>[03] Alibrahim, A., et al. (2022). Noncommunicable Diseases and Hospital Utilization in Kuwait.</a:t>
            </a:r>
          </a:p>
        </p:txBody>
      </p:sp>
      <p:sp>
        <p:nvSpPr>
          <p:cNvPr name="TextBox 22" id="22"/>
          <p:cNvSpPr txBox="true"/>
          <p:nvPr/>
        </p:nvSpPr>
        <p:spPr>
          <a:xfrm rot="0">
            <a:off x="913428" y="5157940"/>
            <a:ext cx="8048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HEALTHCARE AND CLINICAL STUDIES</a:t>
            </a:r>
          </a:p>
        </p:txBody>
      </p:sp>
      <p:grpSp>
        <p:nvGrpSpPr>
          <p:cNvPr name="Group 23" id="23"/>
          <p:cNvGrpSpPr/>
          <p:nvPr/>
        </p:nvGrpSpPr>
        <p:grpSpPr>
          <a:xfrm rot="0">
            <a:off x="908666" y="5534101"/>
            <a:ext cx="8058150" cy="609600"/>
            <a:chOff x="0" y="0"/>
            <a:chExt cx="10744200" cy="812800"/>
          </a:xfrm>
        </p:grpSpPr>
        <p:sp>
          <p:nvSpPr>
            <p:cNvPr name="Freeform 24" id="24"/>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25" id="25"/>
          <p:cNvSpPr txBox="true"/>
          <p:nvPr/>
        </p:nvSpPr>
        <p:spPr>
          <a:xfrm rot="0">
            <a:off x="1089650" y="5686501"/>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[04] [Insert reference in APA / Harvard format.]</a:t>
            </a:r>
          </a:p>
        </p:txBody>
      </p:sp>
      <p:grpSp>
        <p:nvGrpSpPr>
          <p:cNvPr name="Group 26" id="26"/>
          <p:cNvGrpSpPr/>
          <p:nvPr/>
        </p:nvGrpSpPr>
        <p:grpSpPr>
          <a:xfrm rot="0">
            <a:off x="908666" y="6287624"/>
            <a:ext cx="8058150" cy="609600"/>
            <a:chOff x="0" y="0"/>
            <a:chExt cx="10744200" cy="812800"/>
          </a:xfrm>
        </p:grpSpPr>
        <p:sp>
          <p:nvSpPr>
            <p:cNvPr name="Freeform 27" id="27"/>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28" id="28"/>
          <p:cNvSpPr txBox="true"/>
          <p:nvPr/>
        </p:nvSpPr>
        <p:spPr>
          <a:xfrm rot="0">
            <a:off x="1089650" y="6440024"/>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[05] [Insert reference in APA / Harvard format.]</a:t>
            </a:r>
          </a:p>
        </p:txBody>
      </p:sp>
      <p:sp>
        <p:nvSpPr>
          <p:cNvPr name="TextBox 29" id="29"/>
          <p:cNvSpPr txBox="true"/>
          <p:nvPr/>
        </p:nvSpPr>
        <p:spPr>
          <a:xfrm rot="0">
            <a:off x="9325870" y="2629195"/>
            <a:ext cx="8048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COMPETITOR INFORMATION</a:t>
            </a:r>
          </a:p>
        </p:txBody>
      </p:sp>
      <p:grpSp>
        <p:nvGrpSpPr>
          <p:cNvPr name="Group 30" id="30"/>
          <p:cNvGrpSpPr/>
          <p:nvPr/>
        </p:nvGrpSpPr>
        <p:grpSpPr>
          <a:xfrm rot="0">
            <a:off x="9321108" y="3005357"/>
            <a:ext cx="8058150" cy="609600"/>
            <a:chOff x="0" y="0"/>
            <a:chExt cx="10744200" cy="812800"/>
          </a:xfrm>
        </p:grpSpPr>
        <p:sp>
          <p:nvSpPr>
            <p:cNvPr name="Freeform 31" id="31"/>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32" id="32"/>
          <p:cNvSpPr txBox="true"/>
          <p:nvPr/>
        </p:nvSpPr>
        <p:spPr>
          <a:xfrm rot="0">
            <a:off x="9502083" y="3157757"/>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[06] [Insert reference in APA / Harvard format.]</a:t>
            </a:r>
          </a:p>
        </p:txBody>
      </p:sp>
      <p:grpSp>
        <p:nvGrpSpPr>
          <p:cNvPr name="Group 33" id="33"/>
          <p:cNvGrpSpPr/>
          <p:nvPr/>
        </p:nvGrpSpPr>
        <p:grpSpPr>
          <a:xfrm rot="0">
            <a:off x="9321108" y="3758879"/>
            <a:ext cx="8058150" cy="609600"/>
            <a:chOff x="0" y="0"/>
            <a:chExt cx="10744200" cy="812800"/>
          </a:xfrm>
        </p:grpSpPr>
        <p:sp>
          <p:nvSpPr>
            <p:cNvPr name="Freeform 34" id="34"/>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35" id="35"/>
          <p:cNvSpPr txBox="true"/>
          <p:nvPr/>
        </p:nvSpPr>
        <p:spPr>
          <a:xfrm rot="0">
            <a:off x="9502083" y="3911279"/>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[07] [Insert reference in APA / Harvard format.]</a:t>
            </a:r>
          </a:p>
        </p:txBody>
      </p:sp>
      <p:sp>
        <p:nvSpPr>
          <p:cNvPr name="TextBox 36" id="36"/>
          <p:cNvSpPr txBox="true"/>
          <p:nvPr/>
        </p:nvSpPr>
        <p:spPr>
          <a:xfrm rot="0">
            <a:off x="9325870" y="4472140"/>
            <a:ext cx="8048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DESIGN AND BRAND</a:t>
            </a:r>
          </a:p>
        </p:txBody>
      </p:sp>
      <p:grpSp>
        <p:nvGrpSpPr>
          <p:cNvPr name="Group 37" id="37"/>
          <p:cNvGrpSpPr/>
          <p:nvPr/>
        </p:nvGrpSpPr>
        <p:grpSpPr>
          <a:xfrm rot="0">
            <a:off x="9321108" y="4848301"/>
            <a:ext cx="8058150" cy="609600"/>
            <a:chOff x="0" y="0"/>
            <a:chExt cx="10744200" cy="812800"/>
          </a:xfrm>
        </p:grpSpPr>
        <p:sp>
          <p:nvSpPr>
            <p:cNvPr name="Freeform 38" id="38"/>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39" id="39"/>
          <p:cNvSpPr txBox="true"/>
          <p:nvPr/>
        </p:nvSpPr>
        <p:spPr>
          <a:xfrm rot="0">
            <a:off x="9502083" y="5000701"/>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[08] [Insert reference in APA / Harvard format.]</a:t>
            </a:r>
          </a:p>
        </p:txBody>
      </p:sp>
      <p:grpSp>
        <p:nvGrpSpPr>
          <p:cNvPr name="Group 40" id="40"/>
          <p:cNvGrpSpPr/>
          <p:nvPr/>
        </p:nvGrpSpPr>
        <p:grpSpPr>
          <a:xfrm rot="0">
            <a:off x="9321108" y="5601814"/>
            <a:ext cx="8058150" cy="609600"/>
            <a:chOff x="0" y="0"/>
            <a:chExt cx="10744200" cy="812800"/>
          </a:xfrm>
        </p:grpSpPr>
        <p:sp>
          <p:nvSpPr>
            <p:cNvPr name="Freeform 41" id="41"/>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42" id="42"/>
          <p:cNvSpPr txBox="true"/>
          <p:nvPr/>
        </p:nvSpPr>
        <p:spPr>
          <a:xfrm rot="0">
            <a:off x="9502083" y="5754214"/>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[09] [Insert reference in APA / Harvard format.]</a:t>
            </a:r>
          </a:p>
        </p:txBody>
      </p:sp>
      <p:sp>
        <p:nvSpPr>
          <p:cNvPr name="TextBox 43" id="43"/>
          <p:cNvSpPr txBox="true"/>
          <p:nvPr/>
        </p:nvSpPr>
        <p:spPr>
          <a:xfrm rot="0">
            <a:off x="9325870" y="6315075"/>
            <a:ext cx="8048625" cy="276225"/>
          </a:xfrm>
          <a:prstGeom prst="rect">
            <a:avLst/>
          </a:prstGeom>
        </p:spPr>
        <p:txBody>
          <a:bodyPr anchor="t" rtlCol="false" tIns="0" lIns="0" bIns="0" rIns="0">
            <a:spAutoFit/>
          </a:bodyPr>
          <a:lstStyle/>
          <a:p>
            <a:pPr algn="l">
              <a:lnSpc>
                <a:spcPts val="1836"/>
              </a:lnSpc>
            </a:pPr>
            <a:r>
              <a:rPr lang="en-US" b="true" sz="1220" spc="61">
                <a:solidFill>
                  <a:srgbClr val="2ECC71"/>
                </a:solidFill>
                <a:latin typeface="Inter Bold"/>
                <a:ea typeface="Inter Bold"/>
                <a:cs typeface="Inter Bold"/>
                <a:sym typeface="Inter Bold"/>
              </a:rPr>
              <a:t>PROGRAM DOCUMENTATION</a:t>
            </a:r>
          </a:p>
        </p:txBody>
      </p:sp>
      <p:grpSp>
        <p:nvGrpSpPr>
          <p:cNvPr name="Group 44" id="44"/>
          <p:cNvGrpSpPr/>
          <p:nvPr/>
        </p:nvGrpSpPr>
        <p:grpSpPr>
          <a:xfrm rot="0">
            <a:off x="9321108" y="6691236"/>
            <a:ext cx="8058150" cy="609600"/>
            <a:chOff x="0" y="0"/>
            <a:chExt cx="10744200" cy="812800"/>
          </a:xfrm>
        </p:grpSpPr>
        <p:sp>
          <p:nvSpPr>
            <p:cNvPr name="Freeform 45" id="45"/>
            <p:cNvSpPr/>
            <p:nvPr/>
          </p:nvSpPr>
          <p:spPr>
            <a:xfrm flipH="false" flipV="false" rot="0">
              <a:off x="0" y="0"/>
              <a:ext cx="10744200" cy="812800"/>
            </a:xfrm>
            <a:custGeom>
              <a:avLst/>
              <a:gdLst/>
              <a:ahLst/>
              <a:cxnLst/>
              <a:rect r="r" b="b" t="t" l="l"/>
              <a:pathLst>
                <a:path h="812800" w="10744200">
                  <a:moveTo>
                    <a:pt x="0" y="148590"/>
                  </a:moveTo>
                  <a:cubicBezTo>
                    <a:pt x="0" y="66548"/>
                    <a:pt x="66548" y="0"/>
                    <a:pt x="148590" y="0"/>
                  </a:cubicBezTo>
                  <a:lnTo>
                    <a:pt x="10595610" y="0"/>
                  </a:lnTo>
                  <a:cubicBezTo>
                    <a:pt x="10677652" y="0"/>
                    <a:pt x="10744200" y="66548"/>
                    <a:pt x="10744200" y="148590"/>
                  </a:cubicBezTo>
                  <a:lnTo>
                    <a:pt x="10744200" y="664210"/>
                  </a:lnTo>
                  <a:cubicBezTo>
                    <a:pt x="10744200" y="746252"/>
                    <a:pt x="10677652" y="812800"/>
                    <a:pt x="10595610" y="812800"/>
                  </a:cubicBezTo>
                  <a:lnTo>
                    <a:pt x="148590" y="812800"/>
                  </a:lnTo>
                  <a:cubicBezTo>
                    <a:pt x="66548" y="812800"/>
                    <a:pt x="0" y="746252"/>
                    <a:pt x="0" y="664210"/>
                  </a:cubicBezTo>
                  <a:close/>
                </a:path>
              </a:pathLst>
            </a:custGeom>
            <a:solidFill>
              <a:srgbClr val="FFFFFF"/>
            </a:solidFill>
            <a:ln w="9526" cap="sq">
              <a:solidFill>
                <a:srgbClr val="E5E7EB"/>
              </a:solidFill>
              <a:prstDash val="solid"/>
              <a:miter/>
            </a:ln>
          </p:spPr>
        </p:sp>
      </p:grpSp>
      <p:sp>
        <p:nvSpPr>
          <p:cNvPr name="TextBox 46" id="46"/>
          <p:cNvSpPr txBox="true"/>
          <p:nvPr/>
        </p:nvSpPr>
        <p:spPr>
          <a:xfrm rot="0">
            <a:off x="9502083" y="6843636"/>
            <a:ext cx="7696200" cy="276225"/>
          </a:xfrm>
          <a:prstGeom prst="rect">
            <a:avLst/>
          </a:prstGeom>
        </p:spPr>
        <p:txBody>
          <a:bodyPr anchor="t" rtlCol="false" tIns="0" lIns="0" bIns="0" rIns="0">
            <a:spAutoFit/>
          </a:bodyPr>
          <a:lstStyle/>
          <a:p>
            <a:pPr algn="l">
              <a:lnSpc>
                <a:spcPts val="1979"/>
              </a:lnSpc>
            </a:pPr>
            <a:r>
              <a:rPr lang="en-US" sz="1439">
                <a:solidFill>
                  <a:srgbClr val="595959"/>
                </a:solidFill>
                <a:latin typeface="Inter"/>
                <a:ea typeface="Inter"/>
                <a:cs typeface="Inter"/>
                <a:sym typeface="Inter"/>
              </a:rPr>
              <a:t>[10] [Insert INJAZ / JA program reference.]</a:t>
            </a:r>
          </a:p>
        </p:txBody>
      </p:sp>
      <p:grpSp>
        <p:nvGrpSpPr>
          <p:cNvPr name="Group 47" id="47"/>
          <p:cNvGrpSpPr/>
          <p:nvPr/>
        </p:nvGrpSpPr>
        <p:grpSpPr>
          <a:xfrm rot="0">
            <a:off x="914400" y="9703222"/>
            <a:ext cx="16459200" cy="276225"/>
            <a:chOff x="0" y="0"/>
            <a:chExt cx="21945600" cy="368300"/>
          </a:xfrm>
        </p:grpSpPr>
        <p:sp>
          <p:nvSpPr>
            <p:cNvPr name="Freeform 48" id="48"/>
            <p:cNvSpPr/>
            <p:nvPr/>
          </p:nvSpPr>
          <p:spPr>
            <a:xfrm flipH="false" flipV="false" rot="0">
              <a:off x="0" y="0"/>
              <a:ext cx="21945600" cy="368301"/>
            </a:xfrm>
            <a:custGeom>
              <a:avLst/>
              <a:gdLst/>
              <a:ahLst/>
              <a:cxnLst/>
              <a:rect r="r" b="b" t="t" l="l"/>
              <a:pathLst>
                <a:path h="368301" w="21945600">
                  <a:moveTo>
                    <a:pt x="0" y="0"/>
                  </a:moveTo>
                  <a:lnTo>
                    <a:pt x="21945600" y="0"/>
                  </a:lnTo>
                  <a:lnTo>
                    <a:pt x="21945600" y="368301"/>
                  </a:lnTo>
                  <a:lnTo>
                    <a:pt x="0" y="368301"/>
                  </a:lnTo>
                  <a:close/>
                </a:path>
              </a:pathLst>
            </a:custGeom>
            <a:blipFill>
              <a:blip r:embed="rId6">
                <a:alphaModFix amt="0"/>
              </a:blip>
              <a:stretch>
                <a:fillRect l="0" t="-1111035" r="0" b="-1111035"/>
              </a:stretch>
            </a:blipFill>
          </p:spPr>
        </p:sp>
        <p:sp>
          <p:nvSpPr>
            <p:cNvPr name="TextBox 49" id="49"/>
            <p:cNvSpPr txBox="true"/>
            <p:nvPr/>
          </p:nvSpPr>
          <p:spPr>
            <a:xfrm>
              <a:off x="0" y="-47625"/>
              <a:ext cx="21945600" cy="415925"/>
            </a:xfrm>
            <a:prstGeom prst="rect">
              <a:avLst/>
            </a:prstGeom>
          </p:spPr>
          <p:txBody>
            <a:bodyPr anchor="ctr" rtlCol="false" tIns="0" lIns="0" bIns="0" rIns="0"/>
            <a:lstStyle/>
            <a:p>
              <a:pPr algn="l">
                <a:lnSpc>
                  <a:spcPts val="2160"/>
                </a:lnSpc>
              </a:pPr>
              <a:r>
                <a:rPr lang="en-US" sz="1439">
                  <a:solidFill>
                    <a:srgbClr val="6B7280"/>
                  </a:solidFill>
                  <a:latin typeface="Inter"/>
                  <a:ea typeface="Inter"/>
                  <a:cs typeface="Inter"/>
                  <a:sym typeface="Inter"/>
                </a:rPr>
                <a:t>Company Report · INJAZ / JA Company ProgramISTSEH</a:t>
              </a:r>
            </a:p>
          </p:txBody>
        </p:sp>
      </p:grpSp>
      <p:grpSp>
        <p:nvGrpSpPr>
          <p:cNvPr name="Group 50" id="50"/>
          <p:cNvGrpSpPr/>
          <p:nvPr/>
        </p:nvGrpSpPr>
        <p:grpSpPr>
          <a:xfrm rot="0">
            <a:off x="0" y="10247414"/>
            <a:ext cx="18288000" cy="38100"/>
            <a:chOff x="0" y="0"/>
            <a:chExt cx="24384000" cy="50800"/>
          </a:xfrm>
        </p:grpSpPr>
        <p:sp>
          <p:nvSpPr>
            <p:cNvPr name="Freeform 51" id="51"/>
            <p:cNvSpPr/>
            <p:nvPr/>
          </p:nvSpPr>
          <p:spPr>
            <a:xfrm flipH="false" flipV="false" rot="0">
              <a:off x="0" y="0"/>
              <a:ext cx="24384000" cy="50800"/>
            </a:xfrm>
            <a:custGeom>
              <a:avLst/>
              <a:gdLst/>
              <a:ahLst/>
              <a:cxnLst/>
              <a:rect r="r" b="b" t="t" l="l"/>
              <a:pathLst>
                <a:path h="50800" w="24384000">
                  <a:moveTo>
                    <a:pt x="0" y="0"/>
                  </a:moveTo>
                  <a:lnTo>
                    <a:pt x="24384000" y="0"/>
                  </a:lnTo>
                  <a:lnTo>
                    <a:pt x="24384000" y="50800"/>
                  </a:lnTo>
                  <a:lnTo>
                    <a:pt x="0" y="50800"/>
                  </a:lnTo>
                  <a:close/>
                </a:path>
              </a:pathLst>
            </a:custGeom>
            <a:solidFill>
              <a:srgbClr val="2ECC71"/>
            </a:solid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A192F"/>
            </a:solidFill>
          </p:spPr>
        </p:sp>
      </p:grpSp>
      <p:grpSp>
        <p:nvGrpSpPr>
          <p:cNvPr name="Group 4" id="4"/>
          <p:cNvGrpSpPr/>
          <p:nvPr/>
        </p:nvGrpSpPr>
        <p:grpSpPr>
          <a:xfrm rot="0">
            <a:off x="0" y="-229"/>
            <a:ext cx="18288000" cy="123825"/>
            <a:chOff x="0" y="0"/>
            <a:chExt cx="24384000" cy="165100"/>
          </a:xfrm>
        </p:grpSpPr>
        <p:sp>
          <p:nvSpPr>
            <p:cNvPr name="Freeform 5" id="5"/>
            <p:cNvSpPr/>
            <p:nvPr/>
          </p:nvSpPr>
          <p:spPr>
            <a:xfrm flipH="false" flipV="false" rot="0">
              <a:off x="0" y="0"/>
              <a:ext cx="24384000" cy="165100"/>
            </a:xfrm>
            <a:custGeom>
              <a:avLst/>
              <a:gdLst/>
              <a:ahLst/>
              <a:cxnLst/>
              <a:rect r="r" b="b" t="t" l="l"/>
              <a:pathLst>
                <a:path h="165100" w="24384000">
                  <a:moveTo>
                    <a:pt x="0" y="0"/>
                  </a:moveTo>
                  <a:lnTo>
                    <a:pt x="24384000" y="0"/>
                  </a:lnTo>
                  <a:lnTo>
                    <a:pt x="24384000" y="165100"/>
                  </a:lnTo>
                  <a:lnTo>
                    <a:pt x="0" y="165100"/>
                  </a:lnTo>
                  <a:close/>
                </a:path>
              </a:pathLst>
            </a:custGeom>
            <a:solidFill>
              <a:srgbClr val="2ECC71"/>
            </a:solidFill>
          </p:spPr>
        </p:sp>
      </p:grpSp>
      <p:grpSp>
        <p:nvGrpSpPr>
          <p:cNvPr name="Group 6" id="6"/>
          <p:cNvGrpSpPr/>
          <p:nvPr/>
        </p:nvGrpSpPr>
        <p:grpSpPr>
          <a:xfrm rot="0">
            <a:off x="-2743200" y="-1543050"/>
            <a:ext cx="9144000" cy="9144000"/>
            <a:chOff x="0" y="0"/>
            <a:chExt cx="12192000" cy="12192000"/>
          </a:xfrm>
        </p:grpSpPr>
        <p:sp>
          <p:nvSpPr>
            <p:cNvPr name="Freeform 7" id="7"/>
            <p:cNvSpPr/>
            <p:nvPr/>
          </p:nvSpPr>
          <p:spPr>
            <a:xfrm flipH="false" flipV="false" rot="0">
              <a:off x="0" y="0"/>
              <a:ext cx="12192000" cy="12192000"/>
            </a:xfrm>
            <a:custGeom>
              <a:avLst/>
              <a:gdLst/>
              <a:ahLst/>
              <a:cxnLst/>
              <a:rect r="r" b="b" t="t" l="l"/>
              <a:pathLst>
                <a:path h="12192000" w="12192000">
                  <a:moveTo>
                    <a:pt x="0" y="6096000"/>
                  </a:moveTo>
                  <a:cubicBezTo>
                    <a:pt x="0" y="2729230"/>
                    <a:pt x="2729230" y="0"/>
                    <a:pt x="6096000" y="0"/>
                  </a:cubicBezTo>
                  <a:cubicBezTo>
                    <a:pt x="9462770" y="0"/>
                    <a:pt x="12192000" y="2729230"/>
                    <a:pt x="12192000" y="6096000"/>
                  </a:cubicBezTo>
                  <a:cubicBezTo>
                    <a:pt x="12192000" y="9462770"/>
                    <a:pt x="9462770" y="12192000"/>
                    <a:pt x="6096000" y="12192000"/>
                  </a:cubicBezTo>
                  <a:cubicBezTo>
                    <a:pt x="2729230" y="12192000"/>
                    <a:pt x="0" y="9462770"/>
                    <a:pt x="0" y="6096000"/>
                  </a:cubicBezTo>
                  <a:close/>
                </a:path>
              </a:pathLst>
            </a:custGeom>
            <a:solidFill>
              <a:srgbClr val="27C476">
                <a:alpha val="0"/>
              </a:srgbClr>
            </a:solidFill>
          </p:spPr>
        </p:sp>
      </p:grpSp>
      <p:grpSp>
        <p:nvGrpSpPr>
          <p:cNvPr name="Group 8" id="8"/>
          <p:cNvGrpSpPr/>
          <p:nvPr/>
        </p:nvGrpSpPr>
        <p:grpSpPr>
          <a:xfrm rot="0">
            <a:off x="10972800" y="2800350"/>
            <a:ext cx="10058400" cy="10058400"/>
            <a:chOff x="0" y="0"/>
            <a:chExt cx="13411200" cy="13411200"/>
          </a:xfrm>
        </p:grpSpPr>
        <p:sp>
          <p:nvSpPr>
            <p:cNvPr name="Freeform 9" id="9"/>
            <p:cNvSpPr/>
            <p:nvPr/>
          </p:nvSpPr>
          <p:spPr>
            <a:xfrm flipH="false" flipV="false" rot="0">
              <a:off x="0" y="0"/>
              <a:ext cx="13411200" cy="13411200"/>
            </a:xfrm>
            <a:custGeom>
              <a:avLst/>
              <a:gdLst/>
              <a:ahLst/>
              <a:cxnLst/>
              <a:rect r="r" b="b" t="t" l="l"/>
              <a:pathLst>
                <a:path h="13411200" w="13411200">
                  <a:moveTo>
                    <a:pt x="0" y="6705600"/>
                  </a:moveTo>
                  <a:cubicBezTo>
                    <a:pt x="0" y="3002153"/>
                    <a:pt x="3002153" y="0"/>
                    <a:pt x="6705600" y="0"/>
                  </a:cubicBezTo>
                  <a:cubicBezTo>
                    <a:pt x="10409047" y="0"/>
                    <a:pt x="13411200" y="3002153"/>
                    <a:pt x="13411200" y="6705600"/>
                  </a:cubicBezTo>
                  <a:cubicBezTo>
                    <a:pt x="13411200" y="10409047"/>
                    <a:pt x="10409047" y="13411200"/>
                    <a:pt x="6705600" y="13411200"/>
                  </a:cubicBezTo>
                  <a:cubicBezTo>
                    <a:pt x="3002153" y="13411200"/>
                    <a:pt x="0" y="10409047"/>
                    <a:pt x="0" y="6705600"/>
                  </a:cubicBezTo>
                  <a:close/>
                </a:path>
              </a:pathLst>
            </a:custGeom>
            <a:solidFill>
              <a:srgbClr val="33CC66">
                <a:alpha val="0"/>
              </a:srgbClr>
            </a:solidFill>
          </p:spPr>
        </p:sp>
      </p:grpSp>
      <p:grpSp>
        <p:nvGrpSpPr>
          <p:cNvPr name="Group 10" id="10"/>
          <p:cNvGrpSpPr/>
          <p:nvPr/>
        </p:nvGrpSpPr>
        <p:grpSpPr>
          <a:xfrm rot="0">
            <a:off x="915295" y="615848"/>
            <a:ext cx="180975" cy="180975"/>
            <a:chOff x="0" y="0"/>
            <a:chExt cx="241300" cy="241300"/>
          </a:xfrm>
        </p:grpSpPr>
        <p:sp>
          <p:nvSpPr>
            <p:cNvPr name="Freeform 11" id="11"/>
            <p:cNvSpPr/>
            <p:nvPr/>
          </p:nvSpPr>
          <p:spPr>
            <a:xfrm flipH="false" flipV="false" rot="0">
              <a:off x="0" y="0"/>
              <a:ext cx="241300" cy="241300"/>
            </a:xfrm>
            <a:custGeom>
              <a:avLst/>
              <a:gdLst/>
              <a:ahLst/>
              <a:cxnLst/>
              <a:rect r="r" b="b" t="t" l="l"/>
              <a:pathLst>
                <a:path h="241300" w="241300">
                  <a:moveTo>
                    <a:pt x="0" y="120650"/>
                  </a:moveTo>
                  <a:cubicBezTo>
                    <a:pt x="0" y="53975"/>
                    <a:pt x="53975" y="0"/>
                    <a:pt x="120650" y="0"/>
                  </a:cubicBezTo>
                  <a:cubicBezTo>
                    <a:pt x="187325" y="0"/>
                    <a:pt x="241300" y="53975"/>
                    <a:pt x="241300" y="120650"/>
                  </a:cubicBezTo>
                  <a:cubicBezTo>
                    <a:pt x="241300" y="187325"/>
                    <a:pt x="187325" y="241300"/>
                    <a:pt x="120650" y="241300"/>
                  </a:cubicBezTo>
                  <a:cubicBezTo>
                    <a:pt x="53975" y="241300"/>
                    <a:pt x="0" y="187325"/>
                    <a:pt x="0" y="120650"/>
                  </a:cubicBezTo>
                  <a:close/>
                </a:path>
              </a:pathLst>
            </a:custGeom>
            <a:solidFill>
              <a:srgbClr val="2ECC71"/>
            </a:solidFill>
          </p:spPr>
        </p:sp>
      </p:grpSp>
      <p:sp>
        <p:nvSpPr>
          <p:cNvPr name="TextBox 12" id="12"/>
          <p:cNvSpPr txBox="true"/>
          <p:nvPr/>
        </p:nvSpPr>
        <p:spPr>
          <a:xfrm rot="0">
            <a:off x="1241079" y="449161"/>
            <a:ext cx="939826" cy="371475"/>
          </a:xfrm>
          <a:prstGeom prst="rect">
            <a:avLst/>
          </a:prstGeom>
        </p:spPr>
        <p:txBody>
          <a:bodyPr anchor="t" rtlCol="false" tIns="0" lIns="0" bIns="0" rIns="0">
            <a:spAutoFit/>
          </a:bodyPr>
          <a:lstStyle/>
          <a:p>
            <a:pPr algn="l">
              <a:lnSpc>
                <a:spcPts val="3024"/>
              </a:lnSpc>
            </a:pPr>
            <a:r>
              <a:rPr lang="en-US" b="true" sz="2019" spc="-49">
                <a:solidFill>
                  <a:srgbClr val="FFFFFF"/>
                </a:solidFill>
                <a:latin typeface="Arimo Bold"/>
                <a:ea typeface="Arimo Bold"/>
                <a:cs typeface="Arimo Bold"/>
                <a:sym typeface="Arimo Bold"/>
              </a:rPr>
              <a:t>ISTSEH</a:t>
            </a:r>
          </a:p>
        </p:txBody>
      </p:sp>
      <p:sp>
        <p:nvSpPr>
          <p:cNvPr name="TextBox 13" id="13"/>
          <p:cNvSpPr txBox="true"/>
          <p:nvPr/>
        </p:nvSpPr>
        <p:spPr>
          <a:xfrm rot="0">
            <a:off x="15013257" y="520532"/>
            <a:ext cx="2362200" cy="323850"/>
          </a:xfrm>
          <a:prstGeom prst="rect">
            <a:avLst/>
          </a:prstGeom>
        </p:spPr>
        <p:txBody>
          <a:bodyPr anchor="t" rtlCol="false" tIns="0" lIns="0" bIns="0" rIns="0">
            <a:spAutoFit/>
          </a:bodyPr>
          <a:lstStyle/>
          <a:p>
            <a:pPr algn="l">
              <a:lnSpc>
                <a:spcPts val="2160"/>
              </a:lnSpc>
            </a:pPr>
            <a:r>
              <a:rPr lang="en-US" sz="1439" spc="71">
                <a:solidFill>
                  <a:srgbClr val="FFFFFF"/>
                </a:solidFill>
                <a:latin typeface="Inter"/>
                <a:ea typeface="Inter"/>
                <a:cs typeface="Inter"/>
                <a:sym typeface="Inter"/>
              </a:rPr>
              <a:t>31 / 31 · END OF REPORT</a:t>
            </a:r>
          </a:p>
        </p:txBody>
      </p:sp>
      <p:grpSp>
        <p:nvGrpSpPr>
          <p:cNvPr name="Group 14" id="14"/>
          <p:cNvGrpSpPr/>
          <p:nvPr/>
        </p:nvGrpSpPr>
        <p:grpSpPr>
          <a:xfrm rot="0">
            <a:off x="7255813" y="2518998"/>
            <a:ext cx="3776374" cy="4121681"/>
            <a:chOff x="0" y="0"/>
            <a:chExt cx="5035165" cy="5495575"/>
          </a:xfrm>
        </p:grpSpPr>
        <p:sp>
          <p:nvSpPr>
            <p:cNvPr name="Freeform 15" id="15" descr="preencoded.png"/>
            <p:cNvSpPr/>
            <p:nvPr/>
          </p:nvSpPr>
          <p:spPr>
            <a:xfrm flipH="false" flipV="false" rot="0">
              <a:off x="0" y="0"/>
              <a:ext cx="5035166" cy="5495575"/>
            </a:xfrm>
            <a:custGeom>
              <a:avLst/>
              <a:gdLst/>
              <a:ahLst/>
              <a:cxnLst/>
              <a:rect r="r" b="b" t="t" l="l"/>
              <a:pathLst>
                <a:path h="5495575" w="5035166">
                  <a:moveTo>
                    <a:pt x="0" y="0"/>
                  </a:moveTo>
                  <a:lnTo>
                    <a:pt x="5035166" y="0"/>
                  </a:lnTo>
                  <a:lnTo>
                    <a:pt x="5035166" y="5495575"/>
                  </a:lnTo>
                  <a:lnTo>
                    <a:pt x="0" y="5495575"/>
                  </a:lnTo>
                  <a:lnTo>
                    <a:pt x="0" y="0"/>
                  </a:lnTo>
                  <a:close/>
                </a:path>
              </a:pathLst>
            </a:custGeom>
            <a:blipFill>
              <a:blip r:embed="rId3"/>
              <a:stretch>
                <a:fillRect l="-4571" t="0" r="-4571" b="0"/>
              </a:stretch>
            </a:blipFill>
          </p:spPr>
        </p:sp>
      </p:grpSp>
      <p:sp>
        <p:nvSpPr>
          <p:cNvPr name="TextBox 16" id="16"/>
          <p:cNvSpPr txBox="true"/>
          <p:nvPr/>
        </p:nvSpPr>
        <p:spPr>
          <a:xfrm rot="0">
            <a:off x="4572000" y="5652268"/>
            <a:ext cx="9144000" cy="1724025"/>
          </a:xfrm>
          <a:prstGeom prst="rect">
            <a:avLst/>
          </a:prstGeom>
        </p:spPr>
        <p:txBody>
          <a:bodyPr anchor="t" rtlCol="false" tIns="0" lIns="0" bIns="0" rIns="0">
            <a:spAutoFit/>
          </a:bodyPr>
          <a:lstStyle/>
          <a:p>
            <a:pPr algn="ctr">
              <a:lnSpc>
                <a:spcPts val="7200"/>
              </a:lnSpc>
            </a:pPr>
            <a:r>
              <a:rPr lang="en-US" b="true" sz="7200" spc="-179">
                <a:solidFill>
                  <a:srgbClr val="FFFFFF"/>
                </a:solidFill>
                <a:latin typeface="Arimo Bold"/>
                <a:ea typeface="Arimo Bold"/>
                <a:cs typeface="Arimo Bold"/>
                <a:sym typeface="Arimo Bold"/>
              </a:rPr>
              <a:t>Care worth </a:t>
            </a:r>
            <a:r>
              <a:rPr lang="en-US" b="true" sz="7200" spc="-179">
                <a:solidFill>
                  <a:srgbClr val="2ECC71"/>
                </a:solidFill>
                <a:latin typeface="Arimo Bold"/>
                <a:ea typeface="Arimo Bold"/>
                <a:cs typeface="Arimo Bold"/>
                <a:sym typeface="Arimo Bold"/>
              </a:rPr>
              <a:t>remembering.</a:t>
            </a:r>
          </a:p>
        </p:txBody>
      </p:sp>
      <p:sp>
        <p:nvSpPr>
          <p:cNvPr name="TextBox 17" id="17"/>
          <p:cNvSpPr txBox="true"/>
          <p:nvPr/>
        </p:nvSpPr>
        <p:spPr>
          <a:xfrm rot="0">
            <a:off x="915372" y="8376418"/>
            <a:ext cx="3838575" cy="285750"/>
          </a:xfrm>
          <a:prstGeom prst="rect">
            <a:avLst/>
          </a:prstGeom>
        </p:spPr>
        <p:txBody>
          <a:bodyPr anchor="t" rtlCol="false" tIns="0" lIns="0" bIns="0" rIns="0">
            <a:spAutoFit/>
          </a:bodyPr>
          <a:lstStyle/>
          <a:p>
            <a:pPr algn="l">
              <a:lnSpc>
                <a:spcPts val="1944"/>
              </a:lnSpc>
            </a:pPr>
            <a:r>
              <a:rPr lang="en-US" sz="1300" spc="64">
                <a:solidFill>
                  <a:srgbClr val="FFFFFF"/>
                </a:solidFill>
                <a:latin typeface="Inter"/>
                <a:ea typeface="Inter"/>
                <a:cs typeface="Inter"/>
                <a:sym typeface="Inter"/>
              </a:rPr>
              <a:t>WEBSITE</a:t>
            </a:r>
          </a:p>
        </p:txBody>
      </p:sp>
      <p:sp>
        <p:nvSpPr>
          <p:cNvPr name="TextBox 18" id="18"/>
          <p:cNvSpPr txBox="true"/>
          <p:nvPr/>
        </p:nvSpPr>
        <p:spPr>
          <a:xfrm rot="0">
            <a:off x="915372" y="8673703"/>
            <a:ext cx="3838575" cy="381000"/>
          </a:xfrm>
          <a:prstGeom prst="rect">
            <a:avLst/>
          </a:prstGeom>
        </p:spPr>
        <p:txBody>
          <a:bodyPr anchor="t" rtlCol="false" tIns="0" lIns="0" bIns="0" rIns="0">
            <a:spAutoFit/>
          </a:bodyPr>
          <a:lstStyle/>
          <a:p>
            <a:pPr algn="l">
              <a:lnSpc>
                <a:spcPts val="2591"/>
              </a:lnSpc>
            </a:pPr>
            <a:r>
              <a:rPr lang="en-US" sz="1719">
                <a:solidFill>
                  <a:srgbClr val="FFFFFF"/>
                </a:solidFill>
                <a:latin typeface="Inter"/>
                <a:ea typeface="Inter"/>
                <a:cs typeface="Inter"/>
                <a:sym typeface="Inter"/>
              </a:rPr>
              <a:t>[istseh.app]</a:t>
            </a:r>
          </a:p>
        </p:txBody>
      </p:sp>
      <p:sp>
        <p:nvSpPr>
          <p:cNvPr name="TextBox 19" id="19"/>
          <p:cNvSpPr txBox="true"/>
          <p:nvPr/>
        </p:nvSpPr>
        <p:spPr>
          <a:xfrm rot="0">
            <a:off x="5121545" y="8376418"/>
            <a:ext cx="3838575" cy="285750"/>
          </a:xfrm>
          <a:prstGeom prst="rect">
            <a:avLst/>
          </a:prstGeom>
        </p:spPr>
        <p:txBody>
          <a:bodyPr anchor="t" rtlCol="false" tIns="0" lIns="0" bIns="0" rIns="0">
            <a:spAutoFit/>
          </a:bodyPr>
          <a:lstStyle/>
          <a:p>
            <a:pPr algn="l">
              <a:lnSpc>
                <a:spcPts val="1944"/>
              </a:lnSpc>
            </a:pPr>
            <a:r>
              <a:rPr lang="en-US" sz="1300" spc="64">
                <a:solidFill>
                  <a:srgbClr val="FFFFFF"/>
                </a:solidFill>
                <a:latin typeface="Inter"/>
                <a:ea typeface="Inter"/>
                <a:cs typeface="Inter"/>
                <a:sym typeface="Inter"/>
              </a:rPr>
              <a:t>EMAIL</a:t>
            </a:r>
          </a:p>
        </p:txBody>
      </p:sp>
      <p:sp>
        <p:nvSpPr>
          <p:cNvPr name="TextBox 20" id="20"/>
          <p:cNvSpPr txBox="true"/>
          <p:nvPr/>
        </p:nvSpPr>
        <p:spPr>
          <a:xfrm rot="0">
            <a:off x="5121545" y="8673703"/>
            <a:ext cx="3838575" cy="304419"/>
          </a:xfrm>
          <a:prstGeom prst="rect">
            <a:avLst/>
          </a:prstGeom>
        </p:spPr>
        <p:txBody>
          <a:bodyPr anchor="t" rtlCol="false" tIns="0" lIns="0" bIns="0" rIns="0">
            <a:spAutoFit/>
          </a:bodyPr>
          <a:lstStyle/>
          <a:p>
            <a:pPr algn="l">
              <a:lnSpc>
                <a:spcPts val="2591"/>
              </a:lnSpc>
            </a:pPr>
            <a:r>
              <a:rPr lang="en-US" sz="1719">
                <a:solidFill>
                  <a:srgbClr val="FFFFFF"/>
                </a:solidFill>
                <a:latin typeface="Inter"/>
                <a:ea typeface="Inter"/>
                <a:cs typeface="Inter"/>
                <a:sym typeface="Inter"/>
              </a:rPr>
              <a:t>[app@istseh.app]</a:t>
            </a:r>
          </a:p>
        </p:txBody>
      </p:sp>
      <p:sp>
        <p:nvSpPr>
          <p:cNvPr name="TextBox 21" id="21"/>
          <p:cNvSpPr txBox="true"/>
          <p:nvPr/>
        </p:nvSpPr>
        <p:spPr>
          <a:xfrm rot="0">
            <a:off x="9327728" y="8376418"/>
            <a:ext cx="3838575" cy="285750"/>
          </a:xfrm>
          <a:prstGeom prst="rect">
            <a:avLst/>
          </a:prstGeom>
        </p:spPr>
        <p:txBody>
          <a:bodyPr anchor="t" rtlCol="false" tIns="0" lIns="0" bIns="0" rIns="0">
            <a:spAutoFit/>
          </a:bodyPr>
          <a:lstStyle/>
          <a:p>
            <a:pPr algn="l">
              <a:lnSpc>
                <a:spcPts val="1944"/>
              </a:lnSpc>
            </a:pPr>
            <a:r>
              <a:rPr lang="en-US" sz="1300" spc="64">
                <a:solidFill>
                  <a:srgbClr val="FFFFFF"/>
                </a:solidFill>
                <a:latin typeface="Inter"/>
                <a:ea typeface="Inter"/>
                <a:cs typeface="Inter"/>
                <a:sym typeface="Inter"/>
              </a:rPr>
              <a:t>INSTAGRAM</a:t>
            </a:r>
          </a:p>
        </p:txBody>
      </p:sp>
      <p:sp>
        <p:nvSpPr>
          <p:cNvPr name="TextBox 22" id="22"/>
          <p:cNvSpPr txBox="true"/>
          <p:nvPr/>
        </p:nvSpPr>
        <p:spPr>
          <a:xfrm rot="0">
            <a:off x="9327728" y="8673703"/>
            <a:ext cx="3838575" cy="304419"/>
          </a:xfrm>
          <a:prstGeom prst="rect">
            <a:avLst/>
          </a:prstGeom>
        </p:spPr>
        <p:txBody>
          <a:bodyPr anchor="t" rtlCol="false" tIns="0" lIns="0" bIns="0" rIns="0">
            <a:spAutoFit/>
          </a:bodyPr>
          <a:lstStyle/>
          <a:p>
            <a:pPr algn="l">
              <a:lnSpc>
                <a:spcPts val="2591"/>
              </a:lnSpc>
            </a:pPr>
            <a:r>
              <a:rPr lang="en-US" sz="1719">
                <a:solidFill>
                  <a:srgbClr val="FFFFFF"/>
                </a:solidFill>
                <a:latin typeface="Inter"/>
                <a:ea typeface="Inter"/>
                <a:cs typeface="Inter"/>
                <a:sym typeface="Inter"/>
              </a:rPr>
              <a:t>[@istseh]</a:t>
            </a:r>
          </a:p>
        </p:txBody>
      </p:sp>
      <p:sp>
        <p:nvSpPr>
          <p:cNvPr name="TextBox 23" id="23"/>
          <p:cNvSpPr txBox="true"/>
          <p:nvPr/>
        </p:nvSpPr>
        <p:spPr>
          <a:xfrm rot="0">
            <a:off x="13533987" y="8376418"/>
            <a:ext cx="3838575" cy="285750"/>
          </a:xfrm>
          <a:prstGeom prst="rect">
            <a:avLst/>
          </a:prstGeom>
        </p:spPr>
        <p:txBody>
          <a:bodyPr anchor="t" rtlCol="false" tIns="0" lIns="0" bIns="0" rIns="0">
            <a:spAutoFit/>
          </a:bodyPr>
          <a:lstStyle/>
          <a:p>
            <a:pPr algn="l">
              <a:lnSpc>
                <a:spcPts val="1944"/>
              </a:lnSpc>
            </a:pPr>
            <a:r>
              <a:rPr lang="en-US" sz="1300" spc="64">
                <a:solidFill>
                  <a:srgbClr val="FFFFFF"/>
                </a:solidFill>
                <a:latin typeface="Inter"/>
                <a:ea typeface="Inter"/>
                <a:cs typeface="Inter"/>
                <a:sym typeface="Inter"/>
              </a:rPr>
              <a:t>APP STORE</a:t>
            </a:r>
          </a:p>
        </p:txBody>
      </p:sp>
      <p:sp>
        <p:nvSpPr>
          <p:cNvPr name="TextBox 24" id="24"/>
          <p:cNvSpPr txBox="true"/>
          <p:nvPr/>
        </p:nvSpPr>
        <p:spPr>
          <a:xfrm rot="0">
            <a:off x="13533987" y="8673703"/>
            <a:ext cx="3838575" cy="381000"/>
          </a:xfrm>
          <a:prstGeom prst="rect">
            <a:avLst/>
          </a:prstGeom>
        </p:spPr>
        <p:txBody>
          <a:bodyPr anchor="t" rtlCol="false" tIns="0" lIns="0" bIns="0" rIns="0">
            <a:spAutoFit/>
          </a:bodyPr>
          <a:lstStyle/>
          <a:p>
            <a:pPr algn="l">
              <a:lnSpc>
                <a:spcPts val="2591"/>
              </a:lnSpc>
            </a:pPr>
            <a:r>
              <a:rPr lang="en-US" sz="1719">
                <a:solidFill>
                  <a:srgbClr val="FFFFFF"/>
                </a:solidFill>
                <a:latin typeface="Inter"/>
                <a:ea typeface="Inter"/>
                <a:cs typeface="Inter"/>
                <a:sym typeface="Inter"/>
              </a:rPr>
              <a:t>[Coming soon]</a:t>
            </a:r>
          </a:p>
        </p:txBody>
      </p:sp>
      <p:grpSp>
        <p:nvGrpSpPr>
          <p:cNvPr name="Group 25" id="25"/>
          <p:cNvGrpSpPr/>
          <p:nvPr/>
        </p:nvGrpSpPr>
        <p:grpSpPr>
          <a:xfrm rot="0">
            <a:off x="914400" y="9703222"/>
            <a:ext cx="16459200" cy="297293"/>
            <a:chOff x="0" y="0"/>
            <a:chExt cx="21945600" cy="396391"/>
          </a:xfrm>
        </p:grpSpPr>
        <p:sp>
          <p:nvSpPr>
            <p:cNvPr name="Freeform 26" id="26"/>
            <p:cNvSpPr/>
            <p:nvPr/>
          </p:nvSpPr>
          <p:spPr>
            <a:xfrm flipH="false" flipV="false" rot="0">
              <a:off x="0" y="0"/>
              <a:ext cx="21945600" cy="396392"/>
            </a:xfrm>
            <a:custGeom>
              <a:avLst/>
              <a:gdLst/>
              <a:ahLst/>
              <a:cxnLst/>
              <a:rect r="r" b="b" t="t" l="l"/>
              <a:pathLst>
                <a:path h="396392" w="21945600">
                  <a:moveTo>
                    <a:pt x="0" y="0"/>
                  </a:moveTo>
                  <a:lnTo>
                    <a:pt x="21945600" y="0"/>
                  </a:lnTo>
                  <a:lnTo>
                    <a:pt x="21945600" y="396392"/>
                  </a:lnTo>
                  <a:lnTo>
                    <a:pt x="0" y="396392"/>
                  </a:lnTo>
                  <a:close/>
                </a:path>
              </a:pathLst>
            </a:custGeom>
            <a:blipFill>
              <a:blip r:embed="rId4">
                <a:alphaModFix amt="0"/>
              </a:blip>
              <a:stretch>
                <a:fillRect l="0" t="-1032300" r="0" b="-1025213"/>
              </a:stretch>
            </a:blipFill>
          </p:spPr>
        </p:sp>
        <p:sp>
          <p:nvSpPr>
            <p:cNvPr name="TextBox 27" id="27"/>
            <p:cNvSpPr txBox="true"/>
            <p:nvPr/>
          </p:nvSpPr>
          <p:spPr>
            <a:xfrm>
              <a:off x="0" y="-47625"/>
              <a:ext cx="21945600" cy="444016"/>
            </a:xfrm>
            <a:prstGeom prst="rect">
              <a:avLst/>
            </a:prstGeom>
          </p:spPr>
          <p:txBody>
            <a:bodyPr anchor="ctr" rtlCol="false" tIns="0" lIns="0" bIns="0" rIns="0"/>
            <a:lstStyle/>
            <a:p>
              <a:pPr algn="l">
                <a:lnSpc>
                  <a:spcPts val="2160"/>
                </a:lnSpc>
              </a:pPr>
              <a:r>
                <a:rPr lang="en-US" sz="1439">
                  <a:solidFill>
                    <a:srgbClr val="FFFFFF"/>
                  </a:solidFill>
                  <a:latin typeface="Inter"/>
                  <a:ea typeface="Inter"/>
                  <a:cs typeface="Inter"/>
                  <a:sym typeface="Inter"/>
                </a:rPr>
                <a:t>Company Report · INJAZ / JA Company Program© [2026] ISTSEH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DAHKHxnJqzE</dc:identifier>
  <dcterms:modified xsi:type="dcterms:W3CDTF">2011-08-01T06:04:30Z</dcterms:modified>
  <cp:revision>1</cp:revision>
  <dc:title>Brand-Designer.pptx</dc:title>
</cp:coreProperties>
</file>